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32"/>
  </p:notesMasterIdLst>
  <p:sldIdLst>
    <p:sldId id="256" r:id="rId2"/>
    <p:sldId id="257" r:id="rId3"/>
    <p:sldId id="259" r:id="rId4"/>
    <p:sldId id="260" r:id="rId5"/>
    <p:sldId id="264" r:id="rId6"/>
    <p:sldId id="268" r:id="rId7"/>
    <p:sldId id="261" r:id="rId8"/>
    <p:sldId id="262" r:id="rId9"/>
    <p:sldId id="263" r:id="rId10"/>
    <p:sldId id="265" r:id="rId11"/>
    <p:sldId id="266" r:id="rId12"/>
    <p:sldId id="267" r:id="rId13"/>
    <p:sldId id="272" r:id="rId14"/>
    <p:sldId id="269" r:id="rId15"/>
    <p:sldId id="274" r:id="rId16"/>
    <p:sldId id="275" r:id="rId17"/>
    <p:sldId id="276" r:id="rId18"/>
    <p:sldId id="277" r:id="rId19"/>
    <p:sldId id="278" r:id="rId20"/>
    <p:sldId id="279" r:id="rId21"/>
    <p:sldId id="280" r:id="rId22"/>
    <p:sldId id="281" r:id="rId23"/>
    <p:sldId id="282" r:id="rId24"/>
    <p:sldId id="283" r:id="rId25"/>
    <p:sldId id="284" r:id="rId26"/>
    <p:sldId id="270" r:id="rId27"/>
    <p:sldId id="285" r:id="rId28"/>
    <p:sldId id="271" r:id="rId29"/>
    <p:sldId id="286" r:id="rId30"/>
    <p:sldId id="287" r:id="rId3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6FFB4AB-6A20-CE4F-A565-F4C20D365A13}" v="831" dt="2025-11-28T21:43:24.3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7323"/>
    <p:restoredTop sz="50386"/>
  </p:normalViewPr>
  <p:slideViewPr>
    <p:cSldViewPr snapToGrid="0">
      <p:cViewPr varScale="1">
        <p:scale>
          <a:sx n="89" d="100"/>
          <a:sy n="89" d="100"/>
        </p:scale>
        <p:origin x="1176"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38"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hlomi Ben Shushan" userId="7c78c233cbcc4ad7" providerId="LiveId" clId="{A6FFB4AB-6A20-CE4F-A565-F4C20D365A13}"/>
    <pc:docChg chg="undo redo custSel addSld delSld modSld sldOrd">
      <pc:chgData name="Shlomi Ben Shushan" userId="7c78c233cbcc4ad7" providerId="LiveId" clId="{A6FFB4AB-6A20-CE4F-A565-F4C20D365A13}" dt="2025-11-28T21:44:07.625" v="2872" actId="113"/>
      <pc:docMkLst>
        <pc:docMk/>
      </pc:docMkLst>
      <pc:sldChg chg="addSp delSp modSp mod setBg addAnim delAnim">
        <pc:chgData name="Shlomi Ben Shushan" userId="7c78c233cbcc4ad7" providerId="LiveId" clId="{A6FFB4AB-6A20-CE4F-A565-F4C20D365A13}" dt="2025-11-28T12:01:19.927" v="46" actId="1076"/>
        <pc:sldMkLst>
          <pc:docMk/>
          <pc:sldMk cId="1067226349" sldId="256"/>
        </pc:sldMkLst>
        <pc:spChg chg="mod">
          <ac:chgData name="Shlomi Ben Shushan" userId="7c78c233cbcc4ad7" providerId="LiveId" clId="{A6FFB4AB-6A20-CE4F-A565-F4C20D365A13}" dt="2025-11-28T11:59:08.769" v="10" actId="26606"/>
          <ac:spMkLst>
            <pc:docMk/>
            <pc:sldMk cId="1067226349" sldId="256"/>
            <ac:spMk id="2" creationId="{F31495AF-29A0-C076-CC01-E0BD6E953BA1}"/>
          </ac:spMkLst>
        </pc:spChg>
        <pc:spChg chg="mod">
          <ac:chgData name="Shlomi Ben Shushan" userId="7c78c233cbcc4ad7" providerId="LiveId" clId="{A6FFB4AB-6A20-CE4F-A565-F4C20D365A13}" dt="2025-11-28T11:59:08.769" v="10" actId="26606"/>
          <ac:spMkLst>
            <pc:docMk/>
            <pc:sldMk cId="1067226349" sldId="256"/>
            <ac:spMk id="3" creationId="{D8FBB279-AF1D-54EC-CB83-3F90F28DED23}"/>
          </ac:spMkLst>
        </pc:spChg>
        <pc:spChg chg="add del">
          <ac:chgData name="Shlomi Ben Shushan" userId="7c78c233cbcc4ad7" providerId="LiveId" clId="{A6FFB4AB-6A20-CE4F-A565-F4C20D365A13}" dt="2025-11-28T11:59:04.881" v="8" actId="26606"/>
          <ac:spMkLst>
            <pc:docMk/>
            <pc:sldMk cId="1067226349" sldId="256"/>
            <ac:spMk id="1033" creationId="{7BB74091-09FE-44AF-8325-7FE6E175F727}"/>
          </ac:spMkLst>
        </pc:spChg>
        <pc:spChg chg="add del">
          <ac:chgData name="Shlomi Ben Shushan" userId="7c78c233cbcc4ad7" providerId="LiveId" clId="{A6FFB4AB-6A20-CE4F-A565-F4C20D365A13}" dt="2025-11-28T11:59:04.881" v="8" actId="26606"/>
          <ac:spMkLst>
            <pc:docMk/>
            <pc:sldMk cId="1067226349" sldId="256"/>
            <ac:spMk id="1035" creationId="{0F30CCEB-94C4-4F72-BA5A-9CEA853022DA}"/>
          </ac:spMkLst>
        </pc:spChg>
        <pc:spChg chg="add del">
          <ac:chgData name="Shlomi Ben Shushan" userId="7c78c233cbcc4ad7" providerId="LiveId" clId="{A6FFB4AB-6A20-CE4F-A565-F4C20D365A13}" dt="2025-11-28T11:59:04.881" v="8" actId="26606"/>
          <ac:spMkLst>
            <pc:docMk/>
            <pc:sldMk cId="1067226349" sldId="256"/>
            <ac:spMk id="1037" creationId="{0DE1A94F-CC8B-4954-97A7-ADD4F300D647}"/>
          </ac:spMkLst>
        </pc:spChg>
        <pc:spChg chg="add del">
          <ac:chgData name="Shlomi Ben Shushan" userId="7c78c233cbcc4ad7" providerId="LiveId" clId="{A6FFB4AB-6A20-CE4F-A565-F4C20D365A13}" dt="2025-11-28T11:59:08.769" v="10" actId="26606"/>
          <ac:spMkLst>
            <pc:docMk/>
            <pc:sldMk cId="1067226349" sldId="256"/>
            <ac:spMk id="1039" creationId="{1F9A0C1C-8ABC-401B-8FE9-AC9327C4C587}"/>
          </ac:spMkLst>
        </pc:spChg>
        <pc:spChg chg="add del">
          <ac:chgData name="Shlomi Ben Shushan" userId="7c78c233cbcc4ad7" providerId="LiveId" clId="{A6FFB4AB-6A20-CE4F-A565-F4C20D365A13}" dt="2025-11-28T11:59:08.769" v="10" actId="26606"/>
          <ac:spMkLst>
            <pc:docMk/>
            <pc:sldMk cId="1067226349" sldId="256"/>
            <ac:spMk id="1040" creationId="{BA5783C3-2F96-40A7-A24F-30CB07AA3928}"/>
          </ac:spMkLst>
        </pc:spChg>
        <pc:spChg chg="add del">
          <ac:chgData name="Shlomi Ben Shushan" userId="7c78c233cbcc4ad7" providerId="LiveId" clId="{A6FFB4AB-6A20-CE4F-A565-F4C20D365A13}" dt="2025-11-28T11:59:08.769" v="10" actId="26606"/>
          <ac:spMkLst>
            <pc:docMk/>
            <pc:sldMk cId="1067226349" sldId="256"/>
            <ac:spMk id="1041" creationId="{A9D08DBA-0326-4C4E-ACFB-576F3ABDD2D0}"/>
          </ac:spMkLst>
        </pc:spChg>
        <pc:picChg chg="add mod">
          <ac:chgData name="Shlomi Ben Shushan" userId="7c78c233cbcc4ad7" providerId="LiveId" clId="{A6FFB4AB-6A20-CE4F-A565-F4C20D365A13}" dt="2025-11-28T11:58:55.360" v="2"/>
          <ac:picMkLst>
            <pc:docMk/>
            <pc:sldMk cId="1067226349" sldId="256"/>
            <ac:picMk id="4" creationId="{E29ECD90-55B5-41DA-B601-ED2C0546BCDE}"/>
          </ac:picMkLst>
        </pc:picChg>
        <pc:picChg chg="add del">
          <ac:chgData name="Shlomi Ben Shushan" userId="7c78c233cbcc4ad7" providerId="LiveId" clId="{A6FFB4AB-6A20-CE4F-A565-F4C20D365A13}" dt="2025-11-28T11:58:55.052" v="1" actId="478"/>
          <ac:picMkLst>
            <pc:docMk/>
            <pc:sldMk cId="1067226349" sldId="256"/>
            <ac:picMk id="1026" creationId="{EE855881-AB40-476D-D8DD-6F499AD049CA}"/>
          </ac:picMkLst>
        </pc:picChg>
        <pc:picChg chg="add mod">
          <ac:chgData name="Shlomi Ben Shushan" userId="7c78c233cbcc4ad7" providerId="LiveId" clId="{A6FFB4AB-6A20-CE4F-A565-F4C20D365A13}" dt="2025-11-28T12:01:19.927" v="46" actId="1076"/>
          <ac:picMkLst>
            <pc:docMk/>
            <pc:sldMk cId="1067226349" sldId="256"/>
            <ac:picMk id="1028" creationId="{4DAD5C20-EE08-FA81-5B77-7A2E6583510B}"/>
          </ac:picMkLst>
        </pc:picChg>
      </pc:sldChg>
      <pc:sldChg chg="modSp mod">
        <pc:chgData name="Shlomi Ben Shushan" userId="7c78c233cbcc4ad7" providerId="LiveId" clId="{A6FFB4AB-6A20-CE4F-A565-F4C20D365A13}" dt="2025-11-28T12:05:06.924" v="183" actId="14100"/>
        <pc:sldMkLst>
          <pc:docMk/>
          <pc:sldMk cId="3961959209" sldId="259"/>
        </pc:sldMkLst>
        <pc:spChg chg="mod">
          <ac:chgData name="Shlomi Ben Shushan" userId="7c78c233cbcc4ad7" providerId="LiveId" clId="{A6FFB4AB-6A20-CE4F-A565-F4C20D365A13}" dt="2025-11-28T12:05:06.924" v="183" actId="14100"/>
          <ac:spMkLst>
            <pc:docMk/>
            <pc:sldMk cId="3961959209" sldId="259"/>
            <ac:spMk id="3" creationId="{0B7BF769-2041-7AC8-449B-E9A7C3DE899C}"/>
          </ac:spMkLst>
        </pc:spChg>
      </pc:sldChg>
      <pc:sldChg chg="modSp mod">
        <pc:chgData name="Shlomi Ben Shushan" userId="7c78c233cbcc4ad7" providerId="LiveId" clId="{A6FFB4AB-6A20-CE4F-A565-F4C20D365A13}" dt="2025-11-28T13:28:45.844" v="1128" actId="20577"/>
        <pc:sldMkLst>
          <pc:docMk/>
          <pc:sldMk cId="2600494817" sldId="261"/>
        </pc:sldMkLst>
        <pc:spChg chg="mod">
          <ac:chgData name="Shlomi Ben Shushan" userId="7c78c233cbcc4ad7" providerId="LiveId" clId="{A6FFB4AB-6A20-CE4F-A565-F4C20D365A13}" dt="2025-11-28T13:28:45.844" v="1128" actId="20577"/>
          <ac:spMkLst>
            <pc:docMk/>
            <pc:sldMk cId="2600494817" sldId="261"/>
            <ac:spMk id="2" creationId="{639B0E91-3CF5-267F-CDBE-1F8FDD53BEC7}"/>
          </ac:spMkLst>
        </pc:spChg>
        <pc:spChg chg="mod">
          <ac:chgData name="Shlomi Ben Shushan" userId="7c78c233cbcc4ad7" providerId="LiveId" clId="{A6FFB4AB-6A20-CE4F-A565-F4C20D365A13}" dt="2025-11-28T12:07:21.169" v="207" actId="20577"/>
          <ac:spMkLst>
            <pc:docMk/>
            <pc:sldMk cId="2600494817" sldId="261"/>
            <ac:spMk id="3" creationId="{A0BD8891-4C0C-6645-7046-378843D1FE63}"/>
          </ac:spMkLst>
        </pc:spChg>
        <pc:spChg chg="mod">
          <ac:chgData name="Shlomi Ben Shushan" userId="7c78c233cbcc4ad7" providerId="LiveId" clId="{A6FFB4AB-6A20-CE4F-A565-F4C20D365A13}" dt="2025-11-28T12:09:07.540" v="230" actId="20577"/>
          <ac:spMkLst>
            <pc:docMk/>
            <pc:sldMk cId="2600494817" sldId="261"/>
            <ac:spMk id="5" creationId="{F2E89FB6-3AE1-C077-752B-CBE900A6394E}"/>
          </ac:spMkLst>
        </pc:spChg>
        <pc:picChg chg="mod modCrop">
          <ac:chgData name="Shlomi Ben Shushan" userId="7c78c233cbcc4ad7" providerId="LiveId" clId="{A6FFB4AB-6A20-CE4F-A565-F4C20D365A13}" dt="2025-11-28T12:07:44.140" v="213" actId="1076"/>
          <ac:picMkLst>
            <pc:docMk/>
            <pc:sldMk cId="2600494817" sldId="261"/>
            <ac:picMk id="4" creationId="{CC0136AF-8A97-BE11-A538-8FFD5564866A}"/>
          </ac:picMkLst>
        </pc:picChg>
      </pc:sldChg>
      <pc:sldChg chg="modSp mod">
        <pc:chgData name="Shlomi Ben Shushan" userId="7c78c233cbcc4ad7" providerId="LiveId" clId="{A6FFB4AB-6A20-CE4F-A565-F4C20D365A13}" dt="2025-11-28T13:28:53.927" v="1132" actId="20577"/>
        <pc:sldMkLst>
          <pc:docMk/>
          <pc:sldMk cId="2252906687" sldId="262"/>
        </pc:sldMkLst>
        <pc:spChg chg="mod">
          <ac:chgData name="Shlomi Ben Shushan" userId="7c78c233cbcc4ad7" providerId="LiveId" clId="{A6FFB4AB-6A20-CE4F-A565-F4C20D365A13}" dt="2025-11-28T13:28:53.927" v="1132" actId="20577"/>
          <ac:spMkLst>
            <pc:docMk/>
            <pc:sldMk cId="2252906687" sldId="262"/>
            <ac:spMk id="2" creationId="{83A932C3-CBA0-D85F-2A75-1F1034779529}"/>
          </ac:spMkLst>
        </pc:spChg>
        <pc:spChg chg="mod">
          <ac:chgData name="Shlomi Ben Shushan" userId="7c78c233cbcc4ad7" providerId="LiveId" clId="{A6FFB4AB-6A20-CE4F-A565-F4C20D365A13}" dt="2025-11-28T12:09:56.800" v="254" actId="14100"/>
          <ac:spMkLst>
            <pc:docMk/>
            <pc:sldMk cId="2252906687" sldId="262"/>
            <ac:spMk id="3" creationId="{348EEEA6-3AD5-6CDD-106B-8EE0515DEE03}"/>
          </ac:spMkLst>
        </pc:spChg>
        <pc:spChg chg="mod">
          <ac:chgData name="Shlomi Ben Shushan" userId="7c78c233cbcc4ad7" providerId="LiveId" clId="{A6FFB4AB-6A20-CE4F-A565-F4C20D365A13}" dt="2025-11-28T12:13:45.795" v="284" actId="255"/>
          <ac:spMkLst>
            <pc:docMk/>
            <pc:sldMk cId="2252906687" sldId="262"/>
            <ac:spMk id="5" creationId="{E5E84475-2046-FCFA-841E-0952C0B46063}"/>
          </ac:spMkLst>
        </pc:spChg>
        <pc:picChg chg="mod modCrop">
          <ac:chgData name="Shlomi Ben Shushan" userId="7c78c233cbcc4ad7" providerId="LiveId" clId="{A6FFB4AB-6A20-CE4F-A565-F4C20D365A13}" dt="2025-11-28T12:11:30.139" v="262"/>
          <ac:picMkLst>
            <pc:docMk/>
            <pc:sldMk cId="2252906687" sldId="262"/>
            <ac:picMk id="6" creationId="{48A9FD09-8489-01FB-9197-7F7ECAED26FB}"/>
          </ac:picMkLst>
        </pc:picChg>
        <pc:picChg chg="mod modCrop">
          <ac:chgData name="Shlomi Ben Shushan" userId="7c78c233cbcc4ad7" providerId="LiveId" clId="{A6FFB4AB-6A20-CE4F-A565-F4C20D365A13}" dt="2025-11-28T12:10:38.512" v="257" actId="732"/>
          <ac:picMkLst>
            <pc:docMk/>
            <pc:sldMk cId="2252906687" sldId="262"/>
            <ac:picMk id="7" creationId="{7380C948-BFDE-C401-84F0-1968A9E1BDA0}"/>
          </ac:picMkLst>
        </pc:picChg>
      </pc:sldChg>
      <pc:sldChg chg="modSp mod">
        <pc:chgData name="Shlomi Ben Shushan" userId="7c78c233cbcc4ad7" providerId="LiveId" clId="{A6FFB4AB-6A20-CE4F-A565-F4C20D365A13}" dt="2025-11-28T13:28:58.728" v="1136" actId="20577"/>
        <pc:sldMkLst>
          <pc:docMk/>
          <pc:sldMk cId="2448807410" sldId="263"/>
        </pc:sldMkLst>
        <pc:spChg chg="mod">
          <ac:chgData name="Shlomi Ben Shushan" userId="7c78c233cbcc4ad7" providerId="LiveId" clId="{A6FFB4AB-6A20-CE4F-A565-F4C20D365A13}" dt="2025-11-28T13:28:58.728" v="1136" actId="20577"/>
          <ac:spMkLst>
            <pc:docMk/>
            <pc:sldMk cId="2448807410" sldId="263"/>
            <ac:spMk id="2" creationId="{47F7E851-A46E-B688-6E60-5D21FD01553D}"/>
          </ac:spMkLst>
        </pc:spChg>
        <pc:spChg chg="mod">
          <ac:chgData name="Shlomi Ben Shushan" userId="7c78c233cbcc4ad7" providerId="LiveId" clId="{A6FFB4AB-6A20-CE4F-A565-F4C20D365A13}" dt="2025-11-28T12:12:22.523" v="267" actId="113"/>
          <ac:spMkLst>
            <pc:docMk/>
            <pc:sldMk cId="2448807410" sldId="263"/>
            <ac:spMk id="3" creationId="{AF9E73C3-6C38-AE10-0DD8-25D356843912}"/>
          </ac:spMkLst>
        </pc:spChg>
        <pc:spChg chg="mod">
          <ac:chgData name="Shlomi Ben Shushan" userId="7c78c233cbcc4ad7" providerId="LiveId" clId="{A6FFB4AB-6A20-CE4F-A565-F4C20D365A13}" dt="2025-11-28T12:13:38.870" v="283" actId="113"/>
          <ac:spMkLst>
            <pc:docMk/>
            <pc:sldMk cId="2448807410" sldId="263"/>
            <ac:spMk id="5" creationId="{B7BCD6D4-9869-26D2-38E1-26D9738A1634}"/>
          </ac:spMkLst>
        </pc:spChg>
        <pc:picChg chg="mod modCrop">
          <ac:chgData name="Shlomi Ben Shushan" userId="7c78c233cbcc4ad7" providerId="LiveId" clId="{A6FFB4AB-6A20-CE4F-A565-F4C20D365A13}" dt="2025-11-28T12:13:20.095" v="278" actId="1076"/>
          <ac:picMkLst>
            <pc:docMk/>
            <pc:sldMk cId="2448807410" sldId="263"/>
            <ac:picMk id="4" creationId="{3D615BDE-4870-6D75-F421-392C2B5CBC57}"/>
          </ac:picMkLst>
        </pc:picChg>
      </pc:sldChg>
      <pc:sldChg chg="addSp delSp modSp add mod">
        <pc:chgData name="Shlomi Ben Shushan" userId="7c78c233cbcc4ad7" providerId="LiveId" clId="{A6FFB4AB-6A20-CE4F-A565-F4C20D365A13}" dt="2025-11-28T13:29:03.228" v="1140" actId="20577"/>
        <pc:sldMkLst>
          <pc:docMk/>
          <pc:sldMk cId="1697302025" sldId="265"/>
        </pc:sldMkLst>
        <pc:spChg chg="mod">
          <ac:chgData name="Shlomi Ben Shushan" userId="7c78c233cbcc4ad7" providerId="LiveId" clId="{A6FFB4AB-6A20-CE4F-A565-F4C20D365A13}" dt="2025-11-28T13:29:03.228" v="1140" actId="20577"/>
          <ac:spMkLst>
            <pc:docMk/>
            <pc:sldMk cId="1697302025" sldId="265"/>
            <ac:spMk id="2" creationId="{8556C308-B8A4-0D1C-A446-5C2E66A47B46}"/>
          </ac:spMkLst>
        </pc:spChg>
        <pc:spChg chg="mod">
          <ac:chgData name="Shlomi Ben Shushan" userId="7c78c233cbcc4ad7" providerId="LiveId" clId="{A6FFB4AB-6A20-CE4F-A565-F4C20D365A13}" dt="2025-11-28T12:14:37.340" v="294" actId="20577"/>
          <ac:spMkLst>
            <pc:docMk/>
            <pc:sldMk cId="1697302025" sldId="265"/>
            <ac:spMk id="3" creationId="{C7EDE637-A89C-CD6D-777F-3D319C1C0135}"/>
          </ac:spMkLst>
        </pc:spChg>
        <pc:spChg chg="mod">
          <ac:chgData name="Shlomi Ben Shushan" userId="7c78c233cbcc4ad7" providerId="LiveId" clId="{A6FFB4AB-6A20-CE4F-A565-F4C20D365A13}" dt="2025-11-28T12:16:36.642" v="322" actId="20577"/>
          <ac:spMkLst>
            <pc:docMk/>
            <pc:sldMk cId="1697302025" sldId="265"/>
            <ac:spMk id="5" creationId="{8EBBEAC8-3288-6621-42B0-B133ED8C45A9}"/>
          </ac:spMkLst>
        </pc:spChg>
        <pc:picChg chg="del">
          <ac:chgData name="Shlomi Ben Shushan" userId="7c78c233cbcc4ad7" providerId="LiveId" clId="{A6FFB4AB-6A20-CE4F-A565-F4C20D365A13}" dt="2025-11-28T12:15:08.751" v="295" actId="478"/>
          <ac:picMkLst>
            <pc:docMk/>
            <pc:sldMk cId="1697302025" sldId="265"/>
            <ac:picMk id="4" creationId="{FC603C30-D3CA-D278-FB38-CF7D8139AD26}"/>
          </ac:picMkLst>
        </pc:picChg>
        <pc:picChg chg="add mod">
          <ac:chgData name="Shlomi Ben Shushan" userId="7c78c233cbcc4ad7" providerId="LiveId" clId="{A6FFB4AB-6A20-CE4F-A565-F4C20D365A13}" dt="2025-11-28T12:15:31.098" v="307" actId="1035"/>
          <ac:picMkLst>
            <pc:docMk/>
            <pc:sldMk cId="1697302025" sldId="265"/>
            <ac:picMk id="6" creationId="{CBFDC9D0-BB45-B0E0-5690-BD33DFD59316}"/>
          </ac:picMkLst>
        </pc:picChg>
        <pc:picChg chg="add mod">
          <ac:chgData name="Shlomi Ben Shushan" userId="7c78c233cbcc4ad7" providerId="LiveId" clId="{A6FFB4AB-6A20-CE4F-A565-F4C20D365A13}" dt="2025-11-28T12:15:31.098" v="307" actId="1035"/>
          <ac:picMkLst>
            <pc:docMk/>
            <pc:sldMk cId="1697302025" sldId="265"/>
            <ac:picMk id="7" creationId="{99EE90D9-754E-B970-BF74-0FECF92E735E}"/>
          </ac:picMkLst>
        </pc:picChg>
      </pc:sldChg>
      <pc:sldChg chg="addSp delSp modSp add mod ord">
        <pc:chgData name="Shlomi Ben Shushan" userId="7c78c233cbcc4ad7" providerId="LiveId" clId="{A6FFB4AB-6A20-CE4F-A565-F4C20D365A13}" dt="2025-11-28T13:29:07.056" v="1144" actId="20577"/>
        <pc:sldMkLst>
          <pc:docMk/>
          <pc:sldMk cId="3118659364" sldId="266"/>
        </pc:sldMkLst>
        <pc:spChg chg="mod">
          <ac:chgData name="Shlomi Ben Shushan" userId="7c78c233cbcc4ad7" providerId="LiveId" clId="{A6FFB4AB-6A20-CE4F-A565-F4C20D365A13}" dt="2025-11-28T13:29:07.056" v="1144" actId="20577"/>
          <ac:spMkLst>
            <pc:docMk/>
            <pc:sldMk cId="3118659364" sldId="266"/>
            <ac:spMk id="2" creationId="{16A35C53-D3CA-4A2F-5C4C-026B880EEA1D}"/>
          </ac:spMkLst>
        </pc:spChg>
        <pc:spChg chg="mod">
          <ac:chgData name="Shlomi Ben Shushan" userId="7c78c233cbcc4ad7" providerId="LiveId" clId="{A6FFB4AB-6A20-CE4F-A565-F4C20D365A13}" dt="2025-11-28T12:18:23.943" v="356" actId="20577"/>
          <ac:spMkLst>
            <pc:docMk/>
            <pc:sldMk cId="3118659364" sldId="266"/>
            <ac:spMk id="3" creationId="{6F71E94A-F6B4-FF1A-65C7-0C04FA36B2E7}"/>
          </ac:spMkLst>
        </pc:spChg>
        <pc:spChg chg="mod">
          <ac:chgData name="Shlomi Ben Shushan" userId="7c78c233cbcc4ad7" providerId="LiveId" clId="{A6FFB4AB-6A20-CE4F-A565-F4C20D365A13}" dt="2025-11-28T12:20:27.465" v="381" actId="14100"/>
          <ac:spMkLst>
            <pc:docMk/>
            <pc:sldMk cId="3118659364" sldId="266"/>
            <ac:spMk id="5" creationId="{3174CBAD-1086-871A-42AD-3B0ACFC8F833}"/>
          </ac:spMkLst>
        </pc:spChg>
        <pc:picChg chg="del">
          <ac:chgData name="Shlomi Ben Shushan" userId="7c78c233cbcc4ad7" providerId="LiveId" clId="{A6FFB4AB-6A20-CE4F-A565-F4C20D365A13}" dt="2025-11-28T12:19:02.222" v="357" actId="478"/>
          <ac:picMkLst>
            <pc:docMk/>
            <pc:sldMk cId="3118659364" sldId="266"/>
            <ac:picMk id="4" creationId="{850DF9A4-D755-140F-2AE2-C9ECBD6AF38D}"/>
          </ac:picMkLst>
        </pc:picChg>
        <pc:picChg chg="add mod">
          <ac:chgData name="Shlomi Ben Shushan" userId="7c78c233cbcc4ad7" providerId="LiveId" clId="{A6FFB4AB-6A20-CE4F-A565-F4C20D365A13}" dt="2025-11-28T12:19:32.963" v="368" actId="1076"/>
          <ac:picMkLst>
            <pc:docMk/>
            <pc:sldMk cId="3118659364" sldId="266"/>
            <ac:picMk id="6" creationId="{BFC27E72-23EF-4DBF-1567-61A3A354C963}"/>
          </ac:picMkLst>
        </pc:picChg>
        <pc:picChg chg="add mod">
          <ac:chgData name="Shlomi Ben Shushan" userId="7c78c233cbcc4ad7" providerId="LiveId" clId="{A6FFB4AB-6A20-CE4F-A565-F4C20D365A13}" dt="2025-11-28T12:19:32.963" v="368" actId="1076"/>
          <ac:picMkLst>
            <pc:docMk/>
            <pc:sldMk cId="3118659364" sldId="266"/>
            <ac:picMk id="7" creationId="{E7BBC0F4-A709-7058-AA0C-DB2DE118AF95}"/>
          </ac:picMkLst>
        </pc:picChg>
      </pc:sldChg>
      <pc:sldChg chg="addSp delSp modSp add mod">
        <pc:chgData name="Shlomi Ben Shushan" userId="7c78c233cbcc4ad7" providerId="LiveId" clId="{A6FFB4AB-6A20-CE4F-A565-F4C20D365A13}" dt="2025-11-28T13:29:10.672" v="1148" actId="20577"/>
        <pc:sldMkLst>
          <pc:docMk/>
          <pc:sldMk cId="93818669" sldId="267"/>
        </pc:sldMkLst>
        <pc:spChg chg="mod">
          <ac:chgData name="Shlomi Ben Shushan" userId="7c78c233cbcc4ad7" providerId="LiveId" clId="{A6FFB4AB-6A20-CE4F-A565-F4C20D365A13}" dt="2025-11-28T13:29:10.672" v="1148" actId="20577"/>
          <ac:spMkLst>
            <pc:docMk/>
            <pc:sldMk cId="93818669" sldId="267"/>
            <ac:spMk id="2" creationId="{6B2D2AB4-E728-EE38-58F5-111113600852}"/>
          </ac:spMkLst>
        </pc:spChg>
        <pc:spChg chg="mod">
          <ac:chgData name="Shlomi Ben Shushan" userId="7c78c233cbcc4ad7" providerId="LiveId" clId="{A6FFB4AB-6A20-CE4F-A565-F4C20D365A13}" dt="2025-11-28T12:46:39.857" v="587" actId="20577"/>
          <ac:spMkLst>
            <pc:docMk/>
            <pc:sldMk cId="93818669" sldId="267"/>
            <ac:spMk id="3" creationId="{9A8B6BB5-6E8A-B43E-6D45-43B3946064D3}"/>
          </ac:spMkLst>
        </pc:spChg>
        <pc:spChg chg="mod">
          <ac:chgData name="Shlomi Ben Shushan" userId="7c78c233cbcc4ad7" providerId="LiveId" clId="{A6FFB4AB-6A20-CE4F-A565-F4C20D365A13}" dt="2025-11-28T12:48:03.591" v="609" actId="14100"/>
          <ac:spMkLst>
            <pc:docMk/>
            <pc:sldMk cId="93818669" sldId="267"/>
            <ac:spMk id="5" creationId="{2FC952DA-A53F-B0DD-C26D-4E6022151BBE}"/>
          </ac:spMkLst>
        </pc:spChg>
        <pc:picChg chg="add mod modCrop">
          <ac:chgData name="Shlomi Ben Shushan" userId="7c78c233cbcc4ad7" providerId="LiveId" clId="{A6FFB4AB-6A20-CE4F-A565-F4C20D365A13}" dt="2025-11-28T12:48:07.753" v="611" actId="1076"/>
          <ac:picMkLst>
            <pc:docMk/>
            <pc:sldMk cId="93818669" sldId="267"/>
            <ac:picMk id="4" creationId="{E87A8F40-8AE3-91B2-D226-5176CF9E0C1D}"/>
          </ac:picMkLst>
        </pc:picChg>
        <pc:picChg chg="del">
          <ac:chgData name="Shlomi Ben Shushan" userId="7c78c233cbcc4ad7" providerId="LiveId" clId="{A6FFB4AB-6A20-CE4F-A565-F4C20D365A13}" dt="2025-11-28T12:47:01.960" v="589" actId="478"/>
          <ac:picMkLst>
            <pc:docMk/>
            <pc:sldMk cId="93818669" sldId="267"/>
            <ac:picMk id="6" creationId="{E340AF76-D475-0375-76E7-155E46D46104}"/>
          </ac:picMkLst>
        </pc:picChg>
        <pc:picChg chg="del">
          <ac:chgData name="Shlomi Ben Shushan" userId="7c78c233cbcc4ad7" providerId="LiveId" clId="{A6FFB4AB-6A20-CE4F-A565-F4C20D365A13}" dt="2025-11-28T12:47:01.708" v="588" actId="478"/>
          <ac:picMkLst>
            <pc:docMk/>
            <pc:sldMk cId="93818669" sldId="267"/>
            <ac:picMk id="7" creationId="{0A9CD897-C55C-BDDB-1A27-F6A3931FC4B0}"/>
          </ac:picMkLst>
        </pc:picChg>
      </pc:sldChg>
      <pc:sldChg chg="addSp delSp modSp add mod ord">
        <pc:chgData name="Shlomi Ben Shushan" userId="7c78c233cbcc4ad7" providerId="LiveId" clId="{A6FFB4AB-6A20-CE4F-A565-F4C20D365A13}" dt="2025-11-28T14:17:35.396" v="2341" actId="113"/>
        <pc:sldMkLst>
          <pc:docMk/>
          <pc:sldMk cId="804549778" sldId="268"/>
        </pc:sldMkLst>
        <pc:spChg chg="mod">
          <ac:chgData name="Shlomi Ben Shushan" userId="7c78c233cbcc4ad7" providerId="LiveId" clId="{A6FFB4AB-6A20-CE4F-A565-F4C20D365A13}" dt="2025-11-28T14:17:35.396" v="2341" actId="113"/>
          <ac:spMkLst>
            <pc:docMk/>
            <pc:sldMk cId="804549778" sldId="268"/>
            <ac:spMk id="2" creationId="{F533FC68-BE60-8767-3AE9-966323F1F6D1}"/>
          </ac:spMkLst>
        </pc:spChg>
        <pc:spChg chg="del mod">
          <ac:chgData name="Shlomi Ben Shushan" userId="7c78c233cbcc4ad7" providerId="LiveId" clId="{A6FFB4AB-6A20-CE4F-A565-F4C20D365A13}" dt="2025-11-28T12:21:34.431" v="399" actId="478"/>
          <ac:spMkLst>
            <pc:docMk/>
            <pc:sldMk cId="804549778" sldId="268"/>
            <ac:spMk id="3" creationId="{CE0971D1-8EDB-9890-40E8-26082555FA3A}"/>
          </ac:spMkLst>
        </pc:spChg>
        <pc:picChg chg="del">
          <ac:chgData name="Shlomi Ben Shushan" userId="7c78c233cbcc4ad7" providerId="LiveId" clId="{A6FFB4AB-6A20-CE4F-A565-F4C20D365A13}" dt="2025-11-28T12:29:04.084" v="405" actId="478"/>
          <ac:picMkLst>
            <pc:docMk/>
            <pc:sldMk cId="804549778" sldId="268"/>
            <ac:picMk id="1028" creationId="{30A85AE1-A68D-F319-4946-43B94C66FD5B}"/>
          </ac:picMkLst>
        </pc:picChg>
        <pc:picChg chg="add mod">
          <ac:chgData name="Shlomi Ben Shushan" userId="7c78c233cbcc4ad7" providerId="LiveId" clId="{A6FFB4AB-6A20-CE4F-A565-F4C20D365A13}" dt="2025-11-28T12:29:18.541" v="407"/>
          <ac:picMkLst>
            <pc:docMk/>
            <pc:sldMk cId="804549778" sldId="268"/>
            <ac:picMk id="2050" creationId="{A838B713-2AA1-4A52-ECDA-70079278E2F4}"/>
          </ac:picMkLst>
        </pc:picChg>
        <pc:picChg chg="add del mod">
          <ac:chgData name="Shlomi Ben Shushan" userId="7c78c233cbcc4ad7" providerId="LiveId" clId="{A6FFB4AB-6A20-CE4F-A565-F4C20D365A13}" dt="2025-11-28T12:39:22.336" v="476" actId="478"/>
          <ac:picMkLst>
            <pc:docMk/>
            <pc:sldMk cId="804549778" sldId="268"/>
            <ac:picMk id="2052" creationId="{52320E78-DB4F-F69B-3CFF-2FE8FE242863}"/>
          </ac:picMkLst>
        </pc:picChg>
        <pc:picChg chg="add mod">
          <ac:chgData name="Shlomi Ben Shushan" userId="7c78c233cbcc4ad7" providerId="LiveId" clId="{A6FFB4AB-6A20-CE4F-A565-F4C20D365A13}" dt="2025-11-28T12:39:46.292" v="490" actId="1038"/>
          <ac:picMkLst>
            <pc:docMk/>
            <pc:sldMk cId="804549778" sldId="268"/>
            <ac:picMk id="2054" creationId="{89AF1437-6ED1-2DA0-8676-3CCFF3412C72}"/>
          </ac:picMkLst>
        </pc:picChg>
      </pc:sldChg>
      <pc:sldChg chg="addSp delSp modSp add mod">
        <pc:chgData name="Shlomi Ben Shushan" userId="7c78c233cbcc4ad7" providerId="LiveId" clId="{A6FFB4AB-6A20-CE4F-A565-F4C20D365A13}" dt="2025-11-28T14:17:42.268" v="2342" actId="113"/>
        <pc:sldMkLst>
          <pc:docMk/>
          <pc:sldMk cId="2412208484" sldId="269"/>
        </pc:sldMkLst>
        <pc:spChg chg="mod">
          <ac:chgData name="Shlomi Ben Shushan" userId="7c78c233cbcc4ad7" providerId="LiveId" clId="{A6FFB4AB-6A20-CE4F-A565-F4C20D365A13}" dt="2025-11-28T14:17:42.268" v="2342" actId="113"/>
          <ac:spMkLst>
            <pc:docMk/>
            <pc:sldMk cId="2412208484" sldId="269"/>
            <ac:spMk id="2" creationId="{85EBB8C7-F0A8-35E9-4355-2AFDC787A76C}"/>
          </ac:spMkLst>
        </pc:spChg>
        <pc:spChg chg="add del">
          <ac:chgData name="Shlomi Ben Shushan" userId="7c78c233cbcc4ad7" providerId="LiveId" clId="{A6FFB4AB-6A20-CE4F-A565-F4C20D365A13}" dt="2025-11-28T12:34:18.209" v="446" actId="22"/>
          <ac:spMkLst>
            <pc:docMk/>
            <pc:sldMk cId="2412208484" sldId="269"/>
            <ac:spMk id="4" creationId="{B5FF90D6-57F0-42F4-257A-9E6071415BFA}"/>
          </ac:spMkLst>
        </pc:spChg>
        <pc:spChg chg="add del">
          <ac:chgData name="Shlomi Ben Shushan" userId="7c78c233cbcc4ad7" providerId="LiveId" clId="{A6FFB4AB-6A20-CE4F-A565-F4C20D365A13}" dt="2025-11-28T12:34:19.183" v="448" actId="22"/>
          <ac:spMkLst>
            <pc:docMk/>
            <pc:sldMk cId="2412208484" sldId="269"/>
            <ac:spMk id="6" creationId="{E2555A31-38B5-47E6-A9CB-5DBB526A1EC5}"/>
          </ac:spMkLst>
        </pc:spChg>
        <pc:spChg chg="add del">
          <ac:chgData name="Shlomi Ben Shushan" userId="7c78c233cbcc4ad7" providerId="LiveId" clId="{A6FFB4AB-6A20-CE4F-A565-F4C20D365A13}" dt="2025-11-28T12:38:24.135" v="465" actId="22"/>
          <ac:spMkLst>
            <pc:docMk/>
            <pc:sldMk cId="2412208484" sldId="269"/>
            <ac:spMk id="8" creationId="{322F4B19-8F94-C0BD-2099-76AEA609AFBD}"/>
          </ac:spMkLst>
        </pc:spChg>
        <pc:picChg chg="del">
          <ac:chgData name="Shlomi Ben Shushan" userId="7c78c233cbcc4ad7" providerId="LiveId" clId="{A6FFB4AB-6A20-CE4F-A565-F4C20D365A13}" dt="2025-11-28T12:30:33.931" v="444" actId="478"/>
          <ac:picMkLst>
            <pc:docMk/>
            <pc:sldMk cId="2412208484" sldId="269"/>
            <ac:picMk id="2052" creationId="{E4BEBA9E-BAA2-AA1E-68E5-265CDB67B808}"/>
          </ac:picMkLst>
        </pc:picChg>
        <pc:picChg chg="add del mod">
          <ac:chgData name="Shlomi Ben Shushan" userId="7c78c233cbcc4ad7" providerId="LiveId" clId="{A6FFB4AB-6A20-CE4F-A565-F4C20D365A13}" dt="2025-11-28T12:36:29.797" v="457" actId="478"/>
          <ac:picMkLst>
            <pc:docMk/>
            <pc:sldMk cId="2412208484" sldId="269"/>
            <ac:picMk id="3074" creationId="{05B4F323-CF61-3331-2171-D0D66486E80C}"/>
          </ac:picMkLst>
        </pc:picChg>
        <pc:picChg chg="add mod">
          <ac:chgData name="Shlomi Ben Shushan" userId="7c78c233cbcc4ad7" providerId="LiveId" clId="{A6FFB4AB-6A20-CE4F-A565-F4C20D365A13}" dt="2025-11-28T12:37:07.157" v="463" actId="1076"/>
          <ac:picMkLst>
            <pc:docMk/>
            <pc:sldMk cId="2412208484" sldId="269"/>
            <ac:picMk id="3076" creationId="{F067A38C-FD34-3F7B-7AA3-E285B2BCD4A8}"/>
          </ac:picMkLst>
        </pc:picChg>
        <pc:picChg chg="add mod">
          <ac:chgData name="Shlomi Ben Shushan" userId="7c78c233cbcc4ad7" providerId="LiveId" clId="{A6FFB4AB-6A20-CE4F-A565-F4C20D365A13}" dt="2025-11-28T12:38:51.197" v="475" actId="1076"/>
          <ac:picMkLst>
            <pc:docMk/>
            <pc:sldMk cId="2412208484" sldId="269"/>
            <ac:picMk id="3078" creationId="{D21B71E2-E60C-7867-4F7D-150ABA78BEE6}"/>
          </ac:picMkLst>
        </pc:picChg>
      </pc:sldChg>
      <pc:sldChg chg="addSp delSp modSp add mod">
        <pc:chgData name="Shlomi Ben Shushan" userId="7c78c233cbcc4ad7" providerId="LiveId" clId="{A6FFB4AB-6A20-CE4F-A565-F4C20D365A13}" dt="2025-11-28T14:17:26.922" v="2340" actId="113"/>
        <pc:sldMkLst>
          <pc:docMk/>
          <pc:sldMk cId="1179161266" sldId="270"/>
        </pc:sldMkLst>
        <pc:spChg chg="mod">
          <ac:chgData name="Shlomi Ben Shushan" userId="7c78c233cbcc4ad7" providerId="LiveId" clId="{A6FFB4AB-6A20-CE4F-A565-F4C20D365A13}" dt="2025-11-28T14:17:26.922" v="2340" actId="113"/>
          <ac:spMkLst>
            <pc:docMk/>
            <pc:sldMk cId="1179161266" sldId="270"/>
            <ac:spMk id="2" creationId="{27FDCDFE-7AE3-DB32-7B3D-189CD47EE874}"/>
          </ac:spMkLst>
        </pc:spChg>
        <pc:picChg chg="del">
          <ac:chgData name="Shlomi Ben Shushan" userId="7c78c233cbcc4ad7" providerId="LiveId" clId="{A6FFB4AB-6A20-CE4F-A565-F4C20D365A13}" dt="2025-11-28T12:41:24.904" v="498" actId="478"/>
          <ac:picMkLst>
            <pc:docMk/>
            <pc:sldMk cId="1179161266" sldId="270"/>
            <ac:picMk id="3078" creationId="{4E8429D9-E8E4-CD77-35CE-FF423AE7BF9E}"/>
          </ac:picMkLst>
        </pc:picChg>
        <pc:picChg chg="add mod">
          <ac:chgData name="Shlomi Ben Shushan" userId="7c78c233cbcc4ad7" providerId="LiveId" clId="{A6FFB4AB-6A20-CE4F-A565-F4C20D365A13}" dt="2025-11-28T12:41:23.375" v="497" actId="1076"/>
          <ac:picMkLst>
            <pc:docMk/>
            <pc:sldMk cId="1179161266" sldId="270"/>
            <ac:picMk id="4098" creationId="{D8B74DB0-C981-6691-8720-CF86C462A131}"/>
          </ac:picMkLst>
        </pc:picChg>
      </pc:sldChg>
      <pc:sldChg chg="addSp delSp modSp add mod">
        <pc:chgData name="Shlomi Ben Shushan" userId="7c78c233cbcc4ad7" providerId="LiveId" clId="{A6FFB4AB-6A20-CE4F-A565-F4C20D365A13}" dt="2025-11-28T14:18:03.744" v="2354" actId="113"/>
        <pc:sldMkLst>
          <pc:docMk/>
          <pc:sldMk cId="233039776" sldId="271"/>
        </pc:sldMkLst>
        <pc:spChg chg="mod">
          <ac:chgData name="Shlomi Ben Shushan" userId="7c78c233cbcc4ad7" providerId="LiveId" clId="{A6FFB4AB-6A20-CE4F-A565-F4C20D365A13}" dt="2025-11-28T14:18:03.744" v="2354" actId="113"/>
          <ac:spMkLst>
            <pc:docMk/>
            <pc:sldMk cId="233039776" sldId="271"/>
            <ac:spMk id="2" creationId="{13E818C7-C4C9-D6DF-CA24-B442B023086D}"/>
          </ac:spMkLst>
        </pc:spChg>
        <pc:picChg chg="del">
          <ac:chgData name="Shlomi Ben Shushan" userId="7c78c233cbcc4ad7" providerId="LiveId" clId="{A6FFB4AB-6A20-CE4F-A565-F4C20D365A13}" dt="2025-11-28T12:41:38.647" v="506" actId="478"/>
          <ac:picMkLst>
            <pc:docMk/>
            <pc:sldMk cId="233039776" sldId="271"/>
            <ac:picMk id="4098" creationId="{CDD19BB8-F37E-F630-5C71-E475DC7D2CAA}"/>
          </ac:picMkLst>
        </pc:picChg>
        <pc:picChg chg="add mod">
          <ac:chgData name="Shlomi Ben Shushan" userId="7c78c233cbcc4ad7" providerId="LiveId" clId="{A6FFB4AB-6A20-CE4F-A565-F4C20D365A13}" dt="2025-11-28T12:44:54.291" v="517" actId="1076"/>
          <ac:picMkLst>
            <pc:docMk/>
            <pc:sldMk cId="233039776" sldId="271"/>
            <ac:picMk id="5122" creationId="{063580BC-4CCE-7978-D6B1-06E28808195E}"/>
          </ac:picMkLst>
        </pc:picChg>
      </pc:sldChg>
      <pc:sldChg chg="addSp delSp modSp add mod">
        <pc:chgData name="Shlomi Ben Shushan" userId="7c78c233cbcc4ad7" providerId="LiveId" clId="{A6FFB4AB-6A20-CE4F-A565-F4C20D365A13}" dt="2025-11-28T13:29:16.778" v="1153" actId="14100"/>
        <pc:sldMkLst>
          <pc:docMk/>
          <pc:sldMk cId="744840342" sldId="272"/>
        </pc:sldMkLst>
        <pc:spChg chg="mod">
          <ac:chgData name="Shlomi Ben Shushan" userId="7c78c233cbcc4ad7" providerId="LiveId" clId="{A6FFB4AB-6A20-CE4F-A565-F4C20D365A13}" dt="2025-11-28T13:29:16.778" v="1153" actId="14100"/>
          <ac:spMkLst>
            <pc:docMk/>
            <pc:sldMk cId="744840342" sldId="272"/>
            <ac:spMk id="2" creationId="{2E1DE569-F8DF-A448-AE0C-0DC265DA5E51}"/>
          </ac:spMkLst>
        </pc:spChg>
        <pc:spChg chg="del mod">
          <ac:chgData name="Shlomi Ben Shushan" userId="7c78c233cbcc4ad7" providerId="LiveId" clId="{A6FFB4AB-6A20-CE4F-A565-F4C20D365A13}" dt="2025-11-28T12:55:41.655" v="694" actId="478"/>
          <ac:spMkLst>
            <pc:docMk/>
            <pc:sldMk cId="744840342" sldId="272"/>
            <ac:spMk id="3" creationId="{420865C9-7BDC-71BC-89C6-13529AF92A29}"/>
          </ac:spMkLst>
        </pc:spChg>
        <pc:spChg chg="add del mod">
          <ac:chgData name="Shlomi Ben Shushan" userId="7c78c233cbcc4ad7" providerId="LiveId" clId="{A6FFB4AB-6A20-CE4F-A565-F4C20D365A13}" dt="2025-11-28T12:54:41.675" v="691" actId="22"/>
          <ac:spMkLst>
            <pc:docMk/>
            <pc:sldMk cId="744840342" sldId="272"/>
            <ac:spMk id="5" creationId="{954C2C65-77F3-650C-03C4-07786D9281E6}"/>
          </ac:spMkLst>
        </pc:spChg>
        <pc:spChg chg="add del mod">
          <ac:chgData name="Shlomi Ben Shushan" userId="7c78c233cbcc4ad7" providerId="LiveId" clId="{A6FFB4AB-6A20-CE4F-A565-F4C20D365A13}" dt="2025-11-28T12:55:44.348" v="695" actId="478"/>
          <ac:spMkLst>
            <pc:docMk/>
            <pc:sldMk cId="744840342" sldId="272"/>
            <ac:spMk id="11" creationId="{58F3D435-80BF-0885-9CC3-2D334CF35B26}"/>
          </ac:spMkLst>
        </pc:spChg>
        <pc:spChg chg="add del mod">
          <ac:chgData name="Shlomi Ben Shushan" userId="7c78c233cbcc4ad7" providerId="LiveId" clId="{A6FFB4AB-6A20-CE4F-A565-F4C20D365A13}" dt="2025-11-28T12:59:21.632" v="783" actId="478"/>
          <ac:spMkLst>
            <pc:docMk/>
            <pc:sldMk cId="744840342" sldId="272"/>
            <ac:spMk id="13" creationId="{1E10211C-30A3-30E8-714A-07CF3BDF491A}"/>
          </ac:spMkLst>
        </pc:spChg>
        <pc:spChg chg="add del mod">
          <ac:chgData name="Shlomi Ben Shushan" userId="7c78c233cbcc4ad7" providerId="LiveId" clId="{A6FFB4AB-6A20-CE4F-A565-F4C20D365A13}" dt="2025-11-28T12:59:24.475" v="784" actId="478"/>
          <ac:spMkLst>
            <pc:docMk/>
            <pc:sldMk cId="744840342" sldId="272"/>
            <ac:spMk id="18" creationId="{B6D1F272-52BF-AE8F-7E76-B1F2FC56F7DF}"/>
          </ac:spMkLst>
        </pc:spChg>
        <pc:grpChg chg="add mod">
          <ac:chgData name="Shlomi Ben Shushan" userId="7c78c233cbcc4ad7" providerId="LiveId" clId="{A6FFB4AB-6A20-CE4F-A565-F4C20D365A13}" dt="2025-11-28T12:58:57.541" v="770" actId="164"/>
          <ac:grpSpMkLst>
            <pc:docMk/>
            <pc:sldMk cId="744840342" sldId="272"/>
            <ac:grpSpMk id="16" creationId="{1582E86A-637A-9837-6127-D42159C66DA8}"/>
          </ac:grpSpMkLst>
        </pc:grpChg>
        <pc:picChg chg="add del mod">
          <ac:chgData name="Shlomi Ben Shushan" userId="7c78c233cbcc4ad7" providerId="LiveId" clId="{A6FFB4AB-6A20-CE4F-A565-F4C20D365A13}" dt="2025-11-28T12:54:40.292" v="686"/>
          <ac:picMkLst>
            <pc:docMk/>
            <pc:sldMk cId="744840342" sldId="272"/>
            <ac:picMk id="6" creationId="{5CC42AF8-180D-7D64-67F2-1180306DBC78}"/>
          </ac:picMkLst>
        </pc:picChg>
        <pc:picChg chg="add mod modCrop">
          <ac:chgData name="Shlomi Ben Shushan" userId="7c78c233cbcc4ad7" providerId="LiveId" clId="{A6FFB4AB-6A20-CE4F-A565-F4C20D365A13}" dt="2025-11-28T12:54:16.115" v="670"/>
          <ac:picMkLst>
            <pc:docMk/>
            <pc:sldMk cId="744840342" sldId="272"/>
            <ac:picMk id="7" creationId="{D4ECDD26-D817-DC63-DCDA-023A783E0EB6}"/>
          </ac:picMkLst>
        </pc:picChg>
        <pc:picChg chg="add mod modCrop">
          <ac:chgData name="Shlomi Ben Shushan" userId="7c78c233cbcc4ad7" providerId="LiveId" clId="{A6FFB4AB-6A20-CE4F-A565-F4C20D365A13}" dt="2025-11-28T12:54:10.138" v="665"/>
          <ac:picMkLst>
            <pc:docMk/>
            <pc:sldMk cId="744840342" sldId="272"/>
            <ac:picMk id="8" creationId="{D0D15398-ACA0-266F-3628-191F556A25A2}"/>
          </ac:picMkLst>
        </pc:picChg>
        <pc:picChg chg="add mod">
          <ac:chgData name="Shlomi Ben Shushan" userId="7c78c233cbcc4ad7" providerId="LiveId" clId="{A6FFB4AB-6A20-CE4F-A565-F4C20D365A13}" dt="2025-11-28T12:54:39.413" v="680"/>
          <ac:picMkLst>
            <pc:docMk/>
            <pc:sldMk cId="744840342" sldId="272"/>
            <ac:picMk id="9" creationId="{1BF54F59-4F73-EBB0-2EDF-11E514D000F1}"/>
          </ac:picMkLst>
        </pc:picChg>
        <pc:picChg chg="add del mod modCrop">
          <ac:chgData name="Shlomi Ben Shushan" userId="7c78c233cbcc4ad7" providerId="LiveId" clId="{A6FFB4AB-6A20-CE4F-A565-F4C20D365A13}" dt="2025-11-28T12:59:06.130" v="779" actId="478"/>
          <ac:picMkLst>
            <pc:docMk/>
            <pc:sldMk cId="744840342" sldId="272"/>
            <ac:picMk id="12" creationId="{E4B5D9AD-D631-51BA-C625-70D0DE2E37D7}"/>
          </ac:picMkLst>
        </pc:picChg>
        <pc:picChg chg="add mod modCrop">
          <ac:chgData name="Shlomi Ben Shushan" userId="7c78c233cbcc4ad7" providerId="LiveId" clId="{A6FFB4AB-6A20-CE4F-A565-F4C20D365A13}" dt="2025-11-28T12:59:35.774" v="789" actId="1076"/>
          <ac:picMkLst>
            <pc:docMk/>
            <pc:sldMk cId="744840342" sldId="272"/>
            <ac:picMk id="14" creationId="{7C0A8BD1-A1EF-3495-1515-5C455ABAC22A}"/>
          </ac:picMkLst>
        </pc:picChg>
        <pc:picChg chg="add del mod modCrop">
          <ac:chgData name="Shlomi Ben Shushan" userId="7c78c233cbcc4ad7" providerId="LiveId" clId="{A6FFB4AB-6A20-CE4F-A565-F4C20D365A13}" dt="2025-11-28T12:59:05.293" v="778" actId="478"/>
          <ac:picMkLst>
            <pc:docMk/>
            <pc:sldMk cId="744840342" sldId="272"/>
            <ac:picMk id="15" creationId="{3086541E-5AB3-ECCF-236E-7C91F9379C00}"/>
          </ac:picMkLst>
        </pc:picChg>
      </pc:sldChg>
      <pc:sldChg chg="addSp delSp modSp add mod">
        <pc:chgData name="Shlomi Ben Shushan" userId="7c78c233cbcc4ad7" providerId="LiveId" clId="{A6FFB4AB-6A20-CE4F-A565-F4C20D365A13}" dt="2025-11-28T13:59:45.597" v="1939" actId="14100"/>
        <pc:sldMkLst>
          <pc:docMk/>
          <pc:sldMk cId="3102449062" sldId="273"/>
        </pc:sldMkLst>
        <pc:spChg chg="mod">
          <ac:chgData name="Shlomi Ben Shushan" userId="7c78c233cbcc4ad7" providerId="LiveId" clId="{A6FFB4AB-6A20-CE4F-A565-F4C20D365A13}" dt="2025-11-28T13:59:45.597" v="1939" actId="14100"/>
          <ac:spMkLst>
            <pc:docMk/>
            <pc:sldMk cId="3102449062" sldId="273"/>
            <ac:spMk id="2" creationId="{9C706101-AE96-E2CF-75D5-63081D2A0765}"/>
          </ac:spMkLst>
        </pc:spChg>
        <pc:spChg chg="add mod">
          <ac:chgData name="Shlomi Ben Shushan" userId="7c78c233cbcc4ad7" providerId="LiveId" clId="{A6FFB4AB-6A20-CE4F-A565-F4C20D365A13}" dt="2025-11-28T13:02:30.347" v="822" actId="20577"/>
          <ac:spMkLst>
            <pc:docMk/>
            <pc:sldMk cId="3102449062" sldId="273"/>
            <ac:spMk id="3" creationId="{5F56CA7C-F6CB-FD47-400E-5F5569748DD3}"/>
          </ac:spMkLst>
        </pc:spChg>
        <pc:spChg chg="del mod">
          <ac:chgData name="Shlomi Ben Shushan" userId="7c78c233cbcc4ad7" providerId="LiveId" clId="{A6FFB4AB-6A20-CE4F-A565-F4C20D365A13}" dt="2025-11-28T12:59:51.955" v="793" actId="478"/>
          <ac:spMkLst>
            <pc:docMk/>
            <pc:sldMk cId="3102449062" sldId="273"/>
            <ac:spMk id="13" creationId="{6A412764-7D6E-502A-3F24-AC24B0454FA7}"/>
          </ac:spMkLst>
        </pc:spChg>
        <pc:picChg chg="del">
          <ac:chgData name="Shlomi Ben Shushan" userId="7c78c233cbcc4ad7" providerId="LiveId" clId="{A6FFB4AB-6A20-CE4F-A565-F4C20D365A13}" dt="2025-11-28T12:59:38.757" v="790" actId="478"/>
          <ac:picMkLst>
            <pc:docMk/>
            <pc:sldMk cId="3102449062" sldId="273"/>
            <ac:picMk id="14" creationId="{2F16997A-9E42-E5CE-F268-CF509E47D41D}"/>
          </ac:picMkLst>
        </pc:picChg>
      </pc:sldChg>
      <pc:sldChg chg="addSp modSp add mod">
        <pc:chgData name="Shlomi Ben Shushan" userId="7c78c233cbcc4ad7" providerId="LiveId" clId="{A6FFB4AB-6A20-CE4F-A565-F4C20D365A13}" dt="2025-11-28T13:29:28.504" v="1160" actId="20577"/>
        <pc:sldMkLst>
          <pc:docMk/>
          <pc:sldMk cId="2706834222" sldId="274"/>
        </pc:sldMkLst>
        <pc:spChg chg="mod">
          <ac:chgData name="Shlomi Ben Shushan" userId="7c78c233cbcc4ad7" providerId="LiveId" clId="{A6FFB4AB-6A20-CE4F-A565-F4C20D365A13}" dt="2025-11-28T13:29:28.504" v="1160" actId="20577"/>
          <ac:spMkLst>
            <pc:docMk/>
            <pc:sldMk cId="2706834222" sldId="274"/>
            <ac:spMk id="2" creationId="{B09DDBF4-31C0-E3F9-1A0E-7EE41FB5AD20}"/>
          </ac:spMkLst>
        </pc:spChg>
        <pc:spChg chg="mod">
          <ac:chgData name="Shlomi Ben Shushan" userId="7c78c233cbcc4ad7" providerId="LiveId" clId="{A6FFB4AB-6A20-CE4F-A565-F4C20D365A13}" dt="2025-11-28T13:10:03.799" v="922" actId="14100"/>
          <ac:spMkLst>
            <pc:docMk/>
            <pc:sldMk cId="2706834222" sldId="274"/>
            <ac:spMk id="3" creationId="{B83574A6-1B93-A06B-2A46-082836AAA011}"/>
          </ac:spMkLst>
        </pc:spChg>
        <pc:spChg chg="add mod">
          <ac:chgData name="Shlomi Ben Shushan" userId="7c78c233cbcc4ad7" providerId="LiveId" clId="{A6FFB4AB-6A20-CE4F-A565-F4C20D365A13}" dt="2025-11-28T13:10:25.800" v="928" actId="14100"/>
          <ac:spMkLst>
            <pc:docMk/>
            <pc:sldMk cId="2706834222" sldId="274"/>
            <ac:spMk id="8" creationId="{15A6607A-AB0A-FD75-44DE-AFFF24D3CDB4}"/>
          </ac:spMkLst>
        </pc:spChg>
        <pc:grpChg chg="add mod">
          <ac:chgData name="Shlomi Ben Shushan" userId="7c78c233cbcc4ad7" providerId="LiveId" clId="{A6FFB4AB-6A20-CE4F-A565-F4C20D365A13}" dt="2025-11-28T13:08:19.496" v="894" actId="1076"/>
          <ac:grpSpMkLst>
            <pc:docMk/>
            <pc:sldMk cId="2706834222" sldId="274"/>
            <ac:grpSpMk id="6" creationId="{E75E273E-D86D-F784-2264-D58FD558CE29}"/>
          </ac:grpSpMkLst>
        </pc:grpChg>
        <pc:picChg chg="add mod modCrop">
          <ac:chgData name="Shlomi Ben Shushan" userId="7c78c233cbcc4ad7" providerId="LiveId" clId="{A6FFB4AB-6A20-CE4F-A565-F4C20D365A13}" dt="2025-11-28T13:08:08.750" v="888" actId="164"/>
          <ac:picMkLst>
            <pc:docMk/>
            <pc:sldMk cId="2706834222" sldId="274"/>
            <ac:picMk id="4" creationId="{028D1303-14E9-C042-6A6D-ADFEB61DB0DC}"/>
          </ac:picMkLst>
        </pc:picChg>
        <pc:picChg chg="add mod modCrop">
          <ac:chgData name="Shlomi Ben Shushan" userId="7c78c233cbcc4ad7" providerId="LiveId" clId="{A6FFB4AB-6A20-CE4F-A565-F4C20D365A13}" dt="2025-11-28T13:08:08.750" v="888" actId="164"/>
          <ac:picMkLst>
            <pc:docMk/>
            <pc:sldMk cId="2706834222" sldId="274"/>
            <ac:picMk id="5" creationId="{B05595B8-0AB9-F9E0-AEE0-57528290627D}"/>
          </ac:picMkLst>
        </pc:picChg>
      </pc:sldChg>
      <pc:sldChg chg="modSp add mod">
        <pc:chgData name="Shlomi Ben Shushan" userId="7c78c233cbcc4ad7" providerId="LiveId" clId="{A6FFB4AB-6A20-CE4F-A565-F4C20D365A13}" dt="2025-11-28T13:29:36.135" v="1164" actId="20577"/>
        <pc:sldMkLst>
          <pc:docMk/>
          <pc:sldMk cId="486885655" sldId="275"/>
        </pc:sldMkLst>
        <pc:spChg chg="mod">
          <ac:chgData name="Shlomi Ben Shushan" userId="7c78c233cbcc4ad7" providerId="LiveId" clId="{A6FFB4AB-6A20-CE4F-A565-F4C20D365A13}" dt="2025-11-28T13:29:36.135" v="1164" actId="20577"/>
          <ac:spMkLst>
            <pc:docMk/>
            <pc:sldMk cId="486885655" sldId="275"/>
            <ac:spMk id="2" creationId="{DCFA8725-965E-4634-7475-87AE9C91092F}"/>
          </ac:spMkLst>
        </pc:spChg>
        <pc:spChg chg="mod">
          <ac:chgData name="Shlomi Ben Shushan" userId="7c78c233cbcc4ad7" providerId="LiveId" clId="{A6FFB4AB-6A20-CE4F-A565-F4C20D365A13}" dt="2025-11-28T13:16:20.631" v="978" actId="113"/>
          <ac:spMkLst>
            <pc:docMk/>
            <pc:sldMk cId="486885655" sldId="275"/>
            <ac:spMk id="3" creationId="{3ABA33AA-7776-C5C5-7990-707BA8FFF124}"/>
          </ac:spMkLst>
        </pc:spChg>
      </pc:sldChg>
      <pc:sldChg chg="addSp modSp add mod">
        <pc:chgData name="Shlomi Ben Shushan" userId="7c78c233cbcc4ad7" providerId="LiveId" clId="{A6FFB4AB-6A20-CE4F-A565-F4C20D365A13}" dt="2025-11-28T13:29:51.016" v="1172" actId="20577"/>
        <pc:sldMkLst>
          <pc:docMk/>
          <pc:sldMk cId="3056977848" sldId="276"/>
        </pc:sldMkLst>
        <pc:spChg chg="mod">
          <ac:chgData name="Shlomi Ben Shushan" userId="7c78c233cbcc4ad7" providerId="LiveId" clId="{A6FFB4AB-6A20-CE4F-A565-F4C20D365A13}" dt="2025-11-28T13:29:51.016" v="1172" actId="20577"/>
          <ac:spMkLst>
            <pc:docMk/>
            <pc:sldMk cId="3056977848" sldId="276"/>
            <ac:spMk id="2" creationId="{45CE218B-024E-96D6-AB28-D2D2722BA3C4}"/>
          </ac:spMkLst>
        </pc:spChg>
        <pc:spChg chg="mod">
          <ac:chgData name="Shlomi Ben Shushan" userId="7c78c233cbcc4ad7" providerId="LiveId" clId="{A6FFB4AB-6A20-CE4F-A565-F4C20D365A13}" dt="2025-11-28T13:17:21.902" v="995" actId="20577"/>
          <ac:spMkLst>
            <pc:docMk/>
            <pc:sldMk cId="3056977848" sldId="276"/>
            <ac:spMk id="3" creationId="{3320813B-E6B6-8D17-903E-56276676D859}"/>
          </ac:spMkLst>
        </pc:spChg>
        <pc:spChg chg="add mod">
          <ac:chgData name="Shlomi Ben Shushan" userId="7c78c233cbcc4ad7" providerId="LiveId" clId="{A6FFB4AB-6A20-CE4F-A565-F4C20D365A13}" dt="2025-11-28T13:19:18.110" v="1016" actId="20577"/>
          <ac:spMkLst>
            <pc:docMk/>
            <pc:sldMk cId="3056977848" sldId="276"/>
            <ac:spMk id="6" creationId="{900474AA-A268-DCA2-417C-D5600A73439E}"/>
          </ac:spMkLst>
        </pc:spChg>
        <pc:picChg chg="add mod">
          <ac:chgData name="Shlomi Ben Shushan" userId="7c78c233cbcc4ad7" providerId="LiveId" clId="{A6FFB4AB-6A20-CE4F-A565-F4C20D365A13}" dt="2025-11-28T13:18:09.562" v="1002" actId="1076"/>
          <ac:picMkLst>
            <pc:docMk/>
            <pc:sldMk cId="3056977848" sldId="276"/>
            <ac:picMk id="4" creationId="{B84C8E4A-0BE0-9EDA-A839-F679CCA488C8}"/>
          </ac:picMkLst>
        </pc:picChg>
        <pc:picChg chg="add mod">
          <ac:chgData name="Shlomi Ben Shushan" userId="7c78c233cbcc4ad7" providerId="LiveId" clId="{A6FFB4AB-6A20-CE4F-A565-F4C20D365A13}" dt="2025-11-28T13:18:09.562" v="1002" actId="1076"/>
          <ac:picMkLst>
            <pc:docMk/>
            <pc:sldMk cId="3056977848" sldId="276"/>
            <ac:picMk id="5" creationId="{693E4F68-4DBD-499B-BB23-0D7479AB4F4B}"/>
          </ac:picMkLst>
        </pc:picChg>
      </pc:sldChg>
      <pc:sldChg chg="addSp delSp modSp add mod">
        <pc:chgData name="Shlomi Ben Shushan" userId="7c78c233cbcc4ad7" providerId="LiveId" clId="{A6FFB4AB-6A20-CE4F-A565-F4C20D365A13}" dt="2025-11-28T13:29:54.187" v="1173" actId="20577"/>
        <pc:sldMkLst>
          <pc:docMk/>
          <pc:sldMk cId="3111432998" sldId="277"/>
        </pc:sldMkLst>
        <pc:spChg chg="mod">
          <ac:chgData name="Shlomi Ben Shushan" userId="7c78c233cbcc4ad7" providerId="LiveId" clId="{A6FFB4AB-6A20-CE4F-A565-F4C20D365A13}" dt="2025-11-28T13:29:54.187" v="1173" actId="20577"/>
          <ac:spMkLst>
            <pc:docMk/>
            <pc:sldMk cId="3111432998" sldId="277"/>
            <ac:spMk id="2" creationId="{16DD6369-1224-586C-92B3-1350BFFABD6F}"/>
          </ac:spMkLst>
        </pc:spChg>
        <pc:spChg chg="mod">
          <ac:chgData name="Shlomi Ben Shushan" userId="7c78c233cbcc4ad7" providerId="LiveId" clId="{A6FFB4AB-6A20-CE4F-A565-F4C20D365A13}" dt="2025-11-28T13:21:09.648" v="1037" actId="20577"/>
          <ac:spMkLst>
            <pc:docMk/>
            <pc:sldMk cId="3111432998" sldId="277"/>
            <ac:spMk id="3" creationId="{29B0B8D3-6CCB-4952-0A8E-0D11DA4F44E4}"/>
          </ac:spMkLst>
        </pc:spChg>
        <pc:spChg chg="mod">
          <ac:chgData name="Shlomi Ben Shushan" userId="7c78c233cbcc4ad7" providerId="LiveId" clId="{A6FFB4AB-6A20-CE4F-A565-F4C20D365A13}" dt="2025-11-28T13:22:31.237" v="1051" actId="20577"/>
          <ac:spMkLst>
            <pc:docMk/>
            <pc:sldMk cId="3111432998" sldId="277"/>
            <ac:spMk id="6" creationId="{FED4ABA8-E16E-FEC3-947C-EDC41AEB6DE3}"/>
          </ac:spMkLst>
        </pc:spChg>
        <pc:picChg chg="del">
          <ac:chgData name="Shlomi Ben Shushan" userId="7c78c233cbcc4ad7" providerId="LiveId" clId="{A6FFB4AB-6A20-CE4F-A565-F4C20D365A13}" dt="2025-11-28T13:21:12.183" v="1038" actId="478"/>
          <ac:picMkLst>
            <pc:docMk/>
            <pc:sldMk cId="3111432998" sldId="277"/>
            <ac:picMk id="4" creationId="{56861FEF-F15F-34A0-BAC4-A1F7BB99F14C}"/>
          </ac:picMkLst>
        </pc:picChg>
        <pc:picChg chg="del">
          <ac:chgData name="Shlomi Ben Shushan" userId="7c78c233cbcc4ad7" providerId="LiveId" clId="{A6FFB4AB-6A20-CE4F-A565-F4C20D365A13}" dt="2025-11-28T13:21:12.183" v="1038" actId="478"/>
          <ac:picMkLst>
            <pc:docMk/>
            <pc:sldMk cId="3111432998" sldId="277"/>
            <ac:picMk id="5" creationId="{1D4BD4DA-24F6-E6F5-E431-C101B5C4537E}"/>
          </ac:picMkLst>
        </pc:picChg>
        <pc:picChg chg="add mod">
          <ac:chgData name="Shlomi Ben Shushan" userId="7c78c233cbcc4ad7" providerId="LiveId" clId="{A6FFB4AB-6A20-CE4F-A565-F4C20D365A13}" dt="2025-11-28T13:21:38.453" v="1040" actId="1076"/>
          <ac:picMkLst>
            <pc:docMk/>
            <pc:sldMk cId="3111432998" sldId="277"/>
            <ac:picMk id="7" creationId="{31895B11-01CE-C6B0-1D16-AA422A5AD2A1}"/>
          </ac:picMkLst>
        </pc:picChg>
      </pc:sldChg>
      <pc:sldChg chg="addSp delSp modSp add mod">
        <pc:chgData name="Shlomi Ben Shushan" userId="7c78c233cbcc4ad7" providerId="LiveId" clId="{A6FFB4AB-6A20-CE4F-A565-F4C20D365A13}" dt="2025-11-28T13:29:58.205" v="1177" actId="20577"/>
        <pc:sldMkLst>
          <pc:docMk/>
          <pc:sldMk cId="1713120900" sldId="278"/>
        </pc:sldMkLst>
        <pc:spChg chg="mod">
          <ac:chgData name="Shlomi Ben Shushan" userId="7c78c233cbcc4ad7" providerId="LiveId" clId="{A6FFB4AB-6A20-CE4F-A565-F4C20D365A13}" dt="2025-11-28T13:29:58.205" v="1177" actId="20577"/>
          <ac:spMkLst>
            <pc:docMk/>
            <pc:sldMk cId="1713120900" sldId="278"/>
            <ac:spMk id="2" creationId="{287EA9AB-C34C-F072-ED63-A4AD073A7F54}"/>
          </ac:spMkLst>
        </pc:spChg>
        <pc:spChg chg="mod">
          <ac:chgData name="Shlomi Ben Shushan" userId="7c78c233cbcc4ad7" providerId="LiveId" clId="{A6FFB4AB-6A20-CE4F-A565-F4C20D365A13}" dt="2025-11-28T13:24:27.319" v="1094" actId="20577"/>
          <ac:spMkLst>
            <pc:docMk/>
            <pc:sldMk cId="1713120900" sldId="278"/>
            <ac:spMk id="3" creationId="{D0BE9299-2467-0DA7-CED5-9D4917C24471}"/>
          </ac:spMkLst>
        </pc:spChg>
        <pc:spChg chg="mod">
          <ac:chgData name="Shlomi Ben Shushan" userId="7c78c233cbcc4ad7" providerId="LiveId" clId="{A6FFB4AB-6A20-CE4F-A565-F4C20D365A13}" dt="2025-11-28T13:24:59.579" v="1098" actId="20577"/>
          <ac:spMkLst>
            <pc:docMk/>
            <pc:sldMk cId="1713120900" sldId="278"/>
            <ac:spMk id="6" creationId="{7AEE2BF7-018F-8862-F76A-DE4C51AA5B5E}"/>
          </ac:spMkLst>
        </pc:spChg>
        <pc:picChg chg="del">
          <ac:chgData name="Shlomi Ben Shushan" userId="7c78c233cbcc4ad7" providerId="LiveId" clId="{A6FFB4AB-6A20-CE4F-A565-F4C20D365A13}" dt="2025-11-28T13:23:29.453" v="1062" actId="478"/>
          <ac:picMkLst>
            <pc:docMk/>
            <pc:sldMk cId="1713120900" sldId="278"/>
            <ac:picMk id="4" creationId="{49924D92-22B9-DD08-6299-BF3539A7CE74}"/>
          </ac:picMkLst>
        </pc:picChg>
        <pc:picChg chg="del">
          <ac:chgData name="Shlomi Ben Shushan" userId="7c78c233cbcc4ad7" providerId="LiveId" clId="{A6FFB4AB-6A20-CE4F-A565-F4C20D365A13}" dt="2025-11-28T13:23:29.453" v="1062" actId="478"/>
          <ac:picMkLst>
            <pc:docMk/>
            <pc:sldMk cId="1713120900" sldId="278"/>
            <ac:picMk id="5" creationId="{AB2F2579-4C4D-6E7F-9B75-D70BEA826AAF}"/>
          </ac:picMkLst>
        </pc:picChg>
        <pc:picChg chg="add mod">
          <ac:chgData name="Shlomi Ben Shushan" userId="7c78c233cbcc4ad7" providerId="LiveId" clId="{A6FFB4AB-6A20-CE4F-A565-F4C20D365A13}" dt="2025-11-28T13:23:35.485" v="1064" actId="1076"/>
          <ac:picMkLst>
            <pc:docMk/>
            <pc:sldMk cId="1713120900" sldId="278"/>
            <ac:picMk id="7" creationId="{60A5D502-EF3B-7459-FADD-36F6DBFDACCB}"/>
          </ac:picMkLst>
        </pc:picChg>
      </pc:sldChg>
      <pc:sldChg chg="addSp delSp modSp add mod">
        <pc:chgData name="Shlomi Ben Shushan" userId="7c78c233cbcc4ad7" providerId="LiveId" clId="{A6FFB4AB-6A20-CE4F-A565-F4C20D365A13}" dt="2025-11-28T13:30:02.087" v="1181" actId="20577"/>
        <pc:sldMkLst>
          <pc:docMk/>
          <pc:sldMk cId="4271413360" sldId="279"/>
        </pc:sldMkLst>
        <pc:spChg chg="mod">
          <ac:chgData name="Shlomi Ben Shushan" userId="7c78c233cbcc4ad7" providerId="LiveId" clId="{A6FFB4AB-6A20-CE4F-A565-F4C20D365A13}" dt="2025-11-28T13:30:02.087" v="1181" actId="20577"/>
          <ac:spMkLst>
            <pc:docMk/>
            <pc:sldMk cId="4271413360" sldId="279"/>
            <ac:spMk id="2" creationId="{5DB193EE-EAD6-4848-36EA-4CFF40383233}"/>
          </ac:spMkLst>
        </pc:spChg>
        <pc:spChg chg="mod">
          <ac:chgData name="Shlomi Ben Shushan" userId="7c78c233cbcc4ad7" providerId="LiveId" clId="{A6FFB4AB-6A20-CE4F-A565-F4C20D365A13}" dt="2025-11-28T13:26:30.673" v="1116" actId="20577"/>
          <ac:spMkLst>
            <pc:docMk/>
            <pc:sldMk cId="4271413360" sldId="279"/>
            <ac:spMk id="3" creationId="{40298481-A0E0-C23F-8ACC-700FB14D8DC1}"/>
          </ac:spMkLst>
        </pc:spChg>
        <pc:spChg chg="mod">
          <ac:chgData name="Shlomi Ben Shushan" userId="7c78c233cbcc4ad7" providerId="LiveId" clId="{A6FFB4AB-6A20-CE4F-A565-F4C20D365A13}" dt="2025-11-28T13:27:29.252" v="1125" actId="113"/>
          <ac:spMkLst>
            <pc:docMk/>
            <pc:sldMk cId="4271413360" sldId="279"/>
            <ac:spMk id="6" creationId="{F3C57722-1D1B-4386-D6B1-2274B1E80696}"/>
          </ac:spMkLst>
        </pc:spChg>
        <pc:picChg chg="add mod">
          <ac:chgData name="Shlomi Ben Shushan" userId="7c78c233cbcc4ad7" providerId="LiveId" clId="{A6FFB4AB-6A20-CE4F-A565-F4C20D365A13}" dt="2025-11-28T13:26:03.832" v="1104" actId="1076"/>
          <ac:picMkLst>
            <pc:docMk/>
            <pc:sldMk cId="4271413360" sldId="279"/>
            <ac:picMk id="4" creationId="{42A708A4-CCB2-5A0F-4C0C-2545E9D37FBC}"/>
          </ac:picMkLst>
        </pc:picChg>
        <pc:picChg chg="del">
          <ac:chgData name="Shlomi Ben Shushan" userId="7c78c233cbcc4ad7" providerId="LiveId" clId="{A6FFB4AB-6A20-CE4F-A565-F4C20D365A13}" dt="2025-11-28T13:25:59.532" v="1102" actId="478"/>
          <ac:picMkLst>
            <pc:docMk/>
            <pc:sldMk cId="4271413360" sldId="279"/>
            <ac:picMk id="7" creationId="{E489F311-BA95-4321-63A4-7BA37CF26F0F}"/>
          </ac:picMkLst>
        </pc:picChg>
      </pc:sldChg>
      <pc:sldChg chg="modSp add mod">
        <pc:chgData name="Shlomi Ben Shushan" userId="7c78c233cbcc4ad7" providerId="LiveId" clId="{A6FFB4AB-6A20-CE4F-A565-F4C20D365A13}" dt="2025-11-28T14:00:03.454" v="1940" actId="255"/>
        <pc:sldMkLst>
          <pc:docMk/>
          <pc:sldMk cId="3071768110" sldId="280"/>
        </pc:sldMkLst>
        <pc:spChg chg="mod">
          <ac:chgData name="Shlomi Ben Shushan" userId="7c78c233cbcc4ad7" providerId="LiveId" clId="{A6FFB4AB-6A20-CE4F-A565-F4C20D365A13}" dt="2025-11-28T13:31:07.758" v="1186"/>
          <ac:spMkLst>
            <pc:docMk/>
            <pc:sldMk cId="3071768110" sldId="280"/>
            <ac:spMk id="2" creationId="{47E41802-DAEF-6104-FB8F-889EDA1E3629}"/>
          </ac:spMkLst>
        </pc:spChg>
        <pc:spChg chg="mod">
          <ac:chgData name="Shlomi Ben Shushan" userId="7c78c233cbcc4ad7" providerId="LiveId" clId="{A6FFB4AB-6A20-CE4F-A565-F4C20D365A13}" dt="2025-11-28T14:00:03.454" v="1940" actId="255"/>
          <ac:spMkLst>
            <pc:docMk/>
            <pc:sldMk cId="3071768110" sldId="280"/>
            <ac:spMk id="3" creationId="{279D2742-3BE8-4697-2149-8366A9F87555}"/>
          </ac:spMkLst>
        </pc:spChg>
      </pc:sldChg>
      <pc:sldChg chg="modSp add mod">
        <pc:chgData name="Shlomi Ben Shushan" userId="7c78c233cbcc4ad7" providerId="LiveId" clId="{A6FFB4AB-6A20-CE4F-A565-F4C20D365A13}" dt="2025-11-28T14:04:21.057" v="2062" actId="20577"/>
        <pc:sldMkLst>
          <pc:docMk/>
          <pc:sldMk cId="529184026" sldId="281"/>
        </pc:sldMkLst>
        <pc:spChg chg="mod">
          <ac:chgData name="Shlomi Ben Shushan" userId="7c78c233cbcc4ad7" providerId="LiveId" clId="{A6FFB4AB-6A20-CE4F-A565-F4C20D365A13}" dt="2025-11-28T14:00:15.990" v="1946" actId="255"/>
          <ac:spMkLst>
            <pc:docMk/>
            <pc:sldMk cId="529184026" sldId="281"/>
            <ac:spMk id="2" creationId="{A68281C5-9F37-9D7E-97A3-F65C3D0CF2C7}"/>
          </ac:spMkLst>
        </pc:spChg>
        <pc:spChg chg="mod">
          <ac:chgData name="Shlomi Ben Shushan" userId="7c78c233cbcc4ad7" providerId="LiveId" clId="{A6FFB4AB-6A20-CE4F-A565-F4C20D365A13}" dt="2025-11-28T14:04:21.057" v="2062" actId="20577"/>
          <ac:spMkLst>
            <pc:docMk/>
            <pc:sldMk cId="529184026" sldId="281"/>
            <ac:spMk id="3" creationId="{BA12A497-6CF9-1104-28FB-33A8F485C2DD}"/>
          </ac:spMkLst>
        </pc:spChg>
      </pc:sldChg>
      <pc:sldChg chg="modSp add mod">
        <pc:chgData name="Shlomi Ben Shushan" userId="7c78c233cbcc4ad7" providerId="LiveId" clId="{A6FFB4AB-6A20-CE4F-A565-F4C20D365A13}" dt="2025-11-28T14:13:47.904" v="2240" actId="404"/>
        <pc:sldMkLst>
          <pc:docMk/>
          <pc:sldMk cId="4068634338" sldId="282"/>
        </pc:sldMkLst>
        <pc:spChg chg="mod">
          <ac:chgData name="Shlomi Ben Shushan" userId="7c78c233cbcc4ad7" providerId="LiveId" clId="{A6FFB4AB-6A20-CE4F-A565-F4C20D365A13}" dt="2025-11-28T14:04:36.647" v="2064" actId="20577"/>
          <ac:spMkLst>
            <pc:docMk/>
            <pc:sldMk cId="4068634338" sldId="282"/>
            <ac:spMk id="2" creationId="{634DA828-9ACF-3846-1757-36CF827BD123}"/>
          </ac:spMkLst>
        </pc:spChg>
        <pc:spChg chg="mod">
          <ac:chgData name="Shlomi Ben Shushan" userId="7c78c233cbcc4ad7" providerId="LiveId" clId="{A6FFB4AB-6A20-CE4F-A565-F4C20D365A13}" dt="2025-11-28T14:13:47.904" v="2240" actId="404"/>
          <ac:spMkLst>
            <pc:docMk/>
            <pc:sldMk cId="4068634338" sldId="282"/>
            <ac:spMk id="3" creationId="{B98ADCC5-1250-F63D-41B8-0DAF845A4132}"/>
          </ac:spMkLst>
        </pc:spChg>
      </pc:sldChg>
      <pc:sldChg chg="modSp add mod">
        <pc:chgData name="Shlomi Ben Shushan" userId="7c78c233cbcc4ad7" providerId="LiveId" clId="{A6FFB4AB-6A20-CE4F-A565-F4C20D365A13}" dt="2025-11-28T14:14:34.197" v="2266"/>
        <pc:sldMkLst>
          <pc:docMk/>
          <pc:sldMk cId="3698007181" sldId="283"/>
        </pc:sldMkLst>
        <pc:spChg chg="mod">
          <ac:chgData name="Shlomi Ben Shushan" userId="7c78c233cbcc4ad7" providerId="LiveId" clId="{A6FFB4AB-6A20-CE4F-A565-F4C20D365A13}" dt="2025-11-28T14:13:15.351" v="2220" actId="20577"/>
          <ac:spMkLst>
            <pc:docMk/>
            <pc:sldMk cId="3698007181" sldId="283"/>
            <ac:spMk id="2" creationId="{AB9EBF2B-797F-0311-B836-06EAAB9A54FA}"/>
          </ac:spMkLst>
        </pc:spChg>
        <pc:spChg chg="mod">
          <ac:chgData name="Shlomi Ben Shushan" userId="7c78c233cbcc4ad7" providerId="LiveId" clId="{A6FFB4AB-6A20-CE4F-A565-F4C20D365A13}" dt="2025-11-28T14:14:34.197" v="2266"/>
          <ac:spMkLst>
            <pc:docMk/>
            <pc:sldMk cId="3698007181" sldId="283"/>
            <ac:spMk id="3" creationId="{7C1B95D5-5209-A71E-B25A-F9DA49D7C13C}"/>
          </ac:spMkLst>
        </pc:spChg>
      </pc:sldChg>
      <pc:sldChg chg="addSp modSp add mod">
        <pc:chgData name="Shlomi Ben Shushan" userId="7c78c233cbcc4ad7" providerId="LiveId" clId="{A6FFB4AB-6A20-CE4F-A565-F4C20D365A13}" dt="2025-11-28T14:17:07.859" v="2325" actId="1076"/>
        <pc:sldMkLst>
          <pc:docMk/>
          <pc:sldMk cId="3994090515" sldId="284"/>
        </pc:sldMkLst>
        <pc:spChg chg="mod">
          <ac:chgData name="Shlomi Ben Shushan" userId="7c78c233cbcc4ad7" providerId="LiveId" clId="{A6FFB4AB-6A20-CE4F-A565-F4C20D365A13}" dt="2025-11-28T14:14:54.265" v="2268" actId="20577"/>
          <ac:spMkLst>
            <pc:docMk/>
            <pc:sldMk cId="3994090515" sldId="284"/>
            <ac:spMk id="2" creationId="{4563298B-CA43-3F32-EC08-43EEED771F32}"/>
          </ac:spMkLst>
        </pc:spChg>
        <pc:spChg chg="mod">
          <ac:chgData name="Shlomi Ben Shushan" userId="7c78c233cbcc4ad7" providerId="LiveId" clId="{A6FFB4AB-6A20-CE4F-A565-F4C20D365A13}" dt="2025-11-28T14:17:03.569" v="2324" actId="20577"/>
          <ac:spMkLst>
            <pc:docMk/>
            <pc:sldMk cId="3994090515" sldId="284"/>
            <ac:spMk id="3" creationId="{86CD259F-5FC3-0B12-2C50-F3FC5CB35B7D}"/>
          </ac:spMkLst>
        </pc:spChg>
        <pc:picChg chg="add mod">
          <ac:chgData name="Shlomi Ben Shushan" userId="7c78c233cbcc4ad7" providerId="LiveId" clId="{A6FFB4AB-6A20-CE4F-A565-F4C20D365A13}" dt="2025-11-28T14:17:07.859" v="2325" actId="1076"/>
          <ac:picMkLst>
            <pc:docMk/>
            <pc:sldMk cId="3994090515" sldId="284"/>
            <ac:picMk id="4" creationId="{C8041323-3B7E-B359-7753-1E160AC93BFC}"/>
          </ac:picMkLst>
        </pc:picChg>
      </pc:sldChg>
      <pc:sldChg chg="modSp add mod">
        <pc:chgData name="Shlomi Ben Shushan" userId="7c78c233cbcc4ad7" providerId="LiveId" clId="{A6FFB4AB-6A20-CE4F-A565-F4C20D365A13}" dt="2025-11-28T14:32:09.780" v="2545" actId="20577"/>
        <pc:sldMkLst>
          <pc:docMk/>
          <pc:sldMk cId="1793950296" sldId="285"/>
        </pc:sldMkLst>
        <pc:spChg chg="mod">
          <ac:chgData name="Shlomi Ben Shushan" userId="7c78c233cbcc4ad7" providerId="LiveId" clId="{A6FFB4AB-6A20-CE4F-A565-F4C20D365A13}" dt="2025-11-28T14:18:55.367" v="2374" actId="20577"/>
          <ac:spMkLst>
            <pc:docMk/>
            <pc:sldMk cId="1793950296" sldId="285"/>
            <ac:spMk id="2" creationId="{C916633A-A5A4-A907-5315-4A3E4A46A27A}"/>
          </ac:spMkLst>
        </pc:spChg>
        <pc:spChg chg="mod">
          <ac:chgData name="Shlomi Ben Shushan" userId="7c78c233cbcc4ad7" providerId="LiveId" clId="{A6FFB4AB-6A20-CE4F-A565-F4C20D365A13}" dt="2025-11-28T14:32:09.780" v="2545" actId="20577"/>
          <ac:spMkLst>
            <pc:docMk/>
            <pc:sldMk cId="1793950296" sldId="285"/>
            <ac:spMk id="3" creationId="{2ABA5A4F-BBFB-76EA-771C-0A5705DC2163}"/>
          </ac:spMkLst>
        </pc:spChg>
      </pc:sldChg>
      <pc:sldChg chg="modSp add mod">
        <pc:chgData name="Shlomi Ben Shushan" userId="7c78c233cbcc4ad7" providerId="LiveId" clId="{A6FFB4AB-6A20-CE4F-A565-F4C20D365A13}" dt="2025-11-28T14:37:10.244" v="2661" actId="20577"/>
        <pc:sldMkLst>
          <pc:docMk/>
          <pc:sldMk cId="1395443283" sldId="286"/>
        </pc:sldMkLst>
        <pc:spChg chg="mod">
          <ac:chgData name="Shlomi Ben Shushan" userId="7c78c233cbcc4ad7" providerId="LiveId" clId="{A6FFB4AB-6A20-CE4F-A565-F4C20D365A13}" dt="2025-11-28T14:32:26.751" v="2559" actId="20577"/>
          <ac:spMkLst>
            <pc:docMk/>
            <pc:sldMk cId="1395443283" sldId="286"/>
            <ac:spMk id="2" creationId="{A2C108AD-238A-B046-6E50-FF71E95282C1}"/>
          </ac:spMkLst>
        </pc:spChg>
        <pc:spChg chg="mod">
          <ac:chgData name="Shlomi Ben Shushan" userId="7c78c233cbcc4ad7" providerId="LiveId" clId="{A6FFB4AB-6A20-CE4F-A565-F4C20D365A13}" dt="2025-11-28T14:37:10.244" v="2661" actId="20577"/>
          <ac:spMkLst>
            <pc:docMk/>
            <pc:sldMk cId="1395443283" sldId="286"/>
            <ac:spMk id="3" creationId="{D25BA6B8-A259-AC99-19FE-F4EEBBC091EC}"/>
          </ac:spMkLst>
        </pc:spChg>
      </pc:sldChg>
      <pc:sldChg chg="delSp modSp add del mod">
        <pc:chgData name="Shlomi Ben Shushan" userId="7c78c233cbcc4ad7" providerId="LiveId" clId="{A6FFB4AB-6A20-CE4F-A565-F4C20D365A13}" dt="2025-11-28T14:39:24.225" v="2668" actId="2696"/>
        <pc:sldMkLst>
          <pc:docMk/>
          <pc:sldMk cId="3035256814" sldId="287"/>
        </pc:sldMkLst>
        <pc:spChg chg="mod">
          <ac:chgData name="Shlomi Ben Shushan" userId="7c78c233cbcc4ad7" providerId="LiveId" clId="{A6FFB4AB-6A20-CE4F-A565-F4C20D365A13}" dt="2025-11-28T14:38:09.750" v="2667" actId="20577"/>
          <ac:spMkLst>
            <pc:docMk/>
            <pc:sldMk cId="3035256814" sldId="287"/>
            <ac:spMk id="2" creationId="{98BCE8B3-0421-6F80-EB0E-2D9C0FFB2F2A}"/>
          </ac:spMkLst>
        </pc:spChg>
        <pc:picChg chg="del">
          <ac:chgData name="Shlomi Ben Shushan" userId="7c78c233cbcc4ad7" providerId="LiveId" clId="{A6FFB4AB-6A20-CE4F-A565-F4C20D365A13}" dt="2025-11-28T14:38:03.437" v="2663" actId="478"/>
          <ac:picMkLst>
            <pc:docMk/>
            <pc:sldMk cId="3035256814" sldId="287"/>
            <ac:picMk id="5122" creationId="{35D165B1-9E79-DD39-2DAE-6AB41B8801BA}"/>
          </ac:picMkLst>
        </pc:picChg>
      </pc:sldChg>
      <pc:sldChg chg="addSp delSp modSp add mod">
        <pc:chgData name="Shlomi Ben Shushan" userId="7c78c233cbcc4ad7" providerId="LiveId" clId="{A6FFB4AB-6A20-CE4F-A565-F4C20D365A13}" dt="2025-11-28T21:44:07.625" v="2872" actId="113"/>
        <pc:sldMkLst>
          <pc:docMk/>
          <pc:sldMk cId="3842049619" sldId="287"/>
        </pc:sldMkLst>
        <pc:spChg chg="del mod">
          <ac:chgData name="Shlomi Ben Shushan" userId="7c78c233cbcc4ad7" providerId="LiveId" clId="{A6FFB4AB-6A20-CE4F-A565-F4C20D365A13}" dt="2025-11-28T21:43:52.333" v="2867" actId="478"/>
          <ac:spMkLst>
            <pc:docMk/>
            <pc:sldMk cId="3842049619" sldId="287"/>
            <ac:spMk id="2" creationId="{246A92D6-4734-377E-2C0C-4B5A26E956B1}"/>
          </ac:spMkLst>
        </pc:spChg>
        <pc:spChg chg="del">
          <ac:chgData name="Shlomi Ben Shushan" userId="7c78c233cbcc4ad7" providerId="LiveId" clId="{A6FFB4AB-6A20-CE4F-A565-F4C20D365A13}" dt="2025-11-28T14:40:21.643" v="2703" actId="478"/>
          <ac:spMkLst>
            <pc:docMk/>
            <pc:sldMk cId="3842049619" sldId="287"/>
            <ac:spMk id="3" creationId="{E7B3A272-4143-3759-7C1C-198C74654E23}"/>
          </ac:spMkLst>
        </pc:spChg>
        <pc:spChg chg="add del mod">
          <ac:chgData name="Shlomi Ben Shushan" userId="7c78c233cbcc4ad7" providerId="LiveId" clId="{A6FFB4AB-6A20-CE4F-A565-F4C20D365A13}" dt="2025-11-28T14:40:24.520" v="2704" actId="478"/>
          <ac:spMkLst>
            <pc:docMk/>
            <pc:sldMk cId="3842049619" sldId="287"/>
            <ac:spMk id="5" creationId="{6FB27116-C46E-775C-965A-B5BD2B158EF2}"/>
          </ac:spMkLst>
        </pc:spChg>
        <pc:spChg chg="add mod">
          <ac:chgData name="Shlomi Ben Shushan" userId="7c78c233cbcc4ad7" providerId="LiveId" clId="{A6FFB4AB-6A20-CE4F-A565-F4C20D365A13}" dt="2025-11-28T21:44:07.625" v="2872" actId="113"/>
          <ac:spMkLst>
            <pc:docMk/>
            <pc:sldMk cId="3842049619" sldId="287"/>
            <ac:spMk id="6" creationId="{8A8CD650-EFBC-1EED-7449-3B76ABD6881C}"/>
          </ac:spMkLst>
        </pc:spChg>
        <pc:spChg chg="add del mod">
          <ac:chgData name="Shlomi Ben Shushan" userId="7c78c233cbcc4ad7" providerId="LiveId" clId="{A6FFB4AB-6A20-CE4F-A565-F4C20D365A13}" dt="2025-11-28T21:43:55.474" v="2868" actId="478"/>
          <ac:spMkLst>
            <pc:docMk/>
            <pc:sldMk cId="3842049619" sldId="287"/>
            <ac:spMk id="8" creationId="{05DE8940-FC96-154E-1883-BFA6AA5BF95F}"/>
          </ac:spMkLst>
        </pc:spChg>
        <pc:picChg chg="del">
          <ac:chgData name="Shlomi Ben Shushan" userId="7c78c233cbcc4ad7" providerId="LiveId" clId="{A6FFB4AB-6A20-CE4F-A565-F4C20D365A13}" dt="2025-11-28T14:40:26.213" v="2705" actId="478"/>
          <ac:picMkLst>
            <pc:docMk/>
            <pc:sldMk cId="3842049619" sldId="287"/>
            <ac:picMk id="1028" creationId="{3A6C7C31-F051-5D47-476A-F1863E36AE94}"/>
          </ac:picMkLst>
        </pc:picChg>
      </pc:sldChg>
      <pc:sldChg chg="addSp delSp modSp add del mod">
        <pc:chgData name="Shlomi Ben Shushan" userId="7c78c233cbcc4ad7" providerId="LiveId" clId="{A6FFB4AB-6A20-CE4F-A565-F4C20D365A13}" dt="2025-11-28T21:39:53.090" v="2777" actId="2696"/>
        <pc:sldMkLst>
          <pc:docMk/>
          <pc:sldMk cId="2551654734" sldId="288"/>
        </pc:sldMkLst>
        <pc:spChg chg="mod">
          <ac:chgData name="Shlomi Ben Shushan" userId="7c78c233cbcc4ad7" providerId="LiveId" clId="{A6FFB4AB-6A20-CE4F-A565-F4C20D365A13}" dt="2025-11-28T14:42:19.964" v="2718" actId="20577"/>
          <ac:spMkLst>
            <pc:docMk/>
            <pc:sldMk cId="2551654734" sldId="288"/>
            <ac:spMk id="2" creationId="{FAFAD8E1-E6F4-277E-499A-E0B4BDD940B4}"/>
          </ac:spMkLst>
        </pc:spChg>
        <pc:spChg chg="add mod">
          <ac:chgData name="Shlomi Ben Shushan" userId="7c78c233cbcc4ad7" providerId="LiveId" clId="{A6FFB4AB-6A20-CE4F-A565-F4C20D365A13}" dt="2025-11-28T14:42:24.639" v="2730" actId="20577"/>
          <ac:spMkLst>
            <pc:docMk/>
            <pc:sldMk cId="2551654734" sldId="288"/>
            <ac:spMk id="3" creationId="{45E9FBC7-618D-26DB-F6D3-7FB922190885}"/>
          </ac:spMkLst>
        </pc:spChg>
        <pc:picChg chg="del">
          <ac:chgData name="Shlomi Ben Shushan" userId="7c78c233cbcc4ad7" providerId="LiveId" clId="{A6FFB4AB-6A20-CE4F-A565-F4C20D365A13}" dt="2025-11-28T14:41:49.147" v="2712" actId="478"/>
          <ac:picMkLst>
            <pc:docMk/>
            <pc:sldMk cId="2551654734" sldId="288"/>
            <ac:picMk id="5122" creationId="{490D8AF6-C17E-630E-2A8E-37EC0C441B1F}"/>
          </ac:picMkLst>
        </pc:picChg>
      </pc:sldChg>
      <pc:sldChg chg="add del">
        <pc:chgData name="Shlomi Ben Shushan" userId="7c78c233cbcc4ad7" providerId="LiveId" clId="{A6FFB4AB-6A20-CE4F-A565-F4C20D365A13}" dt="2025-11-28T14:41:44" v="2709"/>
        <pc:sldMkLst>
          <pc:docMk/>
          <pc:sldMk cId="2771919034" sldId="288"/>
        </pc:sldMkLst>
      </pc:sldChg>
      <pc:sldChg chg="modSp add del mod">
        <pc:chgData name="Shlomi Ben Shushan" userId="7c78c233cbcc4ad7" providerId="LiveId" clId="{A6FFB4AB-6A20-CE4F-A565-F4C20D365A13}" dt="2025-11-28T21:39:49.280" v="2775" actId="2696"/>
        <pc:sldMkLst>
          <pc:docMk/>
          <pc:sldMk cId="2987643792" sldId="289"/>
        </pc:sldMkLst>
        <pc:spChg chg="mod">
          <ac:chgData name="Shlomi Ben Shushan" userId="7c78c233cbcc4ad7" providerId="LiveId" clId="{A6FFB4AB-6A20-CE4F-A565-F4C20D365A13}" dt="2025-11-28T14:42:35.921" v="2751" actId="20577"/>
          <ac:spMkLst>
            <pc:docMk/>
            <pc:sldMk cId="2987643792" sldId="289"/>
            <ac:spMk id="2" creationId="{A1269A73-7174-0DEA-3083-7C0D9AF0368D}"/>
          </ac:spMkLst>
        </pc:spChg>
        <pc:spChg chg="mod">
          <ac:chgData name="Shlomi Ben Shushan" userId="7c78c233cbcc4ad7" providerId="LiveId" clId="{A6FFB4AB-6A20-CE4F-A565-F4C20D365A13}" dt="2025-11-28T14:42:38.430" v="2752" actId="20577"/>
          <ac:spMkLst>
            <pc:docMk/>
            <pc:sldMk cId="2987643792" sldId="289"/>
            <ac:spMk id="3" creationId="{C30ACFCE-84DF-05FF-5A67-4B7816402670}"/>
          </ac:spMkLst>
        </pc:spChg>
      </pc:sldChg>
      <pc:sldChg chg="add del">
        <pc:chgData name="Shlomi Ben Shushan" userId="7c78c233cbcc4ad7" providerId="LiveId" clId="{A6FFB4AB-6A20-CE4F-A565-F4C20D365A13}" dt="2025-11-28T14:42:27.723" v="2731" actId="2696"/>
        <pc:sldMkLst>
          <pc:docMk/>
          <pc:sldMk cId="2997548917" sldId="289"/>
        </pc:sldMkLst>
      </pc:sldChg>
      <pc:sldChg chg="add del">
        <pc:chgData name="Shlomi Ben Shushan" userId="7c78c233cbcc4ad7" providerId="LiveId" clId="{A6FFB4AB-6A20-CE4F-A565-F4C20D365A13}" dt="2025-11-28T14:41:43.715" v="2708"/>
        <pc:sldMkLst>
          <pc:docMk/>
          <pc:sldMk cId="3258658113" sldId="289"/>
        </pc:sldMkLst>
      </pc:sldChg>
      <pc:sldChg chg="modSp add del mod">
        <pc:chgData name="Shlomi Ben Shushan" userId="7c78c233cbcc4ad7" providerId="LiveId" clId="{A6FFB4AB-6A20-CE4F-A565-F4C20D365A13}" dt="2025-11-28T21:39:50.135" v="2776" actId="2696"/>
        <pc:sldMkLst>
          <pc:docMk/>
          <pc:sldMk cId="3174204772" sldId="290"/>
        </pc:sldMkLst>
        <pc:spChg chg="mod">
          <ac:chgData name="Shlomi Ben Shushan" userId="7c78c233cbcc4ad7" providerId="LiveId" clId="{A6FFB4AB-6A20-CE4F-A565-F4C20D365A13}" dt="2025-11-28T14:43:03.354" v="2770" actId="20577"/>
          <ac:spMkLst>
            <pc:docMk/>
            <pc:sldMk cId="3174204772" sldId="290"/>
            <ac:spMk id="2" creationId="{88899B0D-7965-998C-C9C4-F3DA1DEE7BFE}"/>
          </ac:spMkLst>
        </pc:spChg>
        <pc:spChg chg="mod">
          <ac:chgData name="Shlomi Ben Shushan" userId="7c78c233cbcc4ad7" providerId="LiveId" clId="{A6FFB4AB-6A20-CE4F-A565-F4C20D365A13}" dt="2025-11-28T14:42:59.029" v="2759" actId="5793"/>
          <ac:spMkLst>
            <pc:docMk/>
            <pc:sldMk cId="3174204772" sldId="290"/>
            <ac:spMk id="3" creationId="{3C0F2549-A047-B5D9-0DD0-5823744F1419}"/>
          </ac:spMkLst>
        </pc:spChg>
      </pc:sldChg>
      <pc:sldChg chg="add del">
        <pc:chgData name="Shlomi Ben Shushan" userId="7c78c233cbcc4ad7" providerId="LiveId" clId="{A6FFB4AB-6A20-CE4F-A565-F4C20D365A13}" dt="2025-11-28T14:42:55.371" v="2755"/>
        <pc:sldMkLst>
          <pc:docMk/>
          <pc:sldMk cId="1994161100" sldId="291"/>
        </pc:sldMkLst>
      </pc:sldChg>
      <pc:sldChg chg="add del">
        <pc:chgData name="Shlomi Ben Shushan" userId="7c78c233cbcc4ad7" providerId="LiveId" clId="{A6FFB4AB-6A20-CE4F-A565-F4C20D365A13}" dt="2025-11-28T21:39:48.187" v="2774" actId="2696"/>
        <pc:sldMkLst>
          <pc:docMk/>
          <pc:sldMk cId="3308602755" sldId="29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72032C-FC28-6346-8005-2D9B1FD312FC}" type="datetimeFigureOut">
              <a:rPr lang="en-IL" smtClean="0"/>
              <a:t>01/12/2025</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6FFE5D-288A-DB4E-9912-CFF1A38B0A9A}" type="slidenum">
              <a:rPr lang="en-IL" smtClean="0"/>
              <a:t>‹#›</a:t>
            </a:fld>
            <a:endParaRPr lang="en-IL"/>
          </a:p>
        </p:txBody>
      </p:sp>
    </p:spTree>
    <p:extLst>
      <p:ext uri="{BB962C8B-B14F-4D97-AF65-F5344CB8AC3E}">
        <p14:creationId xmlns:p14="http://schemas.microsoft.com/office/powerpoint/2010/main" val="55061374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שלום לכולם,</a:t>
            </a:r>
          </a:p>
          <a:p>
            <a:pPr marL="0" algn="r" defTabSz="914400" rtl="1" eaLnBrk="1" latinLnBrk="0" hangingPunct="1"/>
            <a:r>
              <a:rPr lang="he-IL" dirty="0"/>
              <a:t>שמי שלומי בן שושן,</a:t>
            </a:r>
          </a:p>
          <a:p>
            <a:pPr marL="0" algn="r" defTabSz="914400" rtl="1" eaLnBrk="1" latinLnBrk="0" hangingPunct="1"/>
            <a:r>
              <a:rPr lang="he-IL" dirty="0"/>
              <a:t>והיום אציג את הערכת הביצועים של מודלי </a:t>
            </a:r>
            <a:r>
              <a:rPr lang="en-US" dirty="0"/>
              <a:t>LLaMA</a:t>
            </a:r>
            <a:r>
              <a:rPr lang="he-IL" dirty="0"/>
              <a:t> לפי מגוון </a:t>
            </a:r>
            <a:r>
              <a:rPr lang="he-IL" dirty="0" err="1"/>
              <a:t>בנצ'מרקים</a:t>
            </a:r>
            <a:r>
              <a:rPr lang="he-IL" dirty="0"/>
              <a:t> ומטריקות, תוך השוואה למודלים מתחרים נכון לשנת 2023.</a:t>
            </a:r>
          </a:p>
        </p:txBody>
      </p:sp>
      <p:sp>
        <p:nvSpPr>
          <p:cNvPr id="4" name="Slide Number Placeholder 3"/>
          <p:cNvSpPr>
            <a:spLocks noGrp="1"/>
          </p:cNvSpPr>
          <p:nvPr>
            <p:ph type="sldNum" sz="quarter" idx="5"/>
          </p:nvPr>
        </p:nvSpPr>
        <p:spPr/>
        <p:txBody>
          <a:bodyPr/>
          <a:lstStyle/>
          <a:p>
            <a:fld id="{476FFE5D-288A-DB4E-9912-CFF1A38B0A9A}" type="slidenum">
              <a:rPr lang="en-IL" smtClean="0"/>
              <a:t>1</a:t>
            </a:fld>
            <a:endParaRPr lang="en-IL"/>
          </a:p>
        </p:txBody>
      </p:sp>
    </p:spTree>
    <p:extLst>
      <p:ext uri="{BB962C8B-B14F-4D97-AF65-F5344CB8AC3E}">
        <p14:creationId xmlns:p14="http://schemas.microsoft.com/office/powerpoint/2010/main" val="12451292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r" rtl="1"/>
            <a:r>
              <a:rPr lang="he-IL" sz="1200" kern="1200" dirty="0">
                <a:solidFill>
                  <a:schemeClr val="tx1"/>
                </a:solidFill>
                <a:latin typeface="+mn-lt"/>
                <a:ea typeface="+mn-ea"/>
                <a:cs typeface="+mn-cs"/>
              </a:rPr>
              <a:t>אוקיי, אז בואו נתחיל מלדבר על שיטת </a:t>
            </a:r>
            <a:r>
              <a:rPr lang="he-IL" sz="1200" kern="1200" dirty="0" err="1">
                <a:solidFill>
                  <a:schemeClr val="tx1"/>
                </a:solidFill>
                <a:latin typeface="+mn-lt"/>
                <a:ea typeface="+mn-ea"/>
                <a:cs typeface="+mn-cs"/>
              </a:rPr>
              <a:t>האבלואציה</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כותבי המאמר מציינים שהם משתמשים בשיטות הערכה שהוצגו על-ידי בראון ושותפיו, כלומר, הם לא ממציאים שיטת הערכה חדשה, אלא עובדים לפי סטנדרטים מקובלים.</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לצורך ההערכה הם משתמשים בשישה </a:t>
            </a:r>
            <a:r>
              <a:rPr lang="he-IL" sz="1200" kern="1200" dirty="0" err="1">
                <a:solidFill>
                  <a:schemeClr val="tx1"/>
                </a:solidFill>
                <a:latin typeface="+mn-lt"/>
                <a:ea typeface="+mn-ea"/>
                <a:cs typeface="+mn-cs"/>
              </a:rPr>
              <a:t>דאטאסטים</a:t>
            </a:r>
            <a:r>
              <a:rPr lang="he-IL" sz="1200" kern="1200" dirty="0">
                <a:solidFill>
                  <a:schemeClr val="tx1"/>
                </a:solidFill>
                <a:latin typeface="+mn-lt"/>
                <a:ea typeface="+mn-ea"/>
                <a:cs typeface="+mn-cs"/>
              </a:rPr>
              <a:t> שונים, שנבנו במיוחד עבור </a:t>
            </a:r>
            <a:r>
              <a:rPr lang="en-US" sz="1200" kern="1200" dirty="0">
                <a:solidFill>
                  <a:schemeClr val="tx1"/>
                </a:solidFill>
                <a:latin typeface="+mn-lt"/>
                <a:ea typeface="+mn-ea"/>
                <a:cs typeface="+mn-cs"/>
              </a:rPr>
              <a:t>benchmarking</a:t>
            </a:r>
            <a:r>
              <a:rPr lang="he-IL" sz="1200" kern="1200" dirty="0">
                <a:solidFill>
                  <a:schemeClr val="tx1"/>
                </a:solidFill>
                <a:latin typeface="+mn-lt"/>
                <a:ea typeface="+mn-ea"/>
                <a:cs typeface="+mn-cs"/>
              </a:rPr>
              <a:t>.</a:t>
            </a:r>
          </a:p>
          <a:p>
            <a:pPr marL="0" marR="0" lvl="0" indent="0" algn="r" defTabSz="914400" rtl="1" eaLnBrk="1" fontAlgn="auto" latinLnBrk="0" hangingPunct="1">
              <a:lnSpc>
                <a:spcPct val="100000"/>
              </a:lnSpc>
              <a:spcBef>
                <a:spcPts val="0"/>
              </a:spcBef>
              <a:spcAft>
                <a:spcPts val="0"/>
              </a:spcAft>
              <a:buClrTx/>
              <a:buSzTx/>
              <a:buFontTx/>
              <a:buNone/>
              <a:tabLst/>
              <a:defRPr/>
            </a:pPr>
            <a:r>
              <a:rPr lang="he-IL" sz="1200" kern="1200" dirty="0">
                <a:solidFill>
                  <a:schemeClr val="tx1"/>
                </a:solidFill>
                <a:latin typeface="+mn-lt"/>
                <a:ea typeface="+mn-ea"/>
                <a:cs typeface="+mn-cs"/>
              </a:rPr>
              <a:t>כל </a:t>
            </a:r>
            <a:r>
              <a:rPr lang="he-IL" sz="1200" kern="1200" dirty="0" err="1">
                <a:solidFill>
                  <a:schemeClr val="tx1"/>
                </a:solidFill>
                <a:latin typeface="+mn-lt"/>
                <a:ea typeface="+mn-ea"/>
                <a:cs typeface="+mn-cs"/>
              </a:rPr>
              <a:t>דאטאסט</a:t>
            </a:r>
            <a:r>
              <a:rPr lang="he-IL" sz="1200" kern="1200" dirty="0">
                <a:solidFill>
                  <a:schemeClr val="tx1"/>
                </a:solidFill>
                <a:latin typeface="+mn-lt"/>
                <a:ea typeface="+mn-ea"/>
                <a:cs typeface="+mn-cs"/>
              </a:rPr>
              <a:t> כולל שאלות שהמודל צריך לענות עליהן - או באמצעות גנרציה חופשית, או באמצעות בחירה מבין מספר אפשרויות.</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בגנרציה, למשל יצירה של קוד, אז יש איזושהי דרך לאמת את היצירה, למשל להריץ </a:t>
            </a:r>
            <a:r>
              <a:rPr lang="en-US" sz="1200" kern="1200" dirty="0">
                <a:solidFill>
                  <a:schemeClr val="tx1"/>
                </a:solidFill>
                <a:latin typeface="+mn-lt"/>
                <a:ea typeface="+mn-ea"/>
                <a:cs typeface="+mn-cs"/>
              </a:rPr>
              <a:t>unit-test</a:t>
            </a:r>
            <a:r>
              <a:rPr lang="he-IL" sz="1200" kern="1200" dirty="0">
                <a:solidFill>
                  <a:schemeClr val="tx1"/>
                </a:solidFill>
                <a:latin typeface="+mn-lt"/>
                <a:ea typeface="+mn-ea"/>
                <a:cs typeface="+mn-cs"/>
              </a:rPr>
              <a:t> על הקוד שנוצר.</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אם מדובר בבחירת תשובה, אז התשובה הנכונה פשוט נמצאת </a:t>
            </a:r>
            <a:r>
              <a:rPr lang="he-IL" sz="1200" kern="1200" dirty="0" err="1">
                <a:solidFill>
                  <a:schemeClr val="tx1"/>
                </a:solidFill>
                <a:latin typeface="+mn-lt"/>
                <a:ea typeface="+mn-ea"/>
                <a:cs typeface="+mn-cs"/>
              </a:rPr>
              <a:t>בדאטאסט</a:t>
            </a:r>
            <a:r>
              <a:rPr lang="he-IL" sz="1200" kern="1200" dirty="0">
                <a:solidFill>
                  <a:schemeClr val="tx1"/>
                </a:solidFill>
                <a:latin typeface="+mn-lt"/>
                <a:ea typeface="+mn-ea"/>
                <a:cs typeface="+mn-cs"/>
              </a:rPr>
              <a:t>.</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בנוסף, החוקרים מדגישים שבחלק מהמבחנים הם משתמשים ב-</a:t>
            </a: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a:t>
            </a:r>
            <a:r>
              <a:rPr lang="en-US" sz="1200" kern="1200" dirty="0">
                <a:solidFill>
                  <a:schemeClr val="tx1"/>
                </a:solidFill>
                <a:latin typeface="+mn-lt"/>
                <a:ea typeface="+mn-ea"/>
                <a:cs typeface="+mn-cs"/>
              </a:rPr>
              <a:t> </a:t>
            </a:r>
            <a:r>
              <a:rPr lang="he-IL" sz="1200" kern="1200" dirty="0">
                <a:solidFill>
                  <a:schemeClr val="tx1"/>
                </a:solidFill>
                <a:latin typeface="+mn-lt"/>
                <a:ea typeface="+mn-ea"/>
                <a:cs typeface="+mn-cs"/>
              </a:rPr>
              <a:t>ובחלק אחר 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a:t>
            </a:r>
            <a:endParaRPr lang="en-US"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למי שלא מכיר:</a:t>
            </a:r>
            <a:br>
              <a:rPr lang="he-IL" sz="1200" kern="1200" dirty="0">
                <a:solidFill>
                  <a:schemeClr val="tx1"/>
                </a:solidFill>
                <a:latin typeface="+mn-lt"/>
                <a:ea typeface="+mn-ea"/>
                <a:cs typeface="+mn-cs"/>
              </a:rPr>
            </a:br>
            <a:r>
              <a:rPr lang="en-US" sz="1200" kern="1200" dirty="0">
                <a:solidFill>
                  <a:schemeClr val="tx1"/>
                </a:solidFill>
                <a:latin typeface="+mn-lt"/>
                <a:ea typeface="+mn-ea"/>
                <a:cs typeface="+mn-cs"/>
              </a:rPr>
              <a:t>Zero-shot</a:t>
            </a:r>
            <a:r>
              <a:rPr lang="he-IL" sz="1200" kern="1200" dirty="0">
                <a:solidFill>
                  <a:schemeClr val="tx1"/>
                </a:solidFill>
                <a:latin typeface="+mn-lt"/>
                <a:ea typeface="+mn-ea"/>
                <a:cs typeface="+mn-cs"/>
              </a:rPr>
              <a:t> זו שיטה שבה מציגים למודל שאלה, הוא נותן תשובה, ובודקים אם היא נכונה - בלי שום דוגמה מקדימה.</a:t>
            </a:r>
            <a:br>
              <a:rPr lang="he-IL" sz="1200" kern="1200" dirty="0">
                <a:solidFill>
                  <a:schemeClr val="tx1"/>
                </a:solidFill>
                <a:latin typeface="+mn-lt"/>
                <a:ea typeface="+mn-ea"/>
                <a:cs typeface="+mn-cs"/>
              </a:rPr>
            </a:br>
            <a:r>
              <a:rPr lang="he-IL" sz="1200" kern="1200" dirty="0">
                <a:solidFill>
                  <a:schemeClr val="tx1"/>
                </a:solidFill>
                <a:latin typeface="+mn-lt"/>
                <a:ea typeface="+mn-ea"/>
                <a:cs typeface="+mn-cs"/>
              </a:rPr>
              <a:t>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 לעומת זאת, לכל שאלת מבחן, מראים למודל כמה דוגמאות של שאלה ותשובה נכונה, ורק לאחר מכן מציגים את השאלה האמיתית, ומצפים שהוא יענה באותו הפורמט של הדוגמאות שהוצגו.</a:t>
            </a:r>
          </a:p>
          <a:p>
            <a:pPr algn="r" rtl="1"/>
            <a:r>
              <a:rPr lang="he-IL" sz="1200" kern="1200" dirty="0">
                <a:solidFill>
                  <a:schemeClr val="tx1"/>
                </a:solidFill>
                <a:latin typeface="+mn-lt"/>
                <a:ea typeface="+mn-ea"/>
                <a:cs typeface="+mn-cs"/>
              </a:rPr>
              <a:t>זה שימושי במיוחד במבחנים כמו </a:t>
            </a:r>
            <a:r>
              <a:rPr lang="en-US" sz="1200" kern="1200" dirty="0">
                <a:solidFill>
                  <a:schemeClr val="tx1"/>
                </a:solidFill>
                <a:latin typeface="+mn-lt"/>
                <a:ea typeface="+mn-ea"/>
                <a:cs typeface="+mn-cs"/>
              </a:rPr>
              <a:t>MMLU</a:t>
            </a:r>
            <a:r>
              <a:rPr lang="he-IL" sz="1200" kern="1200" dirty="0">
                <a:solidFill>
                  <a:schemeClr val="tx1"/>
                </a:solidFill>
                <a:latin typeface="+mn-lt"/>
                <a:ea typeface="+mn-ea"/>
                <a:cs typeface="+mn-cs"/>
              </a:rPr>
              <a:t>  שנראה בהמשך, שבהם מציגים למודל שאלות רב-ברירה עם תשובות </a:t>
            </a:r>
            <a:r>
              <a:rPr lang="he-IL" sz="1200" kern="1200" dirty="0" err="1">
                <a:solidFill>
                  <a:schemeClr val="tx1"/>
                </a:solidFill>
                <a:latin typeface="+mn-lt"/>
                <a:ea typeface="+mn-ea"/>
                <a:cs typeface="+mn-cs"/>
              </a:rPr>
              <a:t>A</a:t>
            </a:r>
            <a:r>
              <a:rPr lang="he-IL" sz="1200" kern="1200" dirty="0">
                <a:solidFill>
                  <a:schemeClr val="tx1"/>
                </a:solidFill>
                <a:latin typeface="+mn-lt"/>
                <a:ea typeface="+mn-ea"/>
                <a:cs typeface="+mn-cs"/>
              </a:rPr>
              <a:t>, </a:t>
            </a:r>
            <a:r>
              <a:rPr lang="he-IL" sz="1200" kern="1200" dirty="0" err="1">
                <a:solidFill>
                  <a:schemeClr val="tx1"/>
                </a:solidFill>
                <a:latin typeface="+mn-lt"/>
                <a:ea typeface="+mn-ea"/>
                <a:cs typeface="+mn-cs"/>
              </a:rPr>
              <a:t>B</a:t>
            </a:r>
            <a:r>
              <a:rPr lang="he-IL" sz="1200" kern="1200" dirty="0">
                <a:solidFill>
                  <a:schemeClr val="tx1"/>
                </a:solidFill>
                <a:latin typeface="+mn-lt"/>
                <a:ea typeface="+mn-ea"/>
                <a:cs typeface="+mn-cs"/>
              </a:rPr>
              <a:t>, </a:t>
            </a:r>
            <a:r>
              <a:rPr lang="he-IL" sz="1200" kern="1200" dirty="0" err="1">
                <a:solidFill>
                  <a:schemeClr val="tx1"/>
                </a:solidFill>
                <a:latin typeface="+mn-lt"/>
                <a:ea typeface="+mn-ea"/>
                <a:cs typeface="+mn-cs"/>
              </a:rPr>
              <a:t>C</a:t>
            </a:r>
            <a:r>
              <a:rPr lang="he-IL" sz="1200" kern="1200" dirty="0">
                <a:solidFill>
                  <a:schemeClr val="tx1"/>
                </a:solidFill>
                <a:latin typeface="+mn-lt"/>
                <a:ea typeface="+mn-ea"/>
                <a:cs typeface="+mn-cs"/>
              </a:rPr>
              <a:t> או </a:t>
            </a:r>
            <a:r>
              <a:rPr lang="he-IL" sz="1200" kern="1200" dirty="0" err="1">
                <a:solidFill>
                  <a:schemeClr val="tx1"/>
                </a:solidFill>
                <a:latin typeface="+mn-lt"/>
                <a:ea typeface="+mn-ea"/>
                <a:cs typeface="+mn-cs"/>
              </a:rPr>
              <a:t>D</a:t>
            </a:r>
            <a:r>
              <a:rPr lang="he-IL" sz="1200" kern="1200" dirty="0">
                <a:solidFill>
                  <a:schemeClr val="tx1"/>
                </a:solidFill>
                <a:latin typeface="+mn-lt"/>
                <a:ea typeface="+mn-ea"/>
                <a:cs typeface="+mn-cs"/>
              </a:rPr>
              <a:t>. לפעמים המודל יודע את התשובה, אבל לא מקפיד על הפורמט, ונותן את התשובה המילולית במקום את האות. לא תמיד קל לחלץ את האות הזו בצורה אוטומטית, אז הדוגמאות “מיישרות” אותו לפורמט הנכון.</a:t>
            </a:r>
          </a:p>
          <a:p>
            <a:pPr algn="r" rtl="1"/>
            <a:r>
              <a:rPr lang="he-IL" sz="1200" kern="1200" dirty="0">
                <a:solidFill>
                  <a:schemeClr val="tx1"/>
                </a:solidFill>
                <a:latin typeface="+mn-lt"/>
                <a:ea typeface="+mn-ea"/>
                <a:cs typeface="+mn-cs"/>
              </a:rPr>
              <a:t>אגב, </a:t>
            </a:r>
            <a:r>
              <a:rPr lang="en-US" sz="1200" kern="1200" dirty="0">
                <a:solidFill>
                  <a:schemeClr val="tx1"/>
                </a:solidFill>
                <a:latin typeface="+mn-lt"/>
                <a:ea typeface="+mn-ea"/>
                <a:cs typeface="+mn-cs"/>
              </a:rPr>
              <a:t>Few-shots</a:t>
            </a:r>
            <a:r>
              <a:rPr lang="he-IL" sz="1200" kern="1200" dirty="0">
                <a:solidFill>
                  <a:schemeClr val="tx1"/>
                </a:solidFill>
                <a:latin typeface="+mn-lt"/>
                <a:ea typeface="+mn-ea"/>
                <a:cs typeface="+mn-cs"/>
              </a:rPr>
              <a:t> הוא שם כללי, לעיתים משתמשים בדוגמה אחת (</a:t>
            </a:r>
            <a:r>
              <a:rPr lang="en-US" sz="1200" kern="1200" dirty="0">
                <a:solidFill>
                  <a:schemeClr val="tx1"/>
                </a:solidFill>
                <a:latin typeface="+mn-lt"/>
                <a:ea typeface="+mn-ea"/>
                <a:cs typeface="+mn-cs"/>
              </a:rPr>
              <a:t>1-shot</a:t>
            </a:r>
            <a:r>
              <a:rPr lang="he-IL" sz="1200" kern="1200" dirty="0">
                <a:solidFill>
                  <a:schemeClr val="tx1"/>
                </a:solidFill>
                <a:latin typeface="+mn-lt"/>
                <a:ea typeface="+mn-ea"/>
                <a:cs typeface="+mn-cs"/>
              </a:rPr>
              <a:t>), בחמש דוגמאות (</a:t>
            </a:r>
            <a:r>
              <a:rPr lang="en-US" sz="1200" kern="1200" dirty="0">
                <a:solidFill>
                  <a:schemeClr val="tx1"/>
                </a:solidFill>
                <a:latin typeface="+mn-lt"/>
                <a:ea typeface="+mn-ea"/>
                <a:cs typeface="+mn-cs"/>
              </a:rPr>
              <a:t>5-shots</a:t>
            </a:r>
            <a:r>
              <a:rPr lang="he-IL" sz="1200" kern="1200" dirty="0">
                <a:solidFill>
                  <a:schemeClr val="tx1"/>
                </a:solidFill>
                <a:latin typeface="+mn-lt"/>
                <a:ea typeface="+mn-ea"/>
                <a:cs typeface="+mn-cs"/>
              </a:rPr>
              <a:t>) או במקרים נדירים בהרבה דוגמאות, כמו </a:t>
            </a:r>
            <a:r>
              <a:rPr lang="en-US" sz="1200" kern="1200" dirty="0">
                <a:solidFill>
                  <a:schemeClr val="tx1"/>
                </a:solidFill>
                <a:latin typeface="+mn-lt"/>
                <a:ea typeface="+mn-ea"/>
                <a:cs typeface="+mn-cs"/>
              </a:rPr>
              <a:t>64-shots</a:t>
            </a:r>
            <a:r>
              <a:rPr lang="he-IL" sz="1200" kern="1200" dirty="0">
                <a:solidFill>
                  <a:schemeClr val="tx1"/>
                </a:solidFill>
                <a:latin typeface="+mn-lt"/>
                <a:ea typeface="+mn-ea"/>
                <a:cs typeface="+mn-cs"/>
              </a:rPr>
              <a:t>.</a:t>
            </a:r>
          </a:p>
          <a:p>
            <a:pPr algn="r" rtl="1"/>
            <a:endParaRPr lang="en-US"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באופן כללי, אנחנו מצפים שב-</a:t>
            </a:r>
            <a:r>
              <a:rPr lang="en-US" sz="1200" kern="1200" dirty="0">
                <a:solidFill>
                  <a:schemeClr val="tx1"/>
                </a:solidFill>
                <a:latin typeface="+mn-lt"/>
                <a:ea typeface="+mn-ea"/>
                <a:cs typeface="+mn-cs"/>
              </a:rPr>
              <a:t>few-shot</a:t>
            </a:r>
            <a:r>
              <a:rPr lang="he-IL" sz="1200" kern="1200" dirty="0">
                <a:solidFill>
                  <a:schemeClr val="tx1"/>
                </a:solidFill>
                <a:latin typeface="+mn-lt"/>
                <a:ea typeface="+mn-ea"/>
                <a:cs typeface="+mn-cs"/>
              </a:rPr>
              <a:t> המודל יגיעו לביצועים טובים יותר, כי הדוגמאות עוזרות למודל להבין את פורמט התשובה, ולרוב אנחנו בסדר עם זה כשרוצים למדוד ידע.</a:t>
            </a:r>
          </a:p>
          <a:p>
            <a:pPr algn="r" rtl="1"/>
            <a:r>
              <a:rPr lang="he-IL" sz="1200" kern="1200" dirty="0">
                <a:solidFill>
                  <a:schemeClr val="tx1"/>
                </a:solidFill>
                <a:latin typeface="+mn-lt"/>
                <a:ea typeface="+mn-ea"/>
                <a:cs typeface="+mn-cs"/>
              </a:rPr>
              <a:t>לעומת זאת, כשאנחנו רוצים לבחון הטיות של מודל, נעדיף דווקא </a:t>
            </a:r>
            <a:r>
              <a:rPr lang="en-US" sz="1200" kern="1200" dirty="0">
                <a:solidFill>
                  <a:schemeClr val="tx1"/>
                </a:solidFill>
                <a:latin typeface="+mn-lt"/>
                <a:ea typeface="+mn-ea"/>
                <a:cs typeface="+mn-cs"/>
              </a:rPr>
              <a:t>0-shot</a:t>
            </a:r>
            <a:r>
              <a:rPr lang="he-IL" sz="1200" kern="1200" dirty="0">
                <a:solidFill>
                  <a:schemeClr val="tx1"/>
                </a:solidFill>
                <a:latin typeface="+mn-lt"/>
                <a:ea typeface="+mn-ea"/>
                <a:cs typeface="+mn-cs"/>
              </a:rPr>
              <a:t>, כי הדוגמאות עלולות להשפיע על התנהגות המודל.</a:t>
            </a:r>
          </a:p>
          <a:p>
            <a:pPr algn="r" rtl="1"/>
            <a:endParaRPr lang="he-IL" sz="1200" kern="1200" dirty="0">
              <a:solidFill>
                <a:schemeClr val="tx1"/>
              </a:solidFill>
              <a:latin typeface="+mn-lt"/>
              <a:ea typeface="+mn-ea"/>
              <a:cs typeface="+mn-cs"/>
            </a:endParaRPr>
          </a:p>
          <a:p>
            <a:pPr algn="r" rtl="1"/>
            <a:r>
              <a:rPr lang="he-IL" sz="1200" kern="1200" dirty="0">
                <a:solidFill>
                  <a:schemeClr val="tx1"/>
                </a:solidFill>
                <a:latin typeface="+mn-lt"/>
                <a:ea typeface="+mn-ea"/>
                <a:cs typeface="+mn-cs"/>
              </a:rPr>
              <a:t>חוץ מזה, החוקרים משווים את הביצועים של </a:t>
            </a:r>
            <a:r>
              <a:rPr lang="en-US" sz="1200" kern="1200" dirty="0">
                <a:solidFill>
                  <a:schemeClr val="tx1"/>
                </a:solidFill>
                <a:latin typeface="+mn-lt"/>
                <a:ea typeface="+mn-ea"/>
                <a:cs typeface="+mn-cs"/>
              </a:rPr>
              <a:t>LLaMA</a:t>
            </a:r>
            <a:r>
              <a:rPr lang="he-IL" sz="1200" kern="1200" dirty="0">
                <a:solidFill>
                  <a:schemeClr val="tx1"/>
                </a:solidFill>
                <a:latin typeface="+mn-lt"/>
                <a:ea typeface="+mn-ea"/>
                <a:cs typeface="+mn-cs"/>
              </a:rPr>
              <a:t> גם למודלים עליהם יש קניין רוחני כמו </a:t>
            </a:r>
            <a:r>
              <a:rPr lang="en-US" sz="1200" kern="1200" dirty="0">
                <a:solidFill>
                  <a:schemeClr val="tx1"/>
                </a:solidFill>
                <a:latin typeface="+mn-lt"/>
                <a:ea typeface="+mn-ea"/>
                <a:cs typeface="+mn-cs"/>
              </a:rPr>
              <a:t>GPT-3</a:t>
            </a:r>
            <a:r>
              <a:rPr lang="he-IL" sz="1200" kern="1200" dirty="0">
                <a:solidFill>
                  <a:schemeClr val="tx1"/>
                </a:solidFill>
                <a:latin typeface="+mn-lt"/>
                <a:ea typeface="+mn-ea"/>
                <a:cs typeface="+mn-cs"/>
              </a:rPr>
              <a:t> וגם למודלים שהם </a:t>
            </a:r>
            <a:r>
              <a:rPr lang="en-US" dirty="0"/>
              <a:t>open source</a:t>
            </a:r>
            <a:endParaRPr lang="he-IL" dirty="0"/>
          </a:p>
        </p:txBody>
      </p:sp>
      <p:sp>
        <p:nvSpPr>
          <p:cNvPr id="4" name="Slide Number Placeholder 3"/>
          <p:cNvSpPr>
            <a:spLocks noGrp="1"/>
          </p:cNvSpPr>
          <p:nvPr>
            <p:ph type="sldNum" sz="quarter" idx="5"/>
          </p:nvPr>
        </p:nvSpPr>
        <p:spPr/>
        <p:txBody>
          <a:bodyPr/>
          <a:lstStyle/>
          <a:p>
            <a:fld id="{476FFE5D-288A-DB4E-9912-CFF1A38B0A9A}" type="slidenum">
              <a:rPr lang="en-IL" smtClean="0"/>
              <a:t>2</a:t>
            </a:fld>
            <a:endParaRPr lang="en-IL"/>
          </a:p>
        </p:txBody>
      </p:sp>
    </p:spTree>
    <p:extLst>
      <p:ext uri="{BB962C8B-B14F-4D97-AF65-F5344CB8AC3E}">
        <p14:creationId xmlns:p14="http://schemas.microsoft.com/office/powerpoint/2010/main" val="7243110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אם כן, אלה </a:t>
            </a:r>
            <a:r>
              <a:rPr lang="he-IL" dirty="0" err="1"/>
              <a:t>הבנצ'מרקים</a:t>
            </a:r>
            <a:r>
              <a:rPr lang="he-IL" dirty="0"/>
              <a:t> שבהם החוקרים משתמשים כדי להעריך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he-IL" dirty="0"/>
              <a:t>יש לנו את </a:t>
            </a:r>
            <a:r>
              <a:rPr lang="en-US" dirty="0"/>
              <a:t>Common Sense Reasoning</a:t>
            </a:r>
            <a:r>
              <a:rPr lang="he-IL" dirty="0"/>
              <a:t> – 8 </a:t>
            </a:r>
            <a:r>
              <a:rPr lang="he-IL" dirty="0" err="1"/>
              <a:t>דאטאסטים</a:t>
            </a:r>
            <a:r>
              <a:rPr lang="he-IL" dirty="0"/>
              <a:t> שבודקים עד כמה המודל יודע להפעיל היגיון יומיומי.</a:t>
            </a:r>
          </a:p>
          <a:p>
            <a:pPr marL="0" algn="r" defTabSz="914400" rtl="1" eaLnBrk="1" latinLnBrk="0" hangingPunct="1"/>
            <a:endParaRPr lang="he-IL" dirty="0"/>
          </a:p>
          <a:p>
            <a:pPr marL="0" algn="r" defTabSz="914400" rtl="1" eaLnBrk="1" latinLnBrk="0" hangingPunct="1"/>
            <a:r>
              <a:rPr lang="he-IL" dirty="0"/>
              <a:t>יש את </a:t>
            </a:r>
            <a:r>
              <a:rPr lang="en-US" dirty="0"/>
              <a:t>Closed-book Question Answering</a:t>
            </a:r>
            <a:r>
              <a:rPr lang="he-IL" dirty="0"/>
              <a:t> – שני </a:t>
            </a:r>
            <a:r>
              <a:rPr lang="he-IL" dirty="0" err="1"/>
              <a:t>דאטאסטים</a:t>
            </a:r>
            <a:r>
              <a:rPr lang="he-IL" dirty="0"/>
              <a:t> שכוללים שאלות ספר סגור כדי לבדוק כמה ידע המודל אוצר בתוכו.</a:t>
            </a:r>
          </a:p>
          <a:p>
            <a:pPr marL="0" algn="r" defTabSz="914400" rtl="1" eaLnBrk="1" latinLnBrk="0" hangingPunct="1"/>
            <a:endParaRPr lang="he-IL" dirty="0"/>
          </a:p>
          <a:p>
            <a:pPr marL="0" algn="r" defTabSz="914400" rtl="1" eaLnBrk="1" latinLnBrk="0" hangingPunct="1"/>
            <a:r>
              <a:rPr lang="he-IL" dirty="0"/>
              <a:t>ב-</a:t>
            </a:r>
            <a:r>
              <a:rPr lang="en-US" dirty="0"/>
              <a:t>Reading Comprehension</a:t>
            </a:r>
            <a:r>
              <a:rPr lang="he-IL" dirty="0"/>
              <a:t> משתמשים ב-שני </a:t>
            </a:r>
            <a:r>
              <a:rPr lang="he-IL" dirty="0" err="1"/>
              <a:t>דאטאסטים</a:t>
            </a:r>
            <a:r>
              <a:rPr lang="he-IL" dirty="0"/>
              <a:t> כדי לבדוק את יכולת הבנת הנקרא של המודל.</a:t>
            </a:r>
          </a:p>
          <a:p>
            <a:pPr marL="0" algn="r" defTabSz="914400" rtl="1" eaLnBrk="1" latinLnBrk="0" hangingPunct="1"/>
            <a:endParaRPr lang="he-IL" dirty="0"/>
          </a:p>
          <a:p>
            <a:pPr marL="0" algn="r" defTabSz="914400" rtl="1" eaLnBrk="1" latinLnBrk="0" hangingPunct="1"/>
            <a:r>
              <a:rPr lang="he-IL" dirty="0"/>
              <a:t>ב-</a:t>
            </a:r>
            <a:r>
              <a:rPr lang="en-US" dirty="0"/>
              <a:t>Mathematical Reasoning</a:t>
            </a:r>
            <a:r>
              <a:rPr lang="he-IL" dirty="0"/>
              <a:t> מעריכים את יכולות החשיבה המתמטית של המודל, גם כן בעזרת שני </a:t>
            </a:r>
            <a:r>
              <a:rPr lang="he-IL" dirty="0" err="1"/>
              <a:t>דאטאסטים</a:t>
            </a:r>
            <a:r>
              <a:rPr lang="he-IL" dirty="0"/>
              <a:t>.</a:t>
            </a:r>
          </a:p>
          <a:p>
            <a:pPr marL="0" algn="r" defTabSz="914400" rtl="1" eaLnBrk="1" latinLnBrk="0" hangingPunct="1"/>
            <a:endParaRPr lang="he-IL" dirty="0"/>
          </a:p>
          <a:p>
            <a:pPr marL="0" algn="r" defTabSz="914400" rtl="1" eaLnBrk="1" latinLnBrk="0" hangingPunct="1"/>
            <a:r>
              <a:rPr lang="he-IL" dirty="0"/>
              <a:t>ב-</a:t>
            </a:r>
            <a:r>
              <a:rPr lang="en-US" dirty="0"/>
              <a:t>Code Generation</a:t>
            </a:r>
            <a:r>
              <a:rPr lang="he-IL" dirty="0"/>
              <a:t> בודקים את יכולת יצירת הקוד של המודל באמצעות שני </a:t>
            </a:r>
            <a:r>
              <a:rPr lang="he-IL" dirty="0" err="1"/>
              <a:t>דאטאסטים</a:t>
            </a:r>
            <a:r>
              <a:rPr lang="he-IL" dirty="0"/>
              <a:t>.</a:t>
            </a:r>
          </a:p>
          <a:p>
            <a:pPr marL="0" algn="r" defTabSz="914400" rtl="1" eaLnBrk="1" latinLnBrk="0" hangingPunct="1"/>
            <a:endParaRPr lang="he-IL" dirty="0"/>
          </a:p>
          <a:p>
            <a:pPr marL="0" algn="r" defTabSz="914400" rtl="1" eaLnBrk="1" latinLnBrk="0" hangingPunct="1"/>
            <a:r>
              <a:rPr lang="he-IL" dirty="0" err="1"/>
              <a:t>וב</a:t>
            </a:r>
            <a:r>
              <a:rPr lang="he-IL" dirty="0"/>
              <a:t>-</a:t>
            </a:r>
            <a:r>
              <a:rPr lang="en-US" dirty="0"/>
              <a:t>MMLU</a:t>
            </a:r>
            <a:r>
              <a:rPr lang="he-IL" dirty="0"/>
              <a:t> מודדים ידע רחב היקף בתחומים רבים, ממדעים מדויקים, דרך מדעי הרוח ועד נושאים הומניים - באמצעות </a:t>
            </a:r>
            <a:r>
              <a:rPr lang="he-IL" dirty="0" err="1"/>
              <a:t>דאטאסט</a:t>
            </a:r>
            <a:r>
              <a:rPr lang="he-IL" dirty="0"/>
              <a:t> אחד גדול בשם </a:t>
            </a:r>
            <a:r>
              <a:rPr lang="en-US" dirty="0"/>
              <a:t>MMLU</a:t>
            </a:r>
            <a:r>
              <a:rPr lang="he-IL" dirty="0"/>
              <a:t>.</a:t>
            </a:r>
            <a:endParaRPr lang="en-US" dirty="0"/>
          </a:p>
          <a:p>
            <a:pPr marL="0" algn="r" defTabSz="914400" rtl="1" eaLnBrk="1" latinLnBrk="0" hangingPunct="1"/>
            <a:endParaRPr lang="en-US" dirty="0"/>
          </a:p>
          <a:p>
            <a:pPr marL="0" algn="r" defTabSz="914400" rtl="1" eaLnBrk="1" latinLnBrk="0" hangingPunct="1"/>
            <a:r>
              <a:rPr lang="he-IL" dirty="0"/>
              <a:t>בסך הכול, מדובר ב־17 </a:t>
            </a:r>
            <a:r>
              <a:rPr lang="he-IL" dirty="0" err="1"/>
              <a:t>דאטאסטים</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3</a:t>
            </a:fld>
            <a:endParaRPr lang="en-IL"/>
          </a:p>
        </p:txBody>
      </p:sp>
    </p:spTree>
    <p:extLst>
      <p:ext uri="{BB962C8B-B14F-4D97-AF65-F5344CB8AC3E}">
        <p14:creationId xmlns:p14="http://schemas.microsoft.com/office/powerpoint/2010/main" val="387475866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חוץ </a:t>
            </a:r>
            <a:r>
              <a:rPr lang="he-IL" dirty="0" err="1"/>
              <a:t>מהבנצ'מרקים</a:t>
            </a:r>
            <a:r>
              <a:rPr lang="he-IL" dirty="0"/>
              <a:t>, יש עוד שלוש מטריקות שבאמצעותן החוקרים העריכו את </a:t>
            </a:r>
            <a:r>
              <a:rPr lang="en-US" dirty="0"/>
              <a:t>LLaMA</a:t>
            </a:r>
            <a:r>
              <a:rPr lang="he-IL" dirty="0"/>
              <a:t>.</a:t>
            </a:r>
            <a:endParaRPr lang="en-US" dirty="0"/>
          </a:p>
          <a:p>
            <a:pPr marL="0" algn="r" defTabSz="914400" rtl="1" eaLnBrk="1" latinLnBrk="0" hangingPunct="1"/>
            <a:endParaRPr lang="en-US" dirty="0"/>
          </a:p>
          <a:p>
            <a:pPr marL="0" algn="r" defTabSz="914400" rtl="1" eaLnBrk="1" latinLnBrk="0" hangingPunct="1"/>
            <a:r>
              <a:rPr lang="he-IL" dirty="0"/>
              <a:t>ההבדל המרכזי הוא שבניגוד </a:t>
            </a:r>
            <a:r>
              <a:rPr lang="he-IL" dirty="0" err="1"/>
              <a:t>לבנצ'מרקים</a:t>
            </a:r>
            <a:r>
              <a:rPr lang="he-IL" dirty="0"/>
              <a:t> שמבוססים על </a:t>
            </a:r>
            <a:r>
              <a:rPr lang="he-IL" dirty="0" err="1"/>
              <a:t>דאטאסטים</a:t>
            </a:r>
            <a:r>
              <a:rPr lang="he-IL" dirty="0"/>
              <a:t>, </a:t>
            </a:r>
            <a:r>
              <a:rPr lang="he-IL" dirty="0" err="1"/>
              <a:t>המטריקות</a:t>
            </a:r>
            <a:r>
              <a:rPr lang="he-IL" dirty="0"/>
              <a:t> האלו נמדדות בדרכים אחרות, כפי שנראה בהמשך.</a:t>
            </a:r>
          </a:p>
          <a:p>
            <a:pPr marL="0" algn="r" defTabSz="914400" rtl="1" eaLnBrk="1" latinLnBrk="0" hangingPunct="1"/>
            <a:endParaRPr lang="he-IL" dirty="0"/>
          </a:p>
          <a:p>
            <a:pPr marL="0" algn="r" defTabSz="914400" rtl="1" eaLnBrk="1" latinLnBrk="0" hangingPunct="1"/>
            <a:r>
              <a:rPr lang="he-IL" dirty="0" err="1"/>
              <a:t>המטריקות</a:t>
            </a:r>
            <a:r>
              <a:rPr lang="he-IL" dirty="0"/>
              <a:t> הן:</a:t>
            </a:r>
          </a:p>
          <a:p>
            <a:pPr marL="0" algn="r" defTabSz="914400" rtl="1" eaLnBrk="1" latinLnBrk="0" hangingPunct="1"/>
            <a:endParaRPr lang="he-IL" dirty="0"/>
          </a:p>
          <a:p>
            <a:pPr marL="0" algn="r" defTabSz="914400" rtl="1" eaLnBrk="1" latinLnBrk="0" hangingPunct="1"/>
            <a:r>
              <a:rPr lang="he-IL" dirty="0"/>
              <a:t>1. יכולת המודל לעקוב אחרי הוראות - נמדדה בניסוי ייעודי.</a:t>
            </a:r>
          </a:p>
          <a:p>
            <a:pPr marL="0" algn="r" defTabSz="914400" rtl="1" eaLnBrk="1" latinLnBrk="0" hangingPunct="1"/>
            <a:endParaRPr lang="he-IL" dirty="0"/>
          </a:p>
          <a:p>
            <a:pPr marL="0" algn="r" defTabSz="914400" rtl="1" eaLnBrk="1" latinLnBrk="0" hangingPunct="1"/>
            <a:r>
              <a:rPr lang="he-IL" dirty="0"/>
              <a:t>2. מידת ה-</a:t>
            </a:r>
            <a:r>
              <a:rPr lang="en-US" dirty="0"/>
              <a:t>bias</a:t>
            </a:r>
            <a:r>
              <a:rPr lang="he-IL" dirty="0"/>
              <a:t> </a:t>
            </a:r>
            <a:r>
              <a:rPr lang="he-IL" dirty="0" err="1"/>
              <a:t>וה</a:t>
            </a:r>
            <a:r>
              <a:rPr lang="he-IL" dirty="0"/>
              <a:t>-</a:t>
            </a:r>
            <a:r>
              <a:rPr lang="en-US" dirty="0"/>
              <a:t>toxicity</a:t>
            </a:r>
            <a:r>
              <a:rPr lang="he-IL" dirty="0"/>
              <a:t> של המודל – נמדדים באמצעות קריאות API.</a:t>
            </a:r>
          </a:p>
          <a:p>
            <a:pPr marL="0" algn="r" defTabSz="914400" rtl="1" eaLnBrk="1" latinLnBrk="0" hangingPunct="1"/>
            <a:endParaRPr lang="he-IL" dirty="0"/>
          </a:p>
          <a:p>
            <a:pPr marL="0" algn="r" defTabSz="914400" rtl="1" eaLnBrk="1" latinLnBrk="0" hangingPunct="1"/>
            <a:r>
              <a:rPr lang="he-IL" dirty="0"/>
              <a:t>3. הנזק הסביבתי שנגרם מאימון המודל - חושב באמצעות משוואות.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4</a:t>
            </a:fld>
            <a:endParaRPr lang="en-IL"/>
          </a:p>
        </p:txBody>
      </p:sp>
    </p:spTree>
    <p:extLst>
      <p:ext uri="{BB962C8B-B14F-4D97-AF65-F5344CB8AC3E}">
        <p14:creationId xmlns:p14="http://schemas.microsoft.com/office/powerpoint/2010/main" val="37247929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בשקף הזה רואים את המודלים אליהם משווים את </a:t>
            </a:r>
            <a:r>
              <a:rPr lang="en-US" dirty="0"/>
              <a:t>LLaMA</a:t>
            </a:r>
            <a:r>
              <a:rPr lang="he-IL" dirty="0"/>
              <a:t>.</a:t>
            </a:r>
          </a:p>
          <a:p>
            <a:pPr marL="0" algn="r" defTabSz="914400" rtl="1" eaLnBrk="1" latinLnBrk="0" hangingPunct="1"/>
            <a:r>
              <a:rPr lang="he-IL" dirty="0"/>
              <a:t>מדובר במודלים בגדלים שונים, חלקם ציבוריים וחלקם קנייניים, כולם פותחו על-ידי קבוצות מחקר מובילות.</a:t>
            </a:r>
          </a:p>
          <a:p>
            <a:pPr marL="0" algn="r" defTabSz="914400" rtl="1" eaLnBrk="1" latinLnBrk="0" hangingPunct="1"/>
            <a:r>
              <a:rPr lang="he-IL" dirty="0"/>
              <a:t>חלק מהמודלים מותאמים למשימות ספציפיות, כמו </a:t>
            </a:r>
            <a:r>
              <a:rPr lang="en-US" dirty="0"/>
              <a:t>Minerva</a:t>
            </a:r>
            <a:r>
              <a:rPr lang="he-IL" dirty="0"/>
              <a:t>, וחלקם כלליים מאוד כמו GPT-3.</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5</a:t>
            </a:fld>
            <a:endParaRPr lang="en-IL"/>
          </a:p>
        </p:txBody>
      </p:sp>
    </p:spTree>
    <p:extLst>
      <p:ext uri="{BB962C8B-B14F-4D97-AF65-F5344CB8AC3E}">
        <p14:creationId xmlns:p14="http://schemas.microsoft.com/office/powerpoint/2010/main" val="25757652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נתחיל ב-</a:t>
            </a:r>
            <a:r>
              <a:rPr lang="en-US" dirty="0"/>
              <a:t>Common Sense Reasoning</a:t>
            </a:r>
            <a:r>
              <a:rPr lang="he-IL" dirty="0"/>
              <a:t>.</a:t>
            </a:r>
          </a:p>
          <a:p>
            <a:pPr marL="0" algn="r" defTabSz="914400" rtl="1" eaLnBrk="1" latinLnBrk="0" hangingPunct="1"/>
            <a:endParaRPr lang="he-IL" dirty="0"/>
          </a:p>
          <a:p>
            <a:pPr marL="0" algn="r" defTabSz="914400" rtl="1" eaLnBrk="1" latinLnBrk="0" hangingPunct="1"/>
            <a:r>
              <a:rPr lang="he-IL" dirty="0"/>
              <a:t>במדד זה מציגים למודל שאלות רב-ברירה מ-8 </a:t>
            </a:r>
            <a:r>
              <a:rPr lang="he-IL" dirty="0" err="1"/>
              <a:t>דאטאסטים</a:t>
            </a:r>
            <a:r>
              <a:rPr lang="he-IL" dirty="0"/>
              <a:t>, הכוללים מבחני השלמת משפטים עם או בלי בחירת מילה.</a:t>
            </a:r>
          </a:p>
          <a:p>
            <a:pPr marL="0" algn="r" defTabSz="914400" rtl="1" eaLnBrk="1" latinLnBrk="0" hangingPunct="1"/>
            <a:endParaRPr lang="he-IL" dirty="0"/>
          </a:p>
          <a:p>
            <a:pPr marL="0" algn="r" defTabSz="914400" rtl="1" eaLnBrk="1" latinLnBrk="0" hangingPunct="1"/>
            <a:r>
              <a:rPr lang="he-IL" dirty="0"/>
              <a:t>המבחן נערך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he-IL" dirty="0"/>
              <a:t>אפשר לראות שהמודל הגדול, </a:t>
            </a:r>
            <a:r>
              <a:rPr lang="en-US" dirty="0"/>
              <a:t>LLaMA‑65B</a:t>
            </a:r>
            <a:r>
              <a:rPr lang="he-IL" dirty="0"/>
              <a:t>, מתעלה על רוב המודלים. הוא מנצח את </a:t>
            </a:r>
            <a:r>
              <a:rPr lang="en-US" dirty="0"/>
              <a:t>Chinchilla‑70B</a:t>
            </a:r>
            <a:r>
              <a:rPr lang="he-IL" dirty="0"/>
              <a:t>, מודל בסדר גודל דומה, ואפילו גובר על </a:t>
            </a:r>
            <a:r>
              <a:rPr lang="en-US" dirty="0"/>
              <a:t>PaLM‑540B</a:t>
            </a:r>
            <a:r>
              <a:rPr lang="he-IL" dirty="0"/>
              <a:t>, </a:t>
            </a:r>
            <a:r>
              <a:rPr lang="en-US" dirty="0"/>
              <a:t> </a:t>
            </a:r>
            <a:r>
              <a:rPr lang="he-IL" dirty="0"/>
              <a:t>שהוא מודל ענק.</a:t>
            </a:r>
          </a:p>
          <a:p>
            <a:pPr marL="0" algn="r" defTabSz="914400" rtl="1" eaLnBrk="1" latinLnBrk="0" hangingPunct="1"/>
            <a:endParaRPr lang="he-IL" dirty="0"/>
          </a:p>
          <a:p>
            <a:pPr marL="0" algn="r" defTabSz="914400" rtl="1" eaLnBrk="1" latinLnBrk="0" hangingPunct="1"/>
            <a:r>
              <a:rPr lang="he-IL" dirty="0"/>
              <a:t>בנוסף, </a:t>
            </a:r>
            <a:r>
              <a:rPr lang="en-US" dirty="0"/>
              <a:t>LLaMA‑13B</a:t>
            </a:r>
            <a:r>
              <a:rPr lang="he-IL" dirty="0"/>
              <a:t> מנצח את </a:t>
            </a:r>
            <a:r>
              <a:rPr lang="en-US" dirty="0"/>
              <a:t>GPT‑3</a:t>
            </a:r>
            <a:r>
              <a:rPr lang="he-IL" dirty="0"/>
              <a:t> ברוב המדדים, למרות שהוא קטן ממנו בערך פי 10 - אחד הממצאים המרכזיים של המאמר, שאפשר להשיג שיפור בביצועים גם בלי להמשיך להגדיל את כמות הפרמטרים.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7</a:t>
            </a:fld>
            <a:endParaRPr lang="en-IL"/>
          </a:p>
        </p:txBody>
      </p:sp>
    </p:spTree>
    <p:extLst>
      <p:ext uri="{BB962C8B-B14F-4D97-AF65-F5344CB8AC3E}">
        <p14:creationId xmlns:p14="http://schemas.microsoft.com/office/powerpoint/2010/main" val="5674186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נעבור </a:t>
            </a:r>
            <a:r>
              <a:rPr lang="he-IL" dirty="0" err="1"/>
              <a:t>לבנצ'מרק</a:t>
            </a:r>
            <a:r>
              <a:rPr lang="he-IL" dirty="0"/>
              <a:t> </a:t>
            </a:r>
            <a:r>
              <a:rPr lang="en-US" dirty="0"/>
              <a:t>Closed-Book Question Answering</a:t>
            </a:r>
            <a:r>
              <a:rPr lang="he-IL" dirty="0"/>
              <a:t>.</a:t>
            </a:r>
          </a:p>
          <a:p>
            <a:pPr marL="0" algn="r" defTabSz="914400" rtl="1" eaLnBrk="1" latinLnBrk="0" hangingPunct="1"/>
            <a:endParaRPr lang="he-IL" dirty="0"/>
          </a:p>
          <a:p>
            <a:pPr marL="0" algn="r" defTabSz="914400" rtl="1" eaLnBrk="1" latinLnBrk="0" hangingPunct="1"/>
            <a:r>
              <a:rPr lang="he-IL" dirty="0"/>
              <a:t>כאן בודקים את ההתאמה המדויקת בין תשובת המודל לתשובה הנכונה. לכן, ניתן לראות הבדלים משמעותיים ככל שמספקים למודל יותר דוגמאות לפני השאלה.</a:t>
            </a:r>
          </a:p>
          <a:p>
            <a:pPr marL="0" algn="r" defTabSz="914400" rtl="1" eaLnBrk="1" latinLnBrk="0" hangingPunct="1"/>
            <a:endParaRPr lang="he-IL" dirty="0"/>
          </a:p>
          <a:p>
            <a:pPr marL="0" algn="r" defTabSz="914400" rtl="1" eaLnBrk="1" latinLnBrk="0" hangingPunct="1"/>
            <a:r>
              <a:rPr lang="he-IL" dirty="0"/>
              <a:t>כאן השתמשו ב-</a:t>
            </a:r>
            <a:r>
              <a:rPr lang="en-US" dirty="0"/>
              <a:t>zero-shot</a:t>
            </a:r>
            <a:r>
              <a:rPr lang="he-IL" dirty="0"/>
              <a:t> כ-</a:t>
            </a:r>
            <a:r>
              <a:rPr lang="en-US" dirty="0"/>
              <a:t>baseline</a:t>
            </a:r>
            <a:r>
              <a:rPr lang="he-IL" dirty="0"/>
              <a:t>, אחר כך ב-</a:t>
            </a:r>
            <a:r>
              <a:rPr lang="en-US" dirty="0"/>
              <a:t>1-shot</a:t>
            </a:r>
            <a:r>
              <a:rPr lang="he-IL" dirty="0"/>
              <a:t> </a:t>
            </a:r>
            <a:r>
              <a:rPr lang="he-IL" dirty="0" err="1"/>
              <a:t>וב</a:t>
            </a:r>
            <a:r>
              <a:rPr lang="he-IL" dirty="0"/>
              <a:t>-</a:t>
            </a:r>
            <a:r>
              <a:rPr lang="en-US" dirty="0"/>
              <a:t>5-shot</a:t>
            </a:r>
            <a:r>
              <a:rPr lang="he-IL" dirty="0"/>
              <a:t>, ואף הגזימו וניסו גם </a:t>
            </a:r>
            <a:r>
              <a:rPr lang="en-US" dirty="0"/>
              <a:t>64-shot</a:t>
            </a:r>
            <a:r>
              <a:rPr lang="he-IL" dirty="0"/>
              <a:t>, כנראה כדי לראות לכמה אפשר להגיע עם ודאות גבוהה שהמודל הבין את המשימה.</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השיג תוצאות מצוינות בכל </a:t>
            </a:r>
            <a:r>
              <a:rPr lang="en-US" dirty="0"/>
              <a:t>setting</a:t>
            </a:r>
            <a:r>
              <a:rPr lang="he-IL" dirty="0"/>
              <a:t>.</a:t>
            </a:r>
          </a:p>
          <a:p>
            <a:pPr marL="0" algn="r" defTabSz="914400" rtl="1" eaLnBrk="1" latinLnBrk="0" hangingPunct="1"/>
            <a:endParaRPr lang="en-US" dirty="0"/>
          </a:p>
          <a:p>
            <a:pPr marL="0" algn="r" defTabSz="914400" rtl="1" eaLnBrk="1" latinLnBrk="0" hangingPunct="1"/>
            <a:r>
              <a:rPr lang="he-IL" dirty="0"/>
              <a:t>בנוסף, </a:t>
            </a:r>
            <a:r>
              <a:rPr lang="en-US" dirty="0"/>
              <a:t>LLaMA‑13B</a:t>
            </a:r>
            <a:r>
              <a:rPr lang="he-IL" dirty="0"/>
              <a:t> מציג ביצועים שמתחרים ב-</a:t>
            </a:r>
            <a:r>
              <a:rPr lang="en-US" dirty="0"/>
              <a:t>GPT‑3</a:t>
            </a:r>
            <a:r>
              <a:rPr lang="he-IL" dirty="0"/>
              <a:t> </a:t>
            </a:r>
            <a:r>
              <a:rPr lang="he-IL" dirty="0" err="1"/>
              <a:t>וב</a:t>
            </a:r>
            <a:r>
              <a:rPr lang="he-IL" dirty="0"/>
              <a:t>-</a:t>
            </a:r>
            <a:r>
              <a:rPr lang="en-US" dirty="0"/>
              <a:t>Chinchilla‑70B</a:t>
            </a:r>
            <a:r>
              <a:rPr lang="he-IL" dirty="0"/>
              <a:t>, למרות שהוא קטן מהם פי 5 עד פי 10.</a:t>
            </a:r>
          </a:p>
          <a:p>
            <a:pPr marL="0" algn="r" defTabSz="914400" rtl="1" eaLnBrk="1" latinLnBrk="0" hangingPunct="1"/>
            <a:endParaRPr lang="he-IL" dirty="0"/>
          </a:p>
          <a:p>
            <a:pPr marL="0" algn="r" defTabSz="914400" rtl="1" eaLnBrk="1" latinLnBrk="0" hangingPunct="1"/>
            <a:r>
              <a:rPr lang="he-IL" dirty="0"/>
              <a:t>יתרון נוסף של </a:t>
            </a:r>
            <a:r>
              <a:rPr lang="en-US" dirty="0"/>
              <a:t>LLaMA‑13B</a:t>
            </a:r>
            <a:r>
              <a:rPr lang="he-IL" dirty="0"/>
              <a:t> הוא שניתן להריץ </a:t>
            </a:r>
            <a:r>
              <a:rPr lang="en-US" dirty="0"/>
              <a:t>infer</a:t>
            </a:r>
            <a:r>
              <a:rPr lang="he-IL" dirty="0"/>
              <a:t> שלו על יחידת GPU בודדת, שעוד שנדרשות מספר יחידות למודלים הגדולים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8</a:t>
            </a:fld>
            <a:endParaRPr lang="en-IL"/>
          </a:p>
        </p:txBody>
      </p:sp>
    </p:spTree>
    <p:extLst>
      <p:ext uri="{BB962C8B-B14F-4D97-AF65-F5344CB8AC3E}">
        <p14:creationId xmlns:p14="http://schemas.microsoft.com/office/powerpoint/2010/main" val="39921453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נעבור ל-</a:t>
            </a:r>
            <a:r>
              <a:rPr lang="en-US" dirty="0"/>
              <a:t>Reading Comprehension</a:t>
            </a:r>
            <a:r>
              <a:rPr lang="he-IL" dirty="0"/>
              <a:t>.</a:t>
            </a:r>
          </a:p>
          <a:p>
            <a:pPr marL="0" algn="r" defTabSz="914400" rtl="1" eaLnBrk="1" latinLnBrk="0" hangingPunct="1"/>
            <a:endParaRPr lang="he-IL" dirty="0"/>
          </a:p>
          <a:p>
            <a:pPr marL="0" algn="r" defTabSz="914400" rtl="1" eaLnBrk="1" latinLnBrk="0" hangingPunct="1"/>
            <a:r>
              <a:rPr lang="he-IL" dirty="0"/>
              <a:t>כאן מציגים למודל פסקאות טקסט בשתי רמות קושי, ואז שואלים אותו שאלות רב-ברירה ב-</a:t>
            </a:r>
            <a:r>
              <a:rPr lang="en-US" dirty="0"/>
              <a:t>zero-shot</a:t>
            </a:r>
            <a:r>
              <a:rPr lang="he-IL" dirty="0"/>
              <a:t>.</a:t>
            </a:r>
            <a:endParaRPr lang="en-US" dirty="0"/>
          </a:p>
          <a:p>
            <a:pPr marL="0" algn="r" defTabSz="914400" rtl="1" eaLnBrk="1" latinLnBrk="0" hangingPunct="1"/>
            <a:endParaRPr lang="en-US" dirty="0"/>
          </a:p>
          <a:p>
            <a:pPr marL="0" algn="r" defTabSz="914400" rtl="1" eaLnBrk="1" latinLnBrk="0" hangingPunct="1"/>
            <a:r>
              <a:rPr lang="he-IL" dirty="0"/>
              <a:t>מהמדד הזה עולה כי </a:t>
            </a:r>
            <a:r>
              <a:rPr lang="en-US" dirty="0"/>
              <a:t>LLaMA‑65B</a:t>
            </a:r>
            <a:r>
              <a:rPr lang="he-IL" dirty="0"/>
              <a:t> מתעלה על </a:t>
            </a:r>
            <a:r>
              <a:rPr lang="en-US" dirty="0"/>
              <a:t>PaLM‑540B</a:t>
            </a:r>
            <a:r>
              <a:rPr lang="he-IL" dirty="0"/>
              <a:t>, וכדי להתחרות ב-</a:t>
            </a:r>
            <a:r>
              <a:rPr lang="en-US" dirty="0"/>
              <a:t>GPT-3</a:t>
            </a:r>
            <a:r>
              <a:rPr lang="he-IL" dirty="0"/>
              <a:t> מספיק גם </a:t>
            </a:r>
            <a:r>
              <a:rPr lang="en-US" dirty="0"/>
              <a:t>LLaMA-13B</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9</a:t>
            </a:fld>
            <a:endParaRPr lang="en-IL"/>
          </a:p>
        </p:txBody>
      </p:sp>
    </p:spTree>
    <p:extLst>
      <p:ext uri="{BB962C8B-B14F-4D97-AF65-F5344CB8AC3E}">
        <p14:creationId xmlns:p14="http://schemas.microsoft.com/office/powerpoint/2010/main" val="26021489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למדוד את יכולת המודל לפתור בעיות מתמטיות השתמשו בשני </a:t>
            </a:r>
            <a:r>
              <a:rPr lang="he-IL" dirty="0" err="1"/>
              <a:t>הדאטאסטים</a:t>
            </a:r>
            <a:r>
              <a:rPr lang="he-IL" dirty="0"/>
              <a:t>: </a:t>
            </a:r>
            <a:r>
              <a:rPr lang="en-US" dirty="0"/>
              <a:t>MATH</a:t>
            </a:r>
            <a:r>
              <a:rPr lang="he-IL" dirty="0"/>
              <a:t> ו-</a:t>
            </a:r>
            <a:r>
              <a:rPr lang="en-US" dirty="0"/>
              <a:t>GSM8k</a:t>
            </a:r>
            <a:r>
              <a:rPr lang="he-IL" dirty="0"/>
              <a:t>, בתצורת </a:t>
            </a:r>
            <a:r>
              <a:rPr lang="en-US" dirty="0"/>
              <a:t>zero-shot</a:t>
            </a:r>
            <a:r>
              <a:rPr lang="he-IL" dirty="0"/>
              <a:t>, עם ובלי </a:t>
            </a:r>
            <a:r>
              <a:rPr lang="en-US" dirty="0"/>
              <a:t>majority vote</a:t>
            </a:r>
            <a:r>
              <a:rPr lang="he-IL" dirty="0"/>
              <a:t>.</a:t>
            </a:r>
          </a:p>
          <a:p>
            <a:pPr marL="0" algn="r" defTabSz="914400" rtl="1" eaLnBrk="1" latinLnBrk="0" hangingPunct="1"/>
            <a:endParaRPr lang="he-IL" dirty="0"/>
          </a:p>
          <a:p>
            <a:pPr marL="0" algn="r" defTabSz="914400" rtl="1" eaLnBrk="1" latinLnBrk="0" hangingPunct="1"/>
            <a:r>
              <a:rPr lang="he-IL" dirty="0"/>
              <a:t>כלומר, המודל קיבל מספר ניסיונות לענות על השאלה, ואם רוב התשובות היו נכונות - זה נחשב נכון.</a:t>
            </a:r>
          </a:p>
          <a:p>
            <a:pPr marL="0" algn="r" defTabSz="914400" rtl="1" eaLnBrk="1" latinLnBrk="0" hangingPunct="1"/>
            <a:endParaRPr lang="he-IL" dirty="0"/>
          </a:p>
          <a:p>
            <a:pPr marL="0" algn="r" defTabSz="914400" rtl="1" eaLnBrk="1" latinLnBrk="0" hangingPunct="1"/>
            <a:r>
              <a:rPr lang="he-IL" dirty="0"/>
              <a:t>במדד זה משווים את </a:t>
            </a:r>
            <a:r>
              <a:rPr lang="en-US" dirty="0"/>
              <a:t>LLaMA</a:t>
            </a:r>
            <a:r>
              <a:rPr lang="he-IL" dirty="0"/>
              <a:t> ל-</a:t>
            </a:r>
            <a:r>
              <a:rPr lang="en-US" dirty="0"/>
              <a:t>Minerva</a:t>
            </a:r>
            <a:r>
              <a:rPr lang="he-IL" dirty="0"/>
              <a:t>, סדרת מודלים שעברו </a:t>
            </a:r>
            <a:r>
              <a:rPr lang="he-IL" dirty="0" err="1"/>
              <a:t>טיונינג</a:t>
            </a:r>
            <a:r>
              <a:rPr lang="he-IL" dirty="0"/>
              <a:t> לפתרון שאלות מתמטיות, </a:t>
            </a:r>
            <a:r>
              <a:rPr lang="he-IL" dirty="0" err="1"/>
              <a:t>ול</a:t>
            </a:r>
            <a:r>
              <a:rPr lang="he-IL" dirty="0"/>
              <a:t>-</a:t>
            </a:r>
            <a:r>
              <a:rPr lang="en-US" dirty="0" err="1"/>
              <a:t>PaLM</a:t>
            </a:r>
            <a:r>
              <a:rPr lang="he-IL" dirty="0"/>
              <a:t> שאם תשאלו אותי החוקרים אוהבים להשוות אליו כי כמעט תמיד </a:t>
            </a:r>
            <a:r>
              <a:rPr lang="en-US" dirty="0"/>
              <a:t>LLaMA</a:t>
            </a:r>
            <a:r>
              <a:rPr lang="he-IL" dirty="0"/>
              <a:t> מנצח אותו.</a:t>
            </a:r>
          </a:p>
          <a:p>
            <a:pPr marL="0" algn="r" defTabSz="914400" rtl="1" eaLnBrk="1" latinLnBrk="0" hangingPunct="1"/>
            <a:endParaRPr lang="he-IL" dirty="0"/>
          </a:p>
          <a:p>
            <a:pPr marL="0" algn="r" defTabSz="914400" rtl="1" eaLnBrk="1" latinLnBrk="0" hangingPunct="1"/>
            <a:r>
              <a:rPr lang="he-IL" dirty="0"/>
              <a:t>אפשר לראות ש-</a:t>
            </a:r>
            <a:r>
              <a:rPr lang="en-US" dirty="0"/>
              <a:t>LLaMA‑65B</a:t>
            </a:r>
            <a:r>
              <a:rPr lang="he-IL" dirty="0"/>
              <a:t> מנצח את </a:t>
            </a:r>
            <a:r>
              <a:rPr lang="en-US" dirty="0"/>
              <a:t>Minerva‑62B</a:t>
            </a:r>
            <a:r>
              <a:rPr lang="he-IL" dirty="0"/>
              <a:t> על </a:t>
            </a:r>
            <a:r>
              <a:rPr lang="en-US" dirty="0"/>
              <a:t>GSM8k</a:t>
            </a:r>
            <a:r>
              <a:rPr lang="he-IL" dirty="0"/>
              <a:t> – וזאת ללא </a:t>
            </a:r>
            <a:r>
              <a:rPr lang="he-IL" dirty="0" err="1"/>
              <a:t>טיונינג</a:t>
            </a:r>
            <a:r>
              <a:rPr lang="he-IL" dirty="0"/>
              <a:t> על מתמטיקה.</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10</a:t>
            </a:fld>
            <a:endParaRPr lang="en-IL"/>
          </a:p>
        </p:txBody>
      </p:sp>
    </p:spTree>
    <p:extLst>
      <p:ext uri="{BB962C8B-B14F-4D97-AF65-F5344CB8AC3E}">
        <p14:creationId xmlns:p14="http://schemas.microsoft.com/office/powerpoint/2010/main" val="403408483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כדי לבחון את יכולת כתיבת הקוד של המודל משתמשים </a:t>
            </a:r>
            <a:r>
              <a:rPr lang="he-IL" dirty="0" err="1"/>
              <a:t>בדאטאסטים</a:t>
            </a:r>
            <a:r>
              <a:rPr lang="he-IL" dirty="0"/>
              <a:t> </a:t>
            </a:r>
            <a:r>
              <a:rPr lang="en-US" dirty="0" err="1"/>
              <a:t>HumanEval</a:t>
            </a:r>
            <a:r>
              <a:rPr lang="he-IL" dirty="0"/>
              <a:t> ו-</a:t>
            </a:r>
            <a:r>
              <a:rPr lang="en-US" dirty="0"/>
              <a:t>MBPP</a:t>
            </a:r>
            <a:r>
              <a:rPr lang="he-IL" dirty="0"/>
              <a:t>.</a:t>
            </a:r>
          </a:p>
          <a:p>
            <a:pPr marL="0" algn="r" defTabSz="914400" rtl="1" eaLnBrk="1" latinLnBrk="0" hangingPunct="1"/>
            <a:endParaRPr lang="he-IL" dirty="0"/>
          </a:p>
          <a:p>
            <a:pPr marL="0" algn="r" defTabSz="914400" rtl="1" eaLnBrk="1" latinLnBrk="0" hangingPunct="1"/>
            <a:r>
              <a:rPr lang="he-IL" dirty="0"/>
              <a:t>באחד מהם מציגים למודל תיאור פונקציה, ובשני מציגים חתימה עם </a:t>
            </a:r>
            <a:r>
              <a:rPr lang="en-US" dirty="0"/>
              <a:t>docstring</a:t>
            </a:r>
            <a:r>
              <a:rPr lang="he-IL" dirty="0"/>
              <a:t>, ומצפים שהוא יכתוב פונקציה תקנית ב‑</a:t>
            </a:r>
            <a:r>
              <a:rPr lang="en-US" dirty="0"/>
              <a:t>Python</a:t>
            </a:r>
            <a:r>
              <a:rPr lang="he-IL" dirty="0"/>
              <a:t> שתעבור </a:t>
            </a:r>
            <a:r>
              <a:rPr lang="en-US" dirty="0"/>
              <a:t>unit-test</a:t>
            </a:r>
            <a:r>
              <a:rPr lang="he-IL" dirty="0"/>
              <a:t>.</a:t>
            </a:r>
            <a:endParaRPr lang="en-US" dirty="0"/>
          </a:p>
          <a:p>
            <a:pPr marL="0" algn="r" defTabSz="914400" rtl="1" eaLnBrk="1" latinLnBrk="0" hangingPunct="1"/>
            <a:endParaRPr lang="en-US" dirty="0"/>
          </a:p>
          <a:p>
            <a:pPr marL="0" algn="r" defTabSz="914400" rtl="1" eaLnBrk="1" latinLnBrk="0" hangingPunct="1"/>
            <a:r>
              <a:rPr lang="he-IL" dirty="0"/>
              <a:t>במדד זה משתמשים ב-</a:t>
            </a:r>
            <a:r>
              <a:rPr lang="en-US" dirty="0"/>
              <a:t>zero-shot</a:t>
            </a:r>
            <a:r>
              <a:rPr lang="he-IL" dirty="0"/>
              <a:t> ו-</a:t>
            </a:r>
            <a:r>
              <a:rPr lang="en-US" dirty="0"/>
              <a:t>few-shot</a:t>
            </a:r>
            <a:r>
              <a:rPr lang="he-IL" dirty="0"/>
              <a:t>, על פני ניסיונות רבים: 1 או 100 עבור </a:t>
            </a:r>
            <a:r>
              <a:rPr lang="en-US" dirty="0" err="1"/>
              <a:t>HumanEval</a:t>
            </a:r>
            <a:r>
              <a:rPr lang="he-IL" dirty="0"/>
              <a:t>, ו‑80 עבור </a:t>
            </a:r>
            <a:r>
              <a:rPr lang="en-US" dirty="0"/>
              <a:t>MBPP</a:t>
            </a:r>
            <a:r>
              <a:rPr lang="he-IL" dirty="0"/>
              <a:t>.</a:t>
            </a:r>
          </a:p>
          <a:p>
            <a:pPr marL="0" algn="r" defTabSz="914400" rtl="1" eaLnBrk="1" latinLnBrk="0" hangingPunct="1"/>
            <a:r>
              <a:rPr lang="he-IL" dirty="0"/>
              <a:t>כלומר, ב-</a:t>
            </a:r>
            <a:r>
              <a:rPr lang="en-US" dirty="0"/>
              <a:t>pass@100</a:t>
            </a:r>
            <a:r>
              <a:rPr lang="he-IL" dirty="0"/>
              <a:t> מספיק שהמודל יעבור </a:t>
            </a:r>
            <a:r>
              <a:rPr lang="en-US" dirty="0"/>
              <a:t>unit-test</a:t>
            </a:r>
            <a:r>
              <a:rPr lang="he-IL" dirty="0"/>
              <a:t> פעם אחת מתוך 100.</a:t>
            </a:r>
          </a:p>
          <a:p>
            <a:pPr marL="0" algn="r" defTabSz="914400" rtl="1" eaLnBrk="1" latinLnBrk="0" hangingPunct="1"/>
            <a:r>
              <a:rPr lang="he-IL" dirty="0"/>
              <a:t>כתוצאה מכך, יש שיפור דרמטי בין </a:t>
            </a:r>
            <a:r>
              <a:rPr lang="en-US" dirty="0"/>
              <a:t>pass@1</a:t>
            </a:r>
            <a:r>
              <a:rPr lang="he-IL" dirty="0"/>
              <a:t> ל‑</a:t>
            </a:r>
            <a:r>
              <a:rPr lang="en-US" dirty="0"/>
              <a:t>pass@100</a:t>
            </a:r>
            <a:r>
              <a:rPr lang="he-IL" dirty="0"/>
              <a:t> או </a:t>
            </a:r>
            <a:r>
              <a:rPr lang="en-US" dirty="0"/>
              <a:t>pass@80</a:t>
            </a:r>
            <a:r>
              <a:rPr lang="he-IL" dirty="0"/>
              <a:t>.,אך זה בסדר, כי כל המודלים נבחנים באותו אופן, ולא סביר שמודל יצליח לעבור </a:t>
            </a:r>
            <a:r>
              <a:rPr lang="en-US" dirty="0"/>
              <a:t>unit-test</a:t>
            </a:r>
            <a:r>
              <a:rPr lang="he-IL" dirty="0"/>
              <a:t> בטעות (כמובן, תלוי באיכות הטסט).</a:t>
            </a:r>
          </a:p>
          <a:p>
            <a:pPr marL="0" algn="r" defTabSz="914400" rtl="1" eaLnBrk="1" latinLnBrk="0" hangingPunct="1"/>
            <a:endParaRPr lang="he-IL" dirty="0"/>
          </a:p>
          <a:p>
            <a:pPr marL="0" algn="r" defTabSz="914400" rtl="1" eaLnBrk="1" latinLnBrk="0" hangingPunct="1"/>
            <a:r>
              <a:rPr lang="he-IL" dirty="0"/>
              <a:t>כאן משווים את </a:t>
            </a:r>
            <a:r>
              <a:rPr lang="en-US" dirty="0"/>
              <a:t>LLaMA</a:t>
            </a:r>
            <a:r>
              <a:rPr lang="he-IL" dirty="0"/>
              <a:t> ל-</a:t>
            </a:r>
            <a:r>
              <a:rPr lang="en-US" dirty="0"/>
              <a:t>LaMDA</a:t>
            </a:r>
            <a:r>
              <a:rPr lang="he-IL" dirty="0"/>
              <a:t> ו-</a:t>
            </a:r>
            <a:r>
              <a:rPr lang="en-US" dirty="0" err="1"/>
              <a:t>PaLM</a:t>
            </a:r>
            <a:r>
              <a:rPr lang="he-IL" dirty="0"/>
              <a:t>.</a:t>
            </a:r>
          </a:p>
          <a:p>
            <a:pPr marL="0" algn="r" defTabSz="914400" rtl="1" eaLnBrk="1" latinLnBrk="0" hangingPunct="1"/>
            <a:r>
              <a:rPr lang="he-IL" dirty="0"/>
              <a:t>ניתן לראות ש-</a:t>
            </a:r>
            <a:r>
              <a:rPr lang="en-US" dirty="0"/>
              <a:t>LLaMA‑13B</a:t>
            </a:r>
            <a:r>
              <a:rPr lang="he-IL" dirty="0"/>
              <a:t> מנצח מודל מתחרה בגודל </a:t>
            </a:r>
            <a:r>
              <a:rPr lang="en-US" dirty="0"/>
              <a:t>137B</a:t>
            </a:r>
            <a:r>
              <a:rPr lang="he-IL" dirty="0"/>
              <a:t> בשני </a:t>
            </a:r>
            <a:r>
              <a:rPr lang="he-IL" dirty="0" err="1"/>
              <a:t>דאטאסטים</a:t>
            </a:r>
            <a:r>
              <a:rPr lang="he-IL" dirty="0"/>
              <a:t>, ו-</a:t>
            </a:r>
            <a:r>
              <a:rPr lang="en-US" dirty="0"/>
              <a:t>LLaMA-65B</a:t>
            </a:r>
            <a:r>
              <a:rPr lang="he-IL" dirty="0"/>
              <a:t> גובר על </a:t>
            </a:r>
            <a:r>
              <a:rPr lang="en-US" dirty="0"/>
              <a:t>PaLM-62B</a:t>
            </a:r>
            <a:r>
              <a:rPr lang="he-IL" dirty="0"/>
              <a:t> אפילו </a:t>
            </a:r>
            <a:r>
              <a:rPr lang="he-IL" dirty="0" err="1"/>
              <a:t>כש</a:t>
            </a:r>
            <a:r>
              <a:rPr lang="he-IL" dirty="0"/>
              <a:t>-</a:t>
            </a:r>
            <a:r>
              <a:rPr lang="en-US" dirty="0" err="1"/>
              <a:t>PaLM</a:t>
            </a:r>
            <a:r>
              <a:rPr lang="he-IL" dirty="0"/>
              <a:t> מאומן זמן רב יותר.</a:t>
            </a:r>
          </a:p>
          <a:p>
            <a:pPr marL="0" algn="r" defTabSz="914400" rtl="1" eaLnBrk="1" latinLnBrk="0" hangingPunct="1"/>
            <a:r>
              <a:rPr lang="he-IL" dirty="0"/>
              <a:t>בנוסף, </a:t>
            </a:r>
            <a:r>
              <a:rPr lang="en-US" dirty="0"/>
              <a:t>LLaMA</a:t>
            </a:r>
            <a:r>
              <a:rPr lang="he-IL" dirty="0"/>
              <a:t> מנצח את כל המודלים האחרים שלא עברו </a:t>
            </a:r>
            <a:r>
              <a:rPr lang="he-IL" dirty="0" err="1"/>
              <a:t>טיונינג</a:t>
            </a:r>
            <a:r>
              <a:rPr lang="he-IL" dirty="0"/>
              <a:t> לקוד.</a:t>
            </a:r>
          </a:p>
          <a:p>
            <a:pPr marL="0" algn="r" defTabSz="914400" rtl="1" eaLnBrk="1" latinLnBrk="0" hangingPunct="1"/>
            <a:endParaRPr lang="he-IL" dirty="0"/>
          </a:p>
          <a:p>
            <a:pPr marL="0" algn="r" defTabSz="914400" rtl="1" eaLnBrk="1" latinLnBrk="0" hangingPunct="1"/>
            <a:r>
              <a:rPr lang="he-IL" dirty="0"/>
              <a:t>חשוב לציין שכל נושא ה‑</a:t>
            </a:r>
            <a:r>
              <a:rPr lang="en-US" dirty="0"/>
              <a:t>fine-tuning</a:t>
            </a:r>
            <a:r>
              <a:rPr lang="he-IL" dirty="0"/>
              <a:t> של </a:t>
            </a:r>
            <a:r>
              <a:rPr lang="en-US" dirty="0"/>
              <a:t>LLaMA</a:t>
            </a:r>
            <a:r>
              <a:rPr lang="he-IL" dirty="0"/>
              <a:t> מחוץ ל-</a:t>
            </a:r>
            <a:r>
              <a:rPr lang="en-US" dirty="0"/>
              <a:t>scope</a:t>
            </a:r>
            <a:r>
              <a:rPr lang="he-IL" dirty="0"/>
              <a:t> המאמר.</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11</a:t>
            </a:fld>
            <a:endParaRPr lang="en-IL"/>
          </a:p>
        </p:txBody>
      </p:sp>
    </p:spTree>
    <p:extLst>
      <p:ext uri="{BB962C8B-B14F-4D97-AF65-F5344CB8AC3E}">
        <p14:creationId xmlns:p14="http://schemas.microsoft.com/office/powerpoint/2010/main" val="12325437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והגענו </a:t>
            </a:r>
            <a:r>
              <a:rPr lang="he-IL" dirty="0" err="1"/>
              <a:t>לבנצ'מרק</a:t>
            </a:r>
            <a:r>
              <a:rPr lang="he-IL" dirty="0"/>
              <a:t> האחרון - </a:t>
            </a:r>
            <a:r>
              <a:rPr lang="en-US" dirty="0"/>
              <a:t>Massive Multitask Language Understanding</a:t>
            </a:r>
            <a:r>
              <a:rPr lang="he-IL" dirty="0"/>
              <a:t>, או בקיצור MMLU, שמטרתו לבדוק את הידע הכללי של המודל.</a:t>
            </a:r>
          </a:p>
          <a:p>
            <a:pPr marL="0" algn="r" defTabSz="914400" rtl="1" eaLnBrk="1" latinLnBrk="0" hangingPunct="1"/>
            <a:endParaRPr lang="he-IL" dirty="0"/>
          </a:p>
          <a:p>
            <a:pPr marL="0" algn="r" defTabSz="914400" rtl="1" eaLnBrk="1" latinLnBrk="0" hangingPunct="1"/>
            <a:r>
              <a:rPr lang="he-IL" dirty="0"/>
              <a:t>בכל דוגמה </a:t>
            </a:r>
            <a:r>
              <a:rPr lang="he-IL" dirty="0" err="1"/>
              <a:t>בדאטאסט</a:t>
            </a:r>
            <a:r>
              <a:rPr lang="he-IL" dirty="0"/>
              <a:t> יש שאלה, ארבע אפשרויות (</a:t>
            </a:r>
            <a:r>
              <a:rPr lang="en-US" dirty="0"/>
              <a:t>A, B, C, D</a:t>
            </a:r>
            <a:r>
              <a:rPr lang="he-IL" dirty="0"/>
              <a:t>) ותשובה נכונה.</a:t>
            </a:r>
          </a:p>
          <a:p>
            <a:pPr marL="0" algn="r" defTabSz="914400" rtl="1" eaLnBrk="1" latinLnBrk="0" hangingPunct="1"/>
            <a:endParaRPr lang="he-IL" dirty="0"/>
          </a:p>
          <a:p>
            <a:pPr marL="0" algn="r" defTabSz="914400" rtl="1" eaLnBrk="1" latinLnBrk="0" hangingPunct="1"/>
            <a:r>
              <a:rPr lang="he-IL" dirty="0"/>
              <a:t>מציגים למודל את השאלה ואת ארבע האפשרויות בעטיפה של </a:t>
            </a:r>
            <a:r>
              <a:rPr lang="en-US" dirty="0"/>
              <a:t>system prompts</a:t>
            </a:r>
            <a:r>
              <a:rPr lang="he-IL" dirty="0"/>
              <a:t>,</a:t>
            </a:r>
            <a:r>
              <a:rPr lang="en-US" dirty="0"/>
              <a:t> </a:t>
            </a:r>
            <a:r>
              <a:rPr lang="he-IL" dirty="0"/>
              <a:t>ולפני כל שאלה נותנים לו 5 דוגמאות של שאלה‑תשובה.</a:t>
            </a:r>
          </a:p>
          <a:p>
            <a:pPr marL="0" algn="r" defTabSz="914400" rtl="1" eaLnBrk="1" latinLnBrk="0" hangingPunct="1"/>
            <a:endParaRPr lang="he-IL" dirty="0"/>
          </a:p>
          <a:p>
            <a:pPr marL="0" algn="r" defTabSz="914400" rtl="1" eaLnBrk="1" latinLnBrk="0" hangingPunct="1"/>
            <a:r>
              <a:rPr lang="he-IL" dirty="0"/>
              <a:t>מהתוצאות ניתן לראות ש-</a:t>
            </a:r>
            <a:r>
              <a:rPr lang="en-US" dirty="0"/>
              <a:t>PaLM‑540B</a:t>
            </a:r>
            <a:r>
              <a:rPr lang="he-IL" dirty="0"/>
              <a:t> מוביל, אך </a:t>
            </a:r>
            <a:r>
              <a:rPr lang="en-US" dirty="0"/>
              <a:t>LLaMA‑65B</a:t>
            </a:r>
            <a:r>
              <a:rPr lang="he-IL" dirty="0"/>
              <a:t> לא רחוק ממנו </a:t>
            </a:r>
            <a:r>
              <a:rPr lang="he-IL" dirty="0" err="1"/>
              <a:t>ומ</a:t>
            </a:r>
            <a:r>
              <a:rPr lang="he-IL" dirty="0"/>
              <a:t>-</a:t>
            </a:r>
            <a:r>
              <a:rPr lang="en-US" dirty="0"/>
              <a:t>Chinchilla‑70B</a:t>
            </a:r>
            <a:r>
              <a:rPr lang="he-IL" dirty="0"/>
              <a:t>.</a:t>
            </a:r>
          </a:p>
          <a:p>
            <a:pPr marL="0" algn="r" defTabSz="914400" rtl="1" eaLnBrk="1" latinLnBrk="0" hangingPunct="1"/>
            <a:endParaRPr lang="he-IL" dirty="0"/>
          </a:p>
          <a:p>
            <a:pPr marL="0" algn="r" defTabSz="914400" rtl="1" eaLnBrk="1" latinLnBrk="0" hangingPunct="1"/>
            <a:r>
              <a:rPr lang="he-IL" dirty="0"/>
              <a:t>החוקרים מסבירים את הפער בכך ש-</a:t>
            </a:r>
            <a:r>
              <a:rPr lang="en-US" dirty="0"/>
              <a:t>LLaMA</a:t>
            </a:r>
            <a:r>
              <a:rPr lang="he-IL" dirty="0"/>
              <a:t> אומן רק על </a:t>
            </a:r>
            <a:r>
              <a:rPr lang="en-US" dirty="0"/>
              <a:t>177GB</a:t>
            </a:r>
            <a:r>
              <a:rPr lang="he-IL" dirty="0"/>
              <a:t> של ספרים, בעוד שהאחרים אומנו על </a:t>
            </a:r>
            <a:r>
              <a:rPr lang="en-US" dirty="0"/>
              <a:t>2TB</a:t>
            </a:r>
            <a:r>
              <a:rPr lang="he-IL" dirty="0"/>
              <a:t> של ספרים.</a:t>
            </a:r>
          </a:p>
        </p:txBody>
      </p:sp>
      <p:sp>
        <p:nvSpPr>
          <p:cNvPr id="4" name="Slide Number Placeholder 3"/>
          <p:cNvSpPr>
            <a:spLocks noGrp="1"/>
          </p:cNvSpPr>
          <p:nvPr>
            <p:ph type="sldNum" sz="quarter" idx="5"/>
          </p:nvPr>
        </p:nvSpPr>
        <p:spPr/>
        <p:txBody>
          <a:bodyPr/>
          <a:lstStyle/>
          <a:p>
            <a:fld id="{476FFE5D-288A-DB4E-9912-CFF1A38B0A9A}" type="slidenum">
              <a:rPr lang="en-IL" smtClean="0"/>
              <a:t>12</a:t>
            </a:fld>
            <a:endParaRPr lang="en-IL"/>
          </a:p>
        </p:txBody>
      </p:sp>
    </p:spTree>
    <p:extLst>
      <p:ext uri="{BB962C8B-B14F-4D97-AF65-F5344CB8AC3E}">
        <p14:creationId xmlns:p14="http://schemas.microsoft.com/office/powerpoint/2010/main" val="40029347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בשקף הזה אפשר לראות שה-</a:t>
            </a:r>
            <a:r>
              <a:rPr lang="en-US" dirty="0"/>
              <a:t>accuracy</a:t>
            </a:r>
            <a:r>
              <a:rPr lang="he-IL" dirty="0"/>
              <a:t> של מודלי </a:t>
            </a:r>
            <a:r>
              <a:rPr lang="en-US" dirty="0"/>
              <a:t>LLaMA</a:t>
            </a:r>
            <a:r>
              <a:rPr lang="he-IL" dirty="0"/>
              <a:t> על </a:t>
            </a:r>
            <a:r>
              <a:rPr lang="he-IL" dirty="0" err="1"/>
              <a:t>הבנצ'מרקים</a:t>
            </a:r>
            <a:r>
              <a:rPr lang="he-IL" dirty="0"/>
              <a:t> </a:t>
            </a:r>
            <a:r>
              <a:rPr lang="en-US" dirty="0"/>
              <a:t>Question Answering</a:t>
            </a:r>
            <a:r>
              <a:rPr lang="he-IL" dirty="0"/>
              <a:t> ו-</a:t>
            </a:r>
            <a:r>
              <a:rPr lang="en-US" dirty="0"/>
              <a:t>Common Sense</a:t>
            </a:r>
            <a:r>
              <a:rPr lang="he-IL" dirty="0"/>
              <a:t> הולך ומשתפר עם מספר הטוקנים עליהם מאמנים אותם, מה שגם מאריך את משך האימון, ומשווים את זה למודל </a:t>
            </a:r>
            <a:r>
              <a:rPr lang="en-US" dirty="0"/>
              <a:t>Chinchila-70B</a:t>
            </a:r>
            <a:r>
              <a:rPr lang="he-IL" dirty="0"/>
              <a:t> שהוא באותו סדר הגודל של מודל </a:t>
            </a:r>
            <a:r>
              <a:rPr lang="en-US" dirty="0"/>
              <a:t>LLaMA</a:t>
            </a:r>
            <a:r>
              <a:rPr lang="he-IL" dirty="0"/>
              <a:t> גדול - </a:t>
            </a:r>
            <a:r>
              <a:rPr lang="en-US" dirty="0"/>
              <a:t>LLaMA-65B</a:t>
            </a:r>
            <a:r>
              <a:rPr lang="he-IL" dirty="0"/>
              <a:t>.</a:t>
            </a:r>
          </a:p>
          <a:p>
            <a:pPr marL="0" algn="r" defTabSz="914400" rtl="1" eaLnBrk="1" latinLnBrk="0" hangingPunct="1"/>
            <a:endParaRPr lang="he-IL" dirty="0"/>
          </a:p>
          <a:p>
            <a:pPr marL="0" algn="r" defTabSz="914400" rtl="1" eaLnBrk="1" latinLnBrk="0" hangingPunct="1"/>
            <a:r>
              <a:rPr lang="he-IL" dirty="0"/>
              <a:t>וזה בעצם המסר המרכזי של החוקרים:</a:t>
            </a:r>
          </a:p>
          <a:p>
            <a:pPr marL="0" algn="r" defTabSz="914400" rtl="1" eaLnBrk="1" latinLnBrk="0" hangingPunct="1"/>
            <a:r>
              <a:rPr lang="he-IL" dirty="0"/>
              <a:t>אם עד כה האמנו ב-</a:t>
            </a:r>
            <a:r>
              <a:rPr lang="en-US" dirty="0"/>
              <a:t>scaling law</a:t>
            </a:r>
            <a:r>
              <a:rPr lang="he-IL" dirty="0"/>
              <a:t>, לפיו ביצועי המודל משתפרים ככל שמגדילים אותו, ובהתאם גם את הדאטה,</a:t>
            </a:r>
          </a:p>
          <a:p>
            <a:pPr marL="0" algn="r" defTabSz="914400" rtl="1" eaLnBrk="1" latinLnBrk="0" hangingPunct="1"/>
            <a:r>
              <a:rPr lang="he-IL" dirty="0"/>
              <a:t>אז עכשיו אפשר לטעון שניתן להסתפק במודלים בגדלים סבירים (לא קטנים, אבל לא ענקיים), ופשוט לאמן אותם יותר זמן, כמובן על יותר דאטה.</a:t>
            </a:r>
          </a:p>
          <a:p>
            <a:pPr marL="0" algn="r" defTabSz="914400" rtl="1" eaLnBrk="1" latinLnBrk="0" hangingPunct="1"/>
            <a:endParaRPr lang="he-IL" dirty="0"/>
          </a:p>
          <a:p>
            <a:pPr marL="0" algn="r" defTabSz="914400" rtl="1" eaLnBrk="1" latinLnBrk="0" hangingPunct="1"/>
            <a:r>
              <a:rPr lang="he-IL" dirty="0"/>
              <a:t>כלומר, אפשר לשפר ביצועים על ידי זה שנאמן את המודל יותר זמן, על יותר דאטה, מה שגם יעלה את מחיר האימון, אבל במקום זאת נרוויח מודלים קטנים יותר שהם גם חסכוניים יותר בזמן ה-</a:t>
            </a:r>
            <a:r>
              <a:rPr lang="en-US" dirty="0"/>
              <a:t>infer</a:t>
            </a:r>
            <a:r>
              <a:rPr lang="he-IL" dirty="0"/>
              <a:t>, שזה הזמן המשמעותי יותר, כי אחרי שמודל נפרס, עובר </a:t>
            </a:r>
            <a:r>
              <a:rPr lang="en-US" dirty="0"/>
              <a:t>deployment</a:t>
            </a:r>
            <a:r>
              <a:rPr lang="he-IL" dirty="0"/>
              <a:t>, הוא עובד רק במצב </a:t>
            </a:r>
            <a:r>
              <a:rPr lang="en-US" dirty="0"/>
              <a:t>infer</a:t>
            </a:r>
            <a:r>
              <a:rPr lang="he-IL" dirty="0"/>
              <a:t>, וגם יכולים לרוץ על מכשירים עם יכולת חישוב מוגבלת, כמו שכאמור </a:t>
            </a:r>
            <a:r>
              <a:rPr lang="en-US" dirty="0"/>
              <a:t>LLaMA-13B</a:t>
            </a:r>
            <a:r>
              <a:rPr lang="he-IL" dirty="0"/>
              <a:t> יכול לרוץ על GPU בודד.</a:t>
            </a:r>
          </a:p>
          <a:p>
            <a:pPr marL="0" algn="r" defTabSz="914400" rtl="1" eaLnBrk="1" latinLnBrk="0" hangingPunct="1"/>
            <a:endParaRPr lang="he-IL" dirty="0"/>
          </a:p>
          <a:p>
            <a:pPr marL="0" algn="r" defTabSz="914400" rtl="1" eaLnBrk="1" latinLnBrk="0" hangingPunct="1"/>
            <a:r>
              <a:rPr lang="he-IL" dirty="0" err="1"/>
              <a:t>בפיגר</a:t>
            </a:r>
            <a:r>
              <a:rPr lang="he-IL" dirty="0"/>
              <a:t> השני אפשר לראות ה-</a:t>
            </a:r>
            <a:r>
              <a:rPr lang="en-US" dirty="0"/>
              <a:t>loss</a:t>
            </a:r>
            <a:r>
              <a:rPr lang="he-IL" dirty="0"/>
              <a:t> של המודל יורד עם העלייה ב-</a:t>
            </a:r>
            <a:r>
              <a:rPr lang="en-US" dirty="0"/>
              <a:t>accuracy</a:t>
            </a:r>
            <a:r>
              <a:rPr lang="he-IL" dirty="0"/>
              <a:t>, כמצופה.</a:t>
            </a:r>
          </a:p>
          <a:p>
            <a:pPr marL="0" algn="r" defTabSz="914400" rtl="1" eaLnBrk="1" latinLnBrk="0" hangingPunct="1"/>
            <a:r>
              <a:rPr lang="he-IL" dirty="0"/>
              <a:t>אגב, כאן הם לא מתייחסים ל-</a:t>
            </a:r>
            <a:r>
              <a:rPr lang="en-US" dirty="0"/>
              <a:t>loss</a:t>
            </a:r>
            <a:r>
              <a:rPr lang="he-IL" dirty="0"/>
              <a:t> כמו שאנחנו רגילים, אלא כ-</a:t>
            </a:r>
            <a:r>
              <a:rPr lang="en-US" dirty="0"/>
              <a:t>perplexity</a:t>
            </a:r>
            <a:r>
              <a:rPr lang="he-IL" dirty="0"/>
              <a:t>, שזה בעברית "מבוכה", שזה בעצם מדד שבא להגיד כמה המודל לא בטוח בתשובה שלו, ולכן </a:t>
            </a:r>
            <a:r>
              <a:rPr lang="en-US" dirty="0"/>
              <a:t>perplexity</a:t>
            </a:r>
            <a:r>
              <a:rPr lang="he-IL" dirty="0"/>
              <a:t> נמוכה היא טובה יותר.</a:t>
            </a:r>
          </a:p>
        </p:txBody>
      </p:sp>
      <p:sp>
        <p:nvSpPr>
          <p:cNvPr id="4" name="Slide Number Placeholder 3"/>
          <p:cNvSpPr>
            <a:spLocks noGrp="1"/>
          </p:cNvSpPr>
          <p:nvPr>
            <p:ph type="sldNum" sz="quarter" idx="5"/>
          </p:nvPr>
        </p:nvSpPr>
        <p:spPr/>
        <p:txBody>
          <a:bodyPr/>
          <a:lstStyle/>
          <a:p>
            <a:fld id="{476FFE5D-288A-DB4E-9912-CFF1A38B0A9A}" type="slidenum">
              <a:rPr lang="en-IL" smtClean="0"/>
              <a:t>13</a:t>
            </a:fld>
            <a:endParaRPr lang="en-IL"/>
          </a:p>
        </p:txBody>
      </p:sp>
    </p:spTree>
    <p:extLst>
      <p:ext uri="{BB962C8B-B14F-4D97-AF65-F5344CB8AC3E}">
        <p14:creationId xmlns:p14="http://schemas.microsoft.com/office/powerpoint/2010/main" val="38746460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בשקפים הבאים נראה את מטריקות נוספות להערכה של מודלי </a:t>
            </a:r>
            <a:r>
              <a:rPr lang="en-US" dirty="0"/>
              <a:t>LLaMA</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14</a:t>
            </a:fld>
            <a:endParaRPr lang="en-IL"/>
          </a:p>
        </p:txBody>
      </p:sp>
    </p:spTree>
    <p:extLst>
      <p:ext uri="{BB962C8B-B14F-4D97-AF65-F5344CB8AC3E}">
        <p14:creationId xmlns:p14="http://schemas.microsoft.com/office/powerpoint/2010/main" val="29949931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בעולמות ה-LLM מאוד מקובל לבדוק כמה מודל יודע לעקוב אחר הוראות, ולכן החוקרים עשו את המינימום הנדרש כדי להוכיח שניתן להתאים את </a:t>
            </a:r>
            <a:r>
              <a:rPr lang="en-US" dirty="0"/>
              <a:t>LLaMA</a:t>
            </a:r>
            <a:r>
              <a:rPr lang="he-IL" dirty="0"/>
              <a:t> למשימה זו.</a:t>
            </a:r>
          </a:p>
          <a:p>
            <a:pPr marL="0" algn="r" defTabSz="914400" rtl="1" eaLnBrk="1" latinLnBrk="0" hangingPunct="1"/>
            <a:endParaRPr lang="he-IL" dirty="0"/>
          </a:p>
          <a:p>
            <a:pPr marL="0" algn="r" defTabSz="914400" rtl="1" eaLnBrk="1" latinLnBrk="0" hangingPunct="1"/>
            <a:r>
              <a:rPr lang="he-IL" dirty="0"/>
              <a:t>הם לקחו את המודל הגדול </a:t>
            </a:r>
            <a:r>
              <a:rPr lang="en-US" dirty="0"/>
              <a:t>65B</a:t>
            </a:r>
            <a:r>
              <a:rPr lang="he-IL" dirty="0"/>
              <a:t>, ועשו לו </a:t>
            </a:r>
            <a:r>
              <a:rPr lang="he-IL" dirty="0" err="1"/>
              <a:t>טיוניג</a:t>
            </a:r>
            <a:r>
              <a:rPr lang="he-IL" dirty="0"/>
              <a:t> קצר על </a:t>
            </a:r>
            <a:r>
              <a:rPr lang="he-IL" dirty="0" err="1"/>
              <a:t>דאטאסט</a:t>
            </a:r>
            <a:r>
              <a:rPr lang="he-IL" dirty="0"/>
              <a:t> למעקב אחר הוראות, וקראו למודל המותאם </a:t>
            </a:r>
            <a:r>
              <a:rPr lang="en-US" dirty="0"/>
              <a:t>LLaMA-I</a:t>
            </a:r>
            <a:r>
              <a:rPr lang="he-IL" dirty="0"/>
              <a:t>.</a:t>
            </a:r>
          </a:p>
          <a:p>
            <a:pPr marL="0" algn="r" defTabSz="914400" rtl="1" eaLnBrk="1" latinLnBrk="0" hangingPunct="1"/>
            <a:endParaRPr lang="he-IL" dirty="0"/>
          </a:p>
          <a:p>
            <a:pPr marL="0" algn="r" defTabSz="914400" rtl="1" eaLnBrk="1" latinLnBrk="0" hangingPunct="1"/>
            <a:r>
              <a:rPr lang="he-IL" dirty="0"/>
              <a:t>כדי לבדוק את המודל הם השתמשו ב-MMLU בתצורה של </a:t>
            </a:r>
            <a:r>
              <a:rPr lang="en-US" dirty="0"/>
              <a:t>5-shot</a:t>
            </a:r>
            <a:r>
              <a:rPr lang="he-IL" dirty="0"/>
              <a:t>.</a:t>
            </a:r>
          </a:p>
          <a:p>
            <a:pPr marL="0" algn="r" defTabSz="914400" rtl="1" eaLnBrk="1" latinLnBrk="0" hangingPunct="1"/>
            <a:endParaRPr lang="he-IL" dirty="0"/>
          </a:p>
          <a:p>
            <a:pPr marL="0" algn="r" defTabSz="914400" rtl="1" eaLnBrk="1" latinLnBrk="0" hangingPunct="1"/>
            <a:r>
              <a:rPr lang="he-IL" dirty="0"/>
              <a:t>הם מראים במאמר שהמודל הגדול הבסיסי, בלי </a:t>
            </a:r>
            <a:r>
              <a:rPr lang="he-IL" dirty="0" err="1"/>
              <a:t>טיונינג</a:t>
            </a:r>
            <a:r>
              <a:rPr lang="he-IL" dirty="0"/>
              <a:t>, כבר מציג יכולות לא רעות למעקב אחר הוראות, ומאימון קצר הוא משתפר מ-63 ל-68.</a:t>
            </a:r>
          </a:p>
          <a:p>
            <a:pPr marL="0" algn="r" defTabSz="914400" rtl="1" eaLnBrk="1" latinLnBrk="0" hangingPunct="1"/>
            <a:endParaRPr lang="he-IL" dirty="0"/>
          </a:p>
          <a:p>
            <a:pPr marL="0" marR="0" lvl="0" indent="0" algn="r" defTabSz="914400" rtl="1" eaLnBrk="1" fontAlgn="auto" latinLnBrk="0" hangingPunct="1">
              <a:lnSpc>
                <a:spcPct val="100000"/>
              </a:lnSpc>
              <a:spcBef>
                <a:spcPts val="0"/>
              </a:spcBef>
              <a:spcAft>
                <a:spcPts val="0"/>
              </a:spcAft>
              <a:buClrTx/>
              <a:buSzTx/>
              <a:buFontTx/>
              <a:buNone/>
              <a:tabLst/>
              <a:defRPr/>
            </a:pPr>
            <a:r>
              <a:rPr lang="he-IL" dirty="0"/>
              <a:t>אגב, לדעתי אם הם היו ממש בטוחים בזה, הם היו מראים שהוא משתפר מהר בתצורה של </a:t>
            </a:r>
            <a:r>
              <a:rPr lang="en-US" dirty="0"/>
              <a:t>0-shot</a:t>
            </a:r>
            <a:r>
              <a:rPr lang="he-IL" dirty="0"/>
              <a:t>.</a:t>
            </a:r>
          </a:p>
          <a:p>
            <a:pPr marL="0" algn="r" defTabSz="914400" rtl="1" eaLnBrk="1" latinLnBrk="0" hangingPunct="1"/>
            <a:endParaRPr lang="he-IL" dirty="0"/>
          </a:p>
          <a:p>
            <a:pPr marL="0" algn="r" defTabSz="914400" rtl="1" eaLnBrk="1" latinLnBrk="0" hangingPunct="1"/>
            <a:r>
              <a:rPr lang="he-IL" dirty="0"/>
              <a:t>בכל מקרה, אפשר גם לראות שהמודל משיג ביצועים לא רעים למול למודלים האחרים, אבל החוקרים מציינים שהמודל עדיין </a:t>
            </a:r>
            <a:r>
              <a:rPr lang="he-IL"/>
              <a:t>רחוק ממודל </a:t>
            </a:r>
            <a:r>
              <a:rPr lang="he-IL" dirty="0"/>
              <a:t>SOTA, שמשיג ציון 77 במבחן הזה.</a:t>
            </a:r>
          </a:p>
          <a:p>
            <a:pPr marL="0" algn="r" defTabSz="914400" rtl="1" eaLnBrk="1" latinLnBrk="0" hangingPunct="1"/>
            <a:endParaRPr lang="he-IL" dirty="0"/>
          </a:p>
          <a:p>
            <a:pPr marL="0" algn="r" defTabSz="914400" rtl="1" eaLnBrk="1" latinLnBrk="0" hangingPunct="1"/>
            <a:r>
              <a:rPr lang="he-IL" dirty="0"/>
              <a:t>השיעור הנלמד כאן הוא שאפשר לאמן את </a:t>
            </a:r>
            <a:r>
              <a:rPr lang="en-US" dirty="0"/>
              <a:t>LLaMA</a:t>
            </a:r>
            <a:r>
              <a:rPr lang="he-IL" dirty="0"/>
              <a:t> למשימת מעקב אחר הוראות, משימה שהיא מקובלת בתחום.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15</a:t>
            </a:fld>
            <a:endParaRPr lang="en-IL"/>
          </a:p>
        </p:txBody>
      </p:sp>
    </p:spTree>
    <p:extLst>
      <p:ext uri="{BB962C8B-B14F-4D97-AF65-F5344CB8AC3E}">
        <p14:creationId xmlns:p14="http://schemas.microsoft.com/office/powerpoint/2010/main" val="28117462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במטריקה</a:t>
            </a:r>
            <a:r>
              <a:rPr lang="he-IL" dirty="0"/>
              <a:t> הבאה, החוקרים בודקים כמה המודל הוא משוחד, רעיל (פוגעני) או שקרן.</a:t>
            </a:r>
          </a:p>
          <a:p>
            <a:pPr marL="0" algn="r" defTabSz="914400" rtl="1" eaLnBrk="1" latinLnBrk="0" hangingPunct="1"/>
            <a:endParaRPr lang="he-IL" dirty="0"/>
          </a:p>
          <a:p>
            <a:pPr marL="0" algn="r" defTabSz="914400" rtl="1" eaLnBrk="1" latinLnBrk="0" hangingPunct="1"/>
            <a:r>
              <a:rPr lang="he-IL" dirty="0"/>
              <a:t>מודלי שפה גדולים מאומנים על הרבה מאוד תוכן מהאינטרנט ומספרים, ומטבעו השל התוכן הזה, הוא מוטה, בין אם בגלל שאנשים באינטרנט משקרים, לבין אם בגלל הטיות אמיתיות שיש בעולם שלנו, כמו למשל שרוב האחריות בבתי החולים הן בנות.</a:t>
            </a:r>
          </a:p>
          <a:p>
            <a:pPr marL="0" algn="r" defTabSz="914400" rtl="1" eaLnBrk="1" latinLnBrk="0" hangingPunct="1"/>
            <a:endParaRPr lang="he-IL" dirty="0"/>
          </a:p>
          <a:p>
            <a:pPr marL="0" algn="r" defTabSz="914400" rtl="1" eaLnBrk="1" latinLnBrk="0" hangingPunct="1"/>
            <a:r>
              <a:rPr lang="he-IL" dirty="0"/>
              <a:t>אז </a:t>
            </a:r>
            <a:r>
              <a:rPr lang="he-IL" dirty="0" err="1"/>
              <a:t>המטריקה</a:t>
            </a:r>
            <a:r>
              <a:rPr lang="he-IL" dirty="0"/>
              <a:t> הזו באה לבדוק כמה המודל שלהם מכיל הטיות כאלה, וספוילר, הוא לא שונה מהאחרים.</a:t>
            </a:r>
          </a:p>
          <a:p>
            <a:pPr marL="0" algn="r" defTabSz="914400" rtl="1" eaLnBrk="1" latinLnBrk="0" hangingPunct="1"/>
            <a:endParaRPr lang="he-IL" dirty="0"/>
          </a:p>
          <a:p>
            <a:pPr marL="0" algn="r" defTabSz="914400" rtl="1" eaLnBrk="1" latinLnBrk="0" hangingPunct="1"/>
            <a:r>
              <a:rPr lang="he-IL" dirty="0"/>
              <a:t>הם מדגישים במאמר שאין עדיין מטריקות מספיק טובות כדי למדוד את הדברים האלה, בטח בהשוואה למודלים אחרים.</a:t>
            </a:r>
          </a:p>
          <a:p>
            <a:pPr marL="0" algn="r" defTabSz="914400" rtl="1" eaLnBrk="1" latinLnBrk="0" hangingPunct="1"/>
            <a:endParaRPr lang="he-IL" dirty="0"/>
          </a:p>
          <a:p>
            <a:pPr marL="0" algn="r" defTabSz="914400" rtl="1" eaLnBrk="1" latinLnBrk="0" hangingPunct="1"/>
            <a:r>
              <a:rPr lang="he-IL" dirty="0"/>
              <a:t>כלומר, הם יכולים לבחון את </a:t>
            </a:r>
            <a:r>
              <a:rPr lang="en-US" dirty="0"/>
              <a:t>LLaMA</a:t>
            </a:r>
            <a:r>
              <a:rPr lang="he-IL" dirty="0"/>
              <a:t> אבל קשה להם להשוות תנאים </a:t>
            </a:r>
            <a:r>
              <a:rPr lang="he-IL" dirty="0" err="1"/>
              <a:t>לאיך</a:t>
            </a:r>
            <a:r>
              <a:rPr lang="he-IL" dirty="0"/>
              <a:t> שמדדו לצורך העניין את GPT.</a:t>
            </a:r>
          </a:p>
        </p:txBody>
      </p:sp>
      <p:sp>
        <p:nvSpPr>
          <p:cNvPr id="4" name="Slide Number Placeholder 3"/>
          <p:cNvSpPr>
            <a:spLocks noGrp="1"/>
          </p:cNvSpPr>
          <p:nvPr>
            <p:ph type="sldNum" sz="quarter" idx="5"/>
          </p:nvPr>
        </p:nvSpPr>
        <p:spPr/>
        <p:txBody>
          <a:bodyPr/>
          <a:lstStyle/>
          <a:p>
            <a:fld id="{476FFE5D-288A-DB4E-9912-CFF1A38B0A9A}" type="slidenum">
              <a:rPr lang="en-IL" smtClean="0"/>
              <a:t>16</a:t>
            </a:fld>
            <a:endParaRPr lang="en-IL"/>
          </a:p>
        </p:txBody>
      </p:sp>
    </p:spTree>
    <p:extLst>
      <p:ext uri="{BB962C8B-B14F-4D97-AF65-F5344CB8AC3E}">
        <p14:creationId xmlns:p14="http://schemas.microsoft.com/office/powerpoint/2010/main" val="33099992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a:t>אז הטוקסיות של המודל, או הרעילות, או הכמה הוא מעליב, נמדדת באמצעות </a:t>
            </a:r>
            <a:r>
              <a:rPr lang="he-IL" dirty="0" err="1"/>
              <a:t>דאטאסט</a:t>
            </a:r>
            <a:r>
              <a:rPr lang="he-IL" dirty="0"/>
              <a:t> שמכיל </a:t>
            </a:r>
            <a:r>
              <a:rPr lang="he-IL" dirty="0" err="1"/>
              <a:t>פרומפטים</a:t>
            </a:r>
            <a:r>
              <a:rPr lang="he-IL" dirty="0"/>
              <a:t>, ועל כל </a:t>
            </a:r>
            <a:r>
              <a:rPr lang="he-IL" dirty="0" err="1"/>
              <a:t>פרומפט</a:t>
            </a:r>
            <a:r>
              <a:rPr lang="he-IL" dirty="0"/>
              <a:t> התשובה של המודל נשלחת ל-API שכנקרא </a:t>
            </a:r>
            <a:r>
              <a:rPr lang="en-US" dirty="0" err="1"/>
              <a:t>PerspectiveAPI</a:t>
            </a:r>
            <a:r>
              <a:rPr lang="he-IL" dirty="0"/>
              <a:t> שמחזיר מספק בין 0 ל-1, כאשר מספר נמוך יותר זה טוב יותר.</a:t>
            </a:r>
          </a:p>
          <a:p>
            <a:pPr marL="0" algn="r" defTabSz="914400" rtl="1" eaLnBrk="1" latinLnBrk="0" hangingPunct="1"/>
            <a:endParaRPr lang="he-IL" dirty="0"/>
          </a:p>
          <a:p>
            <a:pPr marL="0" algn="r" defTabSz="914400" rtl="1" eaLnBrk="1" latinLnBrk="0" hangingPunct="1"/>
            <a:r>
              <a:rPr lang="he-IL" dirty="0"/>
              <a:t>יש שתי תצורות לניסוי הזה, אחת היא לקחת את </a:t>
            </a:r>
            <a:r>
              <a:rPr lang="he-IL" dirty="0" err="1"/>
              <a:t>הפרומפט</a:t>
            </a:r>
            <a:r>
              <a:rPr lang="he-IL" dirty="0"/>
              <a:t> כמו שהוא ולשלוח למודל,</a:t>
            </a:r>
          </a:p>
          <a:p>
            <a:pPr marL="0" algn="r" defTabSz="914400" rtl="1" eaLnBrk="1" latinLnBrk="0" hangingPunct="1"/>
            <a:r>
              <a:rPr lang="he-IL" dirty="0"/>
              <a:t>והשנייה היא לעטוף את </a:t>
            </a:r>
            <a:r>
              <a:rPr lang="he-IL" dirty="0" err="1"/>
              <a:t>הפרומפט</a:t>
            </a:r>
            <a:r>
              <a:rPr lang="he-IL" dirty="0"/>
              <a:t> ב-</a:t>
            </a:r>
            <a:r>
              <a:rPr lang="en-US" dirty="0"/>
              <a:t>system prompt</a:t>
            </a:r>
            <a:r>
              <a:rPr lang="he-IL" dirty="0"/>
              <a:t> שמבקש מהמודל להיות מכבד.</a:t>
            </a:r>
          </a:p>
          <a:p>
            <a:pPr marL="0" algn="r" defTabSz="914400" rtl="1" eaLnBrk="1" latinLnBrk="0" hangingPunct="1"/>
            <a:endParaRPr lang="he-IL" dirty="0"/>
          </a:p>
          <a:p>
            <a:pPr marL="0" algn="r" defTabSz="914400" rtl="1" eaLnBrk="1" latinLnBrk="0" hangingPunct="1"/>
            <a:r>
              <a:rPr lang="he-IL" dirty="0"/>
              <a:t>לטענת החוקרים, המודל רעיל כמו מודלים בסדר הגודל שלו.</a:t>
            </a:r>
          </a:p>
          <a:p>
            <a:pPr marL="0" algn="r" defTabSz="914400" rtl="1" eaLnBrk="1" latinLnBrk="0" hangingPunct="1"/>
            <a:endParaRPr lang="he-IL" dirty="0"/>
          </a:p>
          <a:p>
            <a:pPr marL="0" algn="r" defTabSz="914400" rtl="1" eaLnBrk="1" latinLnBrk="0" hangingPunct="1"/>
            <a:r>
              <a:rPr lang="he-IL" dirty="0"/>
              <a:t>אבל מה שמעניין הוא שככל שהמודל גדל, כך הוא הופך ליותר רעיל, אפשר לראות את זה גם בעמודה של </a:t>
            </a:r>
            <a:r>
              <a:rPr lang="en-US" dirty="0"/>
              <a:t>basic</a:t>
            </a:r>
            <a:r>
              <a:rPr lang="he-IL" dirty="0"/>
              <a:t> וגם בעמודה של </a:t>
            </a:r>
            <a:r>
              <a:rPr lang="en-US" dirty="0"/>
              <a:t>respectful</a:t>
            </a:r>
            <a:r>
              <a:rPr lang="he-IL" dirty="0"/>
              <a:t>,</a:t>
            </a:r>
          </a:p>
          <a:p>
            <a:pPr marL="0" algn="r" defTabSz="914400" rtl="1" eaLnBrk="1" latinLnBrk="0" hangingPunct="1"/>
            <a:r>
              <a:rPr lang="he-IL" dirty="0"/>
              <a:t>אבל מה שממש מצחיק, זה שדווקא המודל "הכי חכם", נהיה חצוף יותר כשמבקשים ממנו להיות מכבד, ואם זה לא התנהגות אנושית, אז מה כן? חח</a:t>
            </a:r>
          </a:p>
          <a:p>
            <a:pPr marL="0" algn="r" defTabSz="914400" rtl="1" eaLnBrk="1" latinLnBrk="0" hangingPunct="1"/>
            <a:endParaRPr lang="he-IL" dirty="0"/>
          </a:p>
          <a:p>
            <a:pPr marL="0" algn="r" defTabSz="914400" rtl="1" eaLnBrk="1" latinLnBrk="0" hangingPunct="1"/>
            <a:r>
              <a:rPr lang="he-IL" dirty="0"/>
              <a:t>החוקרים מתלוננים במאמר על זה שקשה למדוד את הרעילות של המודל למול המתחרים שלו, בגלל כל מיני אסטרטגיות </a:t>
            </a:r>
            <a:r>
              <a:rPr lang="en-US" dirty="0"/>
              <a:t>sampling</a:t>
            </a:r>
            <a:r>
              <a:rPr lang="he-IL" dirty="0"/>
              <a:t> וגרסאות שונות של API על פני מאמרים.</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17</a:t>
            </a:fld>
            <a:endParaRPr lang="en-IL"/>
          </a:p>
        </p:txBody>
      </p:sp>
    </p:spTree>
    <p:extLst>
      <p:ext uri="{BB962C8B-B14F-4D97-AF65-F5344CB8AC3E}">
        <p14:creationId xmlns:p14="http://schemas.microsoft.com/office/powerpoint/2010/main" val="382904283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הבאה נועדה להעריך עד כמה מודל נוטה לסטריאוטיפים, בתשע קטגוריות שונות.</a:t>
            </a:r>
          </a:p>
          <a:p>
            <a:pPr marL="0" algn="r" defTabSz="914400" rtl="1" eaLnBrk="1" latinLnBrk="0" hangingPunct="1"/>
            <a:endParaRPr lang="he-IL" dirty="0"/>
          </a:p>
          <a:p>
            <a:pPr marL="0" algn="r" defTabSz="914400" rtl="1" eaLnBrk="1" latinLnBrk="0" hangingPunct="1"/>
            <a:r>
              <a:rPr lang="he-IL" dirty="0"/>
              <a:t>כל דוגמה </a:t>
            </a:r>
            <a:r>
              <a:rPr lang="he-IL" dirty="0" err="1"/>
              <a:t>בדאטאסט</a:t>
            </a:r>
            <a:r>
              <a:rPr lang="he-IL" dirty="0"/>
              <a:t> כוללת זוג משפטים שההבדל ביניהם הוא מילה או ביטוי אחד בלבד.</a:t>
            </a:r>
          </a:p>
          <a:p>
            <a:pPr marL="0" algn="r" defTabSz="914400" rtl="1" eaLnBrk="1" latinLnBrk="0" hangingPunct="1"/>
            <a:endParaRPr lang="he-IL" dirty="0"/>
          </a:p>
          <a:p>
            <a:pPr marL="0" algn="r" defTabSz="914400" rtl="1" eaLnBrk="1" latinLnBrk="0" hangingPunct="1"/>
            <a:r>
              <a:rPr lang="he-IL" dirty="0"/>
              <a:t>בוחנים את המודל על ידי שאלה כמו: איזה מהמשפטים נשמע </a:t>
            </a:r>
            <a:r>
              <a:rPr lang="he-IL" dirty="0" err="1"/>
              <a:t>נייטרלי</a:t>
            </a:r>
            <a:r>
              <a:rPr lang="he-IL" dirty="0"/>
              <a:t> יותר?</a:t>
            </a:r>
          </a:p>
          <a:p>
            <a:pPr marL="0" algn="r" defTabSz="914400" rtl="1" eaLnBrk="1" latinLnBrk="0" hangingPunct="1"/>
            <a:r>
              <a:rPr lang="he-IL" dirty="0"/>
              <a:t>לאחר מכן, מודדים את ה-</a:t>
            </a:r>
            <a:r>
              <a:rPr lang="en-US" dirty="0"/>
              <a:t>perplexity</a:t>
            </a:r>
            <a:r>
              <a:rPr lang="he-IL" dirty="0"/>
              <a:t> של התשובה - בין אם טוקן-טוקן או על כל המשפט כולו.</a:t>
            </a:r>
          </a:p>
          <a:p>
            <a:pPr marL="0" algn="r" defTabSz="914400" rtl="1" eaLnBrk="1" latinLnBrk="0" hangingPunct="1"/>
            <a:endParaRPr lang="he-IL" dirty="0"/>
          </a:p>
          <a:p>
            <a:pPr marL="0" algn="r" defTabSz="914400" rtl="1" eaLnBrk="1" latinLnBrk="0" hangingPunct="1"/>
            <a:r>
              <a:rPr lang="he-IL" dirty="0"/>
              <a:t>לצורך העניין, יש פה דוגמה מהמאמר שמציג את </a:t>
            </a:r>
            <a:r>
              <a:rPr lang="he-IL" dirty="0" err="1"/>
              <a:t>המטריקה</a:t>
            </a:r>
            <a:r>
              <a:rPr lang="he-IL" dirty="0"/>
              <a:t> הזאת, אז יש פה שני משפטים עם הבדל של מילה אחת, של שם, ונניח שהמודל הציג </a:t>
            </a:r>
            <a:r>
              <a:rPr lang="en-US" dirty="0"/>
              <a:t>perplexity</a:t>
            </a:r>
            <a:r>
              <a:rPr lang="he-IL" dirty="0"/>
              <a:t> של 0.3 עבור </a:t>
            </a:r>
            <a:r>
              <a:rPr lang="he-IL" dirty="0" err="1"/>
              <a:t>J</a:t>
            </a:r>
            <a:r>
              <a:rPr lang="en-US" dirty="0" err="1"/>
              <a:t>ames</a:t>
            </a:r>
            <a:r>
              <a:rPr lang="he-IL" dirty="0"/>
              <a:t> ו-0.1 עבור </a:t>
            </a:r>
            <a:r>
              <a:rPr lang="en-US" dirty="0"/>
              <a:t>Judy</a:t>
            </a:r>
            <a:r>
              <a:rPr lang="he-IL" dirty="0"/>
              <a:t>, אז אפשר להגיד שהוא מוטה, כי למה שדני יצטרך לשכנע את </a:t>
            </a:r>
            <a:r>
              <a:rPr lang="he-IL" dirty="0" err="1"/>
              <a:t>J</a:t>
            </a:r>
            <a:r>
              <a:rPr lang="en-US" dirty="0" err="1"/>
              <a:t>ames</a:t>
            </a:r>
            <a:r>
              <a:rPr lang="he-IL" dirty="0"/>
              <a:t> לצפות בפוטבול, הרי הוא בן ויותר סביר שבנים ירצו לראות פוטבול מבנות כמו </a:t>
            </a:r>
            <a:r>
              <a:rPr lang="he-IL" dirty="0" err="1"/>
              <a:t>J</a:t>
            </a:r>
            <a:r>
              <a:rPr lang="en-US" dirty="0" err="1"/>
              <a:t>udy</a:t>
            </a:r>
            <a:r>
              <a:rPr lang="he-IL" dirty="0"/>
              <a:t>.</a:t>
            </a:r>
          </a:p>
          <a:p>
            <a:pPr marL="0" algn="r" defTabSz="914400" rtl="1" eaLnBrk="1" latinLnBrk="0" hangingPunct="1"/>
            <a:endParaRPr lang="he-IL" dirty="0"/>
          </a:p>
          <a:p>
            <a:pPr marL="0" algn="r" defTabSz="914400" rtl="1" eaLnBrk="1" latinLnBrk="0" hangingPunct="1"/>
            <a:r>
              <a:rPr lang="he-IL" dirty="0"/>
              <a:t>בכל מקרה, החוקרים טוענים ש-</a:t>
            </a:r>
            <a:r>
              <a:rPr lang="en-US" dirty="0"/>
              <a:t>LLaMA</a:t>
            </a:r>
            <a:r>
              <a:rPr lang="he-IL" dirty="0"/>
              <a:t> קצת יותר טוב ממודלים בסדר גודל של </a:t>
            </a:r>
            <a:r>
              <a:rPr lang="en-US" dirty="0"/>
              <a:t>175B</a:t>
            </a:r>
            <a:r>
              <a:rPr lang="he-IL" dirty="0"/>
              <a:t>, ומודים שהוא קצת יותר משוחד בנושאי דת, גיל ומגדר.</a:t>
            </a:r>
          </a:p>
          <a:p>
            <a:pPr marL="0" algn="r" defTabSz="914400" rtl="1" eaLnBrk="1" latinLnBrk="0" hangingPunct="1"/>
            <a:endParaRPr lang="he-IL" dirty="0"/>
          </a:p>
          <a:p>
            <a:pPr marL="0" algn="r" defTabSz="914400" rtl="1" eaLnBrk="1" latinLnBrk="0" hangingPunct="1"/>
            <a:r>
              <a:rPr lang="he-IL" dirty="0"/>
              <a:t>הם מייחסים את ההטיות האלה ל-</a:t>
            </a:r>
            <a:r>
              <a:rPr lang="en-US" dirty="0"/>
              <a:t>training set</a:t>
            </a:r>
            <a:r>
              <a:rPr lang="he-IL" dirty="0"/>
              <a:t> המרכזי של </a:t>
            </a:r>
            <a:r>
              <a:rPr lang="en-US" dirty="0"/>
              <a:t>LLaMA</a:t>
            </a:r>
            <a:r>
              <a:rPr lang="he-IL" dirty="0"/>
              <a:t> הוא </a:t>
            </a:r>
            <a:r>
              <a:rPr lang="en-US" dirty="0"/>
              <a:t>CommonCrawl</a:t>
            </a:r>
            <a:r>
              <a:rPr lang="he-IL" dirty="0"/>
              <a:t>, שהוא מגלם בתוכו הרבה מההטיות האלה, למרות כל ניסיונות </a:t>
            </a:r>
            <a:r>
              <a:rPr lang="he-IL" dirty="0" err="1"/>
              <a:t>הפילטור</a:t>
            </a:r>
            <a:r>
              <a:rPr lang="he-IL" dirty="0"/>
              <a:t>.</a:t>
            </a:r>
          </a:p>
        </p:txBody>
      </p:sp>
      <p:sp>
        <p:nvSpPr>
          <p:cNvPr id="4" name="Slide Number Placeholder 3"/>
          <p:cNvSpPr>
            <a:spLocks noGrp="1"/>
          </p:cNvSpPr>
          <p:nvPr>
            <p:ph type="sldNum" sz="quarter" idx="5"/>
          </p:nvPr>
        </p:nvSpPr>
        <p:spPr/>
        <p:txBody>
          <a:bodyPr/>
          <a:lstStyle/>
          <a:p>
            <a:fld id="{476FFE5D-288A-DB4E-9912-CFF1A38B0A9A}" type="slidenum">
              <a:rPr lang="en-IL" smtClean="0"/>
              <a:t>18</a:t>
            </a:fld>
            <a:endParaRPr lang="en-IL"/>
          </a:p>
        </p:txBody>
      </p:sp>
    </p:spTree>
    <p:extLst>
      <p:ext uri="{BB962C8B-B14F-4D97-AF65-F5344CB8AC3E}">
        <p14:creationId xmlns:p14="http://schemas.microsoft.com/office/powerpoint/2010/main" val="186540334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algn="r" defTabSz="914400" rtl="1" eaLnBrk="1" latinLnBrk="0" hangingPunct="1"/>
            <a:r>
              <a:rPr lang="he-IL" dirty="0" err="1"/>
              <a:t>המטריקה</a:t>
            </a:r>
            <a:r>
              <a:rPr lang="he-IL" dirty="0"/>
              <a:t> הזאת</a:t>
            </a:r>
            <a:endParaRPr lang="en-IL" dirty="0"/>
          </a:p>
        </p:txBody>
      </p:sp>
      <p:sp>
        <p:nvSpPr>
          <p:cNvPr id="4" name="Slide Number Placeholder 3"/>
          <p:cNvSpPr>
            <a:spLocks noGrp="1"/>
          </p:cNvSpPr>
          <p:nvPr>
            <p:ph type="sldNum" sz="quarter" idx="5"/>
          </p:nvPr>
        </p:nvSpPr>
        <p:spPr/>
        <p:txBody>
          <a:bodyPr/>
          <a:lstStyle/>
          <a:p>
            <a:fld id="{476FFE5D-288A-DB4E-9912-CFF1A38B0A9A}" type="slidenum">
              <a:rPr lang="en-IL" smtClean="0"/>
              <a:t>19</a:t>
            </a:fld>
            <a:endParaRPr lang="en-IL"/>
          </a:p>
        </p:txBody>
      </p:sp>
    </p:spTree>
    <p:extLst>
      <p:ext uri="{BB962C8B-B14F-4D97-AF65-F5344CB8AC3E}">
        <p14:creationId xmlns:p14="http://schemas.microsoft.com/office/powerpoint/2010/main" val="978839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bg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915128" y="1788454"/>
            <a:ext cx="8361229" cy="2098226"/>
          </a:xfrm>
        </p:spPr>
        <p:txBody>
          <a:bodyPr anchor="b">
            <a:noAutofit/>
          </a:bodyPr>
          <a:lstStyle>
            <a:lvl1pPr algn="ctr">
              <a:defRPr sz="7200" cap="all" baseline="0">
                <a:solidFill>
                  <a:schemeClr val="tx2"/>
                </a:solidFill>
              </a:defRPr>
            </a:lvl1pPr>
          </a:lstStyle>
          <a:p>
            <a:r>
              <a:rPr lang="en-US"/>
              <a:t>Click to edit Master title style</a:t>
            </a:r>
            <a:endParaRPr lang="en-US" dirty="0"/>
          </a:p>
        </p:txBody>
      </p:sp>
      <p:sp>
        <p:nvSpPr>
          <p:cNvPr id="3" name="Subtitle 2"/>
          <p:cNvSpPr>
            <a:spLocks noGrp="1"/>
          </p:cNvSpPr>
          <p:nvPr>
            <p:ph type="subTitle" idx="1"/>
          </p:nvPr>
        </p:nvSpPr>
        <p:spPr>
          <a:xfrm>
            <a:off x="2679906" y="3956279"/>
            <a:ext cx="6831673" cy="1086237"/>
          </a:xfrm>
        </p:spPr>
        <p:txBody>
          <a:bodyPr>
            <a:normAutofit/>
          </a:bodyPr>
          <a:lstStyle>
            <a:lvl1pPr marL="0" indent="0" algn="ctr">
              <a:lnSpc>
                <a:spcPct val="112000"/>
              </a:lnSpc>
              <a:spcBef>
                <a:spcPts val="0"/>
              </a:spcBef>
              <a:spcAft>
                <a:spcPts val="0"/>
              </a:spcAft>
              <a:buNone/>
              <a:defRPr sz="23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52858" y="6453386"/>
            <a:ext cx="1607944" cy="404614"/>
          </a:xfrm>
        </p:spPr>
        <p:txBody>
          <a:bodyPr/>
          <a:lstStyle>
            <a:lvl1pPr>
              <a:defRPr baseline="0">
                <a:solidFill>
                  <a:schemeClr val="tx2"/>
                </a:solidFill>
              </a:defRPr>
            </a:lvl1pPr>
          </a:lstStyle>
          <a:p>
            <a:fld id="{87DE6118-2437-4B30-8E3C-4D2BE6020583}" type="datetimeFigureOut">
              <a:rPr lang="en-US" dirty="0"/>
              <a:pPr/>
              <a:t>11/30/25</a:t>
            </a:fld>
            <a:endParaRPr lang="en-US" dirty="0"/>
          </a:p>
        </p:txBody>
      </p:sp>
      <p:sp>
        <p:nvSpPr>
          <p:cNvPr id="5" name="Footer Placeholder 4"/>
          <p:cNvSpPr>
            <a:spLocks noGrp="1"/>
          </p:cNvSpPr>
          <p:nvPr>
            <p:ph type="ftr" sz="quarter" idx="11"/>
          </p:nvPr>
        </p:nvSpPr>
        <p:spPr>
          <a:xfrm>
            <a:off x="2584054" y="6453386"/>
            <a:ext cx="7023377" cy="404614"/>
          </a:xfrm>
        </p:spPr>
        <p:txBody>
          <a:bodyPr/>
          <a:lstStyle>
            <a:lvl1pPr algn="ctr">
              <a:defRPr baseline="0">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baseline="0">
                <a:solidFill>
                  <a:schemeClr val="tx2"/>
                </a:solidFill>
              </a:defRPr>
            </a:lvl1pPr>
          </a:lstStyle>
          <a:p>
            <a:fld id="{69E57DC2-970A-4B3E-BB1C-7A09969E49DF}" type="slidenum">
              <a:rPr lang="en-US" dirty="0"/>
              <a:pPr/>
              <a:t>‹#›</a:t>
            </a:fld>
            <a:endParaRPr lang="en-US" dirty="0"/>
          </a:p>
        </p:txBody>
      </p:sp>
      <p:grpSp>
        <p:nvGrpSpPr>
          <p:cNvPr id="7" name="Group 6"/>
          <p:cNvGrpSpPr/>
          <p:nvPr/>
        </p:nvGrpSpPr>
        <p:grpSpPr>
          <a:xfrm>
            <a:off x="752858" y="744469"/>
            <a:ext cx="10674117" cy="5349671"/>
            <a:chOff x="752858" y="744469"/>
            <a:chExt cx="10674117" cy="5349671"/>
          </a:xfrm>
        </p:grpSpPr>
        <p:sp>
          <p:nvSpPr>
            <p:cNvPr id="11" name="Freeform 6"/>
            <p:cNvSpPr/>
            <p:nvPr/>
          </p:nvSpPr>
          <p:spPr bwMode="auto">
            <a:xfrm>
              <a:off x="8151962" y="1685652"/>
              <a:ext cx="3275013" cy="4408488"/>
            </a:xfrm>
            <a:custGeom>
              <a:avLst/>
              <a:gdLst/>
              <a:ahLst/>
              <a:cxnLst/>
              <a:rect l="l" t="t" r="r" b="b"/>
              <a:pathLst>
                <a:path w="10000" h="10000">
                  <a:moveTo>
                    <a:pt x="8761" y="0"/>
                  </a:moveTo>
                  <a:lnTo>
                    <a:pt x="10000" y="0"/>
                  </a:lnTo>
                  <a:lnTo>
                    <a:pt x="10000" y="10000"/>
                  </a:lnTo>
                  <a:lnTo>
                    <a:pt x="0" y="10000"/>
                  </a:lnTo>
                  <a:lnTo>
                    <a:pt x="0" y="9126"/>
                  </a:lnTo>
                  <a:lnTo>
                    <a:pt x="8761" y="9127"/>
                  </a:lnTo>
                  <a:lnTo>
                    <a:pt x="8761" y="0"/>
                  </a:lnTo>
                  <a:close/>
                </a:path>
              </a:pathLst>
            </a:custGeom>
            <a:solidFill>
              <a:schemeClr val="tx2"/>
            </a:solidFill>
            <a:ln w="0">
              <a:noFill/>
              <a:prstDash val="solid"/>
              <a:round/>
              <a:headEnd/>
              <a:tailEnd/>
            </a:ln>
          </p:spPr>
        </p:sp>
        <p:sp>
          <p:nvSpPr>
            <p:cNvPr id="14" name="Freeform 6"/>
            <p:cNvSpPr/>
            <p:nvPr/>
          </p:nvSpPr>
          <p:spPr bwMode="auto">
            <a:xfrm flipH="1" flipV="1">
              <a:off x="752858" y="744469"/>
              <a:ext cx="3275668" cy="4408488"/>
            </a:xfrm>
            <a:custGeom>
              <a:avLst/>
              <a:gdLst/>
              <a:ahLst/>
              <a:cxnLst/>
              <a:rect l="l" t="t" r="r" b="b"/>
              <a:pathLst>
                <a:path w="10002" h="10000">
                  <a:moveTo>
                    <a:pt x="8763" y="0"/>
                  </a:moveTo>
                  <a:lnTo>
                    <a:pt x="10002" y="0"/>
                  </a:lnTo>
                  <a:lnTo>
                    <a:pt x="10002" y="10000"/>
                  </a:lnTo>
                  <a:lnTo>
                    <a:pt x="2" y="10000"/>
                  </a:lnTo>
                  <a:cubicBezTo>
                    <a:pt x="-2" y="9698"/>
                    <a:pt x="4" y="9427"/>
                    <a:pt x="0" y="9125"/>
                  </a:cubicBezTo>
                  <a:lnTo>
                    <a:pt x="8763" y="9128"/>
                  </a:lnTo>
                  <a:lnTo>
                    <a:pt x="8763" y="0"/>
                  </a:lnTo>
                  <a:close/>
                </a:path>
              </a:pathLst>
            </a:custGeom>
            <a:solidFill>
              <a:schemeClr val="tx2"/>
            </a:solidFill>
            <a:ln w="0">
              <a:noFill/>
              <a:prstDash val="solid"/>
              <a:round/>
              <a:headEnd/>
              <a:tailEnd/>
            </a:ln>
          </p:spPr>
        </p:sp>
      </p:grpSp>
    </p:spTree>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7DE6118-2437-4B30-8E3C-4D2BE6020583}" type="datetimeFigureOut">
              <a:rPr lang="en-US" dirty="0"/>
              <a:t>11/30/25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2" name="Title 1"/>
          <p:cNvSpPr>
            <a:spLocks noGrp="1"/>
          </p:cNvSpPr>
          <p:nvPr>
            <p:ph type="title"/>
          </p:nvPr>
        </p:nvSpPr>
        <p:spPr>
          <a:xfrm>
            <a:off x="765025" y="1301360"/>
            <a:ext cx="9612971" cy="2852737"/>
          </a:xfrm>
        </p:spPr>
        <p:txBody>
          <a:bodyPr anchor="b">
            <a:normAutofit/>
          </a:bodyPr>
          <a:lstStyle>
            <a:lvl1pPr algn="r">
              <a:defRPr sz="7200" cap="all" baseline="0">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765025" y="4216328"/>
            <a:ext cx="9612971" cy="1143324"/>
          </a:xfrm>
        </p:spPr>
        <p:txBody>
          <a:bodyPr/>
          <a:lstStyle>
            <a:lvl1pPr marL="0" indent="0" algn="r">
              <a:lnSpc>
                <a:spcPct val="112000"/>
              </a:lnSpc>
              <a:spcBef>
                <a:spcPts val="0"/>
              </a:spcBef>
              <a:spcAft>
                <a:spcPts val="0"/>
              </a:spcAft>
              <a:buNone/>
              <a:defRPr sz="2400">
                <a:solidFill>
                  <a:schemeClr val="tx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738908" y="6453386"/>
            <a:ext cx="1622409" cy="404614"/>
          </a:xfrm>
        </p:spPr>
        <p:txBody>
          <a:bodyPr/>
          <a:lstStyle>
            <a:lvl1pPr>
              <a:defRPr>
                <a:solidFill>
                  <a:schemeClr val="tx2"/>
                </a:solidFill>
              </a:defRPr>
            </a:lvl1pPr>
          </a:lstStyle>
          <a:p>
            <a:fld id="{87DE6118-2437-4B30-8E3C-4D2BE6020583}" type="datetimeFigureOut">
              <a:rPr lang="en-US" dirty="0"/>
              <a:pPr/>
              <a:t>11/30/25</a:t>
            </a:fld>
            <a:endParaRPr lang="en-US" dirty="0"/>
          </a:p>
        </p:txBody>
      </p:sp>
      <p:sp>
        <p:nvSpPr>
          <p:cNvPr id="5" name="Footer Placeholder 4"/>
          <p:cNvSpPr>
            <a:spLocks noGrp="1"/>
          </p:cNvSpPr>
          <p:nvPr>
            <p:ph type="ftr" sz="quarter" idx="11"/>
          </p:nvPr>
        </p:nvSpPr>
        <p:spPr>
          <a:xfrm>
            <a:off x="2584312" y="6453386"/>
            <a:ext cx="7023377" cy="404614"/>
          </a:xfrm>
        </p:spPr>
        <p:txBody>
          <a:bodyPr/>
          <a:lstStyle>
            <a:lvl1pPr algn="ctr">
              <a:defRPr>
                <a:solidFill>
                  <a:schemeClr val="tx2"/>
                </a:solidFill>
              </a:defRPr>
            </a:lvl1pPr>
          </a:lstStyle>
          <a:p>
            <a:endParaRPr lang="en-US" dirty="0"/>
          </a:p>
        </p:txBody>
      </p:sp>
      <p:sp>
        <p:nvSpPr>
          <p:cNvPr id="6" name="Slide Number Placeholder 5"/>
          <p:cNvSpPr>
            <a:spLocks noGrp="1"/>
          </p:cNvSpPr>
          <p:nvPr>
            <p:ph type="sldNum" sz="quarter" idx="12"/>
          </p:nvPr>
        </p:nvSpPr>
        <p:spPr>
          <a:xfrm>
            <a:off x="9830683"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7" name="Freeform 6" title="Crop Mark"/>
          <p:cNvSpPr/>
          <p:nvPr/>
        </p:nvSpPr>
        <p:spPr bwMode="auto">
          <a:xfrm>
            <a:off x="8151962" y="1685652"/>
            <a:ext cx="3275013" cy="4408488"/>
          </a:xfrm>
          <a:custGeom>
            <a:avLst/>
            <a:gdLst/>
            <a:ahLst/>
            <a:cxnLst/>
            <a:rect l="0" t="0" r="r" b="b"/>
            <a:pathLst>
              <a:path w="4125" h="5554">
                <a:moveTo>
                  <a:pt x="3614" y="0"/>
                </a:moveTo>
                <a:lnTo>
                  <a:pt x="4125" y="0"/>
                </a:lnTo>
                <a:lnTo>
                  <a:pt x="4125" y="5554"/>
                </a:lnTo>
                <a:lnTo>
                  <a:pt x="0" y="5554"/>
                </a:lnTo>
                <a:lnTo>
                  <a:pt x="0" y="5074"/>
                </a:lnTo>
                <a:lnTo>
                  <a:pt x="3614" y="5074"/>
                </a:lnTo>
                <a:lnTo>
                  <a:pt x="3614" y="0"/>
                </a:lnTo>
                <a:close/>
              </a:path>
            </a:pathLst>
          </a:custGeom>
          <a:solidFill>
            <a:schemeClr val="tx2"/>
          </a:solidFill>
          <a:ln w="0">
            <a:noFill/>
            <a:prstDash val="solid"/>
            <a:round/>
            <a:headEnd/>
            <a:tailEnd/>
          </a:ln>
        </p:spPr>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solidFill>
              </a:defRPr>
            </a:lvl1pPr>
          </a:lstStyle>
          <a:p>
            <a:r>
              <a:rPr lang="en-US"/>
              <a:t>Click to edit Master title style</a:t>
            </a:r>
            <a:endParaRPr lang="en-US" dirty="0"/>
          </a:p>
        </p:txBody>
      </p:sp>
      <p:sp>
        <p:nvSpPr>
          <p:cNvPr id="3" name="Content Placeholder 2"/>
          <p:cNvSpPr>
            <a:spLocks noGrp="1"/>
          </p:cNvSpPr>
          <p:nvPr>
            <p:ph sz="half" idx="1"/>
          </p:nvPr>
        </p:nvSpPr>
        <p:spPr>
          <a:xfrm>
            <a:off x="1371600" y="2285999"/>
            <a:ext cx="4447786" cy="3581401"/>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25403" y="2285999"/>
            <a:ext cx="4447786" cy="3581401"/>
          </a:xfrm>
        </p:spPr>
        <p:txBody>
          <a:bodyPr/>
          <a:lstStyle>
            <a:lvl1pPr>
              <a:defRPr>
                <a:solidFill>
                  <a:schemeClr val="tx2"/>
                </a:solidFill>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7DE6118-2437-4B30-8E3C-4D2BE6020583}" type="datetimeFigureOut">
              <a:rPr lang="en-US" dirty="0"/>
              <a:t>11/30/25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71600" y="685800"/>
            <a:ext cx="9601200" cy="1485900"/>
          </a:xfrm>
        </p:spPr>
        <p:txBody>
          <a:bodyPr/>
          <a:lstStyle>
            <a:lvl1pPr>
              <a:defRPr>
                <a:solidFill>
                  <a:schemeClr val="tx2"/>
                </a:solidFill>
              </a:defRPr>
            </a:lvl1pPr>
          </a:lstStyle>
          <a:p>
            <a:r>
              <a:rPr lang="en-US"/>
              <a:t>Click to edit Master title style</a:t>
            </a:r>
            <a:endParaRPr lang="en-US" dirty="0"/>
          </a:p>
        </p:txBody>
      </p:sp>
      <p:sp>
        <p:nvSpPr>
          <p:cNvPr id="3" name="Text Placeholder 2"/>
          <p:cNvSpPr>
            <a:spLocks noGrp="1"/>
          </p:cNvSpPr>
          <p:nvPr>
            <p:ph type="body" idx="1"/>
          </p:nvPr>
        </p:nvSpPr>
        <p:spPr>
          <a:xfrm>
            <a:off x="1371600"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371600"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25014" y="2340864"/>
            <a:ext cx="4443984" cy="823912"/>
          </a:xfrm>
        </p:spPr>
        <p:txBody>
          <a:bodyPr anchor="b">
            <a:noAutofit/>
          </a:bodyPr>
          <a:lstStyle>
            <a:lvl1pPr marL="0" indent="0">
              <a:lnSpc>
                <a:spcPct val="84000"/>
              </a:lnSpc>
              <a:spcBef>
                <a:spcPts val="0"/>
              </a:spcBef>
              <a:spcAft>
                <a:spcPts val="0"/>
              </a:spcAft>
              <a:buNone/>
              <a:defRPr sz="3000" b="0"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25014" y="3305207"/>
            <a:ext cx="4443984" cy="2562193"/>
          </a:xfrm>
        </p:spPr>
        <p:txBody>
          <a:bodyPr/>
          <a:lstStyle>
            <a:lvl1pPr>
              <a:defRPr baseline="0">
                <a:solidFill>
                  <a:schemeClr val="tx2"/>
                </a:solidFill>
              </a:defRPr>
            </a:lvl1pPr>
            <a:lvl2pPr>
              <a:defRPr baseline="0">
                <a:solidFill>
                  <a:schemeClr val="tx2"/>
                </a:solidFill>
              </a:defRPr>
            </a:lvl2pPr>
            <a:lvl3pPr>
              <a:defRPr baseline="0">
                <a:solidFill>
                  <a:schemeClr val="tx2"/>
                </a:solidFill>
              </a:defRPr>
            </a:lvl3pPr>
            <a:lvl4pPr>
              <a:defRPr baseline="0">
                <a:solidFill>
                  <a:schemeClr val="tx2"/>
                </a:solidFill>
              </a:defRPr>
            </a:lvl4pPr>
            <a:lvl5pPr>
              <a:defRPr baseline="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7DE6118-2437-4B30-8E3C-4D2BE6020583}" type="datetimeFigureOut">
              <a:rPr lang="en-US" dirty="0"/>
              <a:t>11/30/25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7DE6118-2437-4B30-8E3C-4D2BE6020583}" type="datetimeFigureOut">
              <a:rPr lang="en-US" dirty="0"/>
              <a:t>11/30/25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7DE6118-2437-4B30-8E3C-4D2BE6020583}" type="datetimeFigureOut">
              <a:rPr lang="en-US" dirty="0"/>
              <a:t>11/30/25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Autofit/>
          </a:bodyPr>
          <a:lstStyle>
            <a:lvl1pPr>
              <a:lnSpc>
                <a:spcPct val="84000"/>
              </a:lnSpc>
              <a:defRPr sz="4800" baseline="0">
                <a:solidFill>
                  <a:schemeClr val="tx2"/>
                </a:solidFill>
              </a:defRPr>
            </a:lvl1pPr>
          </a:lstStyle>
          <a:p>
            <a:r>
              <a:rPr lang="en-US"/>
              <a:t>Click to edit Master title style</a:t>
            </a:r>
            <a:endParaRPr lang="en-US" dirty="0"/>
          </a:p>
        </p:txBody>
      </p:sp>
      <p:sp>
        <p:nvSpPr>
          <p:cNvPr id="3" name="Content Placeholder 2"/>
          <p:cNvSpPr>
            <a:spLocks noGrp="1"/>
          </p:cNvSpPr>
          <p:nvPr>
            <p:ph idx="1"/>
          </p:nvPr>
        </p:nvSpPr>
        <p:spPr>
          <a:xfrm>
            <a:off x="6256020" y="685801"/>
            <a:ext cx="5212080" cy="5175250"/>
          </a:xfrm>
        </p:spPr>
        <p:txBody>
          <a:bodyPr/>
          <a:lstStyle>
            <a:lvl1pPr>
              <a:defRPr sz="2000"/>
            </a:lvl1pPr>
            <a:lvl2pPr>
              <a:defRPr sz="2000"/>
            </a:lvl2pPr>
            <a:lvl3pPr>
              <a:defRPr sz="1800"/>
            </a:lvl3pPr>
            <a:lvl4pPr>
              <a:defRPr sz="18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723900" y="2856344"/>
            <a:ext cx="3855720" cy="3011056"/>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87DE6118-2437-4B30-8E3C-4D2BE6020583}" type="datetimeFigureOut">
              <a:rPr lang="en-US" dirty="0"/>
              <a:pPr/>
              <a:t>11/30/25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title="Background Shape"/>
          <p:cNvSpPr/>
          <p:nvPr/>
        </p:nvSpPr>
        <p:spPr>
          <a:xfrm>
            <a:off x="0" y="376"/>
            <a:ext cx="5303520" cy="685762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723900" y="685800"/>
            <a:ext cx="3855720" cy="2157884"/>
          </a:xfrm>
        </p:spPr>
        <p:txBody>
          <a:bodyPr anchor="t">
            <a:normAutofit/>
          </a:bodyPr>
          <a:lstStyle>
            <a:lvl1pPr>
              <a:lnSpc>
                <a:spcPct val="84000"/>
              </a:lnSpc>
              <a:defRPr sz="48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5532120" y="0"/>
            <a:ext cx="6659880" cy="6857999"/>
          </a:xfrm>
        </p:spPr>
        <p:txBody>
          <a:bodyPr anchor="t">
            <a:normAutofit/>
          </a:bodyPr>
          <a:lstStyle>
            <a:lvl1pPr marL="0" indent="0">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723900" y="2855968"/>
            <a:ext cx="3855720" cy="3011432"/>
          </a:xfrm>
        </p:spPr>
        <p:txBody>
          <a:bodyPr/>
          <a:lstStyle>
            <a:lvl1pPr marL="0" indent="0">
              <a:lnSpc>
                <a:spcPct val="113000"/>
              </a:lnSpc>
              <a:spcBef>
                <a:spcPts val="0"/>
              </a:spcBef>
              <a:spcAft>
                <a:spcPts val="1500"/>
              </a:spcAft>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723900" y="6453386"/>
            <a:ext cx="1204572" cy="404614"/>
          </a:xfrm>
        </p:spPr>
        <p:txBody>
          <a:bodyPr/>
          <a:lstStyle>
            <a:lvl1pPr>
              <a:defRPr>
                <a:solidFill>
                  <a:schemeClr val="tx2"/>
                </a:solidFill>
              </a:defRPr>
            </a:lvl1pPr>
          </a:lstStyle>
          <a:p>
            <a:fld id="{87DE6118-2437-4B30-8E3C-4D2BE6020583}" type="datetimeFigureOut">
              <a:rPr lang="en-US" dirty="0"/>
              <a:pPr/>
              <a:t>11/30/25</a:t>
            </a:fld>
            <a:endParaRPr lang="en-US" dirty="0"/>
          </a:p>
        </p:txBody>
      </p:sp>
      <p:sp>
        <p:nvSpPr>
          <p:cNvPr id="6" name="Footer Placeholder 5"/>
          <p:cNvSpPr>
            <a:spLocks noGrp="1"/>
          </p:cNvSpPr>
          <p:nvPr>
            <p:ph type="ftr" sz="quarter" idx="11"/>
          </p:nvPr>
        </p:nvSpPr>
        <p:spPr>
          <a:xfrm>
            <a:off x="2205945" y="6453386"/>
            <a:ext cx="2373675" cy="404614"/>
          </a:xfrm>
        </p:spPr>
        <p:txBody>
          <a:bodyPr/>
          <a:lstStyle>
            <a:lvl1pPr>
              <a:defRPr>
                <a:solidFill>
                  <a:schemeClr val="tx2"/>
                </a:solidFill>
              </a:defRPr>
            </a:lvl1pPr>
          </a:lstStyle>
          <a:p>
            <a:endParaRPr lang="en-US" dirty="0"/>
          </a:p>
        </p:txBody>
      </p:sp>
      <p:sp>
        <p:nvSpPr>
          <p:cNvPr id="7" name="Slide Number Placeholder 6"/>
          <p:cNvSpPr>
            <a:spLocks noGrp="1"/>
          </p:cNvSpPr>
          <p:nvPr>
            <p:ph type="sldNum" sz="quarter" idx="12"/>
          </p:nvPr>
        </p:nvSpPr>
        <p:spPr>
          <a:xfrm>
            <a:off x="9883140" y="6453386"/>
            <a:ext cx="1596292" cy="404614"/>
          </a:xfrm>
        </p:spPr>
        <p:txBody>
          <a:bodyPr/>
          <a:lstStyle>
            <a:lvl1pPr>
              <a:defRPr>
                <a:solidFill>
                  <a:schemeClr val="tx2"/>
                </a:solidFill>
              </a:defRPr>
            </a:lvl1pPr>
          </a:lstStyle>
          <a:p>
            <a:fld id="{69E57DC2-970A-4B3E-BB1C-7A09969E49DF}" type="slidenum">
              <a:rPr lang="en-US" dirty="0"/>
              <a:pPr/>
              <a:t>‹#›</a:t>
            </a:fld>
            <a:endParaRPr lang="en-US" dirty="0"/>
          </a:p>
        </p:txBody>
      </p:sp>
      <p:sp>
        <p:nvSpPr>
          <p:cNvPr id="9" name="Rectangle 8" title="Divider Bar"/>
          <p:cNvSpPr/>
          <p:nvPr/>
        </p:nvSpPr>
        <p:spPr>
          <a:xfrm>
            <a:off x="5303520"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a:xfrm>
            <a:off x="1371600" y="2295525"/>
            <a:ext cx="9601200" cy="357187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7DE6118-2437-4B30-8E3C-4D2BE6020583}" type="datetimeFigureOut">
              <a:rPr lang="en-US" dirty="0"/>
              <a:t>11/30/25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596561" y="624156"/>
            <a:ext cx="1565766" cy="5243244"/>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371600" y="624156"/>
            <a:ext cx="8179641" cy="52432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7DE6118-2437-4B30-8E3C-4D2BE6020583}" type="datetimeFigureOut">
              <a:rPr lang="en-US" dirty="0"/>
              <a:t>11/30/25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9E57DC2-970A-4B3E-BB1C-7A09969E49DF}"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371600" y="685800"/>
            <a:ext cx="9601200" cy="14859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371600" y="2286000"/>
            <a:ext cx="9601200" cy="35814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390650" y="6453386"/>
            <a:ext cx="1204572" cy="404614"/>
          </a:xfrm>
          <a:prstGeom prst="rect">
            <a:avLst/>
          </a:prstGeom>
        </p:spPr>
        <p:txBody>
          <a:bodyPr vert="horz" lIns="91440" tIns="45720" rIns="91440" bIns="45720" rtlCol="0" anchor="ctr"/>
          <a:lstStyle>
            <a:lvl1pPr algn="l">
              <a:defRPr sz="1200" baseline="0">
                <a:solidFill>
                  <a:schemeClr val="tx2"/>
                </a:solidFill>
              </a:defRPr>
            </a:lvl1pPr>
          </a:lstStyle>
          <a:p>
            <a:fld id="{87DE6118-2437-4B30-8E3C-4D2BE6020583}" type="datetimeFigureOut">
              <a:rPr lang="en-US" dirty="0"/>
              <a:pPr/>
              <a:t>11/30/25</a:t>
            </a:fld>
            <a:endParaRPr lang="en-US" dirty="0"/>
          </a:p>
        </p:txBody>
      </p:sp>
      <p:sp>
        <p:nvSpPr>
          <p:cNvPr id="5" name="Footer Placeholder 4"/>
          <p:cNvSpPr>
            <a:spLocks noGrp="1"/>
          </p:cNvSpPr>
          <p:nvPr>
            <p:ph type="ftr" sz="quarter" idx="3"/>
          </p:nvPr>
        </p:nvSpPr>
        <p:spPr>
          <a:xfrm>
            <a:off x="2893564" y="6453386"/>
            <a:ext cx="6280830" cy="404614"/>
          </a:xfrm>
          <a:prstGeom prst="rect">
            <a:avLst/>
          </a:prstGeom>
        </p:spPr>
        <p:txBody>
          <a:bodyPr vert="horz" lIns="91440" tIns="45720" rIns="91440" bIns="45720" rtlCol="0" anchor="ctr"/>
          <a:lstStyle>
            <a:lvl1pPr algn="l">
              <a:defRPr sz="1200" baseline="0">
                <a:solidFill>
                  <a:schemeClr val="tx2"/>
                </a:solidFill>
              </a:defRPr>
            </a:lvl1pPr>
          </a:lstStyle>
          <a:p>
            <a:endParaRPr lang="en-US" dirty="0"/>
          </a:p>
        </p:txBody>
      </p:sp>
      <p:sp>
        <p:nvSpPr>
          <p:cNvPr id="6" name="Slide Number Placeholder 5"/>
          <p:cNvSpPr>
            <a:spLocks noGrp="1"/>
          </p:cNvSpPr>
          <p:nvPr>
            <p:ph type="sldNum" sz="quarter" idx="4"/>
          </p:nvPr>
        </p:nvSpPr>
        <p:spPr>
          <a:xfrm>
            <a:off x="9472736" y="6453386"/>
            <a:ext cx="1596292" cy="404614"/>
          </a:xfrm>
          <a:prstGeom prst="rect">
            <a:avLst/>
          </a:prstGeom>
        </p:spPr>
        <p:txBody>
          <a:bodyPr vert="horz" lIns="91440" tIns="45720" rIns="91440" bIns="45720" rtlCol="0" anchor="ctr"/>
          <a:lstStyle>
            <a:lvl1pPr algn="r">
              <a:defRPr sz="1200" baseline="0">
                <a:solidFill>
                  <a:schemeClr val="tx2"/>
                </a:solidFill>
              </a:defRPr>
            </a:lvl1pPr>
          </a:lstStyle>
          <a:p>
            <a:fld id="{69E57DC2-970A-4B3E-BB1C-7A09969E49DF}" type="slidenum">
              <a:rPr lang="en-US" dirty="0"/>
              <a:pPr/>
              <a:t>‹#›</a:t>
            </a:fld>
            <a:endParaRPr lang="en-US" dirty="0"/>
          </a:p>
        </p:txBody>
      </p:sp>
      <p:sp>
        <p:nvSpPr>
          <p:cNvPr id="9" name="Rectangle 8" title="Side bar"/>
          <p:cNvSpPr/>
          <p:nvPr/>
        </p:nvSpPr>
        <p:spPr>
          <a:xfrm>
            <a:off x="478095" y="376"/>
            <a:ext cx="2286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89000"/>
        </a:lnSpc>
        <a:spcBef>
          <a:spcPct val="0"/>
        </a:spcBef>
        <a:buNone/>
        <a:defRPr sz="4400" kern="1200" baseline="0">
          <a:solidFill>
            <a:schemeClr val="tx2"/>
          </a:solidFill>
          <a:latin typeface="+mj-lt"/>
          <a:ea typeface="+mj-ea"/>
          <a:cs typeface="+mj-cs"/>
        </a:defRPr>
      </a:lvl1pPr>
    </p:titleStyle>
    <p:body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1368">
          <p15:clr>
            <a:srgbClr val="F26B43"/>
          </p15:clr>
        </p15:guide>
        <p15:guide id="4" orient="horz" pos="1440">
          <p15:clr>
            <a:srgbClr val="F26B43"/>
          </p15:clr>
        </p15:guide>
        <p15:guide id="6" orient="horz" pos="3696">
          <p15:clr>
            <a:srgbClr val="F26B43"/>
          </p15:clr>
        </p15:guide>
        <p15:guide id="7" orient="horz" pos="432">
          <p15:clr>
            <a:srgbClr val="F26B43"/>
          </p15:clr>
        </p15:guide>
        <p15:guide id="8" orient="horz" pos="1512">
          <p15:clr>
            <a:srgbClr val="F26B43"/>
          </p15:clr>
        </p15:guide>
        <p15:guide id="9" pos="6912">
          <p15:clr>
            <a:srgbClr val="F26B43"/>
          </p15:clr>
        </p15:guide>
        <p15:guide id="10" pos="936">
          <p15:clr>
            <a:srgbClr val="F26B43"/>
          </p15:clr>
        </p15:guide>
        <p15:guide id="11" pos="864">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hyperlink" Target="https://arxiv.org/pdf/2010.00133"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0.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hyperlink" Target="https://github.com/shlomi1993/llm-from-scratch/blob/main/presentation/ch04_presentation.ipynb"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1495AF-29A0-C076-CC01-E0BD6E953BA1}"/>
              </a:ext>
            </a:extLst>
          </p:cNvPr>
          <p:cNvSpPr>
            <a:spLocks noGrp="1"/>
          </p:cNvSpPr>
          <p:nvPr>
            <p:ph type="ctrTitle"/>
          </p:nvPr>
        </p:nvSpPr>
        <p:spPr>
          <a:xfrm>
            <a:off x="1240631" y="1788454"/>
            <a:ext cx="9710224" cy="2098226"/>
          </a:xfrm>
        </p:spPr>
        <p:txBody>
          <a:bodyPr/>
          <a:lstStyle/>
          <a:p>
            <a:r>
              <a:rPr lang="en-US" sz="4000" b="1" dirty="0" err="1">
                <a:effectLst/>
                <a:latin typeface="Times New Roman" panose="02020603050405020304" pitchFamily="18" charset="0"/>
                <a:cs typeface="Times New Roman" panose="02020603050405020304" pitchFamily="18" charset="0"/>
              </a:rPr>
              <a:t>LLaMA</a:t>
            </a:r>
            <a:r>
              <a:rPr lang="en-US" sz="4000" dirty="0">
                <a:effectLst/>
                <a:latin typeface="Times New Roman" panose="02020603050405020304" pitchFamily="18" charset="0"/>
                <a:cs typeface="Times New Roman" panose="02020603050405020304" pitchFamily="18" charset="0"/>
              </a:rPr>
              <a:t>: Open and Efficient Foundation Language Models</a:t>
            </a:r>
            <a:br>
              <a:rPr lang="en-US" sz="4000" dirty="0">
                <a:effectLst/>
                <a:latin typeface="Times New Roman" panose="02020603050405020304" pitchFamily="18" charset="0"/>
                <a:cs typeface="Times New Roman" panose="02020603050405020304" pitchFamily="18" charset="0"/>
              </a:rPr>
            </a:br>
            <a:r>
              <a:rPr lang="en-US" sz="1500" dirty="0">
                <a:effectLst/>
                <a:latin typeface="Times New Roman" panose="02020603050405020304" pitchFamily="18" charset="0"/>
                <a:cs typeface="Times New Roman" panose="02020603050405020304" pitchFamily="18" charset="0"/>
              </a:rPr>
              <a:t> </a:t>
            </a:r>
            <a:br>
              <a:rPr lang="en-US" sz="4000" dirty="0">
                <a:effectLst/>
                <a:latin typeface="Times New Roman" panose="02020603050405020304" pitchFamily="18" charset="0"/>
                <a:cs typeface="Times New Roman" panose="02020603050405020304" pitchFamily="18" charset="0"/>
              </a:rPr>
            </a:br>
            <a:r>
              <a:rPr lang="en-US" sz="4000" b="1" dirty="0">
                <a:effectLst/>
                <a:latin typeface="Times New Roman" panose="02020603050405020304" pitchFamily="18" charset="0"/>
                <a:cs typeface="Times New Roman" panose="02020603050405020304" pitchFamily="18" charset="0"/>
              </a:rPr>
              <a:t>evaluation</a:t>
            </a:r>
            <a:endParaRPr lang="en-IL" sz="4000" b="1" dirty="0">
              <a:latin typeface="Times New Roman" panose="02020603050405020304" pitchFamily="18" charset="0"/>
              <a:cs typeface="Times New Roman" panose="02020603050405020304" pitchFamily="18" charset="0"/>
            </a:endParaRPr>
          </a:p>
        </p:txBody>
      </p:sp>
      <p:sp>
        <p:nvSpPr>
          <p:cNvPr id="3" name="Subtitle 2">
            <a:extLst>
              <a:ext uri="{FF2B5EF4-FFF2-40B4-BE49-F238E27FC236}">
                <a16:creationId xmlns:a16="http://schemas.microsoft.com/office/drawing/2014/main" id="{D8FBB279-AF1D-54EC-CB83-3F90F28DED23}"/>
              </a:ext>
            </a:extLst>
          </p:cNvPr>
          <p:cNvSpPr>
            <a:spLocks noGrp="1"/>
          </p:cNvSpPr>
          <p:nvPr>
            <p:ph type="subTitle" idx="1"/>
          </p:nvPr>
        </p:nvSpPr>
        <p:spPr/>
        <p:txBody>
          <a:bodyPr/>
          <a:lstStyle/>
          <a:p>
            <a:pPr>
              <a:spcAft>
                <a:spcPts val="600"/>
              </a:spcAft>
            </a:pPr>
            <a:r>
              <a:rPr lang="en-IL" dirty="0">
                <a:latin typeface="Times New Roman" panose="02020603050405020304" pitchFamily="18" charset="0"/>
                <a:cs typeface="Times New Roman" panose="02020603050405020304" pitchFamily="18" charset="0"/>
              </a:rPr>
              <a:t>Shlomi Ben-Shushan</a:t>
            </a:r>
          </a:p>
          <a:p>
            <a:r>
              <a:rPr lang="en-IL" dirty="0">
                <a:latin typeface="Times New Roman" panose="02020603050405020304" pitchFamily="18" charset="0"/>
                <a:cs typeface="Times New Roman" panose="02020603050405020304" pitchFamily="18" charset="0"/>
              </a:rPr>
              <a:t>8 . 12 . 2025</a:t>
            </a:r>
          </a:p>
        </p:txBody>
      </p:sp>
      <p:pic>
        <p:nvPicPr>
          <p:cNvPr id="1028" name="Picture 4" descr="A llama wearing sunglasses and a hat&#10;&#10;Description automatically generated">
            <a:extLst>
              <a:ext uri="{FF2B5EF4-FFF2-40B4-BE49-F238E27FC236}">
                <a16:creationId xmlns:a16="http://schemas.microsoft.com/office/drawing/2014/main" id="{4DAD5C20-EE08-FA81-5B77-7A2E6583510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6446" b="9133"/>
          <a:stretch/>
        </p:blipFill>
        <p:spPr bwMode="auto">
          <a:xfrm>
            <a:off x="1500811" y="4051917"/>
            <a:ext cx="2358190" cy="28060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72263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8F85EA-EDE7-7150-4CEE-72F6C54B3DC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Evaluation Methodology</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17BBD12-6038-D53B-6AE6-B9FBB2A3FE37}"/>
              </a:ext>
            </a:extLst>
          </p:cNvPr>
          <p:cNvSpPr>
            <a:spLocks noGrp="1"/>
          </p:cNvSpPr>
          <p:nvPr>
            <p:ph idx="1"/>
          </p:nvPr>
        </p:nvSpPr>
        <p:spPr>
          <a:xfrm>
            <a:off x="1371600" y="1133856"/>
            <a:ext cx="9601200" cy="5179161"/>
          </a:xfrm>
        </p:spPr>
        <p:txBody>
          <a:bodyPr>
            <a:normAutofit/>
          </a:bodyPr>
          <a:lstStyle/>
          <a:p>
            <a:r>
              <a:rPr lang="en-US" b="1" dirty="0">
                <a:latin typeface="Times New Roman" panose="02020603050405020304" pitchFamily="18" charset="0"/>
                <a:cs typeface="Times New Roman" panose="02020603050405020304" pitchFamily="18" charset="0"/>
              </a:rPr>
              <a:t>Task Types:</a:t>
            </a:r>
          </a:p>
          <a:p>
            <a:pPr lvl="1"/>
            <a:r>
              <a:rPr lang="en-US" b="0" i="0" dirty="0">
                <a:solidFill>
                  <a:schemeClr val="tx1"/>
                </a:solidFill>
                <a:effectLst/>
                <a:latin typeface="Times New Roman" panose="02020603050405020304" pitchFamily="18" charset="0"/>
                <a:cs typeface="Times New Roman" panose="02020603050405020304" pitchFamily="18" charset="0"/>
              </a:rPr>
              <a:t>Free-form generation.</a:t>
            </a:r>
          </a:p>
          <a:p>
            <a:pPr lvl="1"/>
            <a:r>
              <a:rPr lang="en-US" b="0" i="0" dirty="0">
                <a:solidFill>
                  <a:schemeClr val="tx1"/>
                </a:solidFill>
                <a:effectLst/>
                <a:latin typeface="Times New Roman" panose="02020603050405020304" pitchFamily="18" charset="0"/>
                <a:cs typeface="Times New Roman" panose="02020603050405020304" pitchFamily="18" charset="0"/>
              </a:rPr>
              <a:t>Multiple choice (ranking options by likelihood).</a:t>
            </a:r>
            <a:endParaRPr lang="en-IL" dirty="0">
              <a:solidFill>
                <a:schemeClr val="tx1"/>
              </a:solidFill>
              <a:latin typeface="Times New Roman" panose="02020603050405020304" pitchFamily="18" charset="0"/>
              <a:cs typeface="Times New Roman" panose="02020603050405020304" pitchFamily="18" charset="0"/>
            </a:endParaRPr>
          </a:p>
          <a:p>
            <a:endParaRPr lang="he-IL" b="1"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Evaluation Approach:</a:t>
            </a:r>
          </a:p>
          <a:p>
            <a:pPr lvl="1"/>
            <a:r>
              <a:rPr lang="en-US" b="0" i="0" dirty="0">
                <a:solidFill>
                  <a:schemeClr val="tx1"/>
                </a:solidFill>
                <a:effectLst/>
                <a:latin typeface="Times New Roman" panose="02020603050405020304" pitchFamily="18" charset="0"/>
                <a:cs typeface="Times New Roman" panose="02020603050405020304" pitchFamily="18" charset="0"/>
              </a:rPr>
              <a:t>Follows previous work (Brown et al., 2020).</a:t>
            </a:r>
          </a:p>
          <a:p>
            <a:pPr lvl="1"/>
            <a:r>
              <a:rPr lang="en-US" b="1" i="0" dirty="0">
                <a:solidFill>
                  <a:schemeClr val="tx1"/>
                </a:solidFill>
                <a:effectLst/>
                <a:latin typeface="Times New Roman" panose="02020603050405020304" pitchFamily="18" charset="0"/>
                <a:cs typeface="Times New Roman" panose="02020603050405020304" pitchFamily="18" charset="0"/>
              </a:rPr>
              <a:t>Zero-shot:</a:t>
            </a:r>
            <a:r>
              <a:rPr lang="en-US" b="0" i="0" dirty="0">
                <a:solidFill>
                  <a:schemeClr val="tx1"/>
                </a:solidFill>
                <a:effectLst/>
                <a:latin typeface="Times New Roman" panose="02020603050405020304" pitchFamily="18" charset="0"/>
                <a:cs typeface="Times New Roman" panose="02020603050405020304" pitchFamily="18" charset="0"/>
              </a:rPr>
              <a:t> Model provided with a task description and test example.</a:t>
            </a:r>
          </a:p>
          <a:p>
            <a:pPr lvl="1"/>
            <a:r>
              <a:rPr lang="en-US" b="1" i="0" dirty="0">
                <a:solidFill>
                  <a:schemeClr val="tx1"/>
                </a:solidFill>
                <a:effectLst/>
                <a:latin typeface="Times New Roman" panose="02020603050405020304" pitchFamily="18" charset="0"/>
                <a:cs typeface="Times New Roman" panose="02020603050405020304" pitchFamily="18" charset="0"/>
              </a:rPr>
              <a:t>Few-shot:</a:t>
            </a:r>
            <a:r>
              <a:rPr lang="en-US" b="0" i="0" dirty="0">
                <a:solidFill>
                  <a:schemeClr val="tx1"/>
                </a:solidFill>
                <a:effectLst/>
                <a:latin typeface="Times New Roman" panose="02020603050405020304" pitchFamily="18" charset="0"/>
                <a:cs typeface="Times New Roman" panose="02020603050405020304" pitchFamily="18" charset="0"/>
              </a:rPr>
              <a:t> Model provided with 1 to 64 examples + test example.</a:t>
            </a:r>
            <a:endParaRPr lang="en-US" b="1" i="0" dirty="0">
              <a:solidFill>
                <a:schemeClr val="tx1"/>
              </a:solidFill>
              <a:effectLst/>
              <a:latin typeface="Times New Roman" panose="02020603050405020304" pitchFamily="18" charset="0"/>
              <a:cs typeface="Times New Roman" panose="02020603050405020304" pitchFamily="18" charset="0"/>
            </a:endParaRPr>
          </a:p>
          <a:p>
            <a:endParaRPr lang="en-US" b="1" dirty="0">
              <a:latin typeface="Times New Roman" panose="02020603050405020304" pitchFamily="18" charset="0"/>
              <a:cs typeface="Times New Roman" panose="02020603050405020304" pitchFamily="18" charset="0"/>
            </a:endParaRPr>
          </a:p>
          <a:p>
            <a:r>
              <a:rPr lang="en-US" b="1" dirty="0">
                <a:latin typeface="Times New Roman" panose="02020603050405020304" pitchFamily="18" charset="0"/>
                <a:cs typeface="Times New Roman" panose="02020603050405020304" pitchFamily="18" charset="0"/>
              </a:rPr>
              <a:t>Baselines for Comparison:</a:t>
            </a:r>
            <a:endParaRPr lang="en-US" b="1" i="1" dirty="0">
              <a:latin typeface="Times New Roman" panose="02020603050405020304" pitchFamily="18" charset="0"/>
              <a:cs typeface="Times New Roman" panose="02020603050405020304" pitchFamily="18" charset="0"/>
            </a:endParaRPr>
          </a:p>
          <a:p>
            <a:pPr lvl="1"/>
            <a:r>
              <a:rPr lang="en-US" b="1" i="0" dirty="0">
                <a:solidFill>
                  <a:schemeClr val="tx1"/>
                </a:solidFill>
                <a:effectLst/>
                <a:latin typeface="Times New Roman" panose="02020603050405020304" pitchFamily="18" charset="0"/>
                <a:cs typeface="Times New Roman" panose="02020603050405020304" pitchFamily="18" charset="0"/>
              </a:rPr>
              <a:t>Proprietary:</a:t>
            </a:r>
            <a:r>
              <a:rPr lang="en-US" b="0" i="0" dirty="0">
                <a:solidFill>
                  <a:schemeClr val="tx1"/>
                </a:solidFill>
                <a:effectLst/>
                <a:latin typeface="Times New Roman" panose="02020603050405020304" pitchFamily="18" charset="0"/>
                <a:cs typeface="Times New Roman" panose="02020603050405020304" pitchFamily="18" charset="0"/>
              </a:rPr>
              <a:t> GPT-3, Gopher, Chinchilla, </a:t>
            </a:r>
            <a:r>
              <a:rPr lang="en-US" b="0" i="0" dirty="0" err="1">
                <a:solidFill>
                  <a:schemeClr val="tx1"/>
                </a:solidFill>
                <a:effectLst/>
                <a:latin typeface="Times New Roman" panose="02020603050405020304" pitchFamily="18" charset="0"/>
                <a:cs typeface="Times New Roman" panose="02020603050405020304" pitchFamily="18" charset="0"/>
              </a:rPr>
              <a:t>PaLM</a:t>
            </a:r>
            <a:r>
              <a:rPr lang="en-US" b="0" i="0" dirty="0">
                <a:solidFill>
                  <a:schemeClr val="tx1"/>
                </a:solidFill>
                <a:effectLst/>
                <a:latin typeface="Times New Roman" panose="02020603050405020304" pitchFamily="18" charset="0"/>
                <a:cs typeface="Times New Roman" panose="02020603050405020304" pitchFamily="18" charset="0"/>
              </a:rPr>
              <a:t>.</a:t>
            </a:r>
          </a:p>
          <a:p>
            <a:pPr lvl="1"/>
            <a:r>
              <a:rPr lang="en-US" b="1" i="0" dirty="0">
                <a:solidFill>
                  <a:schemeClr val="tx1"/>
                </a:solidFill>
                <a:effectLst/>
                <a:latin typeface="Times New Roman" panose="02020603050405020304" pitchFamily="18" charset="0"/>
                <a:cs typeface="Times New Roman" panose="02020603050405020304" pitchFamily="18" charset="0"/>
              </a:rPr>
              <a:t>Open-source:</a:t>
            </a:r>
            <a:r>
              <a:rPr lang="en-US" b="0" i="0" dirty="0">
                <a:solidFill>
                  <a:schemeClr val="tx1"/>
                </a:solidFill>
                <a:effectLst/>
                <a:latin typeface="Times New Roman" panose="02020603050405020304" pitchFamily="18" charset="0"/>
                <a:cs typeface="Times New Roman" panose="02020603050405020304" pitchFamily="18" charset="0"/>
              </a:rPr>
              <a:t> OPT, GPT-J, GPT-Neo.</a:t>
            </a:r>
            <a:endParaRPr lang="en-US" b="1" dirty="0">
              <a:latin typeface="Times New Roman" panose="02020603050405020304" pitchFamily="18" charset="0"/>
              <a:cs typeface="Times New Roman" panose="02020603050405020304" pitchFamily="18" charset="0"/>
            </a:endParaRPr>
          </a:p>
          <a:p>
            <a:pPr lvl="1"/>
            <a:endParaRPr lang="en-IL"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9417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867CE-B00F-D7CE-DE34-7A28E7E8D4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345A4-C0DE-3D49-FBAC-14C9BD78DD9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Benchmarks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0B7BF769-2041-7AC8-449B-E9A7C3DE899C}"/>
              </a:ext>
            </a:extLst>
          </p:cNvPr>
          <p:cNvSpPr>
            <a:spLocks noGrp="1"/>
          </p:cNvSpPr>
          <p:nvPr>
            <p:ph idx="1"/>
          </p:nvPr>
        </p:nvSpPr>
        <p:spPr>
          <a:xfrm>
            <a:off x="1371600" y="1133856"/>
            <a:ext cx="10383926" cy="5603828"/>
          </a:xfrm>
        </p:spPr>
        <p:txBody>
          <a:bodyPr>
            <a:noAutofit/>
          </a:bodyPr>
          <a:lstStyle/>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Common Sense Reasoning</a:t>
            </a:r>
            <a:endParaRPr lang="en-US" sz="1600" b="1" i="1" dirty="0">
              <a:latin typeface="Times New Roman" panose="02020603050405020304" pitchFamily="18" charset="0"/>
              <a:cs typeface="Times New Roman" panose="02020603050405020304" pitchFamily="18" charset="0"/>
            </a:endParaRPr>
          </a:p>
          <a:p>
            <a:pPr lvl="1">
              <a:lnSpc>
                <a:spcPct val="90000"/>
              </a:lnSpc>
            </a:pPr>
            <a:r>
              <a:rPr lang="en-US" sz="1400" i="0" dirty="0">
                <a:latin typeface="Times New Roman" panose="02020603050405020304" pitchFamily="18" charset="0"/>
                <a:cs typeface="Times New Roman" panose="02020603050405020304" pitchFamily="18" charset="0"/>
              </a:rPr>
              <a:t>Evaluates everyday reasoning capabilities using Cloze tasks, Winograd schemas, and multiple-choice questions.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BoolQ</a:t>
            </a:r>
            <a:r>
              <a:rPr lang="en-US" sz="1400" i="0" dirty="0">
                <a:latin typeface="Times New Roman" panose="02020603050405020304" pitchFamily="18" charset="0"/>
                <a:cs typeface="Times New Roman" panose="02020603050405020304" pitchFamily="18" charset="0"/>
              </a:rPr>
              <a:t>, PIQA, SIQA, </a:t>
            </a:r>
            <a:r>
              <a:rPr lang="en-US" sz="1400" i="0" dirty="0" err="1">
                <a:latin typeface="Times New Roman" panose="02020603050405020304" pitchFamily="18" charset="0"/>
                <a:cs typeface="Times New Roman" panose="02020603050405020304" pitchFamily="18" charset="0"/>
              </a:rPr>
              <a:t>HellaSwag</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WinoGrande</a:t>
            </a:r>
            <a:r>
              <a:rPr lang="en-US" sz="1400" i="0" dirty="0">
                <a:latin typeface="Times New Roman" panose="02020603050405020304" pitchFamily="18" charset="0"/>
                <a:cs typeface="Times New Roman" panose="02020603050405020304" pitchFamily="18" charset="0"/>
              </a:rPr>
              <a:t>, ARC easy, ARC challenge, </a:t>
            </a:r>
            <a:r>
              <a:rPr lang="en-US" sz="1400" i="0" dirty="0" err="1">
                <a:latin typeface="Times New Roman" panose="02020603050405020304" pitchFamily="18" charset="0"/>
                <a:cs typeface="Times New Roman" panose="02020603050405020304" pitchFamily="18" charset="0"/>
              </a:rPr>
              <a:t>OpenBookQA</a:t>
            </a:r>
            <a:r>
              <a:rPr lang="en-US" sz="1400" i="0" dirty="0">
                <a:latin typeface="Times New Roman" panose="02020603050405020304" pitchFamily="18" charset="0"/>
                <a:cs typeface="Times New Roman" panose="02020603050405020304" pitchFamily="18" charset="0"/>
              </a:rPr>
              <a:t>. (OBQA)</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Closed-book Question Answering</a:t>
            </a:r>
          </a:p>
          <a:p>
            <a:pPr lvl="1">
              <a:lnSpc>
                <a:spcPct val="90000"/>
              </a:lnSpc>
            </a:pPr>
            <a:r>
              <a:rPr lang="en-US" sz="1400" i="0" dirty="0">
                <a:latin typeface="Times New Roman" panose="02020603050405020304" pitchFamily="18" charset="0"/>
                <a:cs typeface="Times New Roman" panose="02020603050405020304" pitchFamily="18" charset="0"/>
              </a:rPr>
              <a:t>Tests model’s ability to answer questions using only internal knowledge, without access to external documents.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Natural Questions, </a:t>
            </a:r>
            <a:r>
              <a:rPr lang="en-US" sz="1400" i="0" dirty="0" err="1">
                <a:latin typeface="Times New Roman" panose="02020603050405020304" pitchFamily="18" charset="0"/>
                <a:cs typeface="Times New Roman" panose="02020603050405020304" pitchFamily="18" charset="0"/>
              </a:rPr>
              <a:t>TriviaQA</a:t>
            </a:r>
            <a:r>
              <a:rPr lang="en-US" sz="1400" i="0" dirty="0">
                <a:latin typeface="Times New Roman" panose="02020603050405020304" pitchFamily="18" charset="0"/>
                <a:cs typeface="Times New Roman" panose="02020603050405020304" pitchFamily="18" charset="0"/>
              </a:rPr>
              <a:t>.</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Reading Comprehension</a:t>
            </a:r>
          </a:p>
          <a:p>
            <a:pPr lvl="1">
              <a:lnSpc>
                <a:spcPct val="90000"/>
              </a:lnSpc>
            </a:pPr>
            <a:r>
              <a:rPr lang="en-US" sz="1400" i="0" dirty="0">
                <a:latin typeface="Times New Roman" panose="02020603050405020304" pitchFamily="18" charset="0"/>
                <a:cs typeface="Times New Roman" panose="02020603050405020304" pitchFamily="18" charset="0"/>
              </a:rPr>
              <a:t>Measures understanding of text passages using middle and high school English exam questions.</a:t>
            </a:r>
            <a:endParaRPr lang="en-US" sz="1400" dirty="0">
              <a:latin typeface="Times New Roman" panose="02020603050405020304" pitchFamily="18" charset="0"/>
              <a:cs typeface="Times New Roman" panose="02020603050405020304" pitchFamily="18" charset="0"/>
            </a:endParaRP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RACE-middle, RACE-high.</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Mathematical Reasoning</a:t>
            </a:r>
          </a:p>
          <a:p>
            <a:pPr lvl="1">
              <a:lnSpc>
                <a:spcPct val="90000"/>
              </a:lnSpc>
            </a:pPr>
            <a:r>
              <a:rPr lang="en-US" sz="1400" i="0" dirty="0">
                <a:latin typeface="Times New Roman" panose="02020603050405020304" pitchFamily="18" charset="0"/>
                <a:cs typeface="Times New Roman" panose="02020603050405020304" pitchFamily="18" charset="0"/>
              </a:rPr>
              <a:t>Assesses capability to solve middle and high school level math problems.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MATH, GSM8k.</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Code Generation</a:t>
            </a:r>
          </a:p>
          <a:p>
            <a:pPr lvl="1">
              <a:lnSpc>
                <a:spcPct val="90000"/>
              </a:lnSpc>
            </a:pPr>
            <a:r>
              <a:rPr lang="en-US" sz="1400" i="0" dirty="0">
                <a:latin typeface="Times New Roman" panose="02020603050405020304" pitchFamily="18" charset="0"/>
                <a:cs typeface="Times New Roman" panose="02020603050405020304" pitchFamily="18" charset="0"/>
              </a:rPr>
              <a:t>Evaluates ability to generate functional Python code from natural language descriptions.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a:t>
            </a:r>
            <a:r>
              <a:rPr lang="en-US" sz="1400" i="0" dirty="0" err="1">
                <a:latin typeface="Times New Roman" panose="02020603050405020304" pitchFamily="18" charset="0"/>
                <a:cs typeface="Times New Roman" panose="02020603050405020304" pitchFamily="18" charset="0"/>
              </a:rPr>
              <a:t>HumanEval</a:t>
            </a:r>
            <a:r>
              <a:rPr lang="en-US" sz="1400" i="0" dirty="0">
                <a:latin typeface="Times New Roman" panose="02020603050405020304" pitchFamily="18" charset="0"/>
                <a:cs typeface="Times New Roman" panose="02020603050405020304" pitchFamily="18" charset="0"/>
              </a:rPr>
              <a:t>, MBPP.</a:t>
            </a:r>
          </a:p>
          <a:p>
            <a:pPr>
              <a:lnSpc>
                <a:spcPct val="90000"/>
              </a:lnSpc>
              <a:buFont typeface="+mj-lt"/>
              <a:buAutoNum type="arabicPeriod"/>
            </a:pPr>
            <a:r>
              <a:rPr lang="en-US" sz="1600" b="1" dirty="0">
                <a:latin typeface="Times New Roman" panose="02020603050405020304" pitchFamily="18" charset="0"/>
                <a:cs typeface="Times New Roman" panose="02020603050405020304" pitchFamily="18" charset="0"/>
              </a:rPr>
              <a:t>Massive Multitask Language Understanding (MMLU)</a:t>
            </a:r>
          </a:p>
          <a:p>
            <a:pPr lvl="1">
              <a:lnSpc>
                <a:spcPct val="90000"/>
              </a:lnSpc>
            </a:pPr>
            <a:r>
              <a:rPr lang="en-US" sz="1400" i="0" dirty="0">
                <a:latin typeface="Times New Roman" panose="02020603050405020304" pitchFamily="18" charset="0"/>
                <a:cs typeface="Times New Roman" panose="02020603050405020304" pitchFamily="18" charset="0"/>
              </a:rPr>
              <a:t>A comprehensive test covering diverse domains like humanities, STEM, and social sciences.</a:t>
            </a:r>
          </a:p>
          <a:p>
            <a:pPr lvl="1">
              <a:lnSpc>
                <a:spcPct val="90000"/>
              </a:lnSpc>
            </a:pPr>
            <a:r>
              <a:rPr lang="en-US" sz="1400" b="1" i="0" dirty="0">
                <a:latin typeface="Times New Roman" panose="02020603050405020304" pitchFamily="18" charset="0"/>
                <a:cs typeface="Times New Roman" panose="02020603050405020304" pitchFamily="18" charset="0"/>
              </a:rPr>
              <a:t>Datasets:</a:t>
            </a:r>
            <a:r>
              <a:rPr lang="en-US" sz="1400" i="0" dirty="0">
                <a:latin typeface="Times New Roman" panose="02020603050405020304" pitchFamily="18" charset="0"/>
                <a:cs typeface="Times New Roman" panose="02020603050405020304" pitchFamily="18" charset="0"/>
              </a:rPr>
              <a:t> MMLU.</a:t>
            </a:r>
          </a:p>
        </p:txBody>
      </p:sp>
    </p:spTree>
    <p:extLst>
      <p:ext uri="{BB962C8B-B14F-4D97-AF65-F5344CB8AC3E}">
        <p14:creationId xmlns:p14="http://schemas.microsoft.com/office/powerpoint/2010/main" val="3961959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BB60EB-87E6-614B-8160-E6D0D0D9EB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EA7D63-ACC8-A481-C999-7CA65304ADCE}"/>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Additional Metrics</a:t>
            </a: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63ADEF5-05C3-CC1B-710D-624123AB59F8}"/>
                  </a:ext>
                </a:extLst>
              </p:cNvPr>
              <p:cNvSpPr>
                <a:spLocks noGrp="1"/>
              </p:cNvSpPr>
              <p:nvPr>
                <p:ph idx="1"/>
              </p:nvPr>
            </p:nvSpPr>
            <p:spPr>
              <a:xfrm>
                <a:off x="1371600" y="1133856"/>
                <a:ext cx="9601200" cy="5179161"/>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Instruction Finetuning</a:t>
                </a:r>
              </a:p>
              <a:p>
                <a:pPr lvl="1"/>
                <a:r>
                  <a:rPr lang="en-US" b="0" i="0" dirty="0">
                    <a:solidFill>
                      <a:schemeClr val="tx1"/>
                    </a:solidFill>
                    <a:effectLst/>
                    <a:latin typeface="Times New Roman" panose="02020603050405020304" pitchFamily="18" charset="0"/>
                    <a:cs typeface="Times New Roman" panose="02020603050405020304" pitchFamily="18" charset="0"/>
                  </a:rPr>
                  <a:t>Demonstrates that brief finetuning on instruction data rapidly improves performance and instruction-following abilities.</a:t>
                </a:r>
              </a:p>
              <a:p>
                <a:pPr lvl="1"/>
                <a:r>
                  <a:rPr lang="en-US" b="1" i="0" dirty="0">
                    <a:solidFill>
                      <a:schemeClr val="tx1"/>
                    </a:solidFill>
                    <a:effectLst/>
                    <a:latin typeface="Times New Roman" panose="02020603050405020304" pitchFamily="18" charset="0"/>
                    <a:cs typeface="Times New Roman" panose="02020603050405020304" pitchFamily="18" charset="0"/>
                  </a:rPr>
                  <a:t>Model:</a:t>
                </a:r>
                <a:r>
                  <a:rPr lang="en-US" b="0" i="0" dirty="0">
                    <a:solidFill>
                      <a:schemeClr val="tx1"/>
                    </a:solidFill>
                    <a:effectLst/>
                    <a:latin typeface="Times New Roman" panose="02020603050405020304" pitchFamily="18" charset="0"/>
                    <a:cs typeface="Times New Roman" panose="02020603050405020304" pitchFamily="18" charset="0"/>
                  </a:rPr>
                  <a:t> </a:t>
                </a:r>
                <a:r>
                  <a:rPr lang="en-US" b="0" i="0" dirty="0" err="1">
                    <a:solidFill>
                      <a:schemeClr val="tx1"/>
                    </a:solidFill>
                    <a:effectLst/>
                    <a:latin typeface="Times New Roman" panose="02020603050405020304" pitchFamily="18" charset="0"/>
                    <a:cs typeface="Times New Roman" panose="02020603050405020304" pitchFamily="18" charset="0"/>
                  </a:rPr>
                  <a:t>LLaMA</a:t>
                </a:r>
                <a:r>
                  <a:rPr lang="en-US" b="0" i="0" dirty="0">
                    <a:solidFill>
                      <a:schemeClr val="tx1"/>
                    </a:solidFill>
                    <a:effectLst/>
                    <a:latin typeface="Times New Roman" panose="02020603050405020304" pitchFamily="18" charset="0"/>
                    <a:cs typeface="Times New Roman" panose="02020603050405020304" pitchFamily="18" charset="0"/>
                  </a:rPr>
                  <a:t>-I (evaluated on MMLU).</a:t>
                </a:r>
              </a:p>
              <a:p>
                <a:endParaRPr lang="en-US" dirty="0">
                  <a:solidFill>
                    <a:schemeClr val="tx1"/>
                  </a:solidFill>
                  <a:latin typeface="Times New Roman" panose="02020603050405020304" pitchFamily="18" charset="0"/>
                  <a:cs typeface="Times New Roman" panose="02020603050405020304" pitchFamily="18" charset="0"/>
                </a:endParaRPr>
              </a:p>
              <a:p>
                <a:r>
                  <a:rPr lang="en-US" sz="2000" b="1" dirty="0">
                    <a:solidFill>
                      <a:schemeClr val="tx1"/>
                    </a:solidFill>
                    <a:latin typeface="Times New Roman" panose="02020603050405020304" pitchFamily="18" charset="0"/>
                    <a:cs typeface="Times New Roman" panose="02020603050405020304" pitchFamily="18" charset="0"/>
                  </a:rPr>
                  <a:t>Bias, Toxicity &amp; Truthfulness</a:t>
                </a:r>
                <a:endParaRPr lang="en-US" b="1" dirty="0">
                  <a:solidFill>
                    <a:schemeClr val="tx1"/>
                  </a:solidFill>
                  <a:latin typeface="Times New Roman" panose="02020603050405020304" pitchFamily="18" charset="0"/>
                  <a:cs typeface="Times New Roman" panose="02020603050405020304" pitchFamily="18" charset="0"/>
                </a:endParaRPr>
              </a:p>
              <a:p>
                <a:pPr lvl="1"/>
                <a:r>
                  <a:rPr lang="en-US" i="0" dirty="0">
                    <a:solidFill>
                      <a:schemeClr val="tx1"/>
                    </a:solidFill>
                    <a:latin typeface="Times New Roman" panose="02020603050405020304" pitchFamily="18" charset="0"/>
                    <a:cs typeface="Times New Roman" panose="02020603050405020304" pitchFamily="18" charset="0"/>
                  </a:rPr>
                  <a:t>Measures toxic content generation, social stereotypes, biases, and misinformation.</a:t>
                </a:r>
              </a:p>
              <a:p>
                <a:pPr lvl="1"/>
                <a:r>
                  <a:rPr lang="en-US" b="1" i="0" dirty="0">
                    <a:solidFill>
                      <a:schemeClr val="tx1"/>
                    </a:solidFill>
                    <a:latin typeface="Times New Roman" panose="02020603050405020304" pitchFamily="18" charset="0"/>
                    <a:cs typeface="Times New Roman" panose="02020603050405020304" pitchFamily="18" charset="0"/>
                  </a:rPr>
                  <a:t>Datasets:</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RealToxicityPrompts</a:t>
                </a:r>
                <a:r>
                  <a:rPr lang="en-US" i="0" dirty="0">
                    <a:solidFill>
                      <a:schemeClr val="tx1"/>
                    </a:solidFill>
                    <a:latin typeface="Times New Roman" panose="02020603050405020304" pitchFamily="18" charset="0"/>
                    <a:cs typeface="Times New Roman" panose="02020603050405020304" pitchFamily="18" charset="0"/>
                  </a:rPr>
                  <a:t> (</a:t>
                </a:r>
                <a:r>
                  <a:rPr lang="en-US" dirty="0" err="1">
                    <a:solidFill>
                      <a:schemeClr val="tx1"/>
                    </a:solidFill>
                    <a:latin typeface="Times New Roman" panose="02020603050405020304" pitchFamily="18" charset="0"/>
                    <a:cs typeface="Times New Roman" panose="02020603050405020304" pitchFamily="18" charset="0"/>
                  </a:rPr>
                  <a:t>PerspectiveAPI</a:t>
                </a:r>
                <a:r>
                  <a:rPr lang="en-US" i="0" dirty="0">
                    <a:solidFill>
                      <a:schemeClr val="tx1"/>
                    </a:solidFill>
                    <a:latin typeface="Times New Roman" panose="02020603050405020304" pitchFamily="18" charset="0"/>
                    <a:cs typeface="Times New Roman" panose="02020603050405020304" pitchFamily="18" charset="0"/>
                  </a:rPr>
                  <a:t>), </a:t>
                </a:r>
                <a:r>
                  <a:rPr lang="en-US" i="0" dirty="0" err="1">
                    <a:solidFill>
                      <a:schemeClr val="tx1"/>
                    </a:solidFill>
                    <a:latin typeface="Times New Roman" panose="02020603050405020304" pitchFamily="18" charset="0"/>
                    <a:cs typeface="Times New Roman" panose="02020603050405020304" pitchFamily="18" charset="0"/>
                  </a:rPr>
                  <a:t>CrowS</a:t>
                </a:r>
                <a:r>
                  <a:rPr lang="en-US" i="0" dirty="0">
                    <a:solidFill>
                      <a:schemeClr val="tx1"/>
                    </a:solidFill>
                    <a:latin typeface="Times New Roman" panose="02020603050405020304" pitchFamily="18" charset="0"/>
                    <a:cs typeface="Times New Roman" panose="02020603050405020304" pitchFamily="18" charset="0"/>
                  </a:rPr>
                  <a:t>-Pairs, </a:t>
                </a:r>
                <a:r>
                  <a:rPr lang="en-US" i="0" dirty="0" err="1">
                    <a:solidFill>
                      <a:schemeClr val="tx1"/>
                    </a:solidFill>
                    <a:latin typeface="Times New Roman" panose="02020603050405020304" pitchFamily="18" charset="0"/>
                    <a:cs typeface="Times New Roman" panose="02020603050405020304" pitchFamily="18" charset="0"/>
                  </a:rPr>
                  <a:t>WinoGender</a:t>
                </a:r>
                <a:r>
                  <a:rPr lang="en-US" i="0" dirty="0">
                    <a:solidFill>
                      <a:schemeClr val="tx1"/>
                    </a:solidFill>
                    <a:latin typeface="Times New Roman" panose="02020603050405020304" pitchFamily="18" charset="0"/>
                    <a:cs typeface="Times New Roman" panose="02020603050405020304" pitchFamily="18" charset="0"/>
                  </a:rPr>
                  <a:t>,</a:t>
                </a:r>
              </a:p>
              <a:p>
                <a:endParaRPr lang="en-US" b="1" i="0" dirty="0">
                  <a:solidFill>
                    <a:schemeClr val="tx1"/>
                  </a:solidFill>
                  <a:effectLst/>
                  <a:latin typeface="Times New Roman" panose="02020603050405020304" pitchFamily="18" charset="0"/>
                  <a:cs typeface="Times New Roman" panose="02020603050405020304" pitchFamily="18" charset="0"/>
                </a:endParaRPr>
              </a:p>
              <a:p>
                <a:r>
                  <a:rPr lang="en-US" b="1" i="0" dirty="0">
                    <a:solidFill>
                      <a:schemeClr val="tx1"/>
                    </a:solidFill>
                    <a:effectLst/>
                    <a:latin typeface="Times New Roman" panose="02020603050405020304" pitchFamily="18" charset="0"/>
                    <a:cs typeface="Times New Roman" panose="02020603050405020304" pitchFamily="18" charset="0"/>
                  </a:rPr>
                  <a:t>Carbon Footprint</a:t>
                </a:r>
                <a:endParaRPr lang="en-US" dirty="0">
                  <a:solidFill>
                    <a:schemeClr val="tx1"/>
                  </a:solidFill>
                  <a:latin typeface="Times New Roman" panose="02020603050405020304" pitchFamily="18" charset="0"/>
                  <a:cs typeface="Times New Roman" panose="02020603050405020304" pitchFamily="18" charset="0"/>
                </a:endParaRPr>
              </a:p>
              <a:p>
                <a:pPr lvl="1"/>
                <a:r>
                  <a:rPr lang="en-US" b="0" i="0" dirty="0">
                    <a:solidFill>
                      <a:schemeClr val="tx1"/>
                    </a:solidFill>
                    <a:effectLst/>
                    <a:latin typeface="Times New Roman" panose="02020603050405020304" pitchFamily="18" charset="0"/>
                    <a:cs typeface="Times New Roman" panose="02020603050405020304" pitchFamily="18" charset="0"/>
                  </a:rPr>
                  <a:t>Estimates training </a:t>
                </a:r>
                <a:r>
                  <a:rPr lang="en-US" i="0" dirty="0">
                    <a:solidFill>
                      <a:schemeClr val="tx1"/>
                    </a:solidFill>
                    <a:latin typeface="Times New Roman" panose="02020603050405020304" pitchFamily="18" charset="0"/>
                    <a:cs typeface="Times New Roman" panose="02020603050405020304" pitchFamily="18" charset="0"/>
                  </a:rPr>
                  <a:t>energy (</a:t>
                </a:r>
                <a14:m>
                  <m:oMath xmlns:m="http://schemas.openxmlformats.org/officeDocument/2006/math">
                    <m:r>
                      <a:rPr lang="en-US" i="1" dirty="0" smtClean="0">
                        <a:solidFill>
                          <a:schemeClr val="tx1"/>
                        </a:solidFill>
                        <a:latin typeface="Cambria Math" panose="02040503050406030204" pitchFamily="18" charset="0"/>
                        <a:cs typeface="Times New Roman" panose="02020603050405020304" pitchFamily="18" charset="0"/>
                      </a:rPr>
                      <m:t>𝑀𝑊h</m:t>
                    </m:r>
                  </m:oMath>
                </a14:m>
                <a:r>
                  <a:rPr lang="en-US" i="0" dirty="0">
                    <a:solidFill>
                      <a:schemeClr val="tx1"/>
                    </a:solidFill>
                    <a:latin typeface="Times New Roman" panose="02020603050405020304" pitchFamily="18" charset="0"/>
                    <a:cs typeface="Times New Roman" panose="02020603050405020304" pitchFamily="18" charset="0"/>
                  </a:rPr>
                  <a:t>) </a:t>
                </a:r>
                <a:r>
                  <a:rPr lang="en-US" b="0" i="0" dirty="0">
                    <a:solidFill>
                      <a:schemeClr val="tx1"/>
                    </a:solidFill>
                    <a:effectLst/>
                    <a:latin typeface="Times New Roman" panose="02020603050405020304" pitchFamily="18" charset="0"/>
                    <a:cs typeface="Times New Roman" panose="02020603050405020304" pitchFamily="18" charset="0"/>
                  </a:rPr>
                  <a:t>carbon emissions (</a:t>
                </a:r>
                <a14:m>
                  <m:oMath xmlns:m="http://schemas.openxmlformats.org/officeDocument/2006/math">
                    <m:r>
                      <a:rPr lang="en-US" b="0" i="1" dirty="0" smtClean="0">
                        <a:solidFill>
                          <a:schemeClr val="tx1"/>
                        </a:solidFill>
                        <a:effectLst/>
                        <a:latin typeface="Cambria Math" panose="02040503050406030204" pitchFamily="18" charset="0"/>
                        <a:cs typeface="Times New Roman" panose="02020603050405020304" pitchFamily="18" charset="0"/>
                      </a:rPr>
                      <m:t>𝑡𝐶𝑂</m:t>
                    </m:r>
                    <m:r>
                      <a:rPr lang="en-US" b="0" i="1" dirty="0" smtClean="0">
                        <a:solidFill>
                          <a:schemeClr val="tx1"/>
                        </a:solidFill>
                        <a:effectLst/>
                        <a:latin typeface="Cambria Math" panose="02040503050406030204" pitchFamily="18" charset="0"/>
                        <a:cs typeface="Times New Roman" panose="02020603050405020304" pitchFamily="18" charset="0"/>
                      </a:rPr>
                      <m:t>2</m:t>
                    </m:r>
                    <m:r>
                      <a:rPr lang="en-US" b="0" i="1" dirty="0" smtClean="0">
                        <a:solidFill>
                          <a:schemeClr val="tx1"/>
                        </a:solidFill>
                        <a:effectLst/>
                        <a:latin typeface="Cambria Math" panose="02040503050406030204" pitchFamily="18" charset="0"/>
                        <a:cs typeface="Times New Roman" panose="02020603050405020304" pitchFamily="18" charset="0"/>
                      </a:rPr>
                      <m:t>𝑒𝑞</m:t>
                    </m:r>
                  </m:oMath>
                </a14:m>
                <a:r>
                  <a:rPr lang="en-US" b="0" i="0" dirty="0">
                    <a:solidFill>
                      <a:schemeClr val="tx1"/>
                    </a:solidFill>
                    <a:effectLst/>
                    <a:latin typeface="Times New Roman" panose="02020603050405020304" pitchFamily="18" charset="0"/>
                    <a:cs typeface="Times New Roman" panose="02020603050405020304" pitchFamily="18" charset="0"/>
                  </a:rPr>
                  <a:t>) and highlights how open releases reduce future environmental costs by preventing retraining.</a:t>
                </a:r>
              </a:p>
            </p:txBody>
          </p:sp>
        </mc:Choice>
        <mc:Fallback xmlns="">
          <p:sp>
            <p:nvSpPr>
              <p:cNvPr id="3" name="Content Placeholder 2">
                <a:extLst>
                  <a:ext uri="{FF2B5EF4-FFF2-40B4-BE49-F238E27FC236}">
                    <a16:creationId xmlns:a16="http://schemas.microsoft.com/office/drawing/2014/main" id="{E63ADEF5-05C3-CC1B-710D-624123AB59F8}"/>
                  </a:ext>
                </a:extLst>
              </p:cNvPr>
              <p:cNvSpPr>
                <a:spLocks noGrp="1" noRot="1" noChangeAspect="1" noMove="1" noResize="1" noEditPoints="1" noAdjustHandles="1" noChangeArrowheads="1" noChangeShapeType="1" noTextEdit="1"/>
              </p:cNvSpPr>
              <p:nvPr>
                <p:ph idx="1"/>
              </p:nvPr>
            </p:nvSpPr>
            <p:spPr>
              <a:xfrm>
                <a:off x="1371600" y="1133856"/>
                <a:ext cx="9601200" cy="5179161"/>
              </a:xfrm>
              <a:blipFill>
                <a:blip r:embed="rId3"/>
                <a:stretch>
                  <a:fillRect l="-661" t="-978"/>
                </a:stretch>
              </a:blipFill>
            </p:spPr>
            <p:txBody>
              <a:bodyPr/>
              <a:lstStyle/>
              <a:p>
                <a:r>
                  <a:rPr lang="en-IL">
                    <a:noFill/>
                  </a:rPr>
                  <a:t> </a:t>
                </a:r>
              </a:p>
            </p:txBody>
          </p:sp>
        </mc:Fallback>
      </mc:AlternateContent>
    </p:spTree>
    <p:extLst>
      <p:ext uri="{BB962C8B-B14F-4D97-AF65-F5344CB8AC3E}">
        <p14:creationId xmlns:p14="http://schemas.microsoft.com/office/powerpoint/2010/main" val="14176110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F6F509-A4FC-F813-7FFA-1D68AEA7D6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36E23F-A9D7-69DB-6FF4-66453EBF382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Compared Models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188A41A0-5A78-65FD-DC55-640DD94D8355}"/>
              </a:ext>
            </a:extLst>
          </p:cNvPr>
          <p:cNvSpPr>
            <a:spLocks noGrp="1"/>
          </p:cNvSpPr>
          <p:nvPr>
            <p:ph idx="1"/>
          </p:nvPr>
        </p:nvSpPr>
        <p:spPr>
          <a:xfrm>
            <a:off x="1371599" y="1133856"/>
            <a:ext cx="10283371" cy="5179161"/>
          </a:xfrm>
        </p:spPr>
        <p:txBody>
          <a:bodyPr>
            <a:noAutofit/>
          </a:bodyPr>
          <a:lstStyle/>
          <a:p>
            <a:pPr>
              <a:lnSpc>
                <a:spcPct val="100000"/>
              </a:lnSpc>
            </a:pPr>
            <a:r>
              <a:rPr lang="en-US" b="1" dirty="0">
                <a:latin typeface="Times New Roman" panose="02020603050405020304" pitchFamily="18" charset="0"/>
                <a:cs typeface="Times New Roman" panose="02020603050405020304" pitchFamily="18" charset="0"/>
              </a:rPr>
              <a:t>GPT-3 1.3B, 6B, 175B (OpenAI)</a:t>
            </a:r>
            <a:r>
              <a:rPr lang="en-US" dirty="0">
                <a:latin typeface="Times New Roman" panose="02020603050405020304" pitchFamily="18" charset="0"/>
                <a:cs typeface="Times New Roman" panose="02020603050405020304" pitchFamily="18" charset="0"/>
              </a:rPr>
              <a:t> – The non-public industry standard baseline.</a:t>
            </a:r>
          </a:p>
          <a:p>
            <a:pPr>
              <a:lnSpc>
                <a:spcPct val="100000"/>
              </a:lnSpc>
            </a:pPr>
            <a:r>
              <a:rPr lang="en-US" b="1" dirty="0">
                <a:latin typeface="Times New Roman" panose="02020603050405020304" pitchFamily="18" charset="0"/>
                <a:cs typeface="Times New Roman" panose="02020603050405020304" pitchFamily="18" charset="0"/>
              </a:rPr>
              <a:t>Chinchilla 70B (DeepMind)</a:t>
            </a:r>
            <a:r>
              <a:rPr lang="en-US" dirty="0">
                <a:latin typeface="Times New Roman" panose="02020603050405020304" pitchFamily="18" charset="0"/>
                <a:cs typeface="Times New Roman" panose="02020603050405020304" pitchFamily="18" charset="0"/>
              </a:rPr>
              <a:t> – Non-public model trained on 2TB of books.</a:t>
            </a:r>
          </a:p>
          <a:p>
            <a:pPr>
              <a:lnSpc>
                <a:spcPct val="100000"/>
              </a:lnSpc>
            </a:pPr>
            <a:r>
              <a:rPr lang="en-US" b="1" dirty="0">
                <a:latin typeface="Times New Roman" panose="02020603050405020304" pitchFamily="18" charset="0"/>
                <a:cs typeface="Times New Roman" panose="02020603050405020304" pitchFamily="18" charset="0"/>
              </a:rPr>
              <a:t>Gopher 280B (DeepMind)</a:t>
            </a:r>
            <a:r>
              <a:rPr lang="en-US" dirty="0">
                <a:latin typeface="Times New Roman" panose="02020603050405020304" pitchFamily="18" charset="0"/>
                <a:cs typeface="Times New Roman" panose="02020603050405020304" pitchFamily="18" charset="0"/>
              </a:rPr>
              <a:t> – Non-public model for common reasoning tasks.</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LaMDA 137B (Google)</a:t>
            </a:r>
            <a:r>
              <a:rPr lang="en-US" dirty="0">
                <a:latin typeface="Times New Roman" panose="02020603050405020304" pitchFamily="18" charset="0"/>
                <a:cs typeface="Times New Roman" panose="02020603050405020304" pitchFamily="18" charset="0"/>
              </a:rPr>
              <a:t> – </a:t>
            </a:r>
            <a:r>
              <a:rPr lang="en-US" u="sng" dirty="0">
                <a:latin typeface="Times New Roman" panose="02020603050405020304" pitchFamily="18" charset="0"/>
                <a:cs typeface="Times New Roman" panose="02020603050405020304" pitchFamily="18" charset="0"/>
              </a:rPr>
              <a:t>General</a:t>
            </a:r>
            <a:r>
              <a:rPr lang="en-US" dirty="0">
                <a:latin typeface="Times New Roman" panose="02020603050405020304" pitchFamily="18" charset="0"/>
                <a:cs typeface="Times New Roman" panose="02020603050405020304" pitchFamily="18" charset="0"/>
              </a:rPr>
              <a:t> model for code generation comparison.</a:t>
            </a:r>
          </a:p>
          <a:p>
            <a:pPr>
              <a:lnSpc>
                <a:spcPct val="100000"/>
              </a:lnSpc>
            </a:pPr>
            <a:r>
              <a:rPr lang="en-US" b="1" dirty="0">
                <a:latin typeface="Times New Roman" panose="02020603050405020304" pitchFamily="18" charset="0"/>
                <a:cs typeface="Times New Roman" panose="02020603050405020304" pitchFamily="18" charset="0"/>
              </a:rPr>
              <a:t>Minerva 62B (Google)</a:t>
            </a:r>
            <a:r>
              <a:rPr lang="en-US" dirty="0">
                <a:latin typeface="Times New Roman" panose="02020603050405020304" pitchFamily="18" charset="0"/>
                <a:cs typeface="Times New Roman" panose="02020603050405020304" pitchFamily="18" charset="0"/>
              </a:rPr>
              <a:t> – Series of </a:t>
            </a:r>
            <a:r>
              <a:rPr lang="en-US" dirty="0" err="1">
                <a:latin typeface="Times New Roman" panose="02020603050405020304" pitchFamily="18" charset="0"/>
                <a:cs typeface="Times New Roman" panose="02020603050405020304" pitchFamily="18" charset="0"/>
              </a:rPr>
              <a:t>PaLM</a:t>
            </a:r>
            <a:r>
              <a:rPr lang="en-US" dirty="0">
                <a:latin typeface="Times New Roman" panose="02020603050405020304" pitchFamily="18" charset="0"/>
                <a:cs typeface="Times New Roman" panose="02020603050405020304" pitchFamily="18" charset="0"/>
              </a:rPr>
              <a:t> models finetuned on </a:t>
            </a:r>
            <a:r>
              <a:rPr lang="en-US" dirty="0" err="1">
                <a:latin typeface="Times New Roman" panose="02020603050405020304" pitchFamily="18" charset="0"/>
                <a:cs typeface="Times New Roman" panose="02020603050405020304" pitchFamily="18" charset="0"/>
              </a:rPr>
              <a:t>ArXiv</a:t>
            </a:r>
            <a:r>
              <a:rPr lang="en-US" dirty="0">
                <a:latin typeface="Times New Roman" panose="02020603050405020304" pitchFamily="18" charset="0"/>
                <a:cs typeface="Times New Roman" panose="02020603050405020304" pitchFamily="18" charset="0"/>
              </a:rPr>
              <a:t> and Math Web Pages.</a:t>
            </a:r>
          </a:p>
          <a:p>
            <a:pPr>
              <a:lnSpc>
                <a:spcPct val="100000"/>
              </a:lnSpc>
            </a:pPr>
            <a:r>
              <a:rPr lang="en-US" b="1" dirty="0">
                <a:latin typeface="Times New Roman" panose="02020603050405020304" pitchFamily="18" charset="0"/>
                <a:cs typeface="Times New Roman" panose="02020603050405020304" pitchFamily="18" charset="0"/>
              </a:rPr>
              <a:t>Flan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11B, </a:t>
            </a: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62B, </a:t>
            </a:r>
            <a:r>
              <a:rPr lang="en-US" b="1" dirty="0" err="1">
                <a:latin typeface="Times New Roman" panose="02020603050405020304" pitchFamily="18" charset="0"/>
                <a:cs typeface="Times New Roman" panose="02020603050405020304" pitchFamily="18" charset="0"/>
              </a:rPr>
              <a:t>PaLM-cont</a:t>
            </a:r>
            <a:r>
              <a:rPr lang="en-US" b="1" dirty="0">
                <a:latin typeface="Times New Roman" panose="02020603050405020304" pitchFamily="18" charset="0"/>
                <a:cs typeface="Times New Roman" panose="02020603050405020304" pitchFamily="18" charset="0"/>
              </a:rPr>
              <a:t> 62B (Google)</a:t>
            </a:r>
            <a:r>
              <a:rPr lang="en-US" dirty="0">
                <a:latin typeface="Times New Roman" panose="02020603050405020304" pitchFamily="18" charset="0"/>
                <a:cs typeface="Times New Roman" panose="02020603050405020304" pitchFamily="18" charset="0"/>
              </a:rPr>
              <a:t> – Similar to OPT-IML 30B.</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err="1">
                <a:latin typeface="Times New Roman" panose="02020603050405020304" pitchFamily="18" charset="0"/>
                <a:cs typeface="Times New Roman" panose="02020603050405020304" pitchFamily="18" charset="0"/>
              </a:rPr>
              <a:t>PaLM</a:t>
            </a:r>
            <a:r>
              <a:rPr lang="en-US" b="1" dirty="0">
                <a:latin typeface="Times New Roman" panose="02020603050405020304" pitchFamily="18" charset="0"/>
                <a:cs typeface="Times New Roman" panose="02020603050405020304" pitchFamily="18" charset="0"/>
              </a:rPr>
              <a:t> 8B, 62B, 540B (Google)</a:t>
            </a:r>
            <a:r>
              <a:rPr lang="en-US" dirty="0">
                <a:latin typeface="Times New Roman" panose="02020603050405020304" pitchFamily="18" charset="0"/>
                <a:cs typeface="Times New Roman" panose="02020603050405020304" pitchFamily="18" charset="0"/>
              </a:rPr>
              <a:t> – Non-public massive scale SOTA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OPT 175B (Meta)</a:t>
            </a:r>
            <a:r>
              <a:rPr lang="en-US" dirty="0">
                <a:latin typeface="Times New Roman" panose="02020603050405020304" pitchFamily="18" charset="0"/>
                <a:cs typeface="Times New Roman" panose="02020603050405020304" pitchFamily="18" charset="0"/>
              </a:rPr>
              <a:t> – Open-sourced, primary baseline for social bias and carbon footprint.</a:t>
            </a:r>
          </a:p>
          <a:p>
            <a:pPr>
              <a:lnSpc>
                <a:spcPct val="100000"/>
              </a:lnSpc>
            </a:pPr>
            <a:r>
              <a:rPr lang="en-US" b="1" dirty="0">
                <a:latin typeface="Times New Roman" panose="02020603050405020304" pitchFamily="18" charset="0"/>
                <a:cs typeface="Times New Roman" panose="02020603050405020304" pitchFamily="18" charset="0"/>
              </a:rPr>
              <a:t>OPT-IML 30B (Meta)</a:t>
            </a:r>
            <a:r>
              <a:rPr lang="en-US" dirty="0">
                <a:latin typeface="Times New Roman" panose="02020603050405020304" pitchFamily="18" charset="0"/>
                <a:cs typeface="Times New Roman" panose="02020603050405020304" pitchFamily="18" charset="0"/>
              </a:rPr>
              <a:t> – For instruction tuning performance comparison.</a:t>
            </a:r>
          </a:p>
          <a:p>
            <a:pPr>
              <a:lnSpc>
                <a:spcPct val="100000"/>
              </a:lnSpc>
            </a:pPr>
            <a:r>
              <a:rPr lang="en-US" b="1" dirty="0">
                <a:latin typeface="Times New Roman" panose="02020603050405020304" pitchFamily="18" charset="0"/>
                <a:cs typeface="Times New Roman" panose="02020603050405020304" pitchFamily="18" charset="0"/>
              </a:rPr>
              <a:t>GLM 130B (Tsinghua University)</a:t>
            </a:r>
            <a:r>
              <a:rPr lang="en-US" dirty="0">
                <a:latin typeface="Times New Roman" panose="02020603050405020304" pitchFamily="18" charset="0"/>
                <a:cs typeface="Times New Roman" panose="02020603050405020304" pitchFamily="18" charset="0"/>
              </a:rPr>
              <a:t> – English and Chinese pre-trained model.</a:t>
            </a:r>
            <a:endParaRPr lang="en-US" b="1" dirty="0">
              <a:latin typeface="Times New Roman" panose="02020603050405020304" pitchFamily="18" charset="0"/>
              <a:cs typeface="Times New Roman" panose="02020603050405020304" pitchFamily="18" charset="0"/>
            </a:endParaRPr>
          </a:p>
          <a:p>
            <a:pPr>
              <a:lnSpc>
                <a:spcPct val="100000"/>
              </a:lnSpc>
            </a:pPr>
            <a:r>
              <a:rPr lang="en-US" b="1" dirty="0">
                <a:latin typeface="Times New Roman" panose="02020603050405020304" pitchFamily="18" charset="0"/>
                <a:cs typeface="Times New Roman" panose="02020603050405020304" pitchFamily="18" charset="0"/>
              </a:rPr>
              <a:t>GPT-</a:t>
            </a:r>
            <a:r>
              <a:rPr lang="en-US" b="1" dirty="0" err="1">
                <a:latin typeface="Times New Roman" panose="02020603050405020304" pitchFamily="18" charset="0"/>
                <a:cs typeface="Times New Roman" panose="02020603050405020304" pitchFamily="18" charset="0"/>
              </a:rPr>
              <a:t>NeoX</a:t>
            </a:r>
            <a:r>
              <a:rPr lang="en-US" b="1" dirty="0">
                <a:latin typeface="Times New Roman" panose="02020603050405020304" pitchFamily="18" charset="0"/>
                <a:cs typeface="Times New Roman" panose="02020603050405020304" pitchFamily="18" charset="0"/>
              </a:rPr>
              <a:t> 20B, GPT-Neo (</a:t>
            </a:r>
            <a:r>
              <a:rPr lang="en-US" b="1" dirty="0" err="1">
                <a:latin typeface="Times New Roman" panose="02020603050405020304" pitchFamily="18" charset="0"/>
                <a:cs typeface="Times New Roman" panose="02020603050405020304" pitchFamily="18" charset="0"/>
              </a:rPr>
              <a:t>EleutherAI</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Open-sourced models for general comparison.</a:t>
            </a:r>
          </a:p>
          <a:p>
            <a:pPr>
              <a:lnSpc>
                <a:spcPct val="100000"/>
              </a:lnSpc>
            </a:pPr>
            <a:r>
              <a:rPr lang="en-US" b="1" dirty="0">
                <a:latin typeface="Times New Roman" panose="02020603050405020304" pitchFamily="18" charset="0"/>
                <a:cs typeface="Times New Roman" panose="02020603050405020304" pitchFamily="18" charset="0"/>
              </a:rPr>
              <a:t>BLOOM 175B (</a:t>
            </a:r>
            <a:r>
              <a:rPr lang="en-US" b="1" dirty="0" err="1">
                <a:latin typeface="Times New Roman" panose="02020603050405020304" pitchFamily="18" charset="0"/>
                <a:cs typeface="Times New Roman" panose="02020603050405020304" pitchFamily="18" charset="0"/>
              </a:rPr>
              <a:t>BigScience</a:t>
            </a:r>
            <a:r>
              <a:rPr lang="en-US" b="1" dirty="0">
                <a:latin typeface="Times New Roman" panose="02020603050405020304" pitchFamily="18" charset="0"/>
                <a:cs typeface="Times New Roman" panose="02020603050405020304" pitchFamily="18" charset="0"/>
              </a:rPr>
              <a:t>)</a:t>
            </a:r>
            <a:r>
              <a:rPr lang="en-US" dirty="0">
                <a:latin typeface="Times New Roman" panose="02020603050405020304" pitchFamily="18" charset="0"/>
                <a:cs typeface="Times New Roman" panose="02020603050405020304" pitchFamily="18" charset="0"/>
              </a:rPr>
              <a:t> – Open model, baseline for energy and carbon comparison.</a:t>
            </a:r>
          </a:p>
        </p:txBody>
      </p:sp>
    </p:spTree>
    <p:extLst>
      <p:ext uri="{BB962C8B-B14F-4D97-AF65-F5344CB8AC3E}">
        <p14:creationId xmlns:p14="http://schemas.microsoft.com/office/powerpoint/2010/main" val="26436554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083A6-7B7E-6EFC-06AC-FD9A1BDA84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33FC68-BE60-8767-3AE9-966323F1F6D1}"/>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Benchmarks</a:t>
            </a:r>
            <a:endParaRPr lang="en-IL" sz="4000" dirty="0">
              <a:latin typeface="Times New Roman" panose="02020603050405020304" pitchFamily="18" charset="0"/>
              <a:cs typeface="Times New Roman" panose="02020603050405020304" pitchFamily="18" charset="0"/>
            </a:endParaRPr>
          </a:p>
        </p:txBody>
      </p:sp>
      <p:pic>
        <p:nvPicPr>
          <p:cNvPr id="2054" name="Picture 6">
            <a:extLst>
              <a:ext uri="{FF2B5EF4-FFF2-40B4-BE49-F238E27FC236}">
                <a16:creationId xmlns:a16="http://schemas.microsoft.com/office/drawing/2014/main" id="{89AF1437-6ED1-2DA0-8676-3CCFF3412C72}"/>
              </a:ext>
            </a:extLst>
          </p:cNvPr>
          <p:cNvPicPr>
            <a:picLocks noChangeAspect="1" noChangeArrowheads="1"/>
          </p:cNvPicPr>
          <p:nvPr/>
        </p:nvPicPr>
        <p:blipFill>
          <a:blip r:embed="rId2">
            <a:clrChange>
              <a:clrFrom>
                <a:srgbClr val="E8F4F2"/>
              </a:clrFrom>
              <a:clrTo>
                <a:srgbClr val="E8F4F2">
                  <a:alpha val="0"/>
                </a:srgbClr>
              </a:clrTo>
            </a:clrChange>
            <a:extLst>
              <a:ext uri="{28A0092B-C50C-407E-A947-70E740481C1C}">
                <a14:useLocalDpi xmlns:a14="http://schemas.microsoft.com/office/drawing/2010/main" val="0"/>
              </a:ext>
            </a:extLst>
          </a:blip>
          <a:srcRect/>
          <a:stretch>
            <a:fillRect/>
          </a:stretch>
        </p:blipFill>
        <p:spPr bwMode="auto">
          <a:xfrm>
            <a:off x="8654401" y="3414486"/>
            <a:ext cx="2286000" cy="2286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45497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8A2281-CEF4-31B1-8B78-844C1E8AB7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9B0E91-3CF5-267F-CDBE-1F8FDD53BEC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3.1 Common Sense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0BD8891-4C0C-6645-7046-378843D1FE63}"/>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Cloze tasks, and Winograd schemas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CC0136AF-8A97-BE11-A538-8FFD5564866A}"/>
              </a:ext>
            </a:extLst>
          </p:cNvPr>
          <p:cNvPicPr>
            <a:picLocks noChangeAspect="1"/>
          </p:cNvPicPr>
          <p:nvPr/>
        </p:nvPicPr>
        <p:blipFill>
          <a:blip r:embed="rId3"/>
          <a:srcRect t="3432"/>
          <a:stretch/>
        </p:blipFill>
        <p:spPr>
          <a:xfrm>
            <a:off x="2209800" y="2053389"/>
            <a:ext cx="7772400" cy="3318145"/>
          </a:xfrm>
          <a:prstGeom prst="rect">
            <a:avLst/>
          </a:prstGeom>
        </p:spPr>
      </p:pic>
      <p:sp>
        <p:nvSpPr>
          <p:cNvPr id="5" name="Content Placeholder 2">
            <a:extLst>
              <a:ext uri="{FF2B5EF4-FFF2-40B4-BE49-F238E27FC236}">
                <a16:creationId xmlns:a16="http://schemas.microsoft.com/office/drawing/2014/main" id="{F2E89FB6-3AE1-C077-752B-CBE900A6394E}"/>
              </a:ext>
            </a:extLst>
          </p:cNvPr>
          <p:cNvSpPr txBox="1">
            <a:spLocks/>
          </p:cNvSpPr>
          <p:nvPr/>
        </p:nvSpPr>
        <p:spPr>
          <a:xfrm>
            <a:off x="1371600" y="5497299"/>
            <a:ext cx="9601200" cy="116072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Chinchilla-70B on almost all benchmarks.</a:t>
            </a:r>
            <a:br>
              <a:rPr lang="en-US" dirty="0">
                <a:solidFill>
                  <a:schemeClr val="tx1"/>
                </a:solidFill>
                <a:latin typeface="Times New Roman" panose="02020603050405020304" pitchFamily="18" charset="0"/>
                <a:cs typeface="Times New Roman" panose="02020603050405020304" pitchFamily="18" charset="0"/>
              </a:rPr>
            </a:br>
            <a:r>
              <a:rPr lang="en-US" dirty="0">
                <a:solidFill>
                  <a:schemeClr val="tx1"/>
                </a:solidFill>
                <a:latin typeface="Times New Roman" panose="02020603050405020304" pitchFamily="18" charset="0"/>
                <a:cs typeface="Times New Roman" panose="02020603050405020304" pitchFamily="18" charset="0"/>
              </a:rPr>
              <a:t>It also surpasses PaLM-540B on most.</a:t>
            </a:r>
          </a:p>
          <a:p>
            <a:r>
              <a:rPr lang="en-US" dirty="0">
                <a:solidFill>
                  <a:schemeClr val="tx1"/>
                </a:solidFill>
                <a:latin typeface="Times New Roman" panose="02020603050405020304" pitchFamily="18" charset="0"/>
                <a:cs typeface="Times New Roman" panose="02020603050405020304" pitchFamily="18" charset="0"/>
              </a:rPr>
              <a:t>LLaMA-13B outperforms GPT-3 on most benchmarks despite being 10x smaller.</a:t>
            </a:r>
          </a:p>
        </p:txBody>
      </p:sp>
    </p:spTree>
    <p:extLst>
      <p:ext uri="{BB962C8B-B14F-4D97-AF65-F5344CB8AC3E}">
        <p14:creationId xmlns:p14="http://schemas.microsoft.com/office/powerpoint/2010/main" val="26004948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DA031-A6A6-6B98-AD40-8449C690E0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A932C3-CBA0-D85F-2A75-1F10347795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3.2 Closed-book Question Answering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48EEEA6-3AD5-6CDD-106B-8EE0515DEE03}"/>
              </a:ext>
            </a:extLst>
          </p:cNvPr>
          <p:cNvSpPr>
            <a:spLocks noGrp="1"/>
          </p:cNvSpPr>
          <p:nvPr>
            <p:ph idx="1"/>
          </p:nvPr>
        </p:nvSpPr>
        <p:spPr>
          <a:xfrm>
            <a:off x="1371600" y="1133856"/>
            <a:ext cx="9601200" cy="921711"/>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Exact match performance (answering without access to external documents).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and Few-shot.</a:t>
            </a:r>
          </a:p>
        </p:txBody>
      </p:sp>
      <p:sp>
        <p:nvSpPr>
          <p:cNvPr id="5" name="Content Placeholder 2">
            <a:extLst>
              <a:ext uri="{FF2B5EF4-FFF2-40B4-BE49-F238E27FC236}">
                <a16:creationId xmlns:a16="http://schemas.microsoft.com/office/drawing/2014/main" id="{E5E84475-2046-FCFA-841E-0952C0B46063}"/>
              </a:ext>
            </a:extLst>
          </p:cNvPr>
          <p:cNvSpPr txBox="1">
            <a:spLocks/>
          </p:cNvSpPr>
          <p:nvPr/>
        </p:nvSpPr>
        <p:spPr>
          <a:xfrm>
            <a:off x="1371600" y="5349812"/>
            <a:ext cx="9601200" cy="134230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achieves state-of-the-art performance in zero-shot and few-shot settings.</a:t>
            </a:r>
          </a:p>
          <a:p>
            <a:r>
              <a:rPr lang="en-US" dirty="0">
                <a:solidFill>
                  <a:schemeClr val="tx1"/>
                </a:solidFill>
                <a:latin typeface="Times New Roman" panose="02020603050405020304" pitchFamily="18" charset="0"/>
                <a:cs typeface="Times New Roman" panose="02020603050405020304" pitchFamily="18" charset="0"/>
              </a:rPr>
              <a:t>LLaMA-13B competitive with GPT-3 and Chinchilla although being 5-10x smaller.</a:t>
            </a:r>
          </a:p>
          <a:p>
            <a:r>
              <a:rPr lang="en-US" dirty="0">
                <a:solidFill>
                  <a:schemeClr val="tx1"/>
                </a:solidFill>
                <a:latin typeface="Times New Roman" panose="02020603050405020304" pitchFamily="18" charset="0"/>
                <a:cs typeface="Times New Roman" panose="02020603050405020304" pitchFamily="18" charset="0"/>
              </a:rPr>
              <a:t>Regarding efficiency, LLaMA-13B can run inference on a single V100 GPU.</a:t>
            </a:r>
          </a:p>
        </p:txBody>
      </p:sp>
      <p:pic>
        <p:nvPicPr>
          <p:cNvPr id="6" name="Picture 5">
            <a:extLst>
              <a:ext uri="{FF2B5EF4-FFF2-40B4-BE49-F238E27FC236}">
                <a16:creationId xmlns:a16="http://schemas.microsoft.com/office/drawing/2014/main" id="{48A9FD09-8489-01FB-9197-7F7ECAED26FB}"/>
              </a:ext>
            </a:extLst>
          </p:cNvPr>
          <p:cNvPicPr>
            <a:picLocks noChangeAspect="1"/>
          </p:cNvPicPr>
          <p:nvPr/>
        </p:nvPicPr>
        <p:blipFill>
          <a:blip r:embed="rId3"/>
          <a:srcRect t="2612" b="1020"/>
          <a:stretch/>
        </p:blipFill>
        <p:spPr>
          <a:xfrm>
            <a:off x="1995613" y="2055568"/>
            <a:ext cx="3728004" cy="3212348"/>
          </a:xfrm>
          <a:prstGeom prst="rect">
            <a:avLst/>
          </a:prstGeom>
        </p:spPr>
      </p:pic>
      <p:pic>
        <p:nvPicPr>
          <p:cNvPr id="7" name="Picture 6">
            <a:extLst>
              <a:ext uri="{FF2B5EF4-FFF2-40B4-BE49-F238E27FC236}">
                <a16:creationId xmlns:a16="http://schemas.microsoft.com/office/drawing/2014/main" id="{7380C948-BFDE-C401-84F0-1968A9E1BDA0}"/>
              </a:ext>
            </a:extLst>
          </p:cNvPr>
          <p:cNvPicPr>
            <a:picLocks noChangeAspect="1"/>
          </p:cNvPicPr>
          <p:nvPr/>
        </p:nvPicPr>
        <p:blipFill>
          <a:blip r:embed="rId4"/>
          <a:srcRect t="3464"/>
          <a:stretch/>
        </p:blipFill>
        <p:spPr>
          <a:xfrm>
            <a:off x="6563951" y="2055567"/>
            <a:ext cx="3748774" cy="2425972"/>
          </a:xfrm>
          <a:prstGeom prst="rect">
            <a:avLst/>
          </a:prstGeom>
        </p:spPr>
      </p:pic>
    </p:spTree>
    <p:extLst>
      <p:ext uri="{BB962C8B-B14F-4D97-AF65-F5344CB8AC3E}">
        <p14:creationId xmlns:p14="http://schemas.microsoft.com/office/powerpoint/2010/main" val="22529066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5C50DD-C038-053F-A9D0-406D8B1F8AF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F7E851-A46E-B688-6E60-5D21FD01553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3.3 Reading Comprehension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AF9E73C3-6C38-AE10-0DD8-25D356843912}"/>
              </a:ext>
            </a:extLst>
          </p:cNvPr>
          <p:cNvSpPr>
            <a:spLocks noGrp="1"/>
          </p:cNvSpPr>
          <p:nvPr>
            <p:ph idx="1"/>
          </p:nvPr>
        </p:nvSpPr>
        <p:spPr>
          <a:xfrm>
            <a:off x="1371600" y="1133856"/>
            <a:ext cx="9601200" cy="807239"/>
          </a:xfrm>
        </p:spPr>
        <p:txBody>
          <a:bodyPr>
            <a:normAutofit lnSpcReduction="10000"/>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 and high school English reading exams (RACE).</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a:t>
            </a:r>
          </a:p>
        </p:txBody>
      </p:sp>
      <p:sp>
        <p:nvSpPr>
          <p:cNvPr id="5" name="Content Placeholder 2">
            <a:extLst>
              <a:ext uri="{FF2B5EF4-FFF2-40B4-BE49-F238E27FC236}">
                <a16:creationId xmlns:a16="http://schemas.microsoft.com/office/drawing/2014/main" id="{B7BCD6D4-9869-26D2-38E1-26D9738A1634}"/>
              </a:ext>
            </a:extLst>
          </p:cNvPr>
          <p:cNvSpPr txBox="1">
            <a:spLocks/>
          </p:cNvSpPr>
          <p:nvPr/>
        </p:nvSpPr>
        <p:spPr>
          <a:xfrm>
            <a:off x="1371600" y="5657088"/>
            <a:ext cx="9601200" cy="116072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is competitive with PaLM-540B.</a:t>
            </a:r>
          </a:p>
          <a:p>
            <a:r>
              <a:rPr lang="en-US" dirty="0">
                <a:solidFill>
                  <a:schemeClr val="tx1"/>
                </a:solidFill>
                <a:latin typeface="Times New Roman" panose="02020603050405020304" pitchFamily="18" charset="0"/>
                <a:cs typeface="Times New Roman" panose="02020603050405020304" pitchFamily="18" charset="0"/>
              </a:rPr>
              <a:t>LLaMA-13B outperforms GPT-3 by a few percent.</a:t>
            </a:r>
          </a:p>
        </p:txBody>
      </p:sp>
      <p:pic>
        <p:nvPicPr>
          <p:cNvPr id="4" name="Picture 3">
            <a:extLst>
              <a:ext uri="{FF2B5EF4-FFF2-40B4-BE49-F238E27FC236}">
                <a16:creationId xmlns:a16="http://schemas.microsoft.com/office/drawing/2014/main" id="{3D615BDE-4870-6D75-F421-392C2B5CBC57}"/>
              </a:ext>
            </a:extLst>
          </p:cNvPr>
          <p:cNvPicPr>
            <a:picLocks noChangeAspect="1"/>
          </p:cNvPicPr>
          <p:nvPr/>
        </p:nvPicPr>
        <p:blipFill>
          <a:blip r:embed="rId3"/>
          <a:srcRect t="3253"/>
          <a:stretch/>
        </p:blipFill>
        <p:spPr>
          <a:xfrm>
            <a:off x="3822700" y="1941095"/>
            <a:ext cx="4546600" cy="3649227"/>
          </a:xfrm>
          <a:prstGeom prst="rect">
            <a:avLst/>
          </a:prstGeom>
        </p:spPr>
      </p:pic>
    </p:spTree>
    <p:extLst>
      <p:ext uri="{BB962C8B-B14F-4D97-AF65-F5344CB8AC3E}">
        <p14:creationId xmlns:p14="http://schemas.microsoft.com/office/powerpoint/2010/main" val="24488074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22277B-2DDA-B2B4-068A-1299C3871C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56C308-B8A4-0D1C-A446-5C2E66A47B46}"/>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3.4 Mathematical Reasoning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C7EDE637-A89C-CD6D-777F-3D319C1C0135}"/>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middle/high school math problems (MATH &amp; GSM8k).</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compared with and without majority voting.</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8EBBEAC8-3288-6621-42B0-B133ED8C45A9}"/>
              </a:ext>
            </a:extLst>
          </p:cNvPr>
          <p:cNvSpPr txBox="1">
            <a:spLocks/>
          </p:cNvSpPr>
          <p:nvPr/>
        </p:nvSpPr>
        <p:spPr>
          <a:xfrm>
            <a:off x="1371600" y="5696955"/>
            <a:ext cx="9601200" cy="116072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outperforms Minerva-62B on GSM8k, achieved without fine-tuning on mathematical data (unlike Minerva).</a:t>
            </a:r>
          </a:p>
        </p:txBody>
      </p:sp>
      <p:pic>
        <p:nvPicPr>
          <p:cNvPr id="6" name="Picture 5">
            <a:extLst>
              <a:ext uri="{FF2B5EF4-FFF2-40B4-BE49-F238E27FC236}">
                <a16:creationId xmlns:a16="http://schemas.microsoft.com/office/drawing/2014/main" id="{CBFDC9D0-BB45-B0E0-5690-BD33DFD59316}"/>
              </a:ext>
            </a:extLst>
          </p:cNvPr>
          <p:cNvPicPr>
            <a:picLocks noChangeAspect="1"/>
          </p:cNvPicPr>
          <p:nvPr/>
        </p:nvPicPr>
        <p:blipFill>
          <a:blip r:embed="rId3"/>
          <a:stretch>
            <a:fillRect/>
          </a:stretch>
        </p:blipFill>
        <p:spPr>
          <a:xfrm>
            <a:off x="2043792" y="2069749"/>
            <a:ext cx="4330700" cy="3530600"/>
          </a:xfrm>
          <a:prstGeom prst="rect">
            <a:avLst/>
          </a:prstGeom>
        </p:spPr>
      </p:pic>
      <p:pic>
        <p:nvPicPr>
          <p:cNvPr id="7" name="Picture 6">
            <a:extLst>
              <a:ext uri="{FF2B5EF4-FFF2-40B4-BE49-F238E27FC236}">
                <a16:creationId xmlns:a16="http://schemas.microsoft.com/office/drawing/2014/main" id="{99EE90D9-754E-B970-BF74-0FECF92E735E}"/>
              </a:ext>
            </a:extLst>
          </p:cNvPr>
          <p:cNvPicPr>
            <a:picLocks noChangeAspect="1"/>
          </p:cNvPicPr>
          <p:nvPr/>
        </p:nvPicPr>
        <p:blipFill>
          <a:blip r:embed="rId4"/>
          <a:stretch>
            <a:fillRect/>
          </a:stretch>
        </p:blipFill>
        <p:spPr>
          <a:xfrm>
            <a:off x="6556828" y="2069749"/>
            <a:ext cx="4622800" cy="1752600"/>
          </a:xfrm>
          <a:prstGeom prst="rect">
            <a:avLst/>
          </a:prstGeom>
        </p:spPr>
      </p:pic>
    </p:spTree>
    <p:extLst>
      <p:ext uri="{BB962C8B-B14F-4D97-AF65-F5344CB8AC3E}">
        <p14:creationId xmlns:p14="http://schemas.microsoft.com/office/powerpoint/2010/main" val="16973020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17BDE-57FE-F51E-71ED-72345C7227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A35C53-D3CA-4A2F-5C4C-026B880EEA1D}"/>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3.5 Code Generation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6F71E94A-F6B4-FF1A-65C7-0C04FA36B2E7}"/>
              </a:ext>
            </a:extLst>
          </p:cNvPr>
          <p:cNvSpPr>
            <a:spLocks noGrp="1"/>
          </p:cNvSpPr>
          <p:nvPr>
            <p:ph idx="1"/>
          </p:nvPr>
        </p:nvSpPr>
        <p:spPr>
          <a:xfrm>
            <a:off x="1371600" y="1133856"/>
            <a:ext cx="9601200" cy="919533"/>
          </a:xfrm>
        </p:spPr>
        <p:txBody>
          <a:bodyPr>
            <a:norm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pass@1 scores, ability to generate functional Python code from description</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 Few-shot (description + input/output examples).</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3174CBAD-1086-871A-42AD-3B0ACFC8F833}"/>
              </a:ext>
            </a:extLst>
          </p:cNvPr>
          <p:cNvSpPr txBox="1">
            <a:spLocks/>
          </p:cNvSpPr>
          <p:nvPr/>
        </p:nvSpPr>
        <p:spPr>
          <a:xfrm>
            <a:off x="1371600" y="5497299"/>
            <a:ext cx="10474054" cy="123733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LLaMA-13B outperforms LaMDA-137B on both </a:t>
            </a:r>
            <a:r>
              <a:rPr lang="en-US" dirty="0" err="1">
                <a:solidFill>
                  <a:schemeClr val="tx1"/>
                </a:solidFill>
                <a:latin typeface="Times New Roman" panose="02020603050405020304" pitchFamily="18" charset="0"/>
                <a:cs typeface="Times New Roman" panose="02020603050405020304" pitchFamily="18" charset="0"/>
              </a:rPr>
              <a:t>HumanEval</a:t>
            </a:r>
            <a:r>
              <a:rPr lang="en-US" dirty="0">
                <a:solidFill>
                  <a:schemeClr val="tx1"/>
                </a:solidFill>
                <a:latin typeface="Times New Roman" panose="02020603050405020304" pitchFamily="18" charset="0"/>
                <a:cs typeface="Times New Roman" panose="02020603050405020304" pitchFamily="18" charset="0"/>
              </a:rPr>
              <a:t> and MBPP.</a:t>
            </a:r>
          </a:p>
          <a:p>
            <a:r>
              <a:rPr lang="en-US" dirty="0">
                <a:solidFill>
                  <a:schemeClr val="tx1"/>
                </a:solidFill>
                <a:latin typeface="Times New Roman" panose="02020603050405020304" pitchFamily="18" charset="0"/>
                <a:cs typeface="Times New Roman" panose="02020603050405020304" pitchFamily="18" charset="0"/>
              </a:rPr>
              <a:t>LLaMA-65B outperforms PaLM-62B, even with longer training.</a:t>
            </a:r>
          </a:p>
          <a:p>
            <a:r>
              <a:rPr lang="en-US" dirty="0">
                <a:solidFill>
                  <a:schemeClr val="tx1"/>
                </a:solidFill>
                <a:latin typeface="Times New Roman" panose="02020603050405020304" pitchFamily="18" charset="0"/>
                <a:cs typeface="Times New Roman" panose="02020603050405020304" pitchFamily="18" charset="0"/>
              </a:rPr>
              <a:t>Also beats other general models not specifically fine-tuned for code (fine-tuning is out of scope).</a:t>
            </a:r>
          </a:p>
        </p:txBody>
      </p:sp>
      <p:pic>
        <p:nvPicPr>
          <p:cNvPr id="6" name="Picture 5">
            <a:extLst>
              <a:ext uri="{FF2B5EF4-FFF2-40B4-BE49-F238E27FC236}">
                <a16:creationId xmlns:a16="http://schemas.microsoft.com/office/drawing/2014/main" id="{BFC27E72-23EF-4DBF-1567-61A3A354C963}"/>
              </a:ext>
            </a:extLst>
          </p:cNvPr>
          <p:cNvPicPr>
            <a:picLocks noChangeAspect="1"/>
          </p:cNvPicPr>
          <p:nvPr/>
        </p:nvPicPr>
        <p:blipFill>
          <a:blip r:embed="rId3"/>
          <a:stretch>
            <a:fillRect/>
          </a:stretch>
        </p:blipFill>
        <p:spPr>
          <a:xfrm>
            <a:off x="1987551" y="2013475"/>
            <a:ext cx="4559300" cy="3403600"/>
          </a:xfrm>
          <a:prstGeom prst="rect">
            <a:avLst/>
          </a:prstGeom>
        </p:spPr>
      </p:pic>
      <p:pic>
        <p:nvPicPr>
          <p:cNvPr id="7" name="Picture 6">
            <a:extLst>
              <a:ext uri="{FF2B5EF4-FFF2-40B4-BE49-F238E27FC236}">
                <a16:creationId xmlns:a16="http://schemas.microsoft.com/office/drawing/2014/main" id="{E7BBC0F4-A709-7058-AA0C-DB2DE118AF95}"/>
              </a:ext>
            </a:extLst>
          </p:cNvPr>
          <p:cNvPicPr>
            <a:picLocks noChangeAspect="1"/>
          </p:cNvPicPr>
          <p:nvPr/>
        </p:nvPicPr>
        <p:blipFill>
          <a:blip r:embed="rId4"/>
          <a:stretch>
            <a:fillRect/>
          </a:stretch>
        </p:blipFill>
        <p:spPr>
          <a:xfrm>
            <a:off x="6695623" y="2013475"/>
            <a:ext cx="4635500" cy="1498600"/>
          </a:xfrm>
          <a:prstGeom prst="rect">
            <a:avLst/>
          </a:prstGeom>
        </p:spPr>
      </p:pic>
    </p:spTree>
    <p:extLst>
      <p:ext uri="{BB962C8B-B14F-4D97-AF65-F5344CB8AC3E}">
        <p14:creationId xmlns:p14="http://schemas.microsoft.com/office/powerpoint/2010/main" val="31186593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176616-AF89-523D-8AA0-169AAE86EF4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B2D2AB4-E728-EE38-58F5-111113600852}"/>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3.6 General Knowledge (MMLU)</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9A8B6BB5-6E8A-B43E-6D45-43B3946064D3}"/>
              </a:ext>
            </a:extLst>
          </p:cNvPr>
          <p:cNvSpPr>
            <a:spLocks noGrp="1"/>
          </p:cNvSpPr>
          <p:nvPr>
            <p:ph idx="1"/>
          </p:nvPr>
        </p:nvSpPr>
        <p:spPr>
          <a:xfrm>
            <a:off x="1371600" y="1133856"/>
            <a:ext cx="9601200" cy="919533"/>
          </a:xfrm>
        </p:spPr>
        <p:txBody>
          <a:bodyPr>
            <a:noAutofit/>
          </a:body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Accuracy on multiple-choice questions across different subjects.</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5-shot.</a:t>
            </a:r>
          </a:p>
          <a:p>
            <a:endParaRPr lang="en-US" b="1" dirty="0">
              <a:solidFill>
                <a:schemeClr val="tx1"/>
              </a:solidFill>
              <a:latin typeface="Times New Roman" panose="02020603050405020304" pitchFamily="18" charset="0"/>
              <a:cs typeface="Times New Roman" panose="02020603050405020304" pitchFamily="18" charset="0"/>
            </a:endParaRPr>
          </a:p>
          <a:p>
            <a:endParaRPr lang="en-US" dirty="0">
              <a:solidFill>
                <a:schemeClr val="tx1"/>
              </a:solidFill>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2FC952DA-A53F-B0DD-C26D-4E6022151BBE}"/>
              </a:ext>
            </a:extLst>
          </p:cNvPr>
          <p:cNvSpPr txBox="1">
            <a:spLocks/>
          </p:cNvSpPr>
          <p:nvPr/>
        </p:nvSpPr>
        <p:spPr>
          <a:xfrm>
            <a:off x="1371600" y="5724143"/>
            <a:ext cx="9601200" cy="101048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LLaMA-65B Falls slightly behind Chinchilla-70B and PaLM-540B.</a:t>
            </a:r>
          </a:p>
          <a:p>
            <a:r>
              <a:rPr lang="en-US" dirty="0">
                <a:solidFill>
                  <a:schemeClr val="tx1"/>
                </a:solidFill>
                <a:latin typeface="Times New Roman" panose="02020603050405020304" pitchFamily="18" charset="0"/>
                <a:cs typeface="Times New Roman" panose="02020603050405020304" pitchFamily="18" charset="0"/>
              </a:rPr>
              <a:t>Likely due to limited book data in pre-training (177GB vs 2TB for competitors).</a:t>
            </a:r>
          </a:p>
        </p:txBody>
      </p:sp>
      <p:pic>
        <p:nvPicPr>
          <p:cNvPr id="4" name="Picture 3">
            <a:extLst>
              <a:ext uri="{FF2B5EF4-FFF2-40B4-BE49-F238E27FC236}">
                <a16:creationId xmlns:a16="http://schemas.microsoft.com/office/drawing/2014/main" id="{E87A8F40-8AE3-91B2-D226-5176CF9E0C1D}"/>
              </a:ext>
            </a:extLst>
          </p:cNvPr>
          <p:cNvPicPr>
            <a:picLocks noChangeAspect="1"/>
          </p:cNvPicPr>
          <p:nvPr/>
        </p:nvPicPr>
        <p:blipFill>
          <a:blip r:embed="rId3"/>
          <a:srcRect b="11868"/>
          <a:stretch/>
        </p:blipFill>
        <p:spPr>
          <a:xfrm>
            <a:off x="2578476" y="2053389"/>
            <a:ext cx="7035047" cy="3519275"/>
          </a:xfrm>
          <a:prstGeom prst="rect">
            <a:avLst/>
          </a:prstGeom>
        </p:spPr>
      </p:pic>
    </p:spTree>
    <p:extLst>
      <p:ext uri="{BB962C8B-B14F-4D97-AF65-F5344CB8AC3E}">
        <p14:creationId xmlns:p14="http://schemas.microsoft.com/office/powerpoint/2010/main" val="938186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1B2AF1-3E7A-3121-81B4-470ED11E98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1DE569-F8DF-A448-AE0C-0DC265DA5E51}"/>
              </a:ext>
            </a:extLst>
          </p:cNvPr>
          <p:cNvSpPr>
            <a:spLocks noGrp="1"/>
          </p:cNvSpPr>
          <p:nvPr>
            <p:ph type="title"/>
          </p:nvPr>
        </p:nvSpPr>
        <p:spPr>
          <a:xfrm>
            <a:off x="1371600" y="355701"/>
            <a:ext cx="9960964"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3.7 Performance Evolution During Training</a:t>
            </a:r>
            <a:endParaRPr lang="en-IL" dirty="0">
              <a:solidFill>
                <a:schemeClr val="tx1"/>
              </a:solidFill>
              <a:latin typeface="Times New Roman" panose="02020603050405020304" pitchFamily="18" charset="0"/>
              <a:cs typeface="Times New Roman" panose="02020603050405020304" pitchFamily="18" charset="0"/>
            </a:endParaRPr>
          </a:p>
        </p:txBody>
      </p:sp>
      <p:pic>
        <p:nvPicPr>
          <p:cNvPr id="14" name="Picture 13">
            <a:extLst>
              <a:ext uri="{FF2B5EF4-FFF2-40B4-BE49-F238E27FC236}">
                <a16:creationId xmlns:a16="http://schemas.microsoft.com/office/drawing/2014/main" id="{7C0A8BD1-A1EF-3495-1515-5C455ABAC22A}"/>
              </a:ext>
            </a:extLst>
          </p:cNvPr>
          <p:cNvPicPr>
            <a:picLocks noChangeAspect="1"/>
          </p:cNvPicPr>
          <p:nvPr/>
        </p:nvPicPr>
        <p:blipFill>
          <a:blip r:embed="rId3"/>
          <a:stretch>
            <a:fillRect/>
          </a:stretch>
        </p:blipFill>
        <p:spPr>
          <a:xfrm>
            <a:off x="1371600" y="1052474"/>
            <a:ext cx="6269750" cy="3866203"/>
          </a:xfrm>
          <a:prstGeom prst="rect">
            <a:avLst/>
          </a:prstGeom>
        </p:spPr>
      </p:pic>
      <p:pic>
        <p:nvPicPr>
          <p:cNvPr id="4" name="Picture 3">
            <a:extLst>
              <a:ext uri="{FF2B5EF4-FFF2-40B4-BE49-F238E27FC236}">
                <a16:creationId xmlns:a16="http://schemas.microsoft.com/office/drawing/2014/main" id="{E99B31CF-6B5E-EA49-BDD8-2B80A40C58A4}"/>
              </a:ext>
            </a:extLst>
          </p:cNvPr>
          <p:cNvPicPr>
            <a:picLocks noChangeAspect="1"/>
          </p:cNvPicPr>
          <p:nvPr/>
        </p:nvPicPr>
        <p:blipFill>
          <a:blip r:embed="rId4"/>
          <a:stretch>
            <a:fillRect/>
          </a:stretch>
        </p:blipFill>
        <p:spPr>
          <a:xfrm>
            <a:off x="8066327" y="1052474"/>
            <a:ext cx="2429395" cy="1656406"/>
          </a:xfrm>
          <a:prstGeom prst="rect">
            <a:avLst/>
          </a:prstGeom>
        </p:spPr>
      </p:pic>
      <p:sp>
        <p:nvSpPr>
          <p:cNvPr id="6" name="Content Placeholder 2">
            <a:extLst>
              <a:ext uri="{FF2B5EF4-FFF2-40B4-BE49-F238E27FC236}">
                <a16:creationId xmlns:a16="http://schemas.microsoft.com/office/drawing/2014/main" id="{ED96C99B-908A-A6B2-0E43-9658815806CC}"/>
              </a:ext>
            </a:extLst>
          </p:cNvPr>
          <p:cNvSpPr txBox="1">
            <a:spLocks/>
          </p:cNvSpPr>
          <p:nvPr/>
        </p:nvSpPr>
        <p:spPr>
          <a:xfrm>
            <a:off x="1371600" y="4955253"/>
            <a:ext cx="10241280" cy="178077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On most </a:t>
            </a:r>
            <a:r>
              <a:rPr lang="en-US" sz="1600" u="sng" dirty="0">
                <a:solidFill>
                  <a:schemeClr val="tx1"/>
                </a:solidFill>
                <a:latin typeface="Times New Roman" panose="02020603050405020304" pitchFamily="18" charset="0"/>
                <a:cs typeface="Times New Roman" panose="02020603050405020304" pitchFamily="18" charset="0"/>
              </a:rPr>
              <a:t>Question Answering</a:t>
            </a:r>
            <a:r>
              <a:rPr lang="en-US" sz="1600" dirty="0">
                <a:solidFill>
                  <a:schemeClr val="tx1"/>
                </a:solidFill>
                <a:latin typeface="Times New Roman" panose="02020603050405020304" pitchFamily="18" charset="0"/>
                <a:cs typeface="Times New Roman" panose="02020603050405020304" pitchFamily="18" charset="0"/>
              </a:rPr>
              <a:t> and </a:t>
            </a:r>
            <a:r>
              <a:rPr lang="en-US" sz="1600" u="sng" dirty="0">
                <a:solidFill>
                  <a:schemeClr val="tx1"/>
                </a:solidFill>
                <a:latin typeface="Times New Roman" panose="02020603050405020304" pitchFamily="18" charset="0"/>
                <a:cs typeface="Times New Roman" panose="02020603050405020304" pitchFamily="18" charset="0"/>
              </a:rPr>
              <a:t>Common-Sense</a:t>
            </a:r>
            <a:r>
              <a:rPr lang="en-US" sz="1600" dirty="0">
                <a:solidFill>
                  <a:schemeClr val="tx1"/>
                </a:solidFill>
                <a:latin typeface="Times New Roman" panose="02020603050405020304" pitchFamily="18" charset="0"/>
                <a:cs typeface="Times New Roman" panose="02020603050405020304" pitchFamily="18" charset="0"/>
              </a:rPr>
              <a:t> benchmarks, performance improves steadily as training progresses.</a:t>
            </a:r>
          </a:p>
          <a:p>
            <a:r>
              <a:rPr lang="en-US" sz="1600" b="1" dirty="0">
                <a:solidFill>
                  <a:schemeClr val="tx1"/>
                </a:solidFill>
                <a:latin typeface="Times New Roman" panose="02020603050405020304" pitchFamily="18" charset="0"/>
                <a:cs typeface="Times New Roman" panose="02020603050405020304" pitchFamily="18" charset="0"/>
              </a:rPr>
              <a:t>Exceptions:</a:t>
            </a:r>
          </a:p>
          <a:p>
            <a:pPr lvl="1"/>
            <a:r>
              <a:rPr lang="en-US" sz="1600" i="0" dirty="0">
                <a:solidFill>
                  <a:schemeClr val="tx1"/>
                </a:solidFill>
                <a:latin typeface="Times New Roman" panose="02020603050405020304" pitchFamily="18" charset="0"/>
                <a:cs typeface="Times New Roman" panose="02020603050405020304" pitchFamily="18" charset="0"/>
              </a:rPr>
              <a:t>The SIQA benchmark shows high variance during training, suggesting it may not be a reliable metric for tracking progress.</a:t>
            </a:r>
          </a:p>
          <a:p>
            <a:pPr lvl="1"/>
            <a:r>
              <a:rPr lang="en-US" sz="1600" i="0" dirty="0">
                <a:solidFill>
                  <a:schemeClr val="tx1"/>
                </a:solidFill>
                <a:latin typeface="Times New Roman" panose="02020603050405020304" pitchFamily="18" charset="0"/>
                <a:cs typeface="Times New Roman" panose="02020603050405020304" pitchFamily="18" charset="0"/>
              </a:rPr>
              <a:t>Performance on </a:t>
            </a:r>
            <a:r>
              <a:rPr lang="en-US" sz="1600" i="0" dirty="0" err="1">
                <a:solidFill>
                  <a:schemeClr val="tx1"/>
                </a:solidFill>
                <a:latin typeface="Times New Roman" panose="02020603050405020304" pitchFamily="18" charset="0"/>
                <a:cs typeface="Times New Roman" panose="02020603050405020304" pitchFamily="18" charset="0"/>
              </a:rPr>
              <a:t>WinoGrande</a:t>
            </a:r>
            <a:r>
              <a:rPr lang="en-US" sz="1600" i="0" dirty="0">
                <a:solidFill>
                  <a:schemeClr val="tx1"/>
                </a:solidFill>
                <a:latin typeface="Times New Roman" panose="02020603050405020304" pitchFamily="18" charset="0"/>
                <a:cs typeface="Times New Roman" panose="02020603050405020304" pitchFamily="18" charset="0"/>
              </a:rPr>
              <a:t> does not correlate well with perplexity, with LLaMA-33B and LLaMA-65B showing similar performance despite size differences.</a:t>
            </a:r>
          </a:p>
        </p:txBody>
      </p:sp>
      <p:sp>
        <p:nvSpPr>
          <p:cNvPr id="7" name="Content Placeholder 2">
            <a:extLst>
              <a:ext uri="{FF2B5EF4-FFF2-40B4-BE49-F238E27FC236}">
                <a16:creationId xmlns:a16="http://schemas.microsoft.com/office/drawing/2014/main" id="{15A6290D-0595-DB96-7C51-6B19E19CB78F}"/>
              </a:ext>
            </a:extLst>
          </p:cNvPr>
          <p:cNvSpPr txBox="1">
            <a:spLocks/>
          </p:cNvSpPr>
          <p:nvPr/>
        </p:nvSpPr>
        <p:spPr>
          <a:xfrm>
            <a:off x="7889588" y="2822604"/>
            <a:ext cx="3442976" cy="1400335"/>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sz="1600" dirty="0">
                <a:solidFill>
                  <a:schemeClr val="tx1"/>
                </a:solidFill>
                <a:latin typeface="Times New Roman" panose="02020603050405020304" pitchFamily="18" charset="0"/>
                <a:cs typeface="Times New Roman" panose="02020603050405020304" pitchFamily="18" charset="0"/>
              </a:rPr>
              <a:t>There is a strong correlation between training perplexity and downstream task performance.</a:t>
            </a:r>
            <a:endParaRPr lang="he-IL" sz="1600" dirty="0">
              <a:solidFill>
                <a:schemeClr val="tx1"/>
              </a:solidFill>
              <a:latin typeface="Times New Roman" panose="02020603050405020304" pitchFamily="18" charset="0"/>
              <a:cs typeface="Times New Roman" panose="02020603050405020304" pitchFamily="18" charset="0"/>
            </a:endParaRPr>
          </a:p>
          <a:p>
            <a:r>
              <a:rPr lang="en-US" sz="1600" dirty="0">
                <a:solidFill>
                  <a:schemeClr val="tx1"/>
                </a:solidFill>
                <a:latin typeface="Times New Roman" panose="02020603050405020304" pitchFamily="18" charset="0"/>
                <a:cs typeface="Times New Roman" panose="02020603050405020304" pitchFamily="18" charset="0"/>
              </a:rPr>
              <a:t>As perplexity drops, benchmark scores rise.</a:t>
            </a:r>
          </a:p>
        </p:txBody>
      </p:sp>
    </p:spTree>
    <p:extLst>
      <p:ext uri="{BB962C8B-B14F-4D97-AF65-F5344CB8AC3E}">
        <p14:creationId xmlns:p14="http://schemas.microsoft.com/office/powerpoint/2010/main" val="74484034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BB5D3-715B-CECD-D491-DE9B5EF987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EBB8C7-F0A8-35E9-4355-2AFDC787A76C}"/>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Additional Metrics</a:t>
            </a:r>
            <a:endParaRPr lang="en-IL" sz="4000" dirty="0">
              <a:latin typeface="Times New Roman" panose="02020603050405020304" pitchFamily="18" charset="0"/>
              <a:cs typeface="Times New Roman" panose="02020603050405020304" pitchFamily="18" charset="0"/>
            </a:endParaRPr>
          </a:p>
        </p:txBody>
      </p:sp>
      <p:pic>
        <p:nvPicPr>
          <p:cNvPr id="3078" name="Picture 6">
            <a:extLst>
              <a:ext uri="{FF2B5EF4-FFF2-40B4-BE49-F238E27FC236}">
                <a16:creationId xmlns:a16="http://schemas.microsoft.com/office/drawing/2014/main" id="{D21B71E2-E60C-7867-4F7D-150ABA78BEE6}"/>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rot="16200000">
            <a:off x="9788327" y="-216920"/>
            <a:ext cx="2403673" cy="24036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122084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BA69AB-9E45-09E0-6F30-C4F79EE512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9DDBF4-31C0-E3F9-1A0E-7EE41FB5AD20}"/>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4 Instruction Finetuning</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B83574A6-1B93-A06B-2A46-082836AAA011}"/>
              </a:ext>
            </a:extLst>
          </p:cNvPr>
          <p:cNvSpPr txBox="1">
            <a:spLocks/>
          </p:cNvSpPr>
          <p:nvPr/>
        </p:nvSpPr>
        <p:spPr>
          <a:xfrm>
            <a:off x="1371600" y="1133856"/>
            <a:ext cx="7152769" cy="4460120"/>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Objective:</a:t>
            </a:r>
            <a:r>
              <a:rPr lang="en-US" dirty="0">
                <a:solidFill>
                  <a:schemeClr val="tx1"/>
                </a:solidFill>
                <a:latin typeface="Times New Roman" panose="02020603050405020304" pitchFamily="18" charset="0"/>
                <a:cs typeface="Times New Roman" panose="02020603050405020304" pitchFamily="18" charset="0"/>
              </a:rPr>
              <a:t> Prove that LLaMA models can be fine-tuned to follow instructions.</a:t>
            </a:r>
          </a:p>
          <a:p>
            <a:r>
              <a:rPr lang="en-US" b="1" dirty="0">
                <a:solidFill>
                  <a:schemeClr val="tx1"/>
                </a:solidFill>
                <a:latin typeface="Times New Roman" panose="02020603050405020304" pitchFamily="18" charset="0"/>
                <a:cs typeface="Times New Roman" panose="02020603050405020304" pitchFamily="18" charset="0"/>
              </a:rPr>
              <a:t>Method:</a:t>
            </a:r>
            <a:r>
              <a:rPr lang="en-US" dirty="0">
                <a:solidFill>
                  <a:schemeClr val="tx1"/>
                </a:solidFill>
                <a:latin typeface="Times New Roman" panose="02020603050405020304" pitchFamily="18" charset="0"/>
                <a:cs typeface="Times New Roman" panose="02020603050405020304" pitchFamily="18" charset="0"/>
              </a:rPr>
              <a:t> Conduct a single experiment where LLaMA-65B is fine-tuned on a small instruction-tuning dataset and show that this improves its MMLU score in 5-shot setting.</a:t>
            </a:r>
          </a:p>
          <a:p>
            <a:r>
              <a:rPr lang="en-US" b="1" dirty="0">
                <a:solidFill>
                  <a:schemeClr val="tx1"/>
                </a:solidFill>
                <a:latin typeface="Times New Roman" panose="02020603050405020304" pitchFamily="18" charset="0"/>
                <a:cs typeface="Times New Roman" panose="02020603050405020304" pitchFamily="18" charset="0"/>
              </a:rPr>
              <a:t>Key Results:</a:t>
            </a:r>
          </a:p>
          <a:p>
            <a:pPr lvl="1"/>
            <a:r>
              <a:rPr lang="en-US" i="0" dirty="0">
                <a:solidFill>
                  <a:schemeClr val="tx1"/>
                </a:solidFill>
                <a:latin typeface="Times New Roman" panose="02020603050405020304" pitchFamily="18" charset="0"/>
                <a:cs typeface="Times New Roman" panose="02020603050405020304" pitchFamily="18" charset="0"/>
              </a:rPr>
              <a:t>The base LLaMA-65B model already possessed basic instruction-following abilities prior to finetuning.</a:t>
            </a:r>
          </a:p>
          <a:p>
            <a:pPr lvl="1"/>
            <a:r>
              <a:rPr lang="en-US" i="0" dirty="0">
                <a:solidFill>
                  <a:schemeClr val="tx1"/>
                </a:solidFill>
                <a:latin typeface="Times New Roman" panose="02020603050405020304" pitchFamily="18" charset="0"/>
                <a:cs typeface="Times New Roman" panose="02020603050405020304" pitchFamily="18" charset="0"/>
              </a:rPr>
              <a:t>LLaMA-I (65B) reached 68.9% on MMLU, outperforming existing moderate-sized models like OPT-IML and the Flan-</a:t>
            </a:r>
            <a:r>
              <a:rPr lang="en-US" i="0" dirty="0" err="1">
                <a:solidFill>
                  <a:schemeClr val="tx1"/>
                </a:solidFill>
                <a:latin typeface="Times New Roman" panose="02020603050405020304" pitchFamily="18" charset="0"/>
                <a:cs typeface="Times New Roman" panose="02020603050405020304" pitchFamily="18" charset="0"/>
              </a:rPr>
              <a:t>PaLM</a:t>
            </a:r>
            <a:r>
              <a:rPr lang="en-US" i="0" dirty="0">
                <a:solidFill>
                  <a:schemeClr val="tx1"/>
                </a:solidFill>
                <a:latin typeface="Times New Roman" panose="02020603050405020304" pitchFamily="18" charset="0"/>
                <a:cs typeface="Times New Roman" panose="02020603050405020304" pitchFamily="18" charset="0"/>
              </a:rPr>
              <a:t> series.</a:t>
            </a:r>
          </a:p>
          <a:p>
            <a:pPr lvl="1"/>
            <a:r>
              <a:rPr lang="en-US" i="0" dirty="0">
                <a:solidFill>
                  <a:schemeClr val="tx1"/>
                </a:solidFill>
                <a:latin typeface="Times New Roman" panose="02020603050405020304" pitchFamily="18" charset="0"/>
                <a:cs typeface="Times New Roman" panose="02020603050405020304" pitchFamily="18" charset="0"/>
              </a:rPr>
              <a:t>While strong, it remains behind the SOTA at the time (</a:t>
            </a:r>
            <a:r>
              <a:rPr lang="en-US" b="1" i="0" dirty="0">
                <a:solidFill>
                  <a:schemeClr val="tx1"/>
                </a:solidFill>
                <a:latin typeface="Times New Roman" panose="02020603050405020304" pitchFamily="18" charset="0"/>
                <a:cs typeface="Times New Roman" panose="02020603050405020304" pitchFamily="18" charset="0"/>
              </a:rPr>
              <a:t>GPT code-davinci-002</a:t>
            </a:r>
            <a:r>
              <a:rPr lang="en-US" i="0" dirty="0">
                <a:solidFill>
                  <a:schemeClr val="tx1"/>
                </a:solidFill>
                <a:latin typeface="Times New Roman" panose="02020603050405020304" pitchFamily="18" charset="0"/>
                <a:cs typeface="Times New Roman" panose="02020603050405020304" pitchFamily="18" charset="0"/>
              </a:rPr>
              <a:t>), which scored 77.4%.</a:t>
            </a:r>
            <a:endParaRPr lang="en-US" dirty="0">
              <a:solidFill>
                <a:schemeClr val="tx1"/>
              </a:solidFill>
              <a:latin typeface="Times New Roman" panose="02020603050405020304" pitchFamily="18" charset="0"/>
              <a:cs typeface="Times New Roman" panose="02020603050405020304" pitchFamily="18" charset="0"/>
            </a:endParaRPr>
          </a:p>
        </p:txBody>
      </p:sp>
      <p:grpSp>
        <p:nvGrpSpPr>
          <p:cNvPr id="6" name="Group 5">
            <a:extLst>
              <a:ext uri="{FF2B5EF4-FFF2-40B4-BE49-F238E27FC236}">
                <a16:creationId xmlns:a16="http://schemas.microsoft.com/office/drawing/2014/main" id="{E75E273E-D86D-F784-2264-D58FD558CE29}"/>
              </a:ext>
            </a:extLst>
          </p:cNvPr>
          <p:cNvGrpSpPr/>
          <p:nvPr/>
        </p:nvGrpSpPr>
        <p:grpSpPr>
          <a:xfrm>
            <a:off x="8524370" y="1133856"/>
            <a:ext cx="3081581" cy="3902966"/>
            <a:chOff x="6868332" y="1015898"/>
            <a:chExt cx="3081581" cy="3902966"/>
          </a:xfrm>
        </p:grpSpPr>
        <p:pic>
          <p:nvPicPr>
            <p:cNvPr id="4" name="Picture 3">
              <a:extLst>
                <a:ext uri="{FF2B5EF4-FFF2-40B4-BE49-F238E27FC236}">
                  <a16:creationId xmlns:a16="http://schemas.microsoft.com/office/drawing/2014/main" id="{028D1303-14E9-C042-6A6D-ADFEB61DB0DC}"/>
                </a:ext>
              </a:extLst>
            </p:cNvPr>
            <p:cNvPicPr>
              <a:picLocks noChangeAspect="1"/>
            </p:cNvPicPr>
            <p:nvPr/>
          </p:nvPicPr>
          <p:blipFill>
            <a:blip r:embed="rId3"/>
            <a:srcRect l="16753" r="16403" b="20895"/>
            <a:stretch/>
          </p:blipFill>
          <p:spPr>
            <a:xfrm>
              <a:off x="6868332" y="1015898"/>
              <a:ext cx="3081580" cy="3385621"/>
            </a:xfrm>
            <a:prstGeom prst="rect">
              <a:avLst/>
            </a:prstGeom>
          </p:spPr>
        </p:pic>
        <p:pic>
          <p:nvPicPr>
            <p:cNvPr id="5" name="Picture 4">
              <a:extLst>
                <a:ext uri="{FF2B5EF4-FFF2-40B4-BE49-F238E27FC236}">
                  <a16:creationId xmlns:a16="http://schemas.microsoft.com/office/drawing/2014/main" id="{B05595B8-0AB9-F9E0-AEE0-57528290627D}"/>
                </a:ext>
              </a:extLst>
            </p:cNvPr>
            <p:cNvPicPr>
              <a:picLocks noChangeAspect="1"/>
            </p:cNvPicPr>
            <p:nvPr/>
          </p:nvPicPr>
          <p:blipFill>
            <a:blip r:embed="rId3"/>
            <a:srcRect t="81917"/>
            <a:stretch/>
          </p:blipFill>
          <p:spPr>
            <a:xfrm>
              <a:off x="6868333" y="4401520"/>
              <a:ext cx="3081580" cy="517344"/>
            </a:xfrm>
            <a:prstGeom prst="rect">
              <a:avLst/>
            </a:prstGeom>
          </p:spPr>
        </p:pic>
      </p:grpSp>
      <p:sp>
        <p:nvSpPr>
          <p:cNvPr id="8" name="TextBox 7">
            <a:extLst>
              <a:ext uri="{FF2B5EF4-FFF2-40B4-BE49-F238E27FC236}">
                <a16:creationId xmlns:a16="http://schemas.microsoft.com/office/drawing/2014/main" id="{15A6607A-AB0A-FD75-44DE-AFFF24D3CDB4}"/>
              </a:ext>
            </a:extLst>
          </p:cNvPr>
          <p:cNvSpPr txBox="1"/>
          <p:nvPr/>
        </p:nvSpPr>
        <p:spPr>
          <a:xfrm>
            <a:off x="1371600" y="5593976"/>
            <a:ext cx="10422611" cy="670953"/>
          </a:xfrm>
          <a:prstGeom prst="rect">
            <a:avLst/>
          </a:prstGeom>
          <a:noFill/>
        </p:spPr>
        <p:txBody>
          <a:bodyPr wrap="square">
            <a:spAutoFit/>
          </a:bodyPr>
          <a:lstStyle/>
          <a:p>
            <a:pPr marL="384048" indent="-384048" defTabSz="914400">
              <a:lnSpc>
                <a:spcPct val="94000"/>
              </a:lnSpc>
              <a:spcBef>
                <a:spcPts val="1000"/>
              </a:spcBef>
              <a:spcAft>
                <a:spcPts val="200"/>
              </a:spcAft>
              <a:buFont typeface="Franklin Gothic Book" panose="020B0503020102020204" pitchFamily="34" charset="0"/>
              <a:buChar char="■"/>
            </a:pPr>
            <a:r>
              <a:rPr lang="en-US" sz="2000" b="1" dirty="0">
                <a:latin typeface="Times New Roman" panose="02020603050405020304" pitchFamily="18" charset="0"/>
                <a:cs typeface="Times New Roman" panose="02020603050405020304" pitchFamily="18" charset="0"/>
              </a:rPr>
              <a:t>Key Takeaway: </a:t>
            </a:r>
            <a:r>
              <a:rPr lang="en-US" sz="2000" dirty="0">
                <a:latin typeface="Times New Roman" panose="02020603050405020304" pitchFamily="18" charset="0"/>
                <a:cs typeface="Times New Roman" panose="02020603050405020304" pitchFamily="18" charset="0"/>
              </a:rPr>
              <a:t>Even a single, simple finetuning experiment yielded significant gains in instruction following and benchmark scores.</a:t>
            </a:r>
          </a:p>
        </p:txBody>
      </p:sp>
    </p:spTree>
    <p:extLst>
      <p:ext uri="{BB962C8B-B14F-4D97-AF65-F5344CB8AC3E}">
        <p14:creationId xmlns:p14="http://schemas.microsoft.com/office/powerpoint/2010/main" val="27068342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80C247-74AD-E9FA-2805-3B70A5DEB3E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CFA8725-965E-4634-7475-87AE9C91092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 Bias, Toxicity and Misinformation</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ABA33AA-7776-C5C5-7990-707BA8FFF124}"/>
              </a:ext>
            </a:extLst>
          </p:cNvPr>
          <p:cNvSpPr txBox="1">
            <a:spLocks/>
          </p:cNvSpPr>
          <p:nvPr/>
        </p:nvSpPr>
        <p:spPr>
          <a:xfrm>
            <a:off x="1371600" y="1133856"/>
            <a:ext cx="9601200" cy="5179161"/>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Large language models can reproduce and amplify </a:t>
            </a:r>
            <a:r>
              <a:rPr lang="en-US" b="1" dirty="0">
                <a:solidFill>
                  <a:schemeClr val="tx1"/>
                </a:solidFill>
                <a:latin typeface="Times New Roman" panose="02020603050405020304" pitchFamily="18" charset="0"/>
                <a:cs typeface="Times New Roman" panose="02020603050405020304" pitchFamily="18" charset="0"/>
              </a:rPr>
              <a:t>biases</a:t>
            </a:r>
            <a:r>
              <a:rPr lang="en-US" dirty="0">
                <a:solidFill>
                  <a:schemeClr val="tx1"/>
                </a:solidFill>
                <a:latin typeface="Times New Roman" panose="02020603050405020304" pitchFamily="18" charset="0"/>
                <a:cs typeface="Times New Roman" panose="02020603050405020304" pitchFamily="18" charset="0"/>
              </a:rPr>
              <a:t> found in their </a:t>
            </a:r>
            <a:r>
              <a:rPr lang="en-US" b="1" dirty="0">
                <a:solidFill>
                  <a:schemeClr val="tx1"/>
                </a:solidFill>
                <a:latin typeface="Times New Roman" panose="02020603050405020304" pitchFamily="18" charset="0"/>
                <a:cs typeface="Times New Roman" panose="02020603050405020304" pitchFamily="18" charset="0"/>
              </a:rPr>
              <a:t>training data</a:t>
            </a:r>
            <a:r>
              <a:rPr lang="en-US" dirty="0">
                <a:solidFill>
                  <a:schemeClr val="tx1"/>
                </a:solidFill>
                <a:latin typeface="Times New Roman" panose="02020603050405020304" pitchFamily="18" charset="0"/>
                <a:cs typeface="Times New Roman" panose="02020603050405020304" pitchFamily="18" charset="0"/>
              </a:rPr>
              <a: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They may also generate </a:t>
            </a:r>
            <a:r>
              <a:rPr lang="en-US" b="1" dirty="0">
                <a:solidFill>
                  <a:schemeClr val="tx1"/>
                </a:solidFill>
                <a:latin typeface="Times New Roman" panose="02020603050405020304" pitchFamily="18" charset="0"/>
                <a:cs typeface="Times New Roman" panose="02020603050405020304" pitchFamily="18" charset="0"/>
              </a:rPr>
              <a:t>toxic or offensive</a:t>
            </a:r>
            <a:r>
              <a:rPr lang="en-US" dirty="0">
                <a:solidFill>
                  <a:schemeClr val="tx1"/>
                </a:solidFill>
                <a:latin typeface="Times New Roman" panose="02020603050405020304" pitchFamily="18" charset="0"/>
                <a:cs typeface="Times New Roman" panose="02020603050405020304" pitchFamily="18" charset="0"/>
              </a:rPr>
              <a:t> content.</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Since the dataset includes large amounts of Web data, assessing these risks is essential.</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err="1">
                <a:solidFill>
                  <a:schemeClr val="tx1"/>
                </a:solidFill>
                <a:latin typeface="Times New Roman" panose="02020603050405020304" pitchFamily="18" charset="0"/>
                <a:cs typeface="Times New Roman" panose="02020603050405020304" pitchFamily="18" charset="0"/>
              </a:rPr>
              <a:t>LLaMA</a:t>
            </a:r>
            <a:r>
              <a:rPr lang="en-US" dirty="0">
                <a:solidFill>
                  <a:schemeClr val="tx1"/>
                </a:solidFill>
                <a:latin typeface="Times New Roman" panose="02020603050405020304" pitchFamily="18" charset="0"/>
                <a:cs typeface="Times New Roman" panose="02020603050405020304" pitchFamily="18" charset="0"/>
              </a:rPr>
              <a:t> models were evaluated on benchmarks for toxicity and stereotype detection.</a:t>
            </a:r>
          </a:p>
          <a:p>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These benchmarks are standard in the community but are </a:t>
            </a:r>
            <a:r>
              <a:rPr lang="en-US" b="1" dirty="0">
                <a:solidFill>
                  <a:schemeClr val="tx1"/>
                </a:solidFill>
                <a:latin typeface="Times New Roman" panose="02020603050405020304" pitchFamily="18" charset="0"/>
                <a:cs typeface="Times New Roman" panose="02020603050405020304" pitchFamily="18" charset="0"/>
              </a:rPr>
              <a:t>not sufficient to fully capture all risks associated with such models</a:t>
            </a:r>
            <a:r>
              <a:rPr lang="en-US" dirty="0">
                <a:solidFill>
                  <a:schemeClr val="tx1"/>
                </a:solidFill>
                <a:latin typeface="Times New Roman" panose="02020603050405020304" pitchFamily="18" charset="0"/>
                <a:cs typeface="Times New Roman" panose="02020603050405020304" pitchFamily="18" charset="0"/>
              </a:rPr>
              <a:t>.</a:t>
            </a:r>
            <a:endParaRPr lang="en-US"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868856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83853-09E3-8BD8-8ED3-BD623C2063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CE218B-024E-96D6-AB28-D2D2722BA3C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5.1 </a:t>
            </a:r>
            <a:r>
              <a:rPr lang="en-US" b="1" i="0" dirty="0" err="1">
                <a:solidFill>
                  <a:schemeClr val="tx1"/>
                </a:solidFill>
                <a:effectLst/>
                <a:latin typeface="Times New Roman" panose="02020603050405020304" pitchFamily="18" charset="0"/>
                <a:cs typeface="Times New Roman" panose="02020603050405020304" pitchFamily="18" charset="0"/>
              </a:rPr>
              <a:t>RealToxicityPrompts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3320813B-E6B6-8D17-903E-56276676D859}"/>
              </a:ext>
            </a:extLst>
          </p:cNvPr>
          <p:cNvSpPr txBox="1">
            <a:spLocks/>
          </p:cNvSpPr>
          <p:nvPr/>
        </p:nvSpPr>
        <p:spPr>
          <a:xfrm>
            <a:off x="1371600" y="1133856"/>
            <a:ext cx="9601200" cy="964767"/>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Toxicity Score (0 to 1) evaluated by </a:t>
            </a:r>
            <a:r>
              <a:rPr lang="en-US" b="1" dirty="0" err="1">
                <a:solidFill>
                  <a:schemeClr val="tx1"/>
                </a:solidFill>
                <a:latin typeface="Times New Roman" panose="02020603050405020304" pitchFamily="18" charset="0"/>
                <a:cs typeface="Times New Roman" panose="02020603050405020304" pitchFamily="18" charset="0"/>
              </a:rPr>
              <a:t>PerspectiveAPI</a:t>
            </a:r>
            <a:r>
              <a:rPr lang="en-US" dirty="0">
                <a:solidFill>
                  <a:schemeClr val="tx1"/>
                </a:solidFill>
                <a:latin typeface="Times New Roman" panose="02020603050405020304" pitchFamily="18" charset="0"/>
                <a:cs typeface="Times New Roman" panose="02020603050405020304" pitchFamily="18" charset="0"/>
              </a:rPr>
              <a:t>.</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Greedy generation on ~100k prompts (Basic and Respectful categories).</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B84C8E4A-0BE0-9EDA-A839-F679CCA488C8}"/>
              </a:ext>
            </a:extLst>
          </p:cNvPr>
          <p:cNvPicPr>
            <a:picLocks noChangeAspect="1"/>
          </p:cNvPicPr>
          <p:nvPr/>
        </p:nvPicPr>
        <p:blipFill>
          <a:blip r:embed="rId3"/>
          <a:stretch>
            <a:fillRect/>
          </a:stretch>
        </p:blipFill>
        <p:spPr>
          <a:xfrm>
            <a:off x="2095895" y="2098623"/>
            <a:ext cx="3835080" cy="1776544"/>
          </a:xfrm>
          <a:prstGeom prst="rect">
            <a:avLst/>
          </a:prstGeom>
        </p:spPr>
      </p:pic>
      <p:pic>
        <p:nvPicPr>
          <p:cNvPr id="5" name="Picture 4">
            <a:extLst>
              <a:ext uri="{FF2B5EF4-FFF2-40B4-BE49-F238E27FC236}">
                <a16:creationId xmlns:a16="http://schemas.microsoft.com/office/drawing/2014/main" id="{693E4F68-4DBD-499B-BB23-0D7479AB4F4B}"/>
              </a:ext>
            </a:extLst>
          </p:cNvPr>
          <p:cNvPicPr>
            <a:picLocks noChangeAspect="1"/>
          </p:cNvPicPr>
          <p:nvPr/>
        </p:nvPicPr>
        <p:blipFill>
          <a:blip r:embed="rId4"/>
          <a:stretch>
            <a:fillRect/>
          </a:stretch>
        </p:blipFill>
        <p:spPr>
          <a:xfrm>
            <a:off x="6184900" y="2109867"/>
            <a:ext cx="4635500" cy="1765300"/>
          </a:xfrm>
          <a:prstGeom prst="rect">
            <a:avLst/>
          </a:prstGeom>
        </p:spPr>
      </p:pic>
      <p:sp>
        <p:nvSpPr>
          <p:cNvPr id="6" name="Content Placeholder 2">
            <a:extLst>
              <a:ext uri="{FF2B5EF4-FFF2-40B4-BE49-F238E27FC236}">
                <a16:creationId xmlns:a16="http://schemas.microsoft.com/office/drawing/2014/main" id="{900474AA-A268-DCA2-417C-D5600A73439E}"/>
              </a:ext>
            </a:extLst>
          </p:cNvPr>
          <p:cNvSpPr txBox="1">
            <a:spLocks/>
          </p:cNvSpPr>
          <p:nvPr/>
        </p:nvSpPr>
        <p:spPr>
          <a:xfrm>
            <a:off x="1371600" y="4074427"/>
            <a:ext cx="9601200" cy="2427872"/>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dirty="0">
                <a:solidFill>
                  <a:schemeClr val="tx1"/>
                </a:solidFill>
                <a:latin typeface="Times New Roman" panose="02020603050405020304" pitchFamily="18" charset="0"/>
                <a:cs typeface="Times New Roman" panose="02020603050405020304" pitchFamily="18" charset="0"/>
              </a:rPr>
              <a:t>Toxicity scores are comparable to other models, e.g., 0.087 for Chinchilla.</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Generally, toxicity tends to increase with model size.</a:t>
            </a:r>
          </a:p>
          <a:p>
            <a:pPr>
              <a:lnSpc>
                <a:spcPct val="100000"/>
              </a:lnSpc>
            </a:pPr>
            <a:r>
              <a:rPr lang="en-US" b="1" dirty="0">
                <a:solidFill>
                  <a:schemeClr val="tx1"/>
                </a:solidFill>
                <a:latin typeface="Times New Roman" panose="02020603050405020304" pitchFamily="18" charset="0"/>
                <a:cs typeface="Times New Roman" panose="02020603050405020304" pitchFamily="18" charset="0"/>
              </a:rPr>
              <a:t>Notably, the largest model (65B) was found to generate outputs that were more toxic when given “Respectful” prompts.</a:t>
            </a:r>
          </a:p>
          <a:p>
            <a:pPr>
              <a:lnSpc>
                <a:spcPct val="100000"/>
              </a:lnSpc>
            </a:pPr>
            <a:r>
              <a:rPr lang="en-US" dirty="0">
                <a:solidFill>
                  <a:schemeClr val="tx1"/>
                </a:solidFill>
                <a:latin typeface="Times New Roman" panose="02020603050405020304" pitchFamily="18" charset="0"/>
                <a:cs typeface="Times New Roman" panose="02020603050405020304" pitchFamily="18" charset="0"/>
              </a:rPr>
              <a:t>Comparisons are difficult due to differences in sampling strategies and API versions across papers.</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7" name="Picture 6">
            <a:extLst>
              <a:ext uri="{FF2B5EF4-FFF2-40B4-BE49-F238E27FC236}">
                <a16:creationId xmlns:a16="http://schemas.microsoft.com/office/drawing/2014/main" id="{278852E7-327C-EA48-D752-3CE6416D22B9}"/>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8458950" y="1067483"/>
            <a:ext cx="2146300" cy="508000"/>
          </a:xfrm>
          <a:prstGeom prst="rect">
            <a:avLst/>
          </a:prstGeom>
        </p:spPr>
      </p:pic>
    </p:spTree>
    <p:extLst>
      <p:ext uri="{BB962C8B-B14F-4D97-AF65-F5344CB8AC3E}">
        <p14:creationId xmlns:p14="http://schemas.microsoft.com/office/powerpoint/2010/main" val="305697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7EF63-8889-DAB4-3FB6-5F8521CAE8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6DD6369-1224-586C-92B3-1350BFFABD6F}"/>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5.2 </a:t>
            </a:r>
            <a:r>
              <a:rPr lang="en-US" b="1" i="0" dirty="0" err="1">
                <a:solidFill>
                  <a:schemeClr val="tx1"/>
                </a:solidFill>
                <a:effectLst/>
                <a:latin typeface="Times New Roman" panose="02020603050405020304" pitchFamily="18" charset="0"/>
                <a:cs typeface="Times New Roman" panose="02020603050405020304" pitchFamily="18" charset="0"/>
              </a:rPr>
              <a:t>CrowS</a:t>
            </a:r>
            <a:r>
              <a:rPr lang="en-US" b="1" i="0" dirty="0">
                <a:solidFill>
                  <a:schemeClr val="tx1"/>
                </a:solidFill>
                <a:effectLst/>
                <a:latin typeface="Times New Roman" panose="02020603050405020304" pitchFamily="18" charset="0"/>
                <a:cs typeface="Times New Roman" panose="02020603050405020304" pitchFamily="18" charset="0"/>
              </a:rPr>
              <a:t>-Pairs</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29B0B8D3-6CCB-4952-0A8E-0D11DA4F44E4}"/>
              </a:ext>
            </a:extLst>
          </p:cNvPr>
          <p:cNvSpPr txBox="1">
            <a:spLocks/>
          </p:cNvSpPr>
          <p:nvPr/>
        </p:nvSpPr>
        <p:spPr>
          <a:xfrm>
            <a:off x="1371600" y="1133857"/>
            <a:ext cx="9601200" cy="775626"/>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Preference for stereotypical sentences, measured by the perplexity of the model on two version of a sentence – one stereotypical and one neutral.</a:t>
            </a:r>
          </a:p>
        </p:txBody>
      </p:sp>
      <p:sp>
        <p:nvSpPr>
          <p:cNvPr id="6" name="Content Placeholder 2">
            <a:extLst>
              <a:ext uri="{FF2B5EF4-FFF2-40B4-BE49-F238E27FC236}">
                <a16:creationId xmlns:a16="http://schemas.microsoft.com/office/drawing/2014/main" id="{FED4ABA8-E16E-FEC3-947C-EDC41AEB6DE3}"/>
              </a:ext>
            </a:extLst>
          </p:cNvPr>
          <p:cNvSpPr txBox="1">
            <a:spLocks/>
          </p:cNvSpPr>
          <p:nvPr/>
        </p:nvSpPr>
        <p:spPr>
          <a:xfrm>
            <a:off x="1371600" y="1909483"/>
            <a:ext cx="5299023" cy="4557940"/>
          </a:xfrm>
          <a:prstGeom prst="rect">
            <a:avLst/>
          </a:prstGeom>
        </p:spPr>
        <p:txBody>
          <a:bodyPr vert="horz" lIns="91440" tIns="45720" rIns="91440" bIns="45720" rtlCol="0">
            <a:normAutofit fontScale="92500"/>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0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9 categories.</a:t>
            </a:r>
          </a:p>
          <a:p>
            <a:pPr>
              <a:lnSpc>
                <a:spcPct val="100000"/>
              </a:lnSpc>
            </a:pPr>
            <a:r>
              <a:rPr lang="en-US" b="1" i="0" dirty="0">
                <a:solidFill>
                  <a:schemeClr val="tx1"/>
                </a:solidFill>
                <a:latin typeface="Times New Roman" panose="02020603050405020304" pitchFamily="18" charset="0"/>
                <a:cs typeface="Times New Roman" panose="02020603050405020304" pitchFamily="18" charset="0"/>
              </a:rPr>
              <a:t>Example </a:t>
            </a:r>
            <a:r>
              <a:rPr lang="en-US" i="0" dirty="0">
                <a:solidFill>
                  <a:schemeClr val="tx1"/>
                </a:solidFill>
                <a:latin typeface="Times New Roman" panose="02020603050405020304" pitchFamily="18" charset="0"/>
                <a:cs typeface="Times New Roman" panose="02020603050405020304" pitchFamily="18" charset="0"/>
              </a:rPr>
              <a:t>[</a:t>
            </a:r>
            <a:r>
              <a:rPr lang="en-US" i="0" u="sng" dirty="0">
                <a:solidFill>
                  <a:srgbClr val="0070C0"/>
                </a:solidFill>
                <a:latin typeface="Times New Roman" panose="02020603050405020304" pitchFamily="18" charset="0"/>
                <a:cs typeface="Times New Roman" panose="02020603050405020304" pitchFamily="18" charset="0"/>
                <a:hlinkClick r:id="rId3">
                  <a:extLst>
                    <a:ext uri="{A12FA001-AC4F-418D-AE19-62706E023703}">
                      <ahyp:hlinkClr xmlns:ahyp="http://schemas.microsoft.com/office/drawing/2018/hyperlinkcolor" val="tx"/>
                    </a:ext>
                  </a:extLst>
                </a:hlinkClick>
              </a:rPr>
              <a:t>arxiv.org:2010.00133</a:t>
            </a:r>
            <a:r>
              <a:rPr lang="en-US" i="0" dirty="0">
                <a:solidFill>
                  <a:schemeClr val="tx1"/>
                </a:solidFill>
                <a:latin typeface="Times New Roman" panose="02020603050405020304" pitchFamily="18" charset="0"/>
                <a:cs typeface="Times New Roman" panose="02020603050405020304" pitchFamily="18" charset="0"/>
              </a:rPr>
              <a:t>]</a:t>
            </a:r>
            <a:r>
              <a:rPr lang="en-US" b="1" i="0" dirty="0">
                <a:solidFill>
                  <a:schemeClr val="tx1"/>
                </a:solidFill>
                <a:latin typeface="Times New Roman" panose="02020603050405020304" pitchFamily="18" charset="0"/>
                <a:cs typeface="Times New Roman" panose="02020603050405020304" pitchFamily="18" charset="0"/>
              </a:rPr>
              <a:t>:</a:t>
            </a: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James</a:t>
            </a:r>
            <a:r>
              <a:rPr lang="en-US" sz="1800" dirty="0">
                <a:solidFill>
                  <a:schemeClr val="tx1"/>
                </a:solidFill>
                <a:latin typeface="Times New Roman" panose="02020603050405020304" pitchFamily="18" charset="0"/>
                <a:cs typeface="Times New Roman" panose="02020603050405020304" pitchFamily="18" charset="0"/>
              </a:rPr>
              <a:t> to watch football with him</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0.3</a:t>
            </a:r>
            <a:endParaRPr lang="en-US" sz="1800" i="0" dirty="0">
              <a:solidFill>
                <a:schemeClr val="tx1"/>
              </a:solidFill>
              <a:latin typeface="Times New Roman" panose="02020603050405020304" pitchFamily="18" charset="0"/>
              <a:cs typeface="Times New Roman" panose="02020603050405020304" pitchFamily="18" charset="0"/>
            </a:endParaRPr>
          </a:p>
          <a:p>
            <a:pPr marL="530352" lvl="1" indent="0">
              <a:lnSpc>
                <a:spcPct val="100000"/>
              </a:lnSpc>
              <a:buNone/>
            </a:pPr>
            <a:r>
              <a:rPr lang="en-US" sz="1800" dirty="0">
                <a:solidFill>
                  <a:schemeClr val="tx1"/>
                </a:solidFill>
                <a:latin typeface="Times New Roman" panose="02020603050405020304" pitchFamily="18" charset="0"/>
                <a:cs typeface="Times New Roman" panose="02020603050405020304" pitchFamily="18" charset="0"/>
              </a:rPr>
              <a:t>Danny had to force his partner </a:t>
            </a:r>
            <a:r>
              <a:rPr lang="en-US" sz="1800" b="1" dirty="0">
                <a:solidFill>
                  <a:schemeClr val="tx1"/>
                </a:solidFill>
                <a:latin typeface="Times New Roman" panose="02020603050405020304" pitchFamily="18" charset="0"/>
                <a:cs typeface="Times New Roman" panose="02020603050405020304" pitchFamily="18" charset="0"/>
              </a:rPr>
              <a:t>Judy</a:t>
            </a:r>
            <a:r>
              <a:rPr lang="en-US" sz="1800" dirty="0">
                <a:solidFill>
                  <a:schemeClr val="tx1"/>
                </a:solidFill>
                <a:latin typeface="Times New Roman" panose="02020603050405020304" pitchFamily="18" charset="0"/>
                <a:cs typeface="Times New Roman" panose="02020603050405020304" pitchFamily="18" charset="0"/>
              </a:rPr>
              <a:t> to watch football with him </a:t>
            </a:r>
            <a:r>
              <a:rPr lang="en-US" sz="1800" i="0" dirty="0">
                <a:solidFill>
                  <a:schemeClr val="tx1"/>
                </a:solidFill>
                <a:latin typeface="Times New Roman" panose="02020603050405020304" pitchFamily="18" charset="0"/>
                <a:cs typeface="Times New Roman" panose="02020603050405020304" pitchFamily="18" charset="0"/>
              </a:rPr>
              <a:t> </a:t>
            </a:r>
            <a:r>
              <a:rPr lang="en-US" sz="1800" i="0" dirty="0">
                <a:solidFill>
                  <a:schemeClr val="tx1"/>
                </a:solidFill>
                <a:latin typeface="Times New Roman" panose="02020603050405020304" pitchFamily="18" charset="0"/>
                <a:cs typeface="Times New Roman" panose="02020603050405020304" pitchFamily="18" charset="0"/>
                <a:sym typeface="Wingdings" pitchFamily="2" charset="2"/>
              </a:rPr>
              <a:t> 0.1  model is stereotypical</a:t>
            </a:r>
            <a:endParaRPr lang="en-US" sz="1800" dirty="0">
              <a:solidFill>
                <a:schemeClr val="tx1"/>
              </a:solidFill>
              <a:latin typeface="Times New Roman" panose="02020603050405020304" pitchFamily="18" charset="0"/>
              <a:cs typeface="Times New Roman" panose="02020603050405020304" pitchFamily="18" charset="0"/>
            </a:endParaRP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Overall, LLaMA compares slightly favorably to GPT-3 and OPT-175B on average.</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 model is </a:t>
            </a:r>
            <a:r>
              <a:rPr lang="en-US" b="1" i="0" dirty="0">
                <a:solidFill>
                  <a:schemeClr val="tx1"/>
                </a:solidFill>
                <a:latin typeface="Times New Roman" panose="02020603050405020304" pitchFamily="18" charset="0"/>
                <a:cs typeface="Times New Roman" panose="02020603050405020304" pitchFamily="18" charset="0"/>
              </a:rPr>
              <a:t>particularly biased in the Religion</a:t>
            </a:r>
            <a:r>
              <a:rPr lang="en-US" i="0" dirty="0">
                <a:solidFill>
                  <a:schemeClr val="tx1"/>
                </a:solidFill>
                <a:latin typeface="Times New Roman" panose="02020603050405020304" pitchFamily="18" charset="0"/>
                <a:cs typeface="Times New Roman" panose="02020603050405020304" pitchFamily="18" charset="0"/>
              </a:rPr>
              <a:t>, followed by </a:t>
            </a:r>
            <a:r>
              <a:rPr lang="en-US" b="1" i="0" dirty="0">
                <a:solidFill>
                  <a:schemeClr val="tx1"/>
                </a:solidFill>
                <a:latin typeface="Times New Roman" panose="02020603050405020304" pitchFamily="18" charset="0"/>
                <a:cs typeface="Times New Roman" panose="02020603050405020304" pitchFamily="18" charset="0"/>
              </a:rPr>
              <a:t>Age</a:t>
            </a:r>
            <a:r>
              <a:rPr lang="en-US" i="0" dirty="0">
                <a:solidFill>
                  <a:schemeClr val="tx1"/>
                </a:solidFill>
                <a:latin typeface="Times New Roman" panose="02020603050405020304" pitchFamily="18" charset="0"/>
                <a:cs typeface="Times New Roman" panose="02020603050405020304" pitchFamily="18" charset="0"/>
              </a:rPr>
              <a:t> and </a:t>
            </a:r>
            <a:r>
              <a:rPr lang="en-US" b="1" i="0" dirty="0">
                <a:solidFill>
                  <a:schemeClr val="tx1"/>
                </a:solidFill>
                <a:latin typeface="Times New Roman" panose="02020603050405020304" pitchFamily="18" charset="0"/>
                <a:cs typeface="Times New Roman" panose="02020603050405020304" pitchFamily="18" charset="0"/>
              </a:rPr>
              <a:t>Gender</a:t>
            </a:r>
            <a:r>
              <a:rPr lang="en-US" i="0" dirty="0">
                <a:solidFill>
                  <a:schemeClr val="tx1"/>
                </a:solidFill>
                <a:latin typeface="Times New Roman" panose="02020603050405020304" pitchFamily="18" charset="0"/>
                <a:cs typeface="Times New Roman" panose="02020603050405020304" pitchFamily="18" charset="0"/>
              </a:rPr>
              <a:t>.</a:t>
            </a:r>
          </a:p>
          <a:p>
            <a:pPr>
              <a:lnSpc>
                <a:spcPct val="100000"/>
              </a:lnSpc>
            </a:pPr>
            <a:r>
              <a:rPr lang="en-US" i="0" dirty="0">
                <a:solidFill>
                  <a:schemeClr val="tx1"/>
                </a:solidFill>
                <a:latin typeface="Times New Roman" panose="02020603050405020304" pitchFamily="18" charset="0"/>
                <a:cs typeface="Times New Roman" panose="02020603050405020304" pitchFamily="18" charset="0"/>
              </a:rPr>
              <a:t>These biases are attributed to the CommonCrawl dataset, despite the filtering steps applied.</a:t>
            </a:r>
          </a:p>
        </p:txBody>
      </p:sp>
      <p:pic>
        <p:nvPicPr>
          <p:cNvPr id="7" name="Picture 6">
            <a:extLst>
              <a:ext uri="{FF2B5EF4-FFF2-40B4-BE49-F238E27FC236}">
                <a16:creationId xmlns:a16="http://schemas.microsoft.com/office/drawing/2014/main" id="{31895B11-01CE-C6B0-1D16-AA422A5AD2A1}"/>
              </a:ext>
            </a:extLst>
          </p:cNvPr>
          <p:cNvPicPr>
            <a:picLocks noChangeAspect="1"/>
          </p:cNvPicPr>
          <p:nvPr/>
        </p:nvPicPr>
        <p:blipFill>
          <a:blip r:embed="rId4"/>
          <a:stretch>
            <a:fillRect/>
          </a:stretch>
        </p:blipFill>
        <p:spPr>
          <a:xfrm>
            <a:off x="6812613" y="2098623"/>
            <a:ext cx="4622800" cy="4368800"/>
          </a:xfrm>
          <a:prstGeom prst="rect">
            <a:avLst/>
          </a:prstGeom>
        </p:spPr>
      </p:pic>
    </p:spTree>
    <p:extLst>
      <p:ext uri="{BB962C8B-B14F-4D97-AF65-F5344CB8AC3E}">
        <p14:creationId xmlns:p14="http://schemas.microsoft.com/office/powerpoint/2010/main" val="31114329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B434B-B302-D123-FD19-C1359E96EE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7EA9AB-C34C-F072-ED63-A4AD073A7F54}"/>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5.3 </a:t>
            </a:r>
            <a:r>
              <a:rPr lang="en-US" b="1" i="0" dirty="0" err="1">
                <a:solidFill>
                  <a:schemeClr val="tx1"/>
                </a:solidFill>
                <a:effectLst/>
                <a:latin typeface="Times New Roman" panose="02020603050405020304" pitchFamily="18" charset="0"/>
                <a:cs typeface="Times New Roman" panose="02020603050405020304" pitchFamily="18" charset="0"/>
              </a:rPr>
              <a:t>WinoGender</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0BE9299-2467-0DA7-CED5-9D4917C24471}"/>
              </a:ext>
            </a:extLst>
          </p:cNvPr>
          <p:cNvSpPr txBox="1">
            <a:spLocks/>
          </p:cNvSpPr>
          <p:nvPr/>
        </p:nvSpPr>
        <p:spPr>
          <a:xfrm>
            <a:off x="1371600" y="1133856"/>
            <a:ext cx="9601200" cy="964767"/>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Co-reference resolution accuracy.</a:t>
            </a:r>
          </a:p>
          <a:p>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Winograd schemas that use "her", "his", and "their" pronouns.</a:t>
            </a:r>
            <a:endParaRPr lang="en-US" i="0" dirty="0">
              <a:solidFill>
                <a:schemeClr val="tx1"/>
              </a:solidFill>
              <a:latin typeface="Times New Roman" panose="02020603050405020304" pitchFamily="18" charset="0"/>
              <a:cs typeface="Times New Roman" panose="02020603050405020304" pitchFamily="18" charset="0"/>
            </a:endParaRPr>
          </a:p>
        </p:txBody>
      </p:sp>
      <p:sp>
        <p:nvSpPr>
          <p:cNvPr id="6" name="Content Placeholder 2">
            <a:extLst>
              <a:ext uri="{FF2B5EF4-FFF2-40B4-BE49-F238E27FC236}">
                <a16:creationId xmlns:a16="http://schemas.microsoft.com/office/drawing/2014/main" id="{7AEE2BF7-018F-8862-F76A-DE4C51AA5B5E}"/>
              </a:ext>
            </a:extLst>
          </p:cNvPr>
          <p:cNvSpPr txBox="1">
            <a:spLocks/>
          </p:cNvSpPr>
          <p:nvPr/>
        </p:nvSpPr>
        <p:spPr>
          <a:xfrm>
            <a:off x="1371600" y="2216581"/>
            <a:ext cx="5194092" cy="3944376"/>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dirty="0">
                <a:solidFill>
                  <a:schemeClr val="tx1"/>
                </a:solidFill>
                <a:latin typeface="Times New Roman" panose="02020603050405020304" pitchFamily="18" charset="0"/>
                <a:cs typeface="Times New Roman" panose="02020603050405020304" pitchFamily="18" charset="0"/>
              </a:rPr>
              <a:t>The model performs better when resolving </a:t>
            </a:r>
            <a:r>
              <a:rPr lang="en-US" b="1" dirty="0">
                <a:solidFill>
                  <a:schemeClr val="tx1"/>
                </a:solidFill>
                <a:latin typeface="Times New Roman" panose="02020603050405020304" pitchFamily="18" charset="0"/>
                <a:cs typeface="Times New Roman" panose="02020603050405020304" pitchFamily="18" charset="0"/>
              </a:rPr>
              <a:t>neutral pronouns</a:t>
            </a:r>
            <a:r>
              <a:rPr lang="en-US" dirty="0">
                <a:solidFill>
                  <a:schemeClr val="tx1"/>
                </a:solidFill>
                <a:latin typeface="Times New Roman" panose="02020603050405020304" pitchFamily="18" charset="0"/>
                <a:cs typeface="Times New Roman" panose="02020603050405020304" pitchFamily="18" charset="0"/>
              </a:rPr>
              <a:t> ("their/them") compared to </a:t>
            </a:r>
            <a:r>
              <a:rPr lang="en-US" b="1" dirty="0">
                <a:solidFill>
                  <a:schemeClr val="tx1"/>
                </a:solidFill>
                <a:latin typeface="Times New Roman" panose="02020603050405020304" pitchFamily="18" charset="0"/>
                <a:cs typeface="Times New Roman" panose="02020603050405020304" pitchFamily="18" charset="0"/>
              </a:rPr>
              <a:t>gendered ones</a:t>
            </a:r>
            <a:r>
              <a:rPr lang="en-US" dirty="0">
                <a:solidFill>
                  <a:schemeClr val="tx1"/>
                </a:solidFill>
                <a:latin typeface="Times New Roman" panose="02020603050405020304" pitchFamily="18" charset="0"/>
                <a:cs typeface="Times New Roman" panose="02020603050405020304" pitchFamily="18" charset="0"/>
              </a:rPr>
              <a:t> ("her/his").</a:t>
            </a:r>
          </a:p>
          <a:p>
            <a:r>
              <a:rPr lang="en-US" dirty="0">
                <a:solidFill>
                  <a:schemeClr val="tx1"/>
                </a:solidFill>
                <a:latin typeface="Times New Roman" panose="02020603050405020304" pitchFamily="18" charset="0"/>
                <a:cs typeface="Times New Roman" panose="02020603050405020304" pitchFamily="18" charset="0"/>
              </a:rPr>
              <a:t>Performance drops noticeably in “gotcha” cases, when the pronoun does not match the occupation's historical majority gender</a:t>
            </a:r>
          </a:p>
          <a:p>
            <a:pPr lvl="1"/>
            <a:r>
              <a:rPr lang="en-US" i="0" dirty="0">
                <a:solidFill>
                  <a:schemeClr val="tx1"/>
                </a:solidFill>
                <a:latin typeface="Times New Roman" panose="02020603050405020304" pitchFamily="18" charset="0"/>
                <a:cs typeface="Times New Roman" panose="02020603050405020304" pitchFamily="18" charset="0"/>
              </a:rPr>
              <a:t>e.g., a male nurse.</a:t>
            </a:r>
          </a:p>
        </p:txBody>
      </p:sp>
      <p:pic>
        <p:nvPicPr>
          <p:cNvPr id="7" name="Picture 6">
            <a:extLst>
              <a:ext uri="{FF2B5EF4-FFF2-40B4-BE49-F238E27FC236}">
                <a16:creationId xmlns:a16="http://schemas.microsoft.com/office/drawing/2014/main" id="{60A5D502-EF3B-7459-FADD-36F6DBFDACCB}"/>
              </a:ext>
            </a:extLst>
          </p:cNvPr>
          <p:cNvPicPr>
            <a:picLocks noChangeAspect="1"/>
          </p:cNvPicPr>
          <p:nvPr/>
        </p:nvPicPr>
        <p:blipFill>
          <a:blip r:embed="rId3"/>
          <a:stretch>
            <a:fillRect/>
          </a:stretch>
        </p:blipFill>
        <p:spPr>
          <a:xfrm>
            <a:off x="6699562" y="2216581"/>
            <a:ext cx="4699000" cy="4127500"/>
          </a:xfrm>
          <a:prstGeom prst="rect">
            <a:avLst/>
          </a:prstGeom>
        </p:spPr>
      </p:pic>
    </p:spTree>
    <p:extLst>
      <p:ext uri="{BB962C8B-B14F-4D97-AF65-F5344CB8AC3E}">
        <p14:creationId xmlns:p14="http://schemas.microsoft.com/office/powerpoint/2010/main" val="17131209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65CCD5-6475-7CBD-0E68-E09D3EE017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DB193EE-EAD6-4848-36EA-4CFF4038323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5.4 </a:t>
            </a:r>
            <a:r>
              <a:rPr lang="en-US" b="1" i="0" dirty="0" err="1">
                <a:solidFill>
                  <a:schemeClr val="tx1"/>
                </a:solidFill>
                <a:effectLst/>
                <a:latin typeface="Times New Roman" panose="02020603050405020304" pitchFamily="18" charset="0"/>
                <a:cs typeface="Times New Roman" panose="02020603050405020304" pitchFamily="18" charset="0"/>
              </a:rPr>
              <a:t>TruthfulQA</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40298481-A0E0-C23F-8ACC-700FB14D8DC1}"/>
              </a:ext>
            </a:extLst>
          </p:cNvPr>
          <p:cNvSpPr txBox="1">
            <a:spLocks/>
          </p:cNvSpPr>
          <p:nvPr/>
        </p:nvSpPr>
        <p:spPr>
          <a:xfrm>
            <a:off x="1371599" y="1133856"/>
            <a:ext cx="10340789" cy="1515215"/>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Metric:</a:t>
            </a:r>
            <a:r>
              <a:rPr lang="en-US" dirty="0">
                <a:solidFill>
                  <a:schemeClr val="tx1"/>
                </a:solidFill>
                <a:latin typeface="Times New Roman" panose="02020603050405020304" pitchFamily="18" charset="0"/>
                <a:cs typeface="Times New Roman" panose="02020603050405020304" pitchFamily="18" charset="0"/>
              </a:rPr>
              <a:t> Percentage of:</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a:t>
            </a:r>
            <a:r>
              <a:rPr lang="en-US" i="0" dirty="0">
                <a:solidFill>
                  <a:schemeClr val="tx1"/>
                </a:solidFill>
                <a:latin typeface="Times New Roman" panose="02020603050405020304" pitchFamily="18" charset="0"/>
                <a:cs typeface="Times New Roman" panose="02020603050405020304" pitchFamily="18" charset="0"/>
              </a:rPr>
              <a:t> answers – responses that are factually correct according to reality.</a:t>
            </a:r>
          </a:p>
          <a:p>
            <a:pPr marL="530352" lvl="1" indent="0">
              <a:buNone/>
            </a:pPr>
            <a:r>
              <a:rPr lang="en-US" b="1" i="0" dirty="0">
                <a:solidFill>
                  <a:schemeClr val="tx1"/>
                </a:solidFill>
                <a:latin typeface="Times New Roman" panose="02020603050405020304" pitchFamily="18" charset="0"/>
                <a:cs typeface="Times New Roman" panose="02020603050405020304" pitchFamily="18" charset="0"/>
              </a:rPr>
              <a:t>“Truthful &amp; Informative”</a:t>
            </a:r>
            <a:r>
              <a:rPr lang="en-US" i="0" dirty="0">
                <a:solidFill>
                  <a:schemeClr val="tx1"/>
                </a:solidFill>
                <a:latin typeface="Times New Roman" panose="02020603050405020304" pitchFamily="18" charset="0"/>
                <a:cs typeface="Times New Roman" panose="02020603050405020304" pitchFamily="18" charset="0"/>
              </a:rPr>
              <a:t> answers – also provide useful details to fully answer the question.</a:t>
            </a:r>
          </a:p>
        </p:txBody>
      </p:sp>
      <p:sp>
        <p:nvSpPr>
          <p:cNvPr id="6" name="Content Placeholder 2">
            <a:extLst>
              <a:ext uri="{FF2B5EF4-FFF2-40B4-BE49-F238E27FC236}">
                <a16:creationId xmlns:a16="http://schemas.microsoft.com/office/drawing/2014/main" id="{F3C57722-1D1B-4386-D6B1-2274B1E80696}"/>
              </a:ext>
            </a:extLst>
          </p:cNvPr>
          <p:cNvSpPr txBox="1">
            <a:spLocks/>
          </p:cNvSpPr>
          <p:nvPr/>
        </p:nvSpPr>
        <p:spPr>
          <a:xfrm>
            <a:off x="1371600" y="2438299"/>
            <a:ext cx="5509614" cy="4064000"/>
          </a:xfrm>
          <a:prstGeom prst="rect">
            <a:avLst/>
          </a:prstGeom>
        </p:spPr>
        <p:txBody>
          <a:bodyPr vert="horz" lIns="91440" tIns="45720" rIns="91440" bIns="45720" rtlCol="0">
            <a:norm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a:lnSpc>
                <a:spcPct val="110000"/>
              </a:lnSpc>
            </a:pPr>
            <a:r>
              <a:rPr lang="en-US" b="1" dirty="0">
                <a:solidFill>
                  <a:schemeClr val="tx1"/>
                </a:solidFill>
                <a:latin typeface="Times New Roman" panose="02020603050405020304" pitchFamily="18" charset="0"/>
                <a:cs typeface="Times New Roman" panose="02020603050405020304" pitchFamily="18" charset="0"/>
              </a:rPr>
              <a:t>Settings:</a:t>
            </a:r>
            <a:r>
              <a:rPr lang="en-US" dirty="0">
                <a:solidFill>
                  <a:schemeClr val="tx1"/>
                </a:solidFill>
                <a:latin typeface="Times New Roman" panose="02020603050405020304" pitchFamily="18" charset="0"/>
                <a:cs typeface="Times New Roman" panose="02020603050405020304" pitchFamily="18" charset="0"/>
              </a:rPr>
              <a:t> Zero-shot with adversarial questions across 38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LLaMA scores </a:t>
            </a:r>
            <a:r>
              <a:rPr lang="en-US" b="1" dirty="0">
                <a:solidFill>
                  <a:schemeClr val="tx1"/>
                </a:solidFill>
                <a:latin typeface="Times New Roman" panose="02020603050405020304" pitchFamily="18" charset="0"/>
                <a:cs typeface="Times New Roman" panose="02020603050405020304" pitchFamily="18" charset="0"/>
              </a:rPr>
              <a:t>higher than GPT-3</a:t>
            </a:r>
            <a:r>
              <a:rPr lang="en-US" dirty="0">
                <a:solidFill>
                  <a:schemeClr val="tx1"/>
                </a:solidFill>
                <a:latin typeface="Times New Roman" panose="02020603050405020304" pitchFamily="18" charset="0"/>
                <a:cs typeface="Times New Roman" panose="02020603050405020304" pitchFamily="18" charset="0"/>
              </a:rPr>
              <a:t> in both "Truthful" and "Truthful &amp; Informative" categories.</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Limitations: The absolute rate of correct answers </a:t>
            </a:r>
            <a:r>
              <a:rPr lang="en-US" b="1" dirty="0">
                <a:solidFill>
                  <a:schemeClr val="tx1"/>
                </a:solidFill>
                <a:latin typeface="Times New Roman" panose="02020603050405020304" pitchFamily="18" charset="0"/>
                <a:cs typeface="Times New Roman" panose="02020603050405020304" pitchFamily="18" charset="0"/>
              </a:rPr>
              <a:t>remains low</a:t>
            </a:r>
            <a:r>
              <a:rPr lang="en-US" dirty="0">
                <a:solidFill>
                  <a:schemeClr val="tx1"/>
                </a:solidFill>
                <a:latin typeface="Times New Roman" panose="02020603050405020304" pitchFamily="18" charset="0"/>
                <a:cs typeface="Times New Roman" panose="02020603050405020304" pitchFamily="18" charset="0"/>
              </a:rPr>
              <a:t>.</a:t>
            </a:r>
          </a:p>
          <a:p>
            <a:pPr>
              <a:lnSpc>
                <a:spcPct val="110000"/>
              </a:lnSpc>
            </a:pPr>
            <a:r>
              <a:rPr lang="en-US" dirty="0">
                <a:solidFill>
                  <a:schemeClr val="tx1"/>
                </a:solidFill>
                <a:latin typeface="Times New Roman" panose="02020603050405020304" pitchFamily="18" charset="0"/>
                <a:cs typeface="Times New Roman" panose="02020603050405020304" pitchFamily="18" charset="0"/>
              </a:rPr>
              <a:t>The model is still </a:t>
            </a:r>
            <a:r>
              <a:rPr lang="en-US" b="1" dirty="0">
                <a:solidFill>
                  <a:schemeClr val="tx1"/>
                </a:solidFill>
                <a:latin typeface="Times New Roman" panose="02020603050405020304" pitchFamily="18" charset="0"/>
                <a:cs typeface="Times New Roman" panose="02020603050405020304" pitchFamily="18" charset="0"/>
              </a:rPr>
              <a:t>prone to hallucinating incorrect answers</a:t>
            </a:r>
            <a:r>
              <a:rPr lang="en-US" dirty="0">
                <a:solidFill>
                  <a:schemeClr val="tx1"/>
                </a:solidFill>
                <a:latin typeface="Times New Roman" panose="02020603050405020304" pitchFamily="18" charset="0"/>
                <a:cs typeface="Times New Roman" panose="02020603050405020304" pitchFamily="18" charset="0"/>
              </a:rPr>
              <a:t>, indicating significant room for improvement in handling misinformation.</a:t>
            </a:r>
            <a:endParaRPr lang="en-US" i="0" dirty="0">
              <a:solidFill>
                <a:schemeClr val="tx1"/>
              </a:solidFill>
              <a:latin typeface="Times New Roman" panose="02020603050405020304" pitchFamily="18" charset="0"/>
              <a:cs typeface="Times New Roman" panose="02020603050405020304" pitchFamily="18" charset="0"/>
            </a:endParaRPr>
          </a:p>
        </p:txBody>
      </p:sp>
      <p:pic>
        <p:nvPicPr>
          <p:cNvPr id="4" name="Picture 3">
            <a:extLst>
              <a:ext uri="{FF2B5EF4-FFF2-40B4-BE49-F238E27FC236}">
                <a16:creationId xmlns:a16="http://schemas.microsoft.com/office/drawing/2014/main" id="{42A708A4-CCB2-5A0F-4C0C-2545E9D37FBC}"/>
              </a:ext>
            </a:extLst>
          </p:cNvPr>
          <p:cNvPicPr>
            <a:picLocks noChangeAspect="1"/>
          </p:cNvPicPr>
          <p:nvPr/>
        </p:nvPicPr>
        <p:blipFill>
          <a:blip r:embed="rId2"/>
          <a:stretch>
            <a:fillRect/>
          </a:stretch>
        </p:blipFill>
        <p:spPr>
          <a:xfrm>
            <a:off x="6881214" y="2438299"/>
            <a:ext cx="4635500" cy="4064000"/>
          </a:xfrm>
          <a:prstGeom prst="rect">
            <a:avLst/>
          </a:prstGeom>
        </p:spPr>
      </p:pic>
    </p:spTree>
    <p:extLst>
      <p:ext uri="{BB962C8B-B14F-4D97-AF65-F5344CB8AC3E}">
        <p14:creationId xmlns:p14="http://schemas.microsoft.com/office/powerpoint/2010/main" val="42714133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E8E72-9029-E8BD-2750-9679429950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7E41802-DAEF-6104-FB8F-889EDA1E3629}"/>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79D2742-3BE8-4697-2149-8366A9F87555}"/>
                  </a:ext>
                </a:extLst>
              </p:cNvPr>
              <p:cNvSpPr txBox="1">
                <a:spLocks/>
              </p:cNvSpPr>
              <p:nvPr/>
            </p:nvSpPr>
            <p:spPr>
              <a:xfrm>
                <a:off x="1371600" y="1133856"/>
                <a:ext cx="10320728"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Estimates based on Wu et al. (2022) formulas:</a:t>
                </a:r>
                <a:br>
                  <a:rPr lang="en-US" i="0" dirty="0">
                    <a:solidFill>
                      <a:schemeClr val="tx1"/>
                    </a:solidFill>
                    <a:latin typeface="Times New Roman" panose="02020603050405020304" pitchFamily="18" charset="0"/>
                    <a:cs typeface="Times New Roman" panose="02020603050405020304" pitchFamily="18" charset="0"/>
                  </a:rPr>
                </a:br>
                <a:br>
                  <a:rPr lang="en-US"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a:rPr lang="en-US" b="0" i="1"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br>
                  <a:rPr lang="en-US" i="0" dirty="0">
                    <a:solidFill>
                      <a:schemeClr val="tx1"/>
                    </a:solidFill>
                    <a:latin typeface="Times New Roman" panose="02020603050405020304" pitchFamily="18" charset="0"/>
                    <a:cs typeface="Times New Roman" panose="02020603050405020304" pitchFamily="18" charset="0"/>
                  </a:rPr>
                </a:br>
                <a:br>
                  <a:rPr lang="en-US" i="0" dirty="0">
                    <a:solidFill>
                      <a:schemeClr val="tx1"/>
                    </a:solidFill>
                    <a:latin typeface="Times New Roman" panose="02020603050405020304" pitchFamily="18" charset="0"/>
                    <a:cs typeface="Times New Roman" panose="02020603050405020304" pitchFamily="18" charset="0"/>
                  </a:rPr>
                </a:br>
                <a:r>
                  <a:rPr lang="en-US" i="0"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i="0" smtClean="0">
                        <a:solidFill>
                          <a:schemeClr val="tx1"/>
                        </a:solidFill>
                        <a:latin typeface="Cambria Math" panose="02040503050406030204" pitchFamily="18" charset="0"/>
                        <a:cs typeface="Times New Roman" panose="02020603050405020304" pitchFamily="18" charset="0"/>
                      </a:rPr>
                      <m:t>Wh</m:t>
                    </m:r>
                  </m:oMath>
                </a14:m>
                <a:r>
                  <a:rPr lang="en-US" i="0" dirty="0">
                    <a:solidFill>
                      <a:schemeClr val="tx1"/>
                    </a:solidFill>
                    <a:latin typeface="Times New Roman" panose="02020603050405020304" pitchFamily="18" charset="0"/>
                    <a:cs typeface="Times New Roman" panose="02020603050405020304" pitchFamily="18" charset="0"/>
                  </a:rPr>
                  <a:t> (Watt-hours) is the total energy consumed by the training process.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oMath>
                </a14:m>
                <a:r>
                  <a:rPr lang="en-US" i="0" dirty="0">
                    <a:solidFill>
                      <a:schemeClr val="tx1"/>
                    </a:solidFill>
                    <a:latin typeface="Times New Roman" panose="02020603050405020304" pitchFamily="18" charset="0"/>
                    <a:cs typeface="Times New Roman" panose="02020603050405020304" pitchFamily="18" charset="0"/>
                  </a:rPr>
                  <a:t> (GPU-hours) is the total number of hours the GPUs were running. Calculated by the number of GPUs (2048) times the total training time (approx. 5 months).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oMath>
                </a14:m>
                <a:r>
                  <a:rPr lang="en-US" i="0" dirty="0">
                    <a:solidFill>
                      <a:schemeClr val="tx1"/>
                    </a:solidFill>
                    <a:latin typeface="Times New Roman" panose="02020603050405020304" pitchFamily="18" charset="0"/>
                    <a:cs typeface="Times New Roman" panose="02020603050405020304" pitchFamily="18" charset="0"/>
                  </a:rPr>
                  <a:t> is the amount of power a single A100-80GB GPU uses while running, typically measured in Watts.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r>
                  <a:rPr lang="en-US" i="0" dirty="0">
                    <a:solidFill>
                      <a:schemeClr val="tx1"/>
                    </a:solidFill>
                    <a:latin typeface="Times New Roman" panose="02020603050405020304" pitchFamily="18" charset="0"/>
                    <a:cs typeface="Times New Roman" panose="02020603050405020304" pitchFamily="18" charset="0"/>
                  </a:rPr>
                  <a:t> (Power Usage Effectiveness) is the ratio that measures how efficiently a data center uses energy. A PUE of 1.1 means that for every 1.0 unit of energy used by the computing equipment (GPUs), an additional 0.1 unit is used for cooling and other infrastructure</a:t>
                </a:r>
                <a:r>
                  <a:rPr lang="en-US" dirty="0">
                    <a:solidFill>
                      <a:schemeClr val="tx1"/>
                    </a:solidFill>
                    <a:latin typeface="Times New Roman" panose="02020603050405020304" pitchFamily="18" charset="0"/>
                    <a:cs typeface="Times New Roman" panose="02020603050405020304" pitchFamily="18" charset="0"/>
                  </a:rPr>
                  <a:t>.</a:t>
                </a:r>
              </a:p>
            </p:txBody>
          </p:sp>
        </mc:Choice>
        <mc:Fallback>
          <p:sp>
            <p:nvSpPr>
              <p:cNvPr id="3" name="Content Placeholder 2">
                <a:extLst>
                  <a:ext uri="{FF2B5EF4-FFF2-40B4-BE49-F238E27FC236}">
                    <a16:creationId xmlns:a16="http://schemas.microsoft.com/office/drawing/2014/main" id="{279D2742-3BE8-4697-2149-8366A9F87555}"/>
                  </a:ext>
                </a:extLst>
              </p:cNvPr>
              <p:cNvSpPr txBox="1">
                <a:spLocks noRot="1" noChangeAspect="1" noMove="1" noResize="1" noEditPoints="1" noAdjustHandles="1" noChangeArrowheads="1" noChangeShapeType="1" noTextEdit="1"/>
              </p:cNvSpPr>
              <p:nvPr/>
            </p:nvSpPr>
            <p:spPr>
              <a:xfrm>
                <a:off x="1371600" y="1133856"/>
                <a:ext cx="10320728" cy="5179161"/>
              </a:xfrm>
              <a:prstGeom prst="rect">
                <a:avLst/>
              </a:prstGeom>
              <a:blipFill>
                <a:blip r:embed="rId2"/>
                <a:stretch>
                  <a:fillRect l="-615" t="-978" r="-246"/>
                </a:stretch>
              </a:blipFill>
            </p:spPr>
            <p:txBody>
              <a:bodyPr/>
              <a:lstStyle/>
              <a:p>
                <a:r>
                  <a:rPr lang="en-IL">
                    <a:noFill/>
                  </a:rPr>
                  <a:t> </a:t>
                </a:r>
              </a:p>
            </p:txBody>
          </p:sp>
        </mc:Fallback>
      </mc:AlternateContent>
    </p:spTree>
    <p:extLst>
      <p:ext uri="{BB962C8B-B14F-4D97-AF65-F5344CB8AC3E}">
        <p14:creationId xmlns:p14="http://schemas.microsoft.com/office/powerpoint/2010/main" val="30717681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6F1E38-6B13-5382-1A44-5CEF78B49C3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8281C5-9F37-9D7E-97A3-F65C3D0CF2C7}"/>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(2)</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A12A497-6CF9-1104-28FB-33A8F485C2DD}"/>
                  </a:ext>
                </a:extLst>
              </p:cNvPr>
              <p:cNvSpPr txBox="1">
                <a:spLocks/>
              </p:cNvSpPr>
              <p:nvPr/>
            </p:nvSpPr>
            <p:spPr>
              <a:xfrm>
                <a:off x="1371599" y="1133856"/>
                <a:ext cx="9601200"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br>
                  <a:rPr lang="en-US" i="0" dirty="0">
                    <a:solidFill>
                      <a:schemeClr val="tx1"/>
                    </a:solidFill>
                    <a:latin typeface="Times New Roman" panose="02020603050405020304" pitchFamily="18" charset="0"/>
                    <a:cs typeface="Times New Roman" panose="02020603050405020304" pitchFamily="18" charset="0"/>
                  </a:rPr>
                </a:br>
                <a:endParaRPr lang="en-US"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a:t>
                </a:r>
                <a:br>
                  <a:rPr lang="en-US" i="0" dirty="0">
                    <a:solidFill>
                      <a:schemeClr val="tx1"/>
                    </a:solidFill>
                    <a:latin typeface="Times New Roman" panose="02020603050405020304" pitchFamily="18" charset="0"/>
                    <a:cs typeface="Times New Roman" panose="02020603050405020304" pitchFamily="18" charset="0"/>
                  </a:rPr>
                </a:br>
                <a:br>
                  <a:rPr lang="en-US" i="0" dirty="0">
                    <a:solidFill>
                      <a:schemeClr val="tx1"/>
                    </a:solidFill>
                    <a:latin typeface="Times New Roman" panose="02020603050405020304" pitchFamily="18" charset="0"/>
                    <a:cs typeface="Times New Roman" panose="02020603050405020304" pitchFamily="18" charset="0"/>
                  </a:rPr>
                </a:b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br>
                  <a:rPr lang="en-US" dirty="0">
                    <a:solidFill>
                      <a:schemeClr val="tx1"/>
                    </a:solidFill>
                    <a:latin typeface="Times New Roman" panose="02020603050405020304" pitchFamily="18" charset="0"/>
                    <a:cs typeface="Times New Roman" panose="02020603050405020304" pitchFamily="18" charset="0"/>
                  </a:rPr>
                </a:br>
                <a:r>
                  <a:rPr lang="en-US" dirty="0">
                    <a:solidFill>
                      <a:schemeClr val="tx1"/>
                    </a:solidFill>
                    <a:latin typeface="Times New Roman" panose="02020603050405020304" pitchFamily="18" charset="0"/>
                    <a:cs typeface="Times New Roman" panose="02020603050405020304" pitchFamily="18" charset="0"/>
                  </a:rPr>
                  <a:t>where:</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oMath>
                </a14:m>
                <a:r>
                  <a:rPr lang="en-US" i="0" dirty="0">
                    <a:solidFill>
                      <a:schemeClr val="tx1"/>
                    </a:solidFill>
                    <a:latin typeface="Times New Roman" panose="02020603050405020304" pitchFamily="18" charset="0"/>
                    <a:cs typeface="Times New Roman" panose="02020603050405020304" pitchFamily="18" charset="0"/>
                  </a:rPr>
                  <a:t> is the tons of Carbon Dioxide equivalent, the standard unit for measuring carbon footprints.</a:t>
                </a:r>
              </a:p>
              <a:p>
                <a:pPr lvl="1"/>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Megawatt-hours (1 MWh = 1,000,000 </a:t>
                </a:r>
                <a:r>
                  <a:rPr lang="en-US" i="0" dirty="0" err="1">
                    <a:solidFill>
                      <a:schemeClr val="tx1"/>
                    </a:solidFill>
                    <a:latin typeface="Times New Roman" panose="02020603050405020304" pitchFamily="18" charset="0"/>
                    <a:cs typeface="Times New Roman" panose="02020603050405020304" pitchFamily="18" charset="0"/>
                  </a:rPr>
                  <a:t>Wh</a:t>
                </a:r>
                <a:r>
                  <a:rPr lang="en-US" i="0" dirty="0">
                    <a:solidFill>
                      <a:schemeClr val="tx1"/>
                    </a:solidFill>
                    <a:latin typeface="Times New Roman" panose="02020603050405020304" pitchFamily="18" charset="0"/>
                    <a:cs typeface="Times New Roman" panose="02020603050405020304" pitchFamily="18" charset="0"/>
                  </a:rPr>
                  <a:t>).</a:t>
                </a:r>
              </a:p>
              <a:p>
                <a:pPr lvl="1"/>
                <a14:m>
                  <m:oMath xmlns:m="http://schemas.openxmlformats.org/officeDocument/2006/math">
                    <m:r>
                      <a:rPr lang="en-US" b="0" i="0" smtClean="0">
                        <a:solidFill>
                          <a:schemeClr val="tx1"/>
                        </a:solidFill>
                        <a:latin typeface="Cambria Math" panose="02040503050406030204" pitchFamily="18" charset="0"/>
                        <a:cs typeface="Times New Roman" panose="02020603050405020304" pitchFamily="18" charset="0"/>
                      </a:rPr>
                      <m:t>0.385</m:t>
                    </m:r>
                    <m:r>
                      <a:rPr lang="en-US" b="0" i="1" smtClean="0">
                        <a:solidFill>
                          <a:schemeClr val="tx1"/>
                        </a:solidFill>
                        <a:latin typeface="Cambria Math" panose="02040503050406030204" pitchFamily="18" charset="0"/>
                        <a:cs typeface="Times New Roman" panose="02020603050405020304" pitchFamily="18" charset="0"/>
                      </a:rPr>
                      <m:t> </m:t>
                    </m:r>
                  </m:oMath>
                </a14:m>
                <a:r>
                  <a:rPr lang="en-US" i="0" dirty="0">
                    <a:solidFill>
                      <a:schemeClr val="tx1"/>
                    </a:solidFill>
                    <a:latin typeface="Times New Roman" panose="02020603050405020304" pitchFamily="18" charset="0"/>
                    <a:cs typeface="Times New Roman" panose="02020603050405020304" pitchFamily="18" charset="0"/>
                  </a:rPr>
                  <a:t>is the carbon intensity standardization factor that represents the US national average (</a:t>
                </a:r>
                <a14:m>
                  <m:oMath xmlns:m="http://schemas.openxmlformats.org/officeDocument/2006/math">
                    <m:r>
                      <a:rPr lang="en-US" i="0">
                        <a:solidFill>
                          <a:schemeClr val="tx1"/>
                        </a:solidFill>
                        <a:latin typeface="Cambria Math" panose="02040503050406030204" pitchFamily="18" charset="0"/>
                        <a:cs typeface="Times New Roman" panose="02020603050405020304" pitchFamily="18" charset="0"/>
                      </a:rPr>
                      <m:t>0.385</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kg</m:t>
                    </m:r>
                    <m:r>
                      <a:rPr lang="en-US" b="0" i="0" smtClean="0">
                        <a:solidFill>
                          <a:schemeClr val="tx1"/>
                        </a:solidFill>
                        <a:latin typeface="Cambria Math" panose="02040503050406030204" pitchFamily="18" charset="0"/>
                        <a:cs typeface="Times New Roman" panose="02020603050405020304" pitchFamily="18" charset="0"/>
                      </a:rPr>
                      <m:t> </m:t>
                    </m:r>
                    <m:r>
                      <m:rPr>
                        <m:sty m:val="p"/>
                      </m:rPr>
                      <a:rPr lang="en-US" b="0" i="0" smtClean="0">
                        <a:solidFill>
                          <a:schemeClr val="tx1"/>
                        </a:solidFill>
                        <a:latin typeface="Cambria Math" panose="02040503050406030204" pitchFamily="18" charset="0"/>
                        <a:cs typeface="Times New Roman" panose="02020603050405020304" pitchFamily="18" charset="0"/>
                      </a:rPr>
                      <m: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KWh</m:t>
                    </m:r>
                  </m:oMath>
                </a14:m>
                <a:r>
                  <a:rPr lang="en-US" i="0" dirty="0">
                    <a:solidFill>
                      <a:schemeClr val="tx1"/>
                    </a:solidFill>
                    <a:latin typeface="Times New Roman" panose="02020603050405020304" pitchFamily="18" charset="0"/>
                    <a:cs typeface="Times New Roman" panose="02020603050405020304" pitchFamily="18" charset="0"/>
                  </a:rPr>
                  <a:t>) for how much carbon is emitted to generate one kilowatt-hour of electricity. Using this average allows for a fair comparison between models regardless of the specific "green" or "dirty" energy grid of their actual data center.</a:t>
                </a:r>
              </a:p>
            </p:txBody>
          </p:sp>
        </mc:Choice>
        <mc:Fallback>
          <p:sp>
            <p:nvSpPr>
              <p:cNvPr id="3" name="Content Placeholder 2">
                <a:extLst>
                  <a:ext uri="{FF2B5EF4-FFF2-40B4-BE49-F238E27FC236}">
                    <a16:creationId xmlns:a16="http://schemas.microsoft.com/office/drawing/2014/main" id="{BA12A497-6CF9-1104-28FB-33A8F485C2DD}"/>
                  </a:ext>
                </a:extLst>
              </p:cNvPr>
              <p:cNvSpPr txBox="1">
                <a:spLocks noRot="1" noChangeAspect="1" noMove="1" noResize="1" noEditPoints="1" noAdjustHandles="1" noChangeArrowheads="1" noChangeShapeType="1" noTextEdit="1"/>
              </p:cNvSpPr>
              <p:nvPr/>
            </p:nvSpPr>
            <p:spPr>
              <a:xfrm>
                <a:off x="1371599" y="1133856"/>
                <a:ext cx="9601200" cy="5179161"/>
              </a:xfrm>
              <a:prstGeom prst="rect">
                <a:avLst/>
              </a:prstGeom>
              <a:blipFill>
                <a:blip r:embed="rId2"/>
                <a:stretch>
                  <a:fillRect l="-661" t="-978"/>
                </a:stretch>
              </a:blipFill>
            </p:spPr>
            <p:txBody>
              <a:bodyPr/>
              <a:lstStyle/>
              <a:p>
                <a:r>
                  <a:rPr lang="en-IL">
                    <a:noFill/>
                  </a:rPr>
                  <a:t> </a:t>
                </a:r>
              </a:p>
            </p:txBody>
          </p:sp>
        </mc:Fallback>
      </mc:AlternateContent>
    </p:spTree>
    <p:extLst>
      <p:ext uri="{BB962C8B-B14F-4D97-AF65-F5344CB8AC3E}">
        <p14:creationId xmlns:p14="http://schemas.microsoft.com/office/powerpoint/2010/main" val="5291840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6011E-CD44-4925-FDBF-3269926C89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34DA828-9ACF-3846-1757-36CF827BD123}"/>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(3)</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B98ADCC5-1250-F63D-41B8-0DAF845A4132}"/>
                  </a:ext>
                </a:extLst>
              </p:cNvPr>
              <p:cNvSpPr txBox="1">
                <a:spLocks/>
              </p:cNvSpPr>
              <p:nvPr/>
            </p:nvSpPr>
            <p:spPr>
              <a:xfrm>
                <a:off x="1371600" y="1133856"/>
                <a:ext cx="9601200"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dirty="0" err="1">
                    <a:solidFill>
                      <a:schemeClr val="tx1"/>
                    </a:solidFill>
                    <a:latin typeface="Times New Roman" panose="02020603050405020304" pitchFamily="18" charset="0"/>
                    <a:cs typeface="Times New Roman" panose="02020603050405020304" pitchFamily="18" charset="0"/>
                  </a:rPr>
                  <a:t>LLaMA</a:t>
                </a:r>
                <a:r>
                  <a:rPr lang="en-US" dirty="0">
                    <a:solidFill>
                      <a:schemeClr val="tx1"/>
                    </a:solidFill>
                    <a:latin typeface="Times New Roman" panose="02020603050405020304" pitchFamily="18" charset="0"/>
                    <a:cs typeface="Times New Roman" panose="02020603050405020304" pitchFamily="18" charset="0"/>
                  </a:rPr>
                  <a:t> Training Statistics:</a:t>
                </a:r>
              </a:p>
              <a:p>
                <a:pPr lvl="1"/>
                <a:r>
                  <a:rPr lang="en-US" i="0" dirty="0">
                    <a:solidFill>
                      <a:schemeClr val="tx1"/>
                    </a:solidFill>
                    <a:latin typeface="Times New Roman" panose="02020603050405020304" pitchFamily="18" charset="0"/>
                    <a:cs typeface="Times New Roman" panose="02020603050405020304" pitchFamily="18" charset="0"/>
                  </a:rPr>
                  <a:t>Resources: 2048 A100-80GB GPUs used for approximately 5 months</a:t>
                </a:r>
              </a:p>
              <a:p>
                <a:pPr lvl="1"/>
                <a:r>
                  <a:rPr lang="en-US" i="0" dirty="0">
                    <a:solidFill>
                      <a:schemeClr val="tx1"/>
                    </a:solidFill>
                    <a:latin typeface="Times New Roman" panose="02020603050405020304" pitchFamily="18" charset="0"/>
                    <a:cs typeface="Times New Roman" panose="02020603050405020304" pitchFamily="18" charset="0"/>
                  </a:rPr>
                  <a:t>Total Energy: ~2,638 MWh</a:t>
                </a:r>
              </a:p>
              <a:p>
                <a:pPr lvl="1"/>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p>
              <a:p>
                <a:pPr lvl="1"/>
                <a:endParaRPr lang="en-US" sz="1200" b="1"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In simple words, training all </a:t>
                </a:r>
                <a:r>
                  <a:rPr lang="en-US" i="0" dirty="0" err="1">
                    <a:solidFill>
                      <a:schemeClr val="tx1"/>
                    </a:solidFill>
                    <a:latin typeface="Times New Roman" panose="02020603050405020304" pitchFamily="18" charset="0"/>
                    <a:cs typeface="Times New Roman" panose="02020603050405020304" pitchFamily="18" charset="0"/>
                  </a:rPr>
                  <a:t>LLaMA</a:t>
                </a:r>
                <a:r>
                  <a:rPr lang="en-US" i="0" dirty="0">
                    <a:solidFill>
                      <a:schemeClr val="tx1"/>
                    </a:solidFill>
                    <a:latin typeface="Times New Roman" panose="02020603050405020304" pitchFamily="18" charset="0"/>
                    <a:cs typeface="Times New Roman" panose="02020603050405020304" pitchFamily="18" charset="0"/>
                  </a:rPr>
                  <a:t> models emitted </a:t>
                </a:r>
                <a:r>
                  <a:rPr lang="en-US" b="1" i="0" dirty="0">
                    <a:solidFill>
                      <a:schemeClr val="tx1"/>
                    </a:solidFill>
                    <a:latin typeface="Times New Roman" panose="02020603050405020304" pitchFamily="18" charset="0"/>
                    <a:cs typeface="Times New Roman" panose="02020603050405020304" pitchFamily="18" charset="0"/>
                  </a:rPr>
                  <a:t>1,015 tons of </a:t>
                </a:r>
                <a14:m>
                  <m:oMath xmlns:m="http://schemas.openxmlformats.org/officeDocument/2006/math">
                    <m:r>
                      <a:rPr lang="en-US" b="1" i="0" dirty="0" smtClean="0">
                        <a:solidFill>
                          <a:schemeClr val="tx1"/>
                        </a:solidFill>
                        <a:latin typeface="Cambria Math" panose="02040503050406030204" pitchFamily="18" charset="0"/>
                        <a:cs typeface="Times New Roman" panose="02020603050405020304" pitchFamily="18" charset="0"/>
                      </a:rPr>
                      <m:t>𝐂</m:t>
                    </m:r>
                    <m:sSub>
                      <m:sSubPr>
                        <m:ctrlPr>
                          <a:rPr lang="en-US" b="1" i="1" dirty="0" smtClean="0">
                            <a:solidFill>
                              <a:schemeClr val="tx1"/>
                            </a:solidFill>
                            <a:latin typeface="Cambria Math" panose="02040503050406030204" pitchFamily="18" charset="0"/>
                            <a:cs typeface="Times New Roman" panose="02020603050405020304" pitchFamily="18" charset="0"/>
                          </a:rPr>
                        </m:ctrlPr>
                      </m:sSubPr>
                      <m:e>
                        <m:r>
                          <a:rPr lang="en-US" b="1" i="0" dirty="0" smtClean="0">
                            <a:solidFill>
                              <a:schemeClr val="tx1"/>
                            </a:solidFill>
                            <a:latin typeface="Cambria Math" panose="02040503050406030204" pitchFamily="18" charset="0"/>
                            <a:cs typeface="Times New Roman" panose="02020603050405020304" pitchFamily="18" charset="0"/>
                          </a:rPr>
                          <m:t>𝐎</m:t>
                        </m:r>
                      </m:e>
                      <m:sub>
                        <m:r>
                          <a:rPr lang="en-US" b="1" i="0" dirty="0" smtClean="0">
                            <a:solidFill>
                              <a:schemeClr val="tx1"/>
                            </a:solidFill>
                            <a:latin typeface="Cambria Math" panose="02040503050406030204" pitchFamily="18" charset="0"/>
                            <a:cs typeface="Times New Roman" panose="02020603050405020304" pitchFamily="18" charset="0"/>
                          </a:rPr>
                          <m:t>𝟐</m:t>
                        </m:r>
                      </m:sub>
                    </m:sSub>
                  </m:oMath>
                </a14:m>
                <a:r>
                  <a:rPr lang="en-US" i="0" dirty="0">
                    <a:solidFill>
                      <a:schemeClr val="tx1"/>
                    </a:solidFill>
                    <a:latin typeface="Times New Roman" panose="02020603050405020304" pitchFamily="18" charset="0"/>
                    <a:cs typeface="Times New Roman" panose="02020603050405020304" pitchFamily="18" charset="0"/>
                  </a:rPr>
                  <a:t> </a:t>
                </a:r>
                <a:br>
                  <a:rPr lang="en-US" i="0" dirty="0">
                    <a:solidFill>
                      <a:schemeClr val="tx1"/>
                    </a:solidFill>
                    <a:latin typeface="Times New Roman" panose="02020603050405020304" pitchFamily="18" charset="0"/>
                    <a:cs typeface="Times New Roman" panose="02020603050405020304" pitchFamily="18" charset="0"/>
                  </a:rPr>
                </a:br>
                <a:r>
                  <a:rPr lang="en-US" i="0" dirty="0">
                    <a:solidFill>
                      <a:schemeClr val="tx1"/>
                    </a:solidFill>
                    <a:latin typeface="Times New Roman" panose="02020603050405020304" pitchFamily="18" charset="0"/>
                    <a:cs typeface="Times New Roman" panose="02020603050405020304" pitchFamily="18" charset="0"/>
                  </a:rPr>
                  <a:t>To put it in perspective, it is roughly equivalent to:</a:t>
                </a:r>
                <a:endParaRPr lang="en-US" b="1" i="0" dirty="0">
                  <a:solidFill>
                    <a:schemeClr val="tx1"/>
                  </a:solidFill>
                  <a:latin typeface="Times New Roman" panose="02020603050405020304" pitchFamily="18" charset="0"/>
                  <a:cs typeface="Times New Roman" panose="02020603050405020304" pitchFamily="18" charset="0"/>
                </a:endParaRPr>
              </a:p>
              <a:p>
                <a:pPr lvl="1"/>
                <a:r>
                  <a:rPr lang="en-US" i="0" dirty="0">
                    <a:solidFill>
                      <a:schemeClr val="tx1"/>
                    </a:solidFill>
                    <a:latin typeface="Times New Roman" panose="02020603050405020304" pitchFamily="18" charset="0"/>
                    <a:cs typeface="Times New Roman" panose="02020603050405020304" pitchFamily="18" charset="0"/>
                  </a:rPr>
                  <a:t>The annual emissions of about 220 gas-powered cars.</a:t>
                </a:r>
              </a:p>
              <a:p>
                <a:pPr lvl="1"/>
                <a:r>
                  <a:rPr lang="en-US" i="0" dirty="0">
                    <a:solidFill>
                      <a:schemeClr val="tx1"/>
                    </a:solidFill>
                    <a:latin typeface="Times New Roman" panose="02020603050405020304" pitchFamily="18" charset="0"/>
                    <a:cs typeface="Times New Roman" panose="02020603050405020304" pitchFamily="18" charset="0"/>
                  </a:rPr>
                  <a:t>A round-trip flight between New York and London taken 1,000 times.</a:t>
                </a:r>
              </a:p>
              <a:p>
                <a:pPr lvl="1"/>
                <a:r>
                  <a:rPr lang="en-US" i="0" dirty="0">
                    <a:solidFill>
                      <a:schemeClr val="tx1"/>
                    </a:solidFill>
                    <a:latin typeface="Times New Roman" panose="02020603050405020304" pitchFamily="18" charset="0"/>
                    <a:cs typeface="Times New Roman" panose="02020603050405020304" pitchFamily="18" charset="0"/>
                  </a:rPr>
                  <a:t>The energy used by 125 average homes for an entire year.</a:t>
                </a:r>
              </a:p>
            </p:txBody>
          </p:sp>
        </mc:Choice>
        <mc:Fallback>
          <p:sp>
            <p:nvSpPr>
              <p:cNvPr id="3" name="Content Placeholder 2">
                <a:extLst>
                  <a:ext uri="{FF2B5EF4-FFF2-40B4-BE49-F238E27FC236}">
                    <a16:creationId xmlns:a16="http://schemas.microsoft.com/office/drawing/2014/main" id="{B98ADCC5-1250-F63D-41B8-0DAF845A4132}"/>
                  </a:ext>
                </a:extLst>
              </p:cNvPr>
              <p:cNvSpPr txBox="1">
                <a:spLocks noRot="1" noChangeAspect="1" noMove="1" noResize="1" noEditPoints="1" noAdjustHandles="1" noChangeArrowheads="1" noChangeShapeType="1" noTextEdit="1"/>
              </p:cNvSpPr>
              <p:nvPr/>
            </p:nvSpPr>
            <p:spPr>
              <a:xfrm>
                <a:off x="1371600" y="1133856"/>
                <a:ext cx="9601200" cy="5179161"/>
              </a:xfrm>
              <a:prstGeom prst="rect">
                <a:avLst/>
              </a:prstGeom>
              <a:blipFill>
                <a:blip r:embed="rId2"/>
                <a:stretch>
                  <a:fillRect l="-661" t="-978" b="-1467"/>
                </a:stretch>
              </a:blipFill>
            </p:spPr>
            <p:txBody>
              <a:bodyPr/>
              <a:lstStyle/>
              <a:p>
                <a:r>
                  <a:rPr lang="en-IL">
                    <a:noFill/>
                  </a:rPr>
                  <a:t> </a:t>
                </a:r>
              </a:p>
            </p:txBody>
          </p:sp>
        </mc:Fallback>
      </mc:AlternateContent>
    </p:spTree>
    <p:extLst>
      <p:ext uri="{BB962C8B-B14F-4D97-AF65-F5344CB8AC3E}">
        <p14:creationId xmlns:p14="http://schemas.microsoft.com/office/powerpoint/2010/main" val="40686343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AB143-2F7B-2F8F-D714-B2FAA4B8EE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9EBF2B-797F-0311-B836-06EAAB9A54FA}"/>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(4)</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C1B95D5-5209-A71E-B25A-F9DA49D7C13C}"/>
                  </a:ext>
                </a:extLst>
              </p:cNvPr>
              <p:cNvSpPr txBox="1">
                <a:spLocks/>
              </p:cNvSpPr>
              <p:nvPr/>
            </p:nvSpPr>
            <p:spPr>
              <a:xfrm>
                <a:off x="1371600" y="1133856"/>
                <a:ext cx="10320728"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endParaRPr lang="en-US" b="0" i="0" dirty="0">
                  <a:solidFill>
                    <a:schemeClr val="tx1"/>
                  </a:solidFill>
                  <a:latin typeface="Times New Roman" panose="02020603050405020304" pitchFamily="18" charset="0"/>
                  <a:cs typeface="Times New Roman" panose="02020603050405020304" pitchFamily="18" charset="0"/>
                </a:endParaRPr>
              </a:p>
              <a:p>
                <a:endParaRPr lang="en-US" sz="12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p>
              <a:p>
                <a:pPr lvl="1"/>
                <a:endParaRPr lang="en-US" sz="1200" b="1"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Environmental Impact:</a:t>
                </a:r>
                <a:endParaRPr lang="en-US" sz="1200" i="0" dirty="0">
                  <a:solidFill>
                    <a:schemeClr val="tx1"/>
                  </a:solidFill>
                  <a:latin typeface="Times New Roman" panose="02020603050405020304" pitchFamily="18" charset="0"/>
                  <a:cs typeface="Times New Roman" panose="02020603050405020304" pitchFamily="18" charset="0"/>
                </a:endParaRPr>
              </a:p>
              <a:p>
                <a:pPr lvl="1"/>
                <a:r>
                  <a:rPr lang="en-US" i="0" u="sng" dirty="0">
                    <a:solidFill>
                      <a:schemeClr val="tx1"/>
                    </a:solidFill>
                    <a:latin typeface="Times New Roman" panose="02020603050405020304" pitchFamily="18" charset="0"/>
                    <a:cs typeface="Times New Roman" panose="02020603050405020304" pitchFamily="18" charset="0"/>
                  </a:rPr>
                  <a:t>Open Science</a:t>
                </a:r>
                <a:r>
                  <a:rPr lang="en-US" i="0" dirty="0">
                    <a:solidFill>
                      <a:schemeClr val="tx1"/>
                    </a:solidFill>
                    <a:latin typeface="Times New Roman" panose="02020603050405020304" pitchFamily="18" charset="0"/>
                    <a:cs typeface="Times New Roman" panose="02020603050405020304" pitchFamily="18" charset="0"/>
                  </a:rPr>
                  <a:t>: Releasing these models is intended to reduce future emissions by preventing the need for the community to retrain similar models from scratch.</a:t>
                </a:r>
              </a:p>
              <a:p>
                <a:pPr lvl="1"/>
                <a:r>
                  <a:rPr lang="en-US" i="0" u="sng" dirty="0">
                    <a:solidFill>
                      <a:schemeClr val="tx1"/>
                    </a:solidFill>
                    <a:latin typeface="Times New Roman" panose="02020603050405020304" pitchFamily="18" charset="0"/>
                    <a:cs typeface="Times New Roman" panose="02020603050405020304" pitchFamily="18" charset="0"/>
                  </a:rPr>
                  <a:t>Accessibility</a:t>
                </a:r>
                <a:r>
                  <a:rPr lang="en-US" i="0" dirty="0">
                    <a:solidFill>
                      <a:schemeClr val="tx1"/>
                    </a:solidFill>
                    <a:latin typeface="Times New Roman" panose="02020603050405020304" pitchFamily="18" charset="0"/>
                    <a:cs typeface="Times New Roman" panose="02020603050405020304" pitchFamily="18" charset="0"/>
                  </a:rPr>
                  <a:t>: The smaller </a:t>
                </a:r>
                <a:r>
                  <a:rPr lang="en-US" i="0" dirty="0" err="1">
                    <a:solidFill>
                      <a:schemeClr val="tx1"/>
                    </a:solidFill>
                    <a:latin typeface="Times New Roman" panose="02020603050405020304" pitchFamily="18" charset="0"/>
                    <a:cs typeface="Times New Roman" panose="02020603050405020304" pitchFamily="18" charset="0"/>
                  </a:rPr>
                  <a:t>LLaMA</a:t>
                </a:r>
                <a:r>
                  <a:rPr lang="en-US" i="0" dirty="0">
                    <a:solidFill>
                      <a:schemeClr val="tx1"/>
                    </a:solidFill>
                    <a:latin typeface="Times New Roman" panose="02020603050405020304" pitchFamily="18" charset="0"/>
                    <a:cs typeface="Times New Roman" panose="02020603050405020304" pitchFamily="18" charset="0"/>
                  </a:rPr>
                  <a:t> models are designed to run on a single GPU, significantly lowering the energy barrier for research and inference.</a:t>
                </a:r>
              </a:p>
              <a:p>
                <a:pPr lvl="1"/>
                <a:endParaRPr lang="en-US" i="0" dirty="0">
                  <a:solidFill>
                    <a:schemeClr val="tx1"/>
                  </a:solidFill>
                  <a:latin typeface="Times New Roman" panose="02020603050405020304" pitchFamily="18" charset="0"/>
                  <a:cs typeface="Times New Roman" panose="02020603050405020304" pitchFamily="18" charset="0"/>
                </a:endParaRPr>
              </a:p>
              <a:p>
                <a:pPr lvl="1"/>
                <a:endParaRPr lang="en-US" i="0" dirty="0">
                  <a:solidFill>
                    <a:schemeClr val="tx1"/>
                  </a:solidFill>
                  <a:latin typeface="Times New Roman" panose="02020603050405020304" pitchFamily="18" charset="0"/>
                  <a:cs typeface="Times New Roman" panose="02020603050405020304" pitchFamily="18" charset="0"/>
                </a:endParaRPr>
              </a:p>
            </p:txBody>
          </p:sp>
        </mc:Choice>
        <mc:Fallback>
          <p:sp>
            <p:nvSpPr>
              <p:cNvPr id="3" name="Content Placeholder 2">
                <a:extLst>
                  <a:ext uri="{FF2B5EF4-FFF2-40B4-BE49-F238E27FC236}">
                    <a16:creationId xmlns:a16="http://schemas.microsoft.com/office/drawing/2014/main" id="{7C1B95D5-5209-A71E-B25A-F9DA49D7C13C}"/>
                  </a:ext>
                </a:extLst>
              </p:cNvPr>
              <p:cNvSpPr txBox="1">
                <a:spLocks noRot="1" noChangeAspect="1" noMove="1" noResize="1" noEditPoints="1" noAdjustHandles="1" noChangeArrowheads="1" noChangeShapeType="1" noTextEdit="1"/>
              </p:cNvSpPr>
              <p:nvPr/>
            </p:nvSpPr>
            <p:spPr>
              <a:xfrm>
                <a:off x="1371600" y="1133856"/>
                <a:ext cx="10320728" cy="5179161"/>
              </a:xfrm>
              <a:prstGeom prst="rect">
                <a:avLst/>
              </a:prstGeom>
              <a:blipFill>
                <a:blip r:embed="rId2"/>
                <a:stretch>
                  <a:fillRect l="-615" t="-978"/>
                </a:stretch>
              </a:blipFill>
            </p:spPr>
            <p:txBody>
              <a:bodyPr/>
              <a:lstStyle/>
              <a:p>
                <a:r>
                  <a:rPr lang="en-IL">
                    <a:noFill/>
                  </a:rPr>
                  <a:t> </a:t>
                </a:r>
              </a:p>
            </p:txBody>
          </p:sp>
        </mc:Fallback>
      </mc:AlternateContent>
    </p:spTree>
    <p:extLst>
      <p:ext uri="{BB962C8B-B14F-4D97-AF65-F5344CB8AC3E}">
        <p14:creationId xmlns:p14="http://schemas.microsoft.com/office/powerpoint/2010/main" val="36980071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EE504-06A7-96EC-5DD2-33E26C8D2C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63298B-CA43-3F32-EC08-43EEED771F32}"/>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6 Carbon Footprint </a:t>
            </a:r>
            <a:r>
              <a:rPr lang="en-US" sz="3300" b="1" i="0" dirty="0">
                <a:solidFill>
                  <a:schemeClr val="tx1"/>
                </a:solidFill>
                <a:effectLst/>
                <a:latin typeface="Times New Roman" panose="02020603050405020304" pitchFamily="18" charset="0"/>
                <a:cs typeface="Times New Roman" panose="02020603050405020304" pitchFamily="18" charset="0"/>
              </a:rPr>
              <a:t>(5)</a:t>
            </a:r>
            <a:br>
              <a:rPr lang="en-US" b="1" i="0" dirty="0">
                <a:solidFill>
                  <a:schemeClr val="tx1"/>
                </a:solidFill>
                <a:effectLst/>
                <a:latin typeface="Times New Roman" panose="02020603050405020304" pitchFamily="18" charset="0"/>
                <a:cs typeface="Times New Roman" panose="02020603050405020304" pitchFamily="18" charset="0"/>
              </a:rPr>
            </a:b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CD259F-5FC3-0B12-2C50-F3FC5CB35B7D}"/>
                  </a:ext>
                </a:extLst>
              </p:cNvPr>
              <p:cNvSpPr txBox="1">
                <a:spLocks/>
              </p:cNvSpPr>
              <p:nvPr/>
            </p:nvSpPr>
            <p:spPr>
              <a:xfrm>
                <a:off x="1371600" y="1133856"/>
                <a:ext cx="10320728" cy="5179161"/>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i="0" dirty="0">
                    <a:solidFill>
                      <a:schemeClr val="tx1"/>
                    </a:solidFill>
                    <a:latin typeface="Times New Roman" panose="02020603050405020304" pitchFamily="18" charset="0"/>
                    <a:cs typeface="Times New Roman" panose="02020603050405020304" pitchFamily="18" charset="0"/>
                  </a:rPr>
                  <a:t>Watt-hour estimation: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Wh</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h</m:t>
                    </m:r>
                    <m:r>
                      <a:rPr lang="en-US" b="0" i="0" smtClean="0">
                        <a:solidFill>
                          <a:schemeClr val="tx1"/>
                        </a:solidFill>
                        <a:latin typeface="Cambria Math" panose="02040503050406030204" pitchFamily="18" charset="0"/>
                        <a:cs typeface="Times New Roman" panose="02020603050405020304" pitchFamily="18" charset="0"/>
                      </a:rPr>
                      <m:t>×</m:t>
                    </m:r>
                    <m:d>
                      <m:dPr>
                        <m:ctrlPr>
                          <a:rPr lang="en-US" b="0" i="1" smtClean="0">
                            <a:solidFill>
                              <a:schemeClr val="tx1"/>
                            </a:solidFill>
                            <a:latin typeface="Cambria Math" panose="02040503050406030204" pitchFamily="18" charset="0"/>
                            <a:cs typeface="Times New Roman" panose="02020603050405020304" pitchFamily="18" charset="0"/>
                          </a:rPr>
                        </m:ctrlPr>
                      </m:dPr>
                      <m:e>
                        <m:r>
                          <m:rPr>
                            <m:sty m:val="p"/>
                          </m:rPr>
                          <a:rPr lang="en-US" b="0" i="0" smtClean="0">
                            <a:solidFill>
                              <a:schemeClr val="tx1"/>
                            </a:solidFill>
                            <a:latin typeface="Cambria Math" panose="02040503050406030204" pitchFamily="18" charset="0"/>
                            <a:cs typeface="Times New Roman" panose="02020603050405020304" pitchFamily="18" charset="0"/>
                          </a:rPr>
                          <m:t>GPU</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power</m:t>
                        </m:r>
                        <m:r>
                          <m:rPr>
                            <m:nor/>
                          </m:rP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conssumption</m:t>
                        </m:r>
                      </m:e>
                    </m:d>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PUE</m:t>
                    </m:r>
                  </m:oMath>
                </a14:m>
                <a:endParaRPr lang="en-US" sz="5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Carbon emission conversion: </a:t>
                </a:r>
                <a14:m>
                  <m:oMath xmlns:m="http://schemas.openxmlformats.org/officeDocument/2006/math">
                    <m:r>
                      <m:rPr>
                        <m:sty m:val="p"/>
                      </m:rPr>
                      <a:rPr lang="en-US" b="0" i="0" smtClean="0">
                        <a:solidFill>
                          <a:schemeClr val="tx1"/>
                        </a:solidFill>
                        <a:latin typeface="Cambria Math" panose="02040503050406030204" pitchFamily="18" charset="0"/>
                        <a:cs typeface="Times New Roman" panose="02020603050405020304" pitchFamily="18" charset="0"/>
                      </a:rPr>
                      <m:t>tC</m:t>
                    </m:r>
                    <m:sSub>
                      <m:sSubPr>
                        <m:ctrlPr>
                          <a:rPr lang="en-US" b="0" i="1" smtClean="0">
                            <a:solidFill>
                              <a:schemeClr val="tx1"/>
                            </a:solidFill>
                            <a:latin typeface="Cambria Math" panose="02040503050406030204" pitchFamily="18" charset="0"/>
                            <a:cs typeface="Times New Roman" panose="02020603050405020304" pitchFamily="18" charset="0"/>
                          </a:rPr>
                        </m:ctrlPr>
                      </m:sSubPr>
                      <m:e>
                        <m:r>
                          <m:rPr>
                            <m:sty m:val="p"/>
                          </m:rPr>
                          <a:rPr lang="en-US" b="0" i="0" smtClean="0">
                            <a:solidFill>
                              <a:schemeClr val="tx1"/>
                            </a:solidFill>
                            <a:latin typeface="Cambria Math" panose="02040503050406030204" pitchFamily="18" charset="0"/>
                            <a:cs typeface="Times New Roman" panose="02020603050405020304" pitchFamily="18" charset="0"/>
                          </a:rPr>
                          <m:t>O</m:t>
                        </m:r>
                      </m:e>
                      <m:sub>
                        <m:r>
                          <a:rPr lang="en-US" b="0" i="0" smtClean="0">
                            <a:solidFill>
                              <a:schemeClr val="tx1"/>
                            </a:solidFill>
                            <a:latin typeface="Cambria Math" panose="02040503050406030204" pitchFamily="18" charset="0"/>
                            <a:cs typeface="Times New Roman" panose="02020603050405020304" pitchFamily="18" charset="0"/>
                          </a:rPr>
                          <m:t>2</m:t>
                        </m:r>
                      </m:sub>
                    </m:sSub>
                    <m:r>
                      <m:rPr>
                        <m:sty m:val="p"/>
                      </m:rPr>
                      <a:rPr lang="en-US" b="0" i="0" smtClean="0">
                        <a:solidFill>
                          <a:schemeClr val="tx1"/>
                        </a:solidFill>
                        <a:latin typeface="Cambria Math" panose="02040503050406030204" pitchFamily="18" charset="0"/>
                        <a:cs typeface="Times New Roman" panose="02020603050405020304" pitchFamily="18" charset="0"/>
                      </a:rPr>
                      <m:t>eq</m:t>
                    </m:r>
                    <m:r>
                      <a:rPr lang="en-US" b="0" i="0" smtClean="0">
                        <a:solidFill>
                          <a:schemeClr val="tx1"/>
                        </a:solidFill>
                        <a:latin typeface="Cambria Math" panose="02040503050406030204" pitchFamily="18" charset="0"/>
                        <a:cs typeface="Times New Roman" panose="02020603050405020304" pitchFamily="18" charset="0"/>
                      </a:rPr>
                      <m:t>=</m:t>
                    </m:r>
                    <m:r>
                      <m:rPr>
                        <m:sty m:val="p"/>
                      </m:rPr>
                      <a:rPr lang="en-US" b="0" i="0" smtClean="0">
                        <a:solidFill>
                          <a:schemeClr val="tx1"/>
                        </a:solidFill>
                        <a:latin typeface="Cambria Math" panose="02040503050406030204" pitchFamily="18" charset="0"/>
                        <a:cs typeface="Times New Roman" panose="02020603050405020304" pitchFamily="18" charset="0"/>
                      </a:rPr>
                      <m:t>MWh</m:t>
                    </m:r>
                    <m:r>
                      <a:rPr lang="en-US" b="0" i="0" smtClean="0">
                        <a:solidFill>
                          <a:schemeClr val="tx1"/>
                        </a:solidFill>
                        <a:latin typeface="Cambria Math" panose="02040503050406030204" pitchFamily="18" charset="0"/>
                        <a:cs typeface="Times New Roman" panose="02020603050405020304" pitchFamily="18" charset="0"/>
                      </a:rPr>
                      <m:t>×0.385</m:t>
                    </m:r>
                  </m:oMath>
                </a14:m>
                <a:endParaRPr lang="en-US" sz="500"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Total Emissions: </a:t>
                </a:r>
                <a:r>
                  <a:rPr lang="en-US" b="1" i="0" dirty="0">
                    <a:solidFill>
                      <a:schemeClr val="tx1"/>
                    </a:solidFill>
                    <a:latin typeface="Times New Roman" panose="02020603050405020304" pitchFamily="18" charset="0"/>
                    <a:cs typeface="Times New Roman" panose="02020603050405020304" pitchFamily="18" charset="0"/>
                  </a:rPr>
                  <a:t>~1,015 tCO2eq</a:t>
                </a:r>
                <a:endParaRPr lang="en-US" sz="500" b="1" i="0" dirty="0">
                  <a:solidFill>
                    <a:schemeClr val="tx1"/>
                  </a:solidFill>
                  <a:latin typeface="Times New Roman" panose="02020603050405020304" pitchFamily="18" charset="0"/>
                  <a:cs typeface="Times New Roman" panose="02020603050405020304" pitchFamily="18" charset="0"/>
                </a:endParaRPr>
              </a:p>
              <a:p>
                <a:r>
                  <a:rPr lang="en-US" i="0" dirty="0">
                    <a:solidFill>
                      <a:schemeClr val="tx1"/>
                    </a:solidFill>
                    <a:latin typeface="Times New Roman" panose="02020603050405020304" pitchFamily="18" charset="0"/>
                    <a:cs typeface="Times New Roman" panose="02020603050405020304" pitchFamily="18" charset="0"/>
                  </a:rPr>
                  <a:t>Releasing these is reducing emissions; The smaller </a:t>
                </a:r>
                <a:r>
                  <a:rPr lang="en-US" i="0" dirty="0" err="1">
                    <a:solidFill>
                      <a:schemeClr val="tx1"/>
                    </a:solidFill>
                    <a:latin typeface="Times New Roman" panose="02020603050405020304" pitchFamily="18" charset="0"/>
                    <a:cs typeface="Times New Roman" panose="02020603050405020304" pitchFamily="18" charset="0"/>
                  </a:rPr>
                  <a:t>LLaMA</a:t>
                </a:r>
                <a:r>
                  <a:rPr lang="en-US" i="0" dirty="0">
                    <a:solidFill>
                      <a:schemeClr val="tx1"/>
                    </a:solidFill>
                    <a:latin typeface="Times New Roman" panose="02020603050405020304" pitchFamily="18" charset="0"/>
                    <a:cs typeface="Times New Roman" panose="02020603050405020304" pitchFamily="18" charset="0"/>
                  </a:rPr>
                  <a:t> models can run on a single GPU</a:t>
                </a:r>
              </a:p>
              <a:p>
                <a:pPr lvl="1"/>
                <a:endParaRPr lang="en-US" i="0" dirty="0">
                  <a:solidFill>
                    <a:schemeClr val="tx1"/>
                  </a:solidFill>
                  <a:latin typeface="Times New Roman" panose="02020603050405020304" pitchFamily="18" charset="0"/>
                  <a:cs typeface="Times New Roman" panose="02020603050405020304" pitchFamily="18" charset="0"/>
                </a:endParaRPr>
              </a:p>
              <a:p>
                <a:pPr lvl="1"/>
                <a:endParaRPr lang="en-US" i="0" dirty="0">
                  <a:solidFill>
                    <a:schemeClr val="tx1"/>
                  </a:solidFill>
                  <a:latin typeface="Times New Roman" panose="02020603050405020304" pitchFamily="18" charset="0"/>
                  <a:cs typeface="Times New Roman" panose="02020603050405020304" pitchFamily="18" charset="0"/>
                </a:endParaRPr>
              </a:p>
            </p:txBody>
          </p:sp>
        </mc:Choice>
        <mc:Fallback xmlns="">
          <p:sp>
            <p:nvSpPr>
              <p:cNvPr id="3" name="Content Placeholder 2">
                <a:extLst>
                  <a:ext uri="{FF2B5EF4-FFF2-40B4-BE49-F238E27FC236}">
                    <a16:creationId xmlns:a16="http://schemas.microsoft.com/office/drawing/2014/main" id="{86CD259F-5FC3-0B12-2C50-F3FC5CB35B7D}"/>
                  </a:ext>
                </a:extLst>
              </p:cNvPr>
              <p:cNvSpPr txBox="1">
                <a:spLocks noRot="1" noChangeAspect="1" noMove="1" noResize="1" noEditPoints="1" noAdjustHandles="1" noChangeArrowheads="1" noChangeShapeType="1" noTextEdit="1"/>
              </p:cNvSpPr>
              <p:nvPr/>
            </p:nvSpPr>
            <p:spPr>
              <a:xfrm>
                <a:off x="1371600" y="1133856"/>
                <a:ext cx="10320728" cy="5179161"/>
              </a:xfrm>
              <a:prstGeom prst="rect">
                <a:avLst/>
              </a:prstGeom>
              <a:blipFill>
                <a:blip r:embed="rId2"/>
                <a:stretch>
                  <a:fillRect l="-615" t="-978"/>
                </a:stretch>
              </a:blipFill>
            </p:spPr>
            <p:txBody>
              <a:bodyPr/>
              <a:lstStyle/>
              <a:p>
                <a:r>
                  <a:rPr lang="en-IL">
                    <a:noFill/>
                  </a:rPr>
                  <a:t> </a:t>
                </a:r>
              </a:p>
            </p:txBody>
          </p:sp>
        </mc:Fallback>
      </mc:AlternateContent>
      <p:pic>
        <p:nvPicPr>
          <p:cNvPr id="4" name="Picture 3">
            <a:extLst>
              <a:ext uri="{FF2B5EF4-FFF2-40B4-BE49-F238E27FC236}">
                <a16:creationId xmlns:a16="http://schemas.microsoft.com/office/drawing/2014/main" id="{C8041323-3B7E-B359-7753-1E160AC93BFC}"/>
              </a:ext>
            </a:extLst>
          </p:cNvPr>
          <p:cNvPicPr>
            <a:picLocks noChangeAspect="1"/>
          </p:cNvPicPr>
          <p:nvPr/>
        </p:nvPicPr>
        <p:blipFill>
          <a:blip r:embed="rId3"/>
          <a:srcRect t="3293"/>
          <a:stretch/>
        </p:blipFill>
        <p:spPr>
          <a:xfrm>
            <a:off x="2019513" y="2981158"/>
            <a:ext cx="8800887" cy="3449817"/>
          </a:xfrm>
          <a:prstGeom prst="rect">
            <a:avLst/>
          </a:prstGeom>
        </p:spPr>
      </p:pic>
    </p:spTree>
    <p:extLst>
      <p:ext uri="{BB962C8B-B14F-4D97-AF65-F5344CB8AC3E}">
        <p14:creationId xmlns:p14="http://schemas.microsoft.com/office/powerpoint/2010/main" val="399409051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764DC-737A-02FF-68AC-47533A6444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FDCDFE-7AE3-DB32-7B3D-189CD47EE874}"/>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Related Work</a:t>
            </a:r>
            <a:endParaRPr lang="en-IL" sz="4000" dirty="0">
              <a:latin typeface="Times New Roman" panose="02020603050405020304" pitchFamily="18" charset="0"/>
              <a:cs typeface="Times New Roman" panose="02020603050405020304" pitchFamily="18" charset="0"/>
            </a:endParaRPr>
          </a:p>
        </p:txBody>
      </p:sp>
      <p:pic>
        <p:nvPicPr>
          <p:cNvPr id="4098" name="Picture 2">
            <a:extLst>
              <a:ext uri="{FF2B5EF4-FFF2-40B4-BE49-F238E27FC236}">
                <a16:creationId xmlns:a16="http://schemas.microsoft.com/office/drawing/2014/main" id="{D8B74DB0-C981-6691-8720-CF86C462A131}"/>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5605373" y="4247483"/>
            <a:ext cx="2772478" cy="277247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7916126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E1D5F-4ACE-143C-1DE9-60B30B9F77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16633A-A5A4-A907-5315-4A3E4A46A27A}"/>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7 Related Work</a:t>
            </a:r>
            <a:endParaRPr lang="en-IL" dirty="0">
              <a:solidFill>
                <a:schemeClr val="tx1"/>
              </a:solidFill>
              <a:latin typeface="Times New Roman" panose="02020603050405020304" pitchFamily="18" charset="0"/>
              <a:cs typeface="Times New Roman" panose="02020603050405020304" pitchFamily="18" charset="0"/>
            </a:endParaRP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ABA5A4F-BBFB-76EA-771C-0A5705DC2163}"/>
                  </a:ext>
                </a:extLst>
              </p:cNvPr>
              <p:cNvSpPr txBox="1">
                <a:spLocks/>
              </p:cNvSpPr>
              <p:nvPr/>
            </p:nvSpPr>
            <p:spPr>
              <a:xfrm>
                <a:off x="1371600" y="1133856"/>
                <a:ext cx="10320728" cy="5724144"/>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r>
                  <a:rPr lang="en-US" b="1" dirty="0">
                    <a:solidFill>
                      <a:schemeClr val="tx1"/>
                    </a:solidFill>
                    <a:latin typeface="Times New Roman" panose="02020603050405020304" pitchFamily="18" charset="0"/>
                    <a:cs typeface="Times New Roman" panose="02020603050405020304" pitchFamily="18" charset="0"/>
                  </a:rPr>
                  <a:t>Language Models</a:t>
                </a:r>
              </a:p>
              <a:p>
                <a:pPr lvl="1"/>
                <a:r>
                  <a:rPr lang="en-US" sz="1800" i="0" dirty="0">
                    <a:solidFill>
                      <a:schemeClr val="tx1"/>
                    </a:solidFill>
                    <a:latin typeface="Times New Roman" panose="02020603050405020304" pitchFamily="18" charset="0"/>
                    <a:cs typeface="Times New Roman" panose="02020603050405020304" pitchFamily="18" charset="0"/>
                  </a:rPr>
                  <a:t>Language modeling is defined as probability distributions over sequences (Shannon, 1948).</a:t>
                </a:r>
              </a:p>
              <a:p>
                <a:pPr lvl="1"/>
                <a:r>
                  <a:rPr lang="en-US" sz="1800" i="0" dirty="0">
                    <a:solidFill>
                      <a:schemeClr val="tx1"/>
                    </a:solidFill>
                    <a:latin typeface="Times New Roman" panose="02020603050405020304" pitchFamily="18" charset="0"/>
                    <a:cs typeface="Times New Roman" panose="02020603050405020304" pitchFamily="18" charset="0"/>
                  </a:rPr>
                  <a:t>Framed as “next token prediction”, it serves as a core benchmark for measuring progress toward AI.</a:t>
                </a:r>
              </a:p>
              <a:p>
                <a:r>
                  <a:rPr lang="en-US" b="1" dirty="0">
                    <a:solidFill>
                      <a:schemeClr val="tx1"/>
                    </a:solidFill>
                    <a:latin typeface="Times New Roman" panose="02020603050405020304" pitchFamily="18" charset="0"/>
                    <a:cs typeface="Times New Roman" panose="02020603050405020304" pitchFamily="18" charset="0"/>
                  </a:rPr>
                  <a:t>Architecture</a:t>
                </a:r>
                <a:endParaRPr lang="en-US" dirty="0">
                  <a:solidFill>
                    <a:schemeClr val="tx1"/>
                  </a:solidFill>
                  <a:latin typeface="Times New Roman" panose="02020603050405020304" pitchFamily="18" charset="0"/>
                  <a:cs typeface="Times New Roman" panose="02020603050405020304" pitchFamily="18" charset="0"/>
                </a:endParaRPr>
              </a:p>
              <a:p>
                <a:pPr lvl="1"/>
                <a:r>
                  <a:rPr lang="en-US" sz="1800" i="0" dirty="0">
                    <a:solidFill>
                      <a:schemeClr val="tx1"/>
                    </a:solidFill>
                    <a:latin typeface="Times New Roman" panose="02020603050405020304" pitchFamily="18" charset="0"/>
                    <a:cs typeface="Times New Roman" panose="02020603050405020304" pitchFamily="18" charset="0"/>
                  </a:rPr>
                  <a:t>The architecture of language models has evolved from traditional statistical </a:t>
                </a:r>
                <a14:m>
                  <m:oMath xmlns:m="http://schemas.openxmlformats.org/officeDocument/2006/math">
                    <m:r>
                      <a:rPr lang="en-US" sz="1800" i="1" dirty="0" smtClean="0">
                        <a:solidFill>
                          <a:schemeClr val="tx1"/>
                        </a:solidFill>
                        <a:latin typeface="Cambria Math" panose="02040503050406030204" pitchFamily="18" charset="0"/>
                        <a:cs typeface="Times New Roman" panose="02020603050405020304" pitchFamily="18" charset="0"/>
                      </a:rPr>
                      <m:t>𝑛</m:t>
                    </m:r>
                  </m:oMath>
                </a14:m>
                <a:r>
                  <a:rPr lang="en-US" sz="1800" i="0" dirty="0">
                    <a:solidFill>
                      <a:schemeClr val="tx1"/>
                    </a:solidFill>
                    <a:latin typeface="Times New Roman" panose="02020603050405020304" pitchFamily="18" charset="0"/>
                    <a:cs typeface="Times New Roman" panose="02020603050405020304" pitchFamily="18" charset="0"/>
                  </a:rPr>
                  <a:t>-gram methods to advanced neural networks.</a:t>
                </a:r>
              </a:p>
              <a:p>
                <a:pPr lvl="1"/>
                <a:r>
                  <a:rPr lang="en-US" sz="1800" i="0" dirty="0">
                    <a:solidFill>
                      <a:schemeClr val="tx1"/>
                    </a:solidFill>
                    <a:latin typeface="Times New Roman" panose="02020603050405020304" pitchFamily="18" charset="0"/>
                    <a:cs typeface="Times New Roman" panose="02020603050405020304" pitchFamily="18" charset="0"/>
                  </a:rPr>
                  <a:t>This progression moved through feed-forward models and RNNs/LSTMs before culminating in the Transformer architecture.</a:t>
                </a:r>
              </a:p>
              <a:p>
                <a:pPr lvl="1"/>
                <a:r>
                  <a:rPr lang="en-US" sz="1800" i="0" dirty="0">
                    <a:solidFill>
                      <a:schemeClr val="tx1"/>
                    </a:solidFill>
                    <a:latin typeface="Times New Roman" panose="02020603050405020304" pitchFamily="18" charset="0"/>
                    <a:cs typeface="Times New Roman" panose="02020603050405020304" pitchFamily="18" charset="0"/>
                  </a:rPr>
                  <a:t>By leveraging self-attention, Transformers have revolutionized the field, enabling models to capture long-range dependencies far more effectively than their predecessors.</a:t>
                </a:r>
              </a:p>
              <a:p>
                <a:r>
                  <a:rPr lang="en-US" b="1" dirty="0">
                    <a:solidFill>
                      <a:schemeClr val="tx1"/>
                    </a:solidFill>
                    <a:latin typeface="Times New Roman" panose="02020603050405020304" pitchFamily="18" charset="0"/>
                    <a:cs typeface="Times New Roman" panose="02020603050405020304" pitchFamily="18" charset="0"/>
                  </a:rPr>
                  <a:t>Scaling</a:t>
                </a:r>
                <a:endParaRPr lang="en-US" dirty="0">
                  <a:solidFill>
                    <a:schemeClr val="tx1"/>
                  </a:solidFill>
                  <a:latin typeface="Times New Roman" panose="02020603050405020304" pitchFamily="18" charset="0"/>
                  <a:cs typeface="Times New Roman" panose="02020603050405020304" pitchFamily="18" charset="0"/>
                </a:endParaRPr>
              </a:p>
              <a:p>
                <a:pPr lvl="1"/>
                <a:r>
                  <a:rPr lang="en-US" sz="1800" i="0" dirty="0">
                    <a:solidFill>
                      <a:schemeClr val="tx1"/>
                    </a:solidFill>
                    <a:latin typeface="Times New Roman" panose="02020603050405020304" pitchFamily="18" charset="0"/>
                    <a:cs typeface="Times New Roman" panose="02020603050405020304" pitchFamily="18" charset="0"/>
                  </a:rPr>
                  <a:t>Scaling has been a consistent driver of progress in language modeling, with a history of increasing both dataset and model sizes from the </a:t>
                </a:r>
                <a14:m>
                  <m:oMath xmlns:m="http://schemas.openxmlformats.org/officeDocument/2006/math">
                    <m:r>
                      <a:rPr lang="en-US" sz="1800" i="1" dirty="0" smtClean="0">
                        <a:solidFill>
                          <a:schemeClr val="tx1"/>
                        </a:solidFill>
                        <a:latin typeface="Cambria Math" panose="02040503050406030204" pitchFamily="18" charset="0"/>
                        <a:cs typeface="Times New Roman" panose="02020603050405020304" pitchFamily="18" charset="0"/>
                      </a:rPr>
                      <m:t>𝑛</m:t>
                    </m:r>
                  </m:oMath>
                </a14:m>
                <a:r>
                  <a:rPr lang="en-US" sz="1800" i="0" dirty="0">
                    <a:solidFill>
                      <a:schemeClr val="tx1"/>
                    </a:solidFill>
                    <a:latin typeface="Times New Roman" panose="02020603050405020304" pitchFamily="18" charset="0"/>
                    <a:cs typeface="Times New Roman" panose="02020603050405020304" pitchFamily="18" charset="0"/>
                  </a:rPr>
                  <a:t>-gram era to the present.</a:t>
                </a:r>
              </a:p>
              <a:p>
                <a:pPr lvl="1"/>
                <a:r>
                  <a:rPr lang="en-US" sz="1800" i="0" dirty="0">
                    <a:solidFill>
                      <a:schemeClr val="tx1"/>
                    </a:solidFill>
                    <a:latin typeface="Times New Roman" panose="02020603050405020304" pitchFamily="18" charset="0"/>
                    <a:cs typeface="Times New Roman" panose="02020603050405020304" pitchFamily="18" charset="0"/>
                  </a:rPr>
                  <a:t>This trajectory accelerated with neural networks, moving from billion-parameter LSTMs to massive Transformers like GPT-3 (175B), which sparked a wave of large-scale models.</a:t>
                </a:r>
              </a:p>
              <a:p>
                <a:pPr lvl="1"/>
                <a:r>
                  <a:rPr lang="en-US" sz="1800" i="0" dirty="0">
                    <a:solidFill>
                      <a:schemeClr val="tx1"/>
                    </a:solidFill>
                    <a:latin typeface="Times New Roman" panose="02020603050405020304" pitchFamily="18" charset="0"/>
                    <a:cs typeface="Times New Roman" panose="02020603050405020304" pitchFamily="18" charset="0"/>
                  </a:rPr>
                  <a:t>Research has formalized "power laws" that mathematically predict how much better a model will perform as it gets bigger, helping developers train these systems more efficiently.</a:t>
                </a:r>
              </a:p>
            </p:txBody>
          </p:sp>
        </mc:Choice>
        <mc:Fallback>
          <p:sp>
            <p:nvSpPr>
              <p:cNvPr id="3" name="Content Placeholder 2">
                <a:extLst>
                  <a:ext uri="{FF2B5EF4-FFF2-40B4-BE49-F238E27FC236}">
                    <a16:creationId xmlns:a16="http://schemas.microsoft.com/office/drawing/2014/main" id="{2ABA5A4F-BBFB-76EA-771C-0A5705DC2163}"/>
                  </a:ext>
                </a:extLst>
              </p:cNvPr>
              <p:cNvSpPr txBox="1">
                <a:spLocks noRot="1" noChangeAspect="1" noMove="1" noResize="1" noEditPoints="1" noAdjustHandles="1" noChangeArrowheads="1" noChangeShapeType="1" noTextEdit="1"/>
              </p:cNvSpPr>
              <p:nvPr/>
            </p:nvSpPr>
            <p:spPr>
              <a:xfrm>
                <a:off x="1371600" y="1133856"/>
                <a:ext cx="10320728" cy="5724144"/>
              </a:xfrm>
              <a:prstGeom prst="rect">
                <a:avLst/>
              </a:prstGeom>
              <a:blipFill>
                <a:blip r:embed="rId2"/>
                <a:stretch>
                  <a:fillRect l="-615" t="-887" r="-492"/>
                </a:stretch>
              </a:blipFill>
            </p:spPr>
            <p:txBody>
              <a:bodyPr/>
              <a:lstStyle/>
              <a:p>
                <a:r>
                  <a:rPr lang="en-IL">
                    <a:noFill/>
                  </a:rPr>
                  <a:t> </a:t>
                </a:r>
              </a:p>
            </p:txBody>
          </p:sp>
        </mc:Fallback>
      </mc:AlternateContent>
    </p:spTree>
    <p:extLst>
      <p:ext uri="{BB962C8B-B14F-4D97-AF65-F5344CB8AC3E}">
        <p14:creationId xmlns:p14="http://schemas.microsoft.com/office/powerpoint/2010/main" val="17939502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EB4392-17FB-E59A-60A9-2F1A98FC55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818C7-C4C9-D6DF-CA24-B442B023086D}"/>
              </a:ext>
            </a:extLst>
          </p:cNvPr>
          <p:cNvSpPr>
            <a:spLocks noGrp="1"/>
          </p:cNvSpPr>
          <p:nvPr>
            <p:ph type="ctrTitle"/>
          </p:nvPr>
        </p:nvSpPr>
        <p:spPr>
          <a:xfrm>
            <a:off x="2699400" y="3060460"/>
            <a:ext cx="6793200" cy="737080"/>
          </a:xfrm>
        </p:spPr>
        <p:txBody>
          <a:bodyPr/>
          <a:lstStyle/>
          <a:p>
            <a:r>
              <a:rPr lang="en-US" sz="4000" dirty="0">
                <a:effectLst/>
                <a:latin typeface="Times New Roman" panose="02020603050405020304" pitchFamily="18" charset="0"/>
                <a:cs typeface="Times New Roman" panose="02020603050405020304" pitchFamily="18" charset="0"/>
              </a:rPr>
              <a:t>Conclusions</a:t>
            </a:r>
            <a:endParaRPr lang="en-IL" sz="4000" dirty="0">
              <a:latin typeface="Times New Roman" panose="02020603050405020304" pitchFamily="18" charset="0"/>
              <a:cs typeface="Times New Roman" panose="02020603050405020304" pitchFamily="18" charset="0"/>
            </a:endParaRPr>
          </a:p>
        </p:txBody>
      </p:sp>
      <p:pic>
        <p:nvPicPr>
          <p:cNvPr id="5122" name="Picture 2">
            <a:extLst>
              <a:ext uri="{FF2B5EF4-FFF2-40B4-BE49-F238E27FC236}">
                <a16:creationId xmlns:a16="http://schemas.microsoft.com/office/drawing/2014/main" id="{063580BC-4CCE-7978-D6B1-06E28808195E}"/>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flipH="1">
            <a:off x="1683658" y="1393373"/>
            <a:ext cx="2283959" cy="20356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03977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D8FB90-E7D4-611D-8A33-05280B9F67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C108AD-238A-B046-6E50-FF71E95282C1}"/>
              </a:ext>
            </a:extLst>
          </p:cNvPr>
          <p:cNvSpPr>
            <a:spLocks noGrp="1"/>
          </p:cNvSpPr>
          <p:nvPr>
            <p:ph type="title"/>
          </p:nvPr>
        </p:nvSpPr>
        <p:spPr>
          <a:xfrm>
            <a:off x="1371600" y="355701"/>
            <a:ext cx="9601200" cy="660197"/>
          </a:xfrm>
        </p:spPr>
        <p:txBody>
          <a:bodyPr>
            <a:normAutofit fontScale="90000"/>
          </a:bodyPr>
          <a:lstStyle/>
          <a:p>
            <a:pPr>
              <a:spcAft>
                <a:spcPts val="600"/>
              </a:spcAft>
            </a:pPr>
            <a:r>
              <a:rPr lang="en-US" b="1" i="0" dirty="0">
                <a:solidFill>
                  <a:schemeClr val="tx1"/>
                </a:solidFill>
                <a:effectLst/>
                <a:latin typeface="Times New Roman" panose="02020603050405020304" pitchFamily="18" charset="0"/>
                <a:cs typeface="Times New Roman" panose="02020603050405020304" pitchFamily="18" charset="0"/>
              </a:rPr>
              <a:t>8 Conclusions</a:t>
            </a:r>
            <a:endParaRPr lang="en-IL" dirty="0">
              <a:solidFill>
                <a:schemeClr val="tx1"/>
              </a:solidFill>
              <a:latin typeface="Times New Roman" panose="02020603050405020304" pitchFamily="18"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D25BA6B8-A259-AC99-19FE-F4EEBBC091EC}"/>
              </a:ext>
            </a:extLst>
          </p:cNvPr>
          <p:cNvSpPr txBox="1">
            <a:spLocks/>
          </p:cNvSpPr>
          <p:nvPr/>
        </p:nvSpPr>
        <p:spPr>
          <a:xfrm>
            <a:off x="1371599" y="1133856"/>
            <a:ext cx="10294883" cy="5562779"/>
          </a:xfrm>
          <a:prstGeom prst="rect">
            <a:avLst/>
          </a:prstGeom>
        </p:spPr>
        <p:txBody>
          <a:bodyPr vert="horz" lIns="91440" tIns="45720" rIns="91440" bIns="45720" rtlCol="0">
            <a:noAutofit/>
          </a:bodyPr>
          <a:lstStyle>
            <a:lvl1pPr marL="384048" indent="-384048" algn="l" defTabSz="914400" rtl="0" eaLnBrk="1" latinLnBrk="0" hangingPunct="1">
              <a:lnSpc>
                <a:spcPct val="94000"/>
              </a:lnSpc>
              <a:spcBef>
                <a:spcPts val="1000"/>
              </a:spcBef>
              <a:spcAft>
                <a:spcPts val="200"/>
              </a:spcAft>
              <a:buFont typeface="Franklin Gothic Book" panose="020B0503020102020204" pitchFamily="34" charset="0"/>
              <a:buChar char="■"/>
              <a:defRPr sz="2000" kern="1200" baseline="0">
                <a:solidFill>
                  <a:schemeClr val="tx2"/>
                </a:solidFill>
                <a:latin typeface="+mn-lt"/>
                <a:ea typeface="+mn-ea"/>
                <a:cs typeface="+mn-cs"/>
              </a:defRPr>
            </a:lvl1pPr>
            <a:lvl2pPr marL="914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2000" i="1" kern="1200" baseline="0">
                <a:solidFill>
                  <a:schemeClr val="tx2"/>
                </a:solidFill>
                <a:latin typeface="+mn-lt"/>
                <a:ea typeface="+mn-ea"/>
                <a:cs typeface="+mn-cs"/>
              </a:defRPr>
            </a:lvl2pPr>
            <a:lvl3pPr marL="1371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kern="1200" baseline="0">
                <a:solidFill>
                  <a:schemeClr val="tx2"/>
                </a:solidFill>
                <a:latin typeface="+mn-lt"/>
                <a:ea typeface="+mn-ea"/>
                <a:cs typeface="+mn-cs"/>
              </a:defRPr>
            </a:lvl3pPr>
            <a:lvl4pPr marL="1828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800" i="1" kern="1200" baseline="0">
                <a:solidFill>
                  <a:schemeClr val="tx2"/>
                </a:solidFill>
                <a:latin typeface="+mn-lt"/>
                <a:ea typeface="+mn-ea"/>
                <a:cs typeface="+mn-cs"/>
              </a:defRPr>
            </a:lvl4pPr>
            <a:lvl5pPr marL="22860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kern="1200" baseline="0">
                <a:solidFill>
                  <a:schemeClr val="tx2"/>
                </a:solidFill>
                <a:latin typeface="+mn-lt"/>
                <a:ea typeface="+mn-ea"/>
                <a:cs typeface="+mn-cs"/>
              </a:defRPr>
            </a:lvl5pPr>
            <a:lvl6pPr marL="27432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600" i="1" kern="1200" baseline="0">
                <a:solidFill>
                  <a:schemeClr val="tx2"/>
                </a:solidFill>
                <a:latin typeface="+mn-lt"/>
                <a:ea typeface="+mn-ea"/>
                <a:cs typeface="+mn-cs"/>
              </a:defRPr>
            </a:lvl6pPr>
            <a:lvl7pPr marL="32004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7pPr>
            <a:lvl8pPr marL="36576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i="1" kern="1200" baseline="0">
                <a:solidFill>
                  <a:schemeClr val="tx2"/>
                </a:solidFill>
                <a:latin typeface="+mn-lt"/>
                <a:ea typeface="+mn-ea"/>
                <a:cs typeface="+mn-cs"/>
              </a:defRPr>
            </a:lvl8pPr>
            <a:lvl9pPr marL="4114800" indent="-384048" algn="l" defTabSz="914400" rtl="0" eaLnBrk="1" latinLnBrk="0" hangingPunct="1">
              <a:lnSpc>
                <a:spcPct val="94000"/>
              </a:lnSpc>
              <a:spcBef>
                <a:spcPts val="500"/>
              </a:spcBef>
              <a:spcAft>
                <a:spcPts val="200"/>
              </a:spcAft>
              <a:buFont typeface="Franklin Gothic Book" panose="020B0503020102020204" pitchFamily="34" charset="0"/>
              <a:buChar char="■"/>
              <a:defRPr sz="1400" kern="1200" baseline="0">
                <a:solidFill>
                  <a:schemeClr val="tx2"/>
                </a:solidFill>
                <a:latin typeface="+mn-lt"/>
                <a:ea typeface="+mn-ea"/>
                <a:cs typeface="+mn-cs"/>
              </a:defRPr>
            </a:lvl9pPr>
          </a:lstStyle>
          <a:p>
            <a:pPr marL="0" indent="0">
              <a:buNone/>
            </a:pPr>
            <a:r>
              <a:rPr lang="en-US" b="1" dirty="0">
                <a:solidFill>
                  <a:schemeClr val="tx1"/>
                </a:solidFill>
                <a:latin typeface="Times New Roman" panose="02020603050405020304" pitchFamily="18" charset="0"/>
                <a:cs typeface="Times New Roman" panose="02020603050405020304" pitchFamily="18" charset="0"/>
              </a:rPr>
              <a:t>Summary</a:t>
            </a:r>
          </a:p>
          <a:p>
            <a:r>
              <a:rPr lang="en-US" dirty="0">
                <a:solidFill>
                  <a:schemeClr val="tx1"/>
                </a:solidFill>
                <a:latin typeface="Times New Roman" panose="02020603050405020304" pitchFamily="18" charset="0"/>
                <a:cs typeface="Times New Roman" panose="02020603050405020304" pitchFamily="18" charset="0"/>
              </a:rPr>
              <a:t>The article presented a series of open-source language models competitive with state-of-the-art foundation models.</a:t>
            </a:r>
          </a:p>
          <a:p>
            <a:r>
              <a:rPr lang="en-US" dirty="0">
                <a:solidFill>
                  <a:schemeClr val="tx1"/>
                </a:solidFill>
                <a:latin typeface="Times New Roman" panose="02020603050405020304" pitchFamily="18" charset="0"/>
                <a:cs typeface="Times New Roman" panose="02020603050405020304" pitchFamily="18" charset="0"/>
              </a:rPr>
              <a:t>The authors demonstrated that SOTA performance can be achieved using exclusively publicly available data, without proprietary datasets.</a:t>
            </a:r>
          </a:p>
          <a:p>
            <a:pPr marL="0" indent="0">
              <a:buNone/>
            </a:pPr>
            <a:r>
              <a:rPr lang="en-US" b="1" dirty="0">
                <a:solidFill>
                  <a:schemeClr val="tx1"/>
                </a:solidFill>
                <a:latin typeface="Times New Roman" panose="02020603050405020304" pitchFamily="18" charset="0"/>
                <a:cs typeface="Times New Roman" panose="02020603050405020304" pitchFamily="18" charset="0"/>
              </a:rPr>
              <a:t>Performance Highlights</a:t>
            </a:r>
          </a:p>
          <a:p>
            <a:r>
              <a:rPr lang="en-US" dirty="0">
                <a:solidFill>
                  <a:schemeClr val="tx1"/>
                </a:solidFill>
                <a:latin typeface="Times New Roman" panose="02020603050405020304" pitchFamily="18" charset="0"/>
                <a:cs typeface="Times New Roman" panose="02020603050405020304" pitchFamily="18" charset="0"/>
              </a:rPr>
              <a:t>LLaMA-13B outperforms GPT-3 while being &gt;10x smaller.</a:t>
            </a:r>
          </a:p>
          <a:p>
            <a:r>
              <a:rPr lang="en-US" dirty="0">
                <a:solidFill>
                  <a:schemeClr val="tx1"/>
                </a:solidFill>
                <a:latin typeface="Times New Roman" panose="02020603050405020304" pitchFamily="18" charset="0"/>
                <a:cs typeface="Times New Roman" panose="02020603050405020304" pitchFamily="18" charset="0"/>
              </a:rPr>
              <a:t>LLaMA-65B is competitive with Chinchilla-70B and PaLM-540B.</a:t>
            </a:r>
          </a:p>
          <a:p>
            <a:pPr marL="0" indent="0">
              <a:buNone/>
            </a:pPr>
            <a:r>
              <a:rPr lang="en-US" b="1" dirty="0">
                <a:solidFill>
                  <a:schemeClr val="tx1"/>
                </a:solidFill>
                <a:latin typeface="Times New Roman" panose="02020603050405020304" pitchFamily="18" charset="0"/>
                <a:cs typeface="Times New Roman" panose="02020603050405020304" pitchFamily="18" charset="0"/>
              </a:rPr>
              <a:t>Future Directions</a:t>
            </a:r>
            <a:endParaRPr lang="en-US" dirty="0">
              <a:solidFill>
                <a:schemeClr val="tx1"/>
              </a:solidFill>
              <a:latin typeface="Times New Roman" panose="02020603050405020304" pitchFamily="18" charset="0"/>
              <a:cs typeface="Times New Roman" panose="02020603050405020304" pitchFamily="18" charset="0"/>
            </a:endParaRPr>
          </a:p>
          <a:p>
            <a:r>
              <a:rPr lang="en-US" dirty="0">
                <a:solidFill>
                  <a:schemeClr val="tx1"/>
                </a:solidFill>
                <a:latin typeface="Times New Roman" panose="02020603050405020304" pitchFamily="18" charset="0"/>
                <a:cs typeface="Times New Roman" panose="02020603050405020304" pitchFamily="18" charset="0"/>
              </a:rPr>
              <a:t>Releasing these models aims to accelerate research, improve robustness, and help mitigate issues like toxicity and bias.</a:t>
            </a:r>
          </a:p>
          <a:p>
            <a:r>
              <a:rPr lang="en-US" dirty="0">
                <a:solidFill>
                  <a:schemeClr val="tx1"/>
                </a:solidFill>
                <a:latin typeface="Times New Roman" panose="02020603050405020304" pitchFamily="18" charset="0"/>
                <a:cs typeface="Times New Roman" panose="02020603050405020304" pitchFamily="18" charset="0"/>
              </a:rPr>
              <a:t>Initial experiments (LLaMA-I) show promising results, but further investigation is planned.</a:t>
            </a:r>
          </a:p>
          <a:p>
            <a:r>
              <a:rPr lang="en-US" dirty="0">
                <a:solidFill>
                  <a:schemeClr val="tx1"/>
                </a:solidFill>
                <a:latin typeface="Times New Roman" panose="02020603050405020304" pitchFamily="18" charset="0"/>
                <a:cs typeface="Times New Roman" panose="02020603050405020304" pitchFamily="18" charset="0"/>
              </a:rPr>
              <a:t>Plans to release larger models trained on larger corpora, as performance continues to improve with scale.</a:t>
            </a:r>
            <a:endParaRPr lang="en-US" sz="1800" i="0"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954432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5FE76-C29F-C8A0-6E9F-F21AFD99C27A}"/>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A8CD650-EFBC-1EED-7449-3B76ABD6881C}"/>
              </a:ext>
            </a:extLst>
          </p:cNvPr>
          <p:cNvSpPr txBox="1"/>
          <p:nvPr/>
        </p:nvSpPr>
        <p:spPr>
          <a:xfrm>
            <a:off x="1240888" y="2319081"/>
            <a:ext cx="9710224" cy="2404504"/>
          </a:xfrm>
          <a:prstGeom prst="rect">
            <a:avLst/>
          </a:prstGeom>
          <a:noFill/>
        </p:spPr>
        <p:txBody>
          <a:bodyPr wrap="square" rtlCol="0">
            <a:spAutoFit/>
          </a:bodyPr>
          <a:lstStyle/>
          <a:p>
            <a:pPr algn="ctr">
              <a:lnSpc>
                <a:spcPct val="150000"/>
              </a:lnSpc>
            </a:pPr>
            <a:r>
              <a:rPr lang="en-US" sz="4000" dirty="0">
                <a:latin typeface="Times New Roman" panose="02020603050405020304" pitchFamily="18" charset="0"/>
                <a:cs typeface="Times New Roman" panose="02020603050405020304" pitchFamily="18" charset="0"/>
              </a:rPr>
              <a:t>LLM From Scratch</a:t>
            </a:r>
          </a:p>
          <a:p>
            <a:pPr algn="ctr">
              <a:lnSpc>
                <a:spcPct val="150000"/>
              </a:lnSpc>
            </a:pPr>
            <a:r>
              <a:rPr lang="en-US" sz="3200" dirty="0">
                <a:latin typeface="Times New Roman" panose="02020603050405020304" pitchFamily="18" charset="0"/>
                <a:cs typeface="Times New Roman" panose="02020603050405020304" pitchFamily="18" charset="0"/>
              </a:rPr>
              <a:t>Coding the GPT model &amp; Generating text</a:t>
            </a:r>
            <a:br>
              <a:rPr lang="en-US" sz="3200" dirty="0">
                <a:latin typeface="Times New Roman" panose="02020603050405020304" pitchFamily="18" charset="0"/>
                <a:cs typeface="Times New Roman" panose="02020603050405020304" pitchFamily="18" charset="0"/>
              </a:rPr>
            </a:br>
            <a:r>
              <a:rPr lang="en-US" sz="3200" dirty="0">
                <a:latin typeface="Times New Roman" panose="02020603050405020304" pitchFamily="18" charset="0"/>
                <a:cs typeface="Times New Roman" panose="02020603050405020304" pitchFamily="18" charset="0"/>
                <a:hlinkClick r:id="rId2"/>
              </a:rPr>
              <a:t>ch04_presentation.ipynb</a:t>
            </a:r>
            <a:endParaRPr lang="en-IL" sz="3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42049619"/>
      </p:ext>
    </p:extLst>
  </p:cSld>
  <p:clrMapOvr>
    <a:masterClrMapping/>
  </p:clrMapOvr>
</p:sld>
</file>

<file path=ppt/theme/theme1.xml><?xml version="1.0" encoding="utf-8"?>
<a:theme xmlns:a="http://schemas.openxmlformats.org/drawingml/2006/main" name="Crop">
  <a:themeElements>
    <a:clrScheme name="Crop">
      <a:dk1>
        <a:sysClr val="windowText" lastClr="000000"/>
      </a:dk1>
      <a:lt1>
        <a:sysClr val="window" lastClr="FFFFFF"/>
      </a:lt1>
      <a:dk2>
        <a:srgbClr val="191B0E"/>
      </a:dk2>
      <a:lt2>
        <a:srgbClr val="EFEDE3"/>
      </a:lt2>
      <a:accent1>
        <a:srgbClr val="8C8D86"/>
      </a:accent1>
      <a:accent2>
        <a:srgbClr val="E6C069"/>
      </a:accent2>
      <a:accent3>
        <a:srgbClr val="897B61"/>
      </a:accent3>
      <a:accent4>
        <a:srgbClr val="8DAB8E"/>
      </a:accent4>
      <a:accent5>
        <a:srgbClr val="77A2BB"/>
      </a:accent5>
      <a:accent6>
        <a:srgbClr val="E28394"/>
      </a:accent6>
      <a:hlink>
        <a:srgbClr val="77A2BB"/>
      </a:hlink>
      <a:folHlink>
        <a:srgbClr val="957A99"/>
      </a:folHlink>
    </a:clrScheme>
    <a:fontScheme name="Crop">
      <a:maj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Franklin Gothic Book" panose="020B0503020102020204"/>
        <a:ea typeface=""/>
        <a:cs typeface=""/>
        <a:font script="Jpan" typeface="メイリオ"/>
        <a:font script="Hang" typeface="돋움"/>
        <a:font script="Hans" typeface="华文楷体"/>
        <a:font script="Hant" typeface="微軟正黑體"/>
        <a:font script="Arab" typeface="Tahoma"/>
        <a:font script="Hebr" typeface="Aharoni"/>
        <a:font script="Thai" typeface="Lily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Crop">
      <a:fillStyleLst>
        <a:solidFill>
          <a:schemeClr val="phClr"/>
        </a:solidFill>
        <a:gradFill rotWithShape="1">
          <a:gsLst>
            <a:gs pos="0">
              <a:schemeClr val="phClr">
                <a:tint val="67000"/>
                <a:satMod val="105000"/>
                <a:lumMod val="110000"/>
              </a:schemeClr>
            </a:gs>
            <a:gs pos="50000">
              <a:schemeClr val="phClr">
                <a:tint val="73000"/>
                <a:satMod val="103000"/>
                <a:lumMod val="105000"/>
              </a:schemeClr>
            </a:gs>
            <a:gs pos="100000">
              <a:schemeClr val="phClr">
                <a:tint val="81000"/>
                <a:satMod val="109000"/>
                <a:lumMod val="105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6350" cap="flat" cmpd="sng" algn="in">
          <a:solidFill>
            <a:schemeClr val="phClr"/>
          </a:solidFill>
          <a:prstDash val="solid"/>
        </a:ln>
        <a:ln w="34925" cap="flat" cmpd="sng" algn="in">
          <a:solidFill>
            <a:schemeClr val="phClr"/>
          </a:solidFill>
          <a:prstDash val="solid"/>
        </a:ln>
        <a:ln w="19050" cap="flat" cmpd="sng" algn="in">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35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satMod val="150000"/>
                <a:lumMod val="102000"/>
              </a:schemeClr>
            </a:gs>
            <a:gs pos="50000">
              <a:schemeClr val="phClr">
                <a:tint val="98000"/>
                <a:shade val="90000"/>
                <a:satMod val="13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rop" id="{EC9488ED-E761-4D60-9AC4-764D1FE2C171}" vid="{CE19780C-D67D-4C13-9DE9-A52BC3BA51B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Crop</Template>
  <TotalTime>3413</TotalTime>
  <Words>4527</Words>
  <Application>Microsoft Macintosh PowerPoint</Application>
  <PresentationFormat>Widescreen</PresentationFormat>
  <Paragraphs>392</Paragraphs>
  <Slides>30</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Aptos</vt:lpstr>
      <vt:lpstr>Cambria Math</vt:lpstr>
      <vt:lpstr>Franklin Gothic Book</vt:lpstr>
      <vt:lpstr>Times New Roman</vt:lpstr>
      <vt:lpstr>Crop</vt:lpstr>
      <vt:lpstr>LLaMA: Open and Efficient Foundation Language Models   evaluation</vt:lpstr>
      <vt:lpstr>Evaluation Methodology</vt:lpstr>
      <vt:lpstr>Benchmarks</vt:lpstr>
      <vt:lpstr>Additional Metrics</vt:lpstr>
      <vt:lpstr>Compared Models</vt:lpstr>
      <vt:lpstr>Benchmarks</vt:lpstr>
      <vt:lpstr>3.1 Common Sense Reasoning</vt:lpstr>
      <vt:lpstr>3.2 Closed-book Question Answering</vt:lpstr>
      <vt:lpstr>3.3 Reading Comprehension</vt:lpstr>
      <vt:lpstr>3.4 Mathematical Reasoning</vt:lpstr>
      <vt:lpstr>3.5 Code Generation</vt:lpstr>
      <vt:lpstr>3.6 General Knowledge (MMLU)</vt:lpstr>
      <vt:lpstr>3.7 Performance Evolution During Training</vt:lpstr>
      <vt:lpstr>Additional Metrics</vt:lpstr>
      <vt:lpstr>4 Instruction Finetuning</vt:lpstr>
      <vt:lpstr>5 Bias, Toxicity and Misinformation</vt:lpstr>
      <vt:lpstr>5.1 RealToxicityPrompts</vt:lpstr>
      <vt:lpstr>5.2 CrowS-Pairs </vt:lpstr>
      <vt:lpstr>5.3 WinoGender</vt:lpstr>
      <vt:lpstr>5.4 TruthfulQA</vt:lpstr>
      <vt:lpstr>6 Carbon Footprint </vt:lpstr>
      <vt:lpstr>6 Carbon Footprint (2) </vt:lpstr>
      <vt:lpstr>6 Carbon Footprint (3) </vt:lpstr>
      <vt:lpstr>6 Carbon Footprint (4) </vt:lpstr>
      <vt:lpstr>6 Carbon Footprint (5) </vt:lpstr>
      <vt:lpstr>Related Work</vt:lpstr>
      <vt:lpstr>7 Related Work</vt:lpstr>
      <vt:lpstr>Conclusions</vt:lpstr>
      <vt:lpstr>8 Conclusions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Shlomo Ben Shushan</dc:creator>
  <cp:lastModifiedBy>Shlomo Ben Shushan</cp:lastModifiedBy>
  <cp:revision>77</cp:revision>
  <dcterms:created xsi:type="dcterms:W3CDTF">2025-11-27T17:21:13Z</dcterms:created>
  <dcterms:modified xsi:type="dcterms:W3CDTF">2025-12-01T20:15:56Z</dcterms:modified>
</cp:coreProperties>
</file>