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2"/>
  </p:notesMasterIdLst>
  <p:sldIdLst>
    <p:sldId id="256" r:id="rId2"/>
    <p:sldId id="257" r:id="rId3"/>
    <p:sldId id="259" r:id="rId4"/>
    <p:sldId id="260" r:id="rId5"/>
    <p:sldId id="264" r:id="rId6"/>
    <p:sldId id="268" r:id="rId7"/>
    <p:sldId id="261" r:id="rId8"/>
    <p:sldId id="262" r:id="rId9"/>
    <p:sldId id="263" r:id="rId10"/>
    <p:sldId id="265" r:id="rId11"/>
    <p:sldId id="266" r:id="rId12"/>
    <p:sldId id="267" r:id="rId13"/>
    <p:sldId id="272" r:id="rId14"/>
    <p:sldId id="269" r:id="rId15"/>
    <p:sldId id="274" r:id="rId16"/>
    <p:sldId id="275" r:id="rId17"/>
    <p:sldId id="276" r:id="rId18"/>
    <p:sldId id="277" r:id="rId19"/>
    <p:sldId id="278" r:id="rId20"/>
    <p:sldId id="279" r:id="rId21"/>
    <p:sldId id="280" r:id="rId22"/>
    <p:sldId id="281" r:id="rId23"/>
    <p:sldId id="282" r:id="rId24"/>
    <p:sldId id="283" r:id="rId25"/>
    <p:sldId id="284" r:id="rId26"/>
    <p:sldId id="270" r:id="rId27"/>
    <p:sldId id="285" r:id="rId28"/>
    <p:sldId id="271" r:id="rId29"/>
    <p:sldId id="286" r:id="rId30"/>
    <p:sldId id="287"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875"/>
    <p:restoredTop sz="50409"/>
  </p:normalViewPr>
  <p:slideViewPr>
    <p:cSldViewPr snapToGrid="0">
      <p:cViewPr varScale="1">
        <p:scale>
          <a:sx n="72" d="100"/>
          <a:sy n="72" d="100"/>
        </p:scale>
        <p:origin x="3832" y="192"/>
      </p:cViewPr>
      <p:guideLst/>
    </p:cSldViewPr>
  </p:slideViewPr>
  <p:outlineViewPr>
    <p:cViewPr>
      <p:scale>
        <a:sx n="33" d="100"/>
        <a:sy n="33" d="100"/>
      </p:scale>
      <p:origin x="0" y="-1004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01/12/2025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a:t>
            </a:r>
          </a:p>
          <a:p>
            <a:pPr marL="0" algn="r" defTabSz="914400" rtl="1" eaLnBrk="1" latinLnBrk="0" hangingPunct="1"/>
            <a:r>
              <a:rPr lang="he-IL" dirty="0"/>
              <a:t>שמי שלומי בן שושן,</a:t>
            </a:r>
          </a:p>
          <a:p>
            <a:pPr marL="0" algn="r" defTabSz="914400" rtl="1" eaLnBrk="1" latinLnBrk="0" hangingPunct="1"/>
            <a:r>
              <a:rPr lang="he-IL" dirty="0"/>
              <a:t>והיום אציג את הערכת הביצועים של מודלי </a:t>
            </a:r>
            <a:r>
              <a:rPr lang="en-US" dirty="0"/>
              <a:t>LLaMA</a:t>
            </a:r>
            <a:r>
              <a:rPr lang="he-IL" dirty="0"/>
              <a:t> לפי מגוון </a:t>
            </a:r>
            <a:r>
              <a:rPr lang="he-IL" dirty="0" err="1"/>
              <a:t>בנצ'מרקים</a:t>
            </a:r>
            <a:r>
              <a:rPr lang="he-IL" dirty="0"/>
              <a:t> ומטריקות, תוך השוואה למודלים מתחרים נכון לשנת 2023.</a:t>
            </a:r>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he-IL" sz="1200" kern="1200" dirty="0">
                <a:solidFill>
                  <a:schemeClr val="tx1"/>
                </a:solidFill>
                <a:latin typeface="+mn-lt"/>
                <a:ea typeface="+mn-ea"/>
                <a:cs typeface="+mn-cs"/>
              </a:rPr>
              <a:t>אוקיי, אז בואו נתחיל מלדבר על שיטת </a:t>
            </a:r>
            <a:r>
              <a:rPr lang="he-IL" sz="1200" kern="1200" dirty="0" err="1">
                <a:solidFill>
                  <a:schemeClr val="tx1"/>
                </a:solidFill>
                <a:latin typeface="+mn-lt"/>
                <a:ea typeface="+mn-ea"/>
                <a:cs typeface="+mn-cs"/>
              </a:rPr>
              <a:t>האבלואציה</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כותבי המאמר מציינים שהם משתמשים בשיטות הערכה שהוצגו על-ידי בראון ושותפיו, כלומר, הם לא ממציאים שיטת הערכה חדשה, אלא עובדים לפי סטנדרטים מקובלים.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משתמשים בשישה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שונים, שנבנו במיוחד עבור </a:t>
            </a:r>
            <a:r>
              <a:rPr lang="en-US" sz="1200" kern="1200" dirty="0">
                <a:solidFill>
                  <a:schemeClr val="tx1"/>
                </a:solidFill>
                <a:latin typeface="+mn-lt"/>
                <a:ea typeface="+mn-ea"/>
                <a:cs typeface="+mn-cs"/>
              </a:rPr>
              <a:t>benchmarking</a:t>
            </a:r>
            <a:r>
              <a:rPr lang="he-IL" sz="1200" kern="1200" dirty="0">
                <a:solidFill>
                  <a:schemeClr val="tx1"/>
                </a:solidFill>
                <a:latin typeface="+mn-lt"/>
                <a:ea typeface="+mn-ea"/>
                <a:cs typeface="+mn-cs"/>
              </a:rPr>
              <a:t>.</a:t>
            </a: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כל </a:t>
            </a:r>
            <a:r>
              <a:rPr lang="he-IL" sz="1200" kern="1200" dirty="0" err="1">
                <a:solidFill>
                  <a:schemeClr val="tx1"/>
                </a:solidFill>
                <a:latin typeface="+mn-lt"/>
                <a:ea typeface="+mn-ea"/>
                <a:cs typeface="+mn-cs"/>
              </a:rPr>
              <a:t>דאטאסט</a:t>
            </a:r>
            <a:r>
              <a:rPr lang="he-IL" sz="1200" kern="1200" dirty="0">
                <a:solidFill>
                  <a:schemeClr val="tx1"/>
                </a:solidFill>
                <a:latin typeface="+mn-lt"/>
                <a:ea typeface="+mn-ea"/>
                <a:cs typeface="+mn-cs"/>
              </a:rPr>
              <a:t> כולל שאלות שהמודל צריך לענות עליהן - או באמצעות גנרציה חופשית, או באמצעות בחירה מבין מספר אפשרויות.</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בגנרציה, למשל יצירה של קוד, אז יש איזושהי דרך לאמת את היצירה, למשל להריץ </a:t>
            </a:r>
            <a:r>
              <a:rPr lang="en-US" sz="1200" kern="1200" dirty="0">
                <a:solidFill>
                  <a:schemeClr val="tx1"/>
                </a:solidFill>
                <a:latin typeface="+mn-lt"/>
                <a:ea typeface="+mn-ea"/>
                <a:cs typeface="+mn-cs"/>
              </a:rPr>
              <a:t>unit-test</a:t>
            </a:r>
            <a:r>
              <a:rPr lang="he-IL" sz="1200" kern="1200" dirty="0">
                <a:solidFill>
                  <a:schemeClr val="tx1"/>
                </a:solidFill>
                <a:latin typeface="+mn-lt"/>
                <a:ea typeface="+mn-ea"/>
                <a:cs typeface="+mn-cs"/>
              </a:rPr>
              <a:t> על הקוד שנוצר.</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בבחירת תשובה, אז התשובה הנכונה פשוט נמצאת </a:t>
            </a:r>
            <a:r>
              <a:rPr lang="he-IL" sz="1200" kern="1200" dirty="0" err="1">
                <a:solidFill>
                  <a:schemeClr val="tx1"/>
                </a:solidFill>
                <a:latin typeface="+mn-lt"/>
                <a:ea typeface="+mn-ea"/>
                <a:cs typeface="+mn-cs"/>
              </a:rPr>
              <a:t>בדאטאסט</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בנוסף, החוקרים מדגישים שבחלק מהמבחנים הם משתמשים ב-</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a:t>
            </a:r>
            <a:r>
              <a:rPr lang="en-US" sz="1200" kern="1200" dirty="0">
                <a:solidFill>
                  <a:schemeClr val="tx1"/>
                </a:solidFill>
                <a:latin typeface="+mn-lt"/>
                <a:ea typeface="+mn-ea"/>
                <a:cs typeface="+mn-cs"/>
              </a:rPr>
              <a:t> </a:t>
            </a:r>
            <a:r>
              <a:rPr lang="he-IL" sz="1200" kern="1200" dirty="0">
                <a:solidFill>
                  <a:schemeClr val="tx1"/>
                </a:solidFill>
                <a:latin typeface="+mn-lt"/>
                <a:ea typeface="+mn-ea"/>
                <a:cs typeface="+mn-cs"/>
              </a:rPr>
              <a:t>ובחלק אחר 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a:t>
            </a:r>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למי שלא מכיר:</a:t>
            </a:r>
            <a:br>
              <a:rPr lang="he-IL" sz="1200" kern="1200" dirty="0">
                <a:solidFill>
                  <a:schemeClr val="tx1"/>
                </a:solidFill>
                <a:latin typeface="+mn-lt"/>
                <a:ea typeface="+mn-ea"/>
                <a:cs typeface="+mn-cs"/>
              </a:rPr>
            </a:b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זו שיטה שבה מציגים למודל שאלה, הוא נותן תשובה, ובודקים אם היא נכונה - בלי שום דוגמה מקדימה.</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לעומת זאת, לכל שאלת מבחן, מראים למודל כמה דוגמאות של שאלה ותשובה נכונה, ורק לאחר מכן מציגים את השאלה האמיתית, ומצפים שהוא יענה באותו הפורמט של הדוגמאות שהוצגו.</a:t>
            </a:r>
          </a:p>
          <a:p>
            <a:pPr algn="r" rtl="1"/>
            <a:r>
              <a:rPr lang="he-IL" sz="1200" kern="1200" dirty="0">
                <a:solidFill>
                  <a:schemeClr val="tx1"/>
                </a:solidFill>
                <a:latin typeface="+mn-lt"/>
                <a:ea typeface="+mn-ea"/>
                <a:cs typeface="+mn-cs"/>
              </a:rPr>
              <a:t>זה שימושי במיוחד במבחנים כמו </a:t>
            </a:r>
            <a:r>
              <a:rPr lang="en-US" sz="1200" kern="1200" dirty="0">
                <a:solidFill>
                  <a:schemeClr val="tx1"/>
                </a:solidFill>
                <a:latin typeface="+mn-lt"/>
                <a:ea typeface="+mn-ea"/>
                <a:cs typeface="+mn-cs"/>
              </a:rPr>
              <a:t>MMLU</a:t>
            </a:r>
            <a:r>
              <a:rPr lang="he-IL" sz="1200" kern="1200" dirty="0">
                <a:solidFill>
                  <a:schemeClr val="tx1"/>
                </a:solidFill>
                <a:latin typeface="+mn-lt"/>
                <a:ea typeface="+mn-ea"/>
                <a:cs typeface="+mn-cs"/>
              </a:rPr>
              <a:t> שנראה בהמשך, שבהם מציגים רוצים לבחון את הידע של המודל.</a:t>
            </a:r>
          </a:p>
          <a:p>
            <a:pPr algn="r" rtl="1"/>
            <a:r>
              <a:rPr lang="he-IL" sz="1200" kern="1200" dirty="0">
                <a:solidFill>
                  <a:schemeClr val="tx1"/>
                </a:solidFill>
                <a:latin typeface="+mn-lt"/>
                <a:ea typeface="+mn-ea"/>
                <a:cs typeface="+mn-cs"/>
              </a:rPr>
              <a:t>אגב, </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הוא שם כללי, לעיתים משתמשים בדוגמה אחת (</a:t>
            </a:r>
            <a:r>
              <a:rPr lang="en-US" sz="1200" kern="1200" dirty="0">
                <a:solidFill>
                  <a:schemeClr val="tx1"/>
                </a:solidFill>
                <a:latin typeface="+mn-lt"/>
                <a:ea typeface="+mn-ea"/>
                <a:cs typeface="+mn-cs"/>
              </a:rPr>
              <a:t>1-shot</a:t>
            </a:r>
            <a:r>
              <a:rPr lang="he-IL" sz="1200" kern="1200" dirty="0">
                <a:solidFill>
                  <a:schemeClr val="tx1"/>
                </a:solidFill>
                <a:latin typeface="+mn-lt"/>
                <a:ea typeface="+mn-ea"/>
                <a:cs typeface="+mn-cs"/>
              </a:rPr>
              <a:t>), בחמש דוגמאות (</a:t>
            </a:r>
            <a:r>
              <a:rPr lang="en-US" sz="1200" kern="1200" dirty="0">
                <a:solidFill>
                  <a:schemeClr val="tx1"/>
                </a:solidFill>
                <a:latin typeface="+mn-lt"/>
                <a:ea typeface="+mn-ea"/>
                <a:cs typeface="+mn-cs"/>
              </a:rPr>
              <a:t>5-shots</a:t>
            </a:r>
            <a:r>
              <a:rPr lang="he-IL" sz="1200" kern="1200" dirty="0">
                <a:solidFill>
                  <a:schemeClr val="tx1"/>
                </a:solidFill>
                <a:latin typeface="+mn-lt"/>
                <a:ea typeface="+mn-ea"/>
                <a:cs typeface="+mn-cs"/>
              </a:rPr>
              <a:t>) או במקרים נדירים בהרבה דוגמאות, כמו </a:t>
            </a:r>
            <a:r>
              <a:rPr lang="en-US" sz="1200" kern="1200" dirty="0">
                <a:solidFill>
                  <a:schemeClr val="tx1"/>
                </a:solidFill>
                <a:latin typeface="+mn-lt"/>
                <a:ea typeface="+mn-ea"/>
                <a:cs typeface="+mn-cs"/>
              </a:rPr>
              <a:t>64-shots</a:t>
            </a:r>
            <a:r>
              <a:rPr lang="he-IL" sz="1200" kern="1200" dirty="0">
                <a:solidFill>
                  <a:schemeClr val="tx1"/>
                </a:solidFill>
                <a:latin typeface="+mn-lt"/>
                <a:ea typeface="+mn-ea"/>
                <a:cs typeface="+mn-cs"/>
              </a:rPr>
              <a:t>.</a:t>
            </a:r>
          </a:p>
          <a:p>
            <a:pPr algn="r" rtl="1"/>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באופן כללי, אנחנו מצפים שב-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המודל יגיעו לביצועים טובים יותר, כי הדוגמאות עוזרות למודל להבין את פורמט התשובה, ולרוב אנחנו בסדר עם זה כשרוצים למדוד ידע.</a:t>
            </a:r>
          </a:p>
          <a:p>
            <a:pPr algn="r" rtl="1"/>
            <a:r>
              <a:rPr lang="he-IL" sz="1200" kern="1200" dirty="0">
                <a:solidFill>
                  <a:schemeClr val="tx1"/>
                </a:solidFill>
                <a:latin typeface="+mn-lt"/>
                <a:ea typeface="+mn-ea"/>
                <a:cs typeface="+mn-cs"/>
              </a:rPr>
              <a:t>לעומת זאת, כשאנחנו רוצים לבחון הטיות של מודל, נעדיף דווקא </a:t>
            </a:r>
            <a:r>
              <a:rPr lang="en-US" sz="1200" kern="1200" dirty="0">
                <a:solidFill>
                  <a:schemeClr val="tx1"/>
                </a:solidFill>
                <a:latin typeface="+mn-lt"/>
                <a:ea typeface="+mn-ea"/>
                <a:cs typeface="+mn-cs"/>
              </a:rPr>
              <a:t>0-shot</a:t>
            </a:r>
            <a:r>
              <a:rPr lang="he-IL" sz="1200" kern="1200" dirty="0">
                <a:solidFill>
                  <a:schemeClr val="tx1"/>
                </a:solidFill>
                <a:latin typeface="+mn-lt"/>
                <a:ea typeface="+mn-ea"/>
                <a:cs typeface="+mn-cs"/>
              </a:rPr>
              <a:t>, כי הדוגמאות עלולות להשפיע על התנהגות המודל.</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חוץ מזה, החוקרים משווים את הביצועים של </a:t>
            </a:r>
            <a:r>
              <a:rPr lang="en-US" sz="1200" kern="1200" dirty="0">
                <a:solidFill>
                  <a:schemeClr val="tx1"/>
                </a:solidFill>
                <a:latin typeface="+mn-lt"/>
                <a:ea typeface="+mn-ea"/>
                <a:cs typeface="+mn-cs"/>
              </a:rPr>
              <a:t>LLaMA</a:t>
            </a:r>
            <a:r>
              <a:rPr lang="he-IL" sz="1200" kern="1200" dirty="0">
                <a:solidFill>
                  <a:schemeClr val="tx1"/>
                </a:solidFill>
                <a:latin typeface="+mn-lt"/>
                <a:ea typeface="+mn-ea"/>
                <a:cs typeface="+mn-cs"/>
              </a:rPr>
              <a:t> גם למודלים עליהם יש קניין רוחני כמו </a:t>
            </a:r>
            <a:r>
              <a:rPr lang="en-US" sz="1200" kern="1200" dirty="0">
                <a:solidFill>
                  <a:schemeClr val="tx1"/>
                </a:solidFill>
                <a:latin typeface="+mn-lt"/>
                <a:ea typeface="+mn-ea"/>
                <a:cs typeface="+mn-cs"/>
              </a:rPr>
              <a:t>GPT-3</a:t>
            </a:r>
            <a:r>
              <a:rPr lang="he-IL" sz="1200" kern="1200" dirty="0">
                <a:solidFill>
                  <a:schemeClr val="tx1"/>
                </a:solidFill>
                <a:latin typeface="+mn-lt"/>
                <a:ea typeface="+mn-ea"/>
                <a:cs typeface="+mn-cs"/>
              </a:rPr>
              <a:t> וגם למודלים שהם </a:t>
            </a:r>
            <a:r>
              <a:rPr lang="en-US" dirty="0"/>
              <a:t>open source</a:t>
            </a:r>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אלה </a:t>
            </a:r>
            <a:r>
              <a:rPr lang="he-IL" dirty="0" err="1"/>
              <a:t>הבנצ'מרקים</a:t>
            </a:r>
            <a:r>
              <a:rPr lang="he-IL" dirty="0"/>
              <a:t> שבהם החוקרים משתמשים כדי להעריך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en-US" dirty="0"/>
              <a:t>Common Sense Reasoning</a:t>
            </a:r>
            <a:r>
              <a:rPr lang="he-IL" dirty="0"/>
              <a:t> – 8 </a:t>
            </a:r>
            <a:r>
              <a:rPr lang="he-IL" dirty="0" err="1"/>
              <a:t>דאטאסטים</a:t>
            </a:r>
            <a:r>
              <a:rPr lang="he-IL" dirty="0"/>
              <a:t> – עד כמה המודל יודע להפעיל היגיון יומיומי.</a:t>
            </a:r>
          </a:p>
          <a:p>
            <a:pPr marL="0" algn="r" defTabSz="914400" rtl="1" eaLnBrk="1" latinLnBrk="0" hangingPunct="1"/>
            <a:endParaRPr lang="he-IL" dirty="0"/>
          </a:p>
          <a:p>
            <a:pPr marL="0" algn="r" defTabSz="914400" rtl="1" eaLnBrk="1" latinLnBrk="0" hangingPunct="1"/>
            <a:r>
              <a:rPr lang="en-US" dirty="0"/>
              <a:t>Closed-book Question Answering</a:t>
            </a:r>
            <a:r>
              <a:rPr lang="he-IL" dirty="0"/>
              <a:t> – 2 </a:t>
            </a:r>
            <a:r>
              <a:rPr lang="he-IL" dirty="0" err="1"/>
              <a:t>דאטאסטים</a:t>
            </a:r>
            <a:r>
              <a:rPr lang="he-IL" dirty="0"/>
              <a:t> – יכולת לענות על שאלות ללא חומרי עזר.</a:t>
            </a:r>
          </a:p>
          <a:p>
            <a:pPr marL="0" algn="r" defTabSz="914400" rtl="1" eaLnBrk="1" latinLnBrk="0" hangingPunct="1"/>
            <a:endParaRPr lang="he-IL" dirty="0"/>
          </a:p>
          <a:p>
            <a:pPr marL="0" algn="r" defTabSz="914400" rtl="1" eaLnBrk="1" latinLnBrk="0" hangingPunct="1"/>
            <a:r>
              <a:rPr lang="en-US" dirty="0"/>
              <a:t>Reading Comprehension</a:t>
            </a:r>
            <a:r>
              <a:rPr lang="he-IL" dirty="0"/>
              <a:t> - 2 </a:t>
            </a:r>
            <a:r>
              <a:rPr lang="he-IL" dirty="0" err="1"/>
              <a:t>דאטאסטים</a:t>
            </a:r>
            <a:r>
              <a:rPr lang="he-IL" dirty="0"/>
              <a:t> – הבנת הנקרא.</a:t>
            </a:r>
          </a:p>
          <a:p>
            <a:pPr marL="0" algn="r" defTabSz="914400" rtl="1" eaLnBrk="1" latinLnBrk="0" hangingPunct="1"/>
            <a:endParaRPr lang="he-IL" dirty="0"/>
          </a:p>
          <a:p>
            <a:pPr marL="0" algn="r" defTabSz="914400" rtl="1" eaLnBrk="1" latinLnBrk="0" hangingPunct="1"/>
            <a:r>
              <a:rPr lang="en-US" dirty="0"/>
              <a:t>Mathematical Reasoning</a:t>
            </a:r>
            <a:r>
              <a:rPr lang="he-IL" dirty="0"/>
              <a:t> – 2 </a:t>
            </a:r>
            <a:r>
              <a:rPr lang="he-IL" dirty="0" err="1"/>
              <a:t>דאטאסטים</a:t>
            </a:r>
            <a:r>
              <a:rPr lang="he-IL" dirty="0"/>
              <a:t> – יכולת חשיבה מתמטית ופיתוח מתמטי.</a:t>
            </a:r>
          </a:p>
          <a:p>
            <a:pPr marL="0" algn="r" defTabSz="914400" rtl="1" eaLnBrk="1" latinLnBrk="0" hangingPunct="1"/>
            <a:endParaRPr lang="he-IL" dirty="0"/>
          </a:p>
          <a:p>
            <a:pPr marL="0" algn="r" defTabSz="914400" rtl="1" eaLnBrk="1" latinLnBrk="0" hangingPunct="1"/>
            <a:r>
              <a:rPr lang="en-US" dirty="0"/>
              <a:t>Code Generation</a:t>
            </a:r>
            <a:r>
              <a:rPr lang="he-IL" dirty="0"/>
              <a:t> – 2 </a:t>
            </a:r>
            <a:r>
              <a:rPr lang="he-IL" dirty="0" err="1"/>
              <a:t>דאטאסטים</a:t>
            </a:r>
            <a:r>
              <a:rPr lang="he-IL" dirty="0"/>
              <a:t> – יכולת כתיבת הקוד של המודל.</a:t>
            </a:r>
          </a:p>
          <a:p>
            <a:pPr marL="0" algn="r" defTabSz="914400" rtl="1" eaLnBrk="1" latinLnBrk="0" hangingPunct="1"/>
            <a:endParaRPr lang="he-IL" dirty="0"/>
          </a:p>
          <a:p>
            <a:pPr marL="0" algn="r" defTabSz="914400" rtl="1" eaLnBrk="1" latinLnBrk="0" hangingPunct="1"/>
            <a:r>
              <a:rPr lang="en-US" dirty="0"/>
              <a:t>MMLU</a:t>
            </a:r>
            <a:r>
              <a:rPr lang="he-IL" dirty="0"/>
              <a:t> – </a:t>
            </a:r>
            <a:r>
              <a:rPr lang="he-IL" dirty="0" err="1"/>
              <a:t>דאטאסט</a:t>
            </a:r>
            <a:r>
              <a:rPr lang="he-IL" dirty="0"/>
              <a:t> אחד – בוחנים את הידע הכללי של המודל על פני תחומים רבים</a:t>
            </a:r>
            <a:endParaRPr lang="en-US" dirty="0"/>
          </a:p>
          <a:p>
            <a:pPr marL="0" algn="r" defTabSz="914400" rtl="1" eaLnBrk="1" latinLnBrk="0" hangingPunct="1"/>
            <a:endParaRPr lang="en-US" dirty="0"/>
          </a:p>
          <a:p>
            <a:pPr marL="0" algn="r" defTabSz="914400" rtl="1" eaLnBrk="1" latinLnBrk="0" hangingPunct="1"/>
            <a:r>
              <a:rPr lang="he-IL" dirty="0"/>
              <a:t>בסך הכול, מדובר ב־17 </a:t>
            </a:r>
            <a:r>
              <a:rPr lang="he-IL" dirty="0" err="1"/>
              <a:t>דאטאסטים</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3</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חוץ </a:t>
            </a:r>
            <a:r>
              <a:rPr lang="he-IL" dirty="0" err="1"/>
              <a:t>מהבנצ'מרקים</a:t>
            </a:r>
            <a:r>
              <a:rPr lang="he-IL" dirty="0"/>
              <a:t>, יש עוד שלוש מטריקות שבאמצעותן החוקרים העריכו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he-IL" dirty="0"/>
              <a:t>בניגוד </a:t>
            </a:r>
            <a:r>
              <a:rPr lang="he-IL" dirty="0" err="1"/>
              <a:t>לבנצ'מרקים</a:t>
            </a:r>
            <a:r>
              <a:rPr lang="he-IL" dirty="0"/>
              <a:t> שמבוססים על </a:t>
            </a:r>
            <a:r>
              <a:rPr lang="he-IL" dirty="0" err="1"/>
              <a:t>דאטאסטים</a:t>
            </a:r>
            <a:r>
              <a:rPr lang="he-IL" dirty="0"/>
              <a:t>, </a:t>
            </a:r>
            <a:r>
              <a:rPr lang="he-IL" dirty="0" err="1"/>
              <a:t>המטריקות</a:t>
            </a:r>
            <a:r>
              <a:rPr lang="he-IL" dirty="0"/>
              <a:t> האלו נמדדות בדרכים אחרות, כפי שנראה בהמשך.</a:t>
            </a:r>
          </a:p>
          <a:p>
            <a:pPr marL="0" algn="r" defTabSz="914400" rtl="1" eaLnBrk="1" latinLnBrk="0" hangingPunct="1"/>
            <a:endParaRPr lang="he-IL" dirty="0"/>
          </a:p>
          <a:p>
            <a:pPr marL="0" algn="r" defTabSz="914400" rtl="1" eaLnBrk="1" latinLnBrk="0" hangingPunct="1"/>
            <a:r>
              <a:rPr lang="he-IL" dirty="0" err="1"/>
              <a:t>המטריקות</a:t>
            </a:r>
            <a:r>
              <a:rPr lang="he-IL" dirty="0"/>
              <a:t> הן:</a:t>
            </a:r>
          </a:p>
          <a:p>
            <a:pPr marL="0" algn="r" defTabSz="914400" rtl="1" eaLnBrk="1" latinLnBrk="0" hangingPunct="1"/>
            <a:endParaRPr lang="he-IL" dirty="0"/>
          </a:p>
          <a:p>
            <a:pPr marL="0" algn="r" defTabSz="914400" rtl="1" eaLnBrk="1" latinLnBrk="0" hangingPunct="1"/>
            <a:r>
              <a:rPr lang="he-IL" dirty="0"/>
              <a:t>1. יכולת המודל לעקוב אחרי הוראות - נמדדה בניסוי ייעודי.</a:t>
            </a:r>
          </a:p>
          <a:p>
            <a:pPr marL="0" algn="r" defTabSz="914400" rtl="1" eaLnBrk="1" latinLnBrk="0" hangingPunct="1"/>
            <a:endParaRPr lang="he-IL" dirty="0"/>
          </a:p>
          <a:p>
            <a:pPr marL="0" algn="r" defTabSz="914400" rtl="1" eaLnBrk="1" latinLnBrk="0" hangingPunct="1"/>
            <a:r>
              <a:rPr lang="he-IL" dirty="0"/>
              <a:t>2. מידת ה-</a:t>
            </a:r>
            <a:r>
              <a:rPr lang="en-US" dirty="0"/>
              <a:t>bias</a:t>
            </a:r>
            <a:r>
              <a:rPr lang="he-IL" dirty="0"/>
              <a:t> </a:t>
            </a:r>
            <a:r>
              <a:rPr lang="he-IL" dirty="0" err="1"/>
              <a:t>וה</a:t>
            </a:r>
            <a:r>
              <a:rPr lang="he-IL" dirty="0"/>
              <a:t>-</a:t>
            </a:r>
            <a:r>
              <a:rPr lang="en-US" dirty="0"/>
              <a:t>toxicity</a:t>
            </a:r>
            <a:r>
              <a:rPr lang="he-IL" dirty="0"/>
              <a:t> של המודל – נמדדים באמצעות קריאות API.</a:t>
            </a:r>
          </a:p>
          <a:p>
            <a:pPr marL="0" algn="r" defTabSz="914400" rtl="1" eaLnBrk="1" latinLnBrk="0" hangingPunct="1"/>
            <a:endParaRPr lang="he-IL" dirty="0"/>
          </a:p>
          <a:p>
            <a:pPr marL="0" algn="r" defTabSz="914400" rtl="1" eaLnBrk="1" latinLnBrk="0" hangingPunct="1"/>
            <a:r>
              <a:rPr lang="he-IL" dirty="0"/>
              <a:t>3. הנזק הסביבתי שנגרם מאימון המודל - חושב באמצעות משוואות.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רואים את המודלים אליהם משווים את </a:t>
            </a:r>
            <a:r>
              <a:rPr lang="en-US" dirty="0"/>
              <a:t>LLaMA</a:t>
            </a:r>
            <a:r>
              <a:rPr lang="he-IL" dirty="0"/>
              <a:t>.</a:t>
            </a:r>
          </a:p>
          <a:p>
            <a:pPr marL="0" algn="r" defTabSz="914400" rtl="1" eaLnBrk="1" latinLnBrk="0" hangingPunct="1"/>
            <a:endParaRPr lang="he-IL" dirty="0"/>
          </a:p>
          <a:p>
            <a:pPr marL="0" algn="r" defTabSz="914400" rtl="1" eaLnBrk="1" latinLnBrk="0" hangingPunct="1"/>
            <a:r>
              <a:rPr lang="he-IL" dirty="0"/>
              <a:t>גדלים שונים</a:t>
            </a:r>
          </a:p>
          <a:p>
            <a:pPr marL="0" algn="r" defTabSz="914400" rtl="1" eaLnBrk="1" latinLnBrk="0" hangingPunct="1"/>
            <a:endParaRPr lang="he-IL" dirty="0"/>
          </a:p>
          <a:p>
            <a:pPr marL="0" algn="r" defTabSz="914400" rtl="1" eaLnBrk="1" latinLnBrk="0" hangingPunct="1"/>
            <a:r>
              <a:rPr lang="he-IL" dirty="0"/>
              <a:t>ציבוריים וקנייניים</a:t>
            </a:r>
          </a:p>
          <a:p>
            <a:pPr marL="0" algn="r" defTabSz="914400" rtl="1" eaLnBrk="1" latinLnBrk="0" hangingPunct="1"/>
            <a:endParaRPr lang="he-IL" dirty="0"/>
          </a:p>
          <a:p>
            <a:pPr marL="0" algn="r" defTabSz="914400" rtl="1" eaLnBrk="1" latinLnBrk="0" hangingPunct="1"/>
            <a:r>
              <a:rPr lang="he-IL" dirty="0"/>
              <a:t>מוכווני משימה וכלליים</a:t>
            </a:r>
          </a:p>
          <a:p>
            <a:pPr marL="0" algn="r" defTabSz="914400" rtl="1" eaLnBrk="1" latinLnBrk="0" hangingPunct="1"/>
            <a:endParaRPr lang="he-IL" dirty="0"/>
          </a:p>
          <a:p>
            <a:pPr marL="0" algn="r" defTabSz="914400" rtl="1" eaLnBrk="1" latinLnBrk="0" hangingPunct="1"/>
            <a:r>
              <a:rPr lang="he-IL" dirty="0"/>
              <a:t>קבוצות מחקר מובילות</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מדובר במודלים בגדלים שונים, חלקם ציבוריים וחלקם קנייניים, כולם פותחו על-ידי קבוצות מחקר מובילות.</a:t>
            </a:r>
          </a:p>
          <a:p>
            <a:pPr marL="0" algn="r" defTabSz="914400" rtl="1" eaLnBrk="1" latinLnBrk="0" hangingPunct="1"/>
            <a:r>
              <a:rPr lang="he-IL" dirty="0"/>
              <a:t>חלק מהמודלים מותאמים למשימות ספציפיות, כמו </a:t>
            </a:r>
            <a:r>
              <a:rPr lang="en-US" dirty="0"/>
              <a:t>Minerva</a:t>
            </a:r>
            <a:r>
              <a:rPr lang="he-IL" dirty="0"/>
              <a:t>, וחלקם כלליים מאוד כמו GPT-3.</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במדד זה מציגים למודל שאלות רב-ברירה מ-8 </a:t>
            </a:r>
            <a:r>
              <a:rPr lang="he-IL" dirty="0" err="1"/>
              <a:t>דאטאסטים</a:t>
            </a:r>
            <a:r>
              <a:rPr lang="he-IL" dirty="0"/>
              <a:t>, הכוללים מבחני השלמת משפטים עם או בלי בחירת מילה.</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en-US" dirty="0"/>
              <a:t>LLaMA‑65B</a:t>
            </a:r>
            <a:r>
              <a:rPr lang="he-IL" dirty="0"/>
              <a:t> משיג ביצועים טובים יותר מרוב המודלים,</a:t>
            </a:r>
          </a:p>
          <a:p>
            <a:pPr marL="0" algn="r" defTabSz="914400" rtl="1" eaLnBrk="1" latinLnBrk="0" hangingPunct="1"/>
            <a:r>
              <a:rPr lang="he-IL" dirty="0"/>
              <a:t>מנצח את </a:t>
            </a:r>
            <a:r>
              <a:rPr lang="en-US" dirty="0"/>
              <a:t>Chinchilla‑70B</a:t>
            </a:r>
            <a:r>
              <a:rPr lang="he-IL" dirty="0"/>
              <a:t>, מודל בסדר גודל דומה,</a:t>
            </a:r>
          </a:p>
          <a:p>
            <a:pPr marL="0" algn="r" defTabSz="914400" rtl="1" eaLnBrk="1" latinLnBrk="0" hangingPunct="1"/>
            <a:r>
              <a:rPr lang="he-IL" dirty="0"/>
              <a:t>ואפילו גובר על </a:t>
            </a:r>
            <a:r>
              <a:rPr lang="en-US" dirty="0"/>
              <a:t>PaLM‑540B</a:t>
            </a:r>
            <a:r>
              <a:rPr lang="he-IL" dirty="0"/>
              <a:t>,</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en-US" dirty="0"/>
              <a:t>LLaMA‑13B</a:t>
            </a:r>
            <a:r>
              <a:rPr lang="he-IL" dirty="0"/>
              <a:t> מנצח את </a:t>
            </a:r>
            <a:r>
              <a:rPr lang="en-US" dirty="0"/>
              <a:t>GPT‑3</a:t>
            </a:r>
            <a:r>
              <a:rPr lang="he-IL" dirty="0"/>
              <a:t> ברוב המדדים, למרות שהוא קטן ממנו ביותר מפי 10 - אחד הממצאים המרכזיים של המאמר, שאפשר להשיג שיפור בביצועים גם בלי להמשיך להגדיל את כמות הפרמטרים.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בודקים את ההתאמה המדויקת בין תשובת המודל לתשובה הנכונה. 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כאן השתמשו ב-</a:t>
            </a:r>
            <a:r>
              <a:rPr lang="en-US" dirty="0"/>
              <a:t>zero-shot</a:t>
            </a:r>
            <a:r>
              <a:rPr lang="he-IL" dirty="0"/>
              <a:t> כ-</a:t>
            </a:r>
            <a:r>
              <a:rPr lang="en-US" dirty="0"/>
              <a:t>baseline</a:t>
            </a:r>
            <a:r>
              <a:rPr lang="he-IL" dirty="0"/>
              <a:t>, אחר כך ב-</a:t>
            </a:r>
            <a:r>
              <a:rPr lang="en-US" dirty="0"/>
              <a:t>1-shot</a:t>
            </a:r>
            <a:r>
              <a:rPr lang="he-IL" dirty="0"/>
              <a:t> </a:t>
            </a:r>
            <a:r>
              <a:rPr lang="he-IL" dirty="0" err="1"/>
              <a:t>וב</a:t>
            </a:r>
            <a:r>
              <a:rPr lang="he-IL" dirty="0"/>
              <a:t>-</a:t>
            </a:r>
            <a:r>
              <a:rPr lang="en-US" dirty="0"/>
              <a:t>5-shot</a:t>
            </a:r>
            <a:r>
              <a:rPr lang="he-IL" dirty="0"/>
              <a:t>, ואף הגזימו וניסו גם </a:t>
            </a:r>
            <a:r>
              <a:rPr lang="en-US" dirty="0"/>
              <a:t>64-shot</a:t>
            </a:r>
            <a:r>
              <a:rPr lang="he-IL" dirty="0"/>
              <a:t>, כנראה כדי לראות לכמה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בנוסף, </a:t>
            </a:r>
            <a:r>
              <a:rPr lang="en-US" dirty="0"/>
              <a:t>LLaMA‑13B</a:t>
            </a:r>
            <a:r>
              <a:rPr lang="he-IL" dirty="0"/>
              <a:t> מציג ביצועים שמתחרים ב-</a:t>
            </a:r>
            <a:r>
              <a:rPr lang="en-US" dirty="0"/>
              <a:t>GPT‑3</a:t>
            </a:r>
            <a:r>
              <a:rPr lang="he-IL" dirty="0"/>
              <a:t> </a:t>
            </a:r>
            <a:r>
              <a:rPr lang="he-IL" dirty="0" err="1"/>
              <a:t>וב</a:t>
            </a:r>
            <a:r>
              <a:rPr lang="he-IL" dirty="0"/>
              <a:t>-</a:t>
            </a:r>
            <a:r>
              <a:rPr lang="en-US" dirty="0"/>
              <a:t>Chinchilla‑70B</a:t>
            </a:r>
            <a:r>
              <a:rPr lang="he-IL" dirty="0"/>
              <a:t>, למרות שהוא קטן מהם פי 5 עד פי 10.</a:t>
            </a:r>
          </a:p>
          <a:p>
            <a:pPr marL="0" algn="r" defTabSz="914400" rtl="1" eaLnBrk="1" latinLnBrk="0" hangingPunct="1"/>
            <a:endParaRPr lang="he-IL" dirty="0"/>
          </a:p>
          <a:p>
            <a:pPr marL="0" algn="r" defTabSz="914400" rtl="1" eaLnBrk="1" latinLnBrk="0" hangingPunct="1"/>
            <a:r>
              <a:rPr lang="he-IL" dirty="0"/>
              <a:t>יתרון נוסף של </a:t>
            </a:r>
            <a:r>
              <a:rPr lang="en-US" dirty="0"/>
              <a:t>LLaMA‑13B</a:t>
            </a:r>
            <a:r>
              <a:rPr lang="he-IL" dirty="0"/>
              <a:t> הוא שניתן להריץ </a:t>
            </a:r>
            <a:r>
              <a:rPr lang="en-US" dirty="0"/>
              <a:t>infer</a:t>
            </a:r>
            <a:r>
              <a:rPr lang="he-IL" dirty="0"/>
              <a:t> שלו על יחידת GPU בודדת, שעוד שנדרשות מספר יחידות למודלים הגדולים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מציגים למודל פסקאות טקסט בשתי רמות קושי, ואז שואלים אותו שאלות רב-ברירה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 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השתמשו בשני </a:t>
            </a:r>
            <a:r>
              <a:rPr lang="he-IL" dirty="0" err="1"/>
              <a:t>הדאטאסטים</a:t>
            </a:r>
            <a:r>
              <a:rPr lang="he-IL" dirty="0"/>
              <a:t>: </a:t>
            </a:r>
            <a:r>
              <a:rPr lang="en-US" dirty="0"/>
              <a:t>MATH</a:t>
            </a:r>
            <a:r>
              <a:rPr lang="he-IL" dirty="0"/>
              <a:t> ו-</a:t>
            </a:r>
            <a:r>
              <a:rPr lang="en-US" dirty="0"/>
              <a:t>GSM8k</a:t>
            </a:r>
            <a:r>
              <a:rPr lang="he-IL" dirty="0"/>
              <a:t>, בתצורת </a:t>
            </a:r>
            <a:r>
              <a:rPr lang="en-US" dirty="0"/>
              <a:t>zero-shot</a:t>
            </a:r>
            <a:r>
              <a:rPr lang="he-IL" dirty="0"/>
              <a:t>, עם ובלי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כלומר, המודל קיבל מספר ניסיונות לענות על השאלה, ואם רוב התשובות היו נכונות - זה נחשב נכון.</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a:t>Minerva</a:t>
            </a:r>
            <a:r>
              <a:rPr lang="he-IL" dirty="0"/>
              <a:t>, סדרת מודלים שעברו </a:t>
            </a:r>
            <a:r>
              <a:rPr lang="he-IL" dirty="0" err="1"/>
              <a:t>טיונינג</a:t>
            </a:r>
            <a:r>
              <a:rPr lang="he-IL" dirty="0"/>
              <a:t> לפתרון שאלות מתמטיות, </a:t>
            </a:r>
            <a:r>
              <a:rPr lang="he-IL" dirty="0" err="1"/>
              <a:t>ול</a:t>
            </a:r>
            <a:r>
              <a:rPr lang="he-IL" dirty="0"/>
              <a:t>-</a:t>
            </a:r>
            <a:r>
              <a:rPr lang="en-US" dirty="0" err="1"/>
              <a:t>PaLM</a:t>
            </a:r>
            <a:r>
              <a:rPr lang="he-IL" dirty="0"/>
              <a:t> שאם תשאלו אותי החוקרים אוהבים להשוות אליו כי כמעט תמיד </a:t>
            </a:r>
            <a:r>
              <a:rPr lang="en-US" dirty="0"/>
              <a:t>LLaMA</a:t>
            </a:r>
            <a:r>
              <a:rPr lang="he-IL" dirty="0"/>
              <a:t> מנצח אותו.</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לבחון את יכולת כתיבת הקוד של המודל משתמשים </a:t>
            </a:r>
            <a:r>
              <a:rPr lang="he-IL" dirty="0" err="1"/>
              <a:t>בדאטאסטים</a:t>
            </a:r>
            <a:r>
              <a:rPr lang="he-IL" dirty="0"/>
              <a:t> </a:t>
            </a:r>
            <a:r>
              <a:rPr lang="en-US" dirty="0" err="1"/>
              <a:t>HumanEval</a:t>
            </a:r>
            <a:r>
              <a:rPr lang="he-IL" dirty="0"/>
              <a:t> ו-</a:t>
            </a:r>
            <a:r>
              <a:rPr lang="en-US" dirty="0"/>
              <a:t>MBPP</a:t>
            </a:r>
            <a:r>
              <a:rPr lang="he-IL" dirty="0"/>
              <a:t>.</a:t>
            </a:r>
          </a:p>
          <a:p>
            <a:pPr marL="0" algn="r" defTabSz="914400" rtl="1" eaLnBrk="1" latinLnBrk="0" hangingPunct="1"/>
            <a:endParaRPr lang="he-IL" dirty="0"/>
          </a:p>
          <a:p>
            <a:pPr marL="0" algn="r" defTabSz="914400" rtl="1" eaLnBrk="1" latinLnBrk="0" hangingPunct="1"/>
            <a:r>
              <a:rPr lang="he-IL" dirty="0"/>
              <a:t>באחד מהם מציגים למודל תיאור פונקציה, ובשני מציגים חתימה עם </a:t>
            </a:r>
            <a:r>
              <a:rPr lang="en-US" dirty="0"/>
              <a:t>docstring</a:t>
            </a:r>
            <a:r>
              <a:rPr lang="he-IL" dirty="0"/>
              <a:t>, ומצפים שהוא יכתוב פונקציה תקנית ב‑</a:t>
            </a:r>
            <a:r>
              <a:rPr lang="en-US" dirty="0"/>
              <a:t>Python</a:t>
            </a:r>
            <a:r>
              <a:rPr lang="he-IL" dirty="0"/>
              <a:t> שתעבור </a:t>
            </a:r>
            <a:r>
              <a:rPr lang="en-US" dirty="0"/>
              <a:t>unit-test</a:t>
            </a:r>
            <a:r>
              <a:rPr lang="he-IL" dirty="0"/>
              <a:t>.</a:t>
            </a:r>
            <a:endParaRPr lang="en-US" dirty="0"/>
          </a:p>
          <a:p>
            <a:pPr marL="0" algn="r" defTabSz="914400" rtl="1" eaLnBrk="1" latinLnBrk="0" hangingPunct="1"/>
            <a:endParaRPr lang="en-US" dirty="0"/>
          </a:p>
          <a:p>
            <a:pPr marL="0" algn="r" defTabSz="914400" rtl="1" eaLnBrk="1" latinLnBrk="0" hangingPunct="1"/>
            <a:r>
              <a:rPr lang="he-IL" dirty="0"/>
              <a:t>במדד זה משתמשים ב-</a:t>
            </a:r>
            <a:r>
              <a:rPr lang="en-US" dirty="0"/>
              <a:t>zero-shot</a:t>
            </a:r>
            <a:r>
              <a:rPr lang="he-IL" dirty="0"/>
              <a:t> ו-</a:t>
            </a:r>
            <a:r>
              <a:rPr lang="en-US" dirty="0"/>
              <a:t>few-shot</a:t>
            </a:r>
            <a:r>
              <a:rPr lang="he-IL" dirty="0"/>
              <a:t>, על פני ניסיונות רבים: 1 או 100 עבור </a:t>
            </a:r>
            <a:r>
              <a:rPr lang="en-US" dirty="0" err="1"/>
              <a:t>HumanEval</a:t>
            </a:r>
            <a:r>
              <a:rPr lang="he-IL" dirty="0"/>
              <a:t>, ו‑80 עבור </a:t>
            </a:r>
            <a:r>
              <a:rPr lang="en-US" dirty="0"/>
              <a:t>MBPP</a:t>
            </a:r>
            <a:r>
              <a:rPr lang="he-IL" dirty="0"/>
              <a:t>.</a:t>
            </a:r>
          </a:p>
          <a:p>
            <a:pPr marL="0" algn="r" defTabSz="914400" rtl="1" eaLnBrk="1" latinLnBrk="0" hangingPunct="1"/>
            <a:r>
              <a:rPr lang="he-IL" dirty="0"/>
              <a:t>כלומר, ב-</a:t>
            </a:r>
            <a:r>
              <a:rPr lang="en-US" dirty="0"/>
              <a:t>pass@100</a:t>
            </a:r>
            <a:r>
              <a:rPr lang="he-IL" dirty="0"/>
              <a:t> מספיק שהמודל יעבור </a:t>
            </a:r>
            <a:r>
              <a:rPr lang="en-US" dirty="0"/>
              <a:t>unit-test</a:t>
            </a:r>
            <a:r>
              <a:rPr lang="he-IL" dirty="0"/>
              <a:t> פעם אחת מתוך 100.</a:t>
            </a:r>
          </a:p>
          <a:p>
            <a:pPr marL="0" algn="r" defTabSz="914400" rtl="1" eaLnBrk="1" latinLnBrk="0" hangingPunct="1"/>
            <a:r>
              <a:rPr lang="he-IL" dirty="0"/>
              <a:t>כתוצאה מכך, יש שיפור דרמטי בין </a:t>
            </a:r>
            <a:r>
              <a:rPr lang="en-US" dirty="0"/>
              <a:t>pass@1</a:t>
            </a:r>
            <a:r>
              <a:rPr lang="he-IL" dirty="0"/>
              <a:t> ל‑</a:t>
            </a:r>
            <a:r>
              <a:rPr lang="en-US" dirty="0"/>
              <a:t>pass@100</a:t>
            </a:r>
            <a:r>
              <a:rPr lang="he-IL" dirty="0"/>
              <a:t> או </a:t>
            </a:r>
            <a:r>
              <a:rPr lang="en-US" dirty="0"/>
              <a:t>pass@80</a:t>
            </a:r>
            <a:r>
              <a:rPr lang="he-IL" dirty="0"/>
              <a:t>.,אך זה בסדר, כי כל המודלים נבחנים באותו אופן, ולא סביר שמודל יצליח לעבור </a:t>
            </a:r>
            <a:r>
              <a:rPr lang="en-US" dirty="0"/>
              <a:t>unit-test</a:t>
            </a:r>
            <a:r>
              <a:rPr lang="he-IL" dirty="0"/>
              <a:t> בטעות (כמובן, תלוי באיכות הטסט).</a:t>
            </a:r>
          </a:p>
          <a:p>
            <a:pPr marL="0" algn="r" defTabSz="914400" rtl="1" eaLnBrk="1" latinLnBrk="0" hangingPunct="1"/>
            <a:endParaRPr lang="he-IL" dirty="0"/>
          </a:p>
          <a:p>
            <a:pPr marL="0" algn="r" defTabSz="914400" rtl="1" eaLnBrk="1" latinLnBrk="0" hangingPunct="1"/>
            <a:r>
              <a:rPr lang="he-IL" dirty="0"/>
              <a:t>כאן משווים את </a:t>
            </a:r>
            <a:r>
              <a:rPr lang="en-US" dirty="0"/>
              <a:t>LLaMA</a:t>
            </a:r>
            <a:r>
              <a:rPr lang="he-IL" dirty="0"/>
              <a:t> ל-</a:t>
            </a:r>
            <a:r>
              <a:rPr lang="en-US" dirty="0"/>
              <a:t>LaMDA</a:t>
            </a:r>
            <a:r>
              <a:rPr lang="he-IL" dirty="0"/>
              <a:t> ו-</a:t>
            </a:r>
            <a:r>
              <a:rPr lang="en-US" dirty="0" err="1"/>
              <a:t>PaLM</a:t>
            </a:r>
            <a:r>
              <a:rPr lang="he-IL" dirty="0"/>
              <a:t>.</a:t>
            </a:r>
          </a:p>
          <a:p>
            <a:pPr marL="0" algn="r" defTabSz="914400" rtl="1" eaLnBrk="1" latinLnBrk="0" hangingPunct="1"/>
            <a:r>
              <a:rPr lang="he-IL" dirty="0"/>
              <a:t>ניתן לראות ש-</a:t>
            </a:r>
            <a:r>
              <a:rPr lang="en-US" dirty="0"/>
              <a:t>LLaMA‑13B</a:t>
            </a:r>
            <a:r>
              <a:rPr lang="he-IL" dirty="0"/>
              <a:t> מנצח מודל מתחרה בגודל </a:t>
            </a:r>
            <a:r>
              <a:rPr lang="en-US" dirty="0"/>
              <a:t>137B</a:t>
            </a:r>
            <a:r>
              <a:rPr lang="he-IL" dirty="0"/>
              <a:t> בשני </a:t>
            </a:r>
            <a:r>
              <a:rPr lang="he-IL" dirty="0" err="1"/>
              <a:t>דאטאסטים</a:t>
            </a:r>
            <a:r>
              <a:rPr lang="he-IL" dirty="0"/>
              <a:t>, ו-</a:t>
            </a:r>
            <a:r>
              <a:rPr lang="en-US" dirty="0"/>
              <a:t>LLaMA-65B</a:t>
            </a:r>
            <a:r>
              <a:rPr lang="he-IL" dirty="0"/>
              <a:t> גובר על </a:t>
            </a:r>
            <a:r>
              <a:rPr lang="en-US" dirty="0"/>
              <a:t>PaLM-62B</a:t>
            </a:r>
            <a:r>
              <a:rPr lang="he-IL" dirty="0"/>
              <a:t> אפילו </a:t>
            </a:r>
            <a:r>
              <a:rPr lang="he-IL" dirty="0" err="1"/>
              <a:t>כש</a:t>
            </a:r>
            <a:r>
              <a:rPr lang="he-IL" dirty="0"/>
              <a:t>-</a:t>
            </a:r>
            <a:r>
              <a:rPr lang="en-US" dirty="0" err="1"/>
              <a:t>PaLM</a:t>
            </a:r>
            <a:r>
              <a:rPr lang="he-IL" dirty="0"/>
              <a:t> מאומן זמן רב יותר.</a:t>
            </a:r>
          </a:p>
          <a:p>
            <a:pPr marL="0" algn="r" defTabSz="914400" rtl="1" eaLnBrk="1" latinLnBrk="0" hangingPunct="1"/>
            <a:r>
              <a:rPr lang="he-IL" dirty="0"/>
              <a:t>בנוסף, </a:t>
            </a:r>
            <a:r>
              <a:rPr lang="en-US" dirty="0"/>
              <a:t>LLaMA</a:t>
            </a:r>
            <a:r>
              <a:rPr lang="he-IL" dirty="0"/>
              <a:t> מנצח את כל המודלים האחרים שלא עברו </a:t>
            </a:r>
            <a:r>
              <a:rPr lang="he-IL" dirty="0" err="1"/>
              <a:t>טיונינג</a:t>
            </a:r>
            <a:r>
              <a:rPr lang="he-IL" dirty="0"/>
              <a:t> לקוד.</a:t>
            </a:r>
          </a:p>
          <a:p>
            <a:pPr marL="0" algn="r" defTabSz="914400" rtl="1" eaLnBrk="1" latinLnBrk="0" hangingPunct="1"/>
            <a:endParaRPr lang="he-IL" dirty="0"/>
          </a:p>
          <a:p>
            <a:pPr marL="0" algn="r" defTabSz="914400" rtl="1" eaLnBrk="1" latinLnBrk="0" hangingPunct="1"/>
            <a:r>
              <a:rPr lang="he-IL" dirty="0"/>
              <a:t>חשוב לציין שכל נושא ה‑</a:t>
            </a:r>
            <a:r>
              <a:rPr lang="en-US" dirty="0"/>
              <a:t>fine-tuning</a:t>
            </a:r>
            <a:r>
              <a:rPr lang="he-IL" dirty="0"/>
              <a:t> של </a:t>
            </a:r>
            <a:r>
              <a:rPr lang="en-US" dirty="0"/>
              <a:t>LLaMA</a:t>
            </a:r>
            <a:r>
              <a:rPr lang="he-IL" dirty="0"/>
              <a:t> מחוץ ל-</a:t>
            </a:r>
            <a:r>
              <a:rPr lang="en-US" dirty="0"/>
              <a:t>scope</a:t>
            </a:r>
            <a:r>
              <a:rPr lang="he-IL" dirty="0"/>
              <a:t> המאמר.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a:t>
            </a:r>
            <a:r>
              <a:rPr lang="he-IL" dirty="0" err="1"/>
              <a:t>לבנצ'מרק</a:t>
            </a:r>
            <a:r>
              <a:rPr lang="he-IL" dirty="0"/>
              <a:t> האחרון - </a:t>
            </a:r>
            <a:r>
              <a:rPr lang="en-US" dirty="0"/>
              <a:t>Massive Multitask Language Understanding</a:t>
            </a:r>
            <a:r>
              <a:rPr lang="he-IL" dirty="0"/>
              <a:t>, או בקיצור MMLU, שמטרתו לבדוק את הידע הכללי של המודל.</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אפשרויות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מציגים למודל את השאלה ואת ארבע האפשרויות בעטיפה של </a:t>
            </a:r>
            <a:r>
              <a:rPr lang="en-US" dirty="0"/>
              <a:t>system prompts</a:t>
            </a:r>
            <a:r>
              <a:rPr lang="he-IL" dirty="0"/>
              <a:t>,</a:t>
            </a:r>
            <a:r>
              <a:rPr lang="en-US" dirty="0"/>
              <a:t> </a:t>
            </a:r>
            <a:r>
              <a:rPr lang="he-IL" dirty="0"/>
              <a:t>ולפני כל שאלה נותנים לו 5 דוגמאות של שאלה‑תשובה.</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אך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a:t>
            </a:r>
            <a:r>
              <a:rPr lang="en-US" dirty="0"/>
              <a:t>177GB</a:t>
            </a:r>
            <a:r>
              <a:rPr lang="he-IL" dirty="0"/>
              <a:t> של ספרים, בעוד שהאחרים אומנו על </a:t>
            </a:r>
            <a:r>
              <a:rPr lang="en-US" dirty="0"/>
              <a:t>2TB</a:t>
            </a:r>
            <a:r>
              <a:rPr lang="he-IL" dirty="0"/>
              <a:t> של ספרים.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אפשר לראות שה-</a:t>
            </a:r>
            <a:r>
              <a:rPr lang="en-US" dirty="0"/>
              <a:t>accuracy</a:t>
            </a:r>
            <a:r>
              <a:rPr lang="he-IL" dirty="0"/>
              <a:t> של מודלי </a:t>
            </a:r>
            <a:r>
              <a:rPr lang="en-US" dirty="0"/>
              <a:t>LLaMA</a:t>
            </a:r>
            <a:r>
              <a:rPr lang="he-IL" dirty="0"/>
              <a:t> על </a:t>
            </a:r>
            <a:r>
              <a:rPr lang="he-IL" dirty="0" err="1"/>
              <a:t>הבנצ'מרקים</a:t>
            </a:r>
            <a:r>
              <a:rPr lang="he-IL" dirty="0"/>
              <a:t> </a:t>
            </a:r>
            <a:r>
              <a:rPr lang="en-US" dirty="0"/>
              <a:t>Question Answering</a:t>
            </a:r>
            <a:r>
              <a:rPr lang="he-IL" dirty="0"/>
              <a:t> ו-</a:t>
            </a:r>
            <a:r>
              <a:rPr lang="en-US" dirty="0"/>
              <a:t>Common Sense</a:t>
            </a:r>
            <a:r>
              <a:rPr lang="he-IL" dirty="0"/>
              <a:t> הולך ומשתפר עם מספר הטוקנים עליהם מאמנים אותם, מה שגם מאריך את משך האימון, 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לטעון שניתן להסתפק במודלים בגדלים סבירים (לא קטנים, אבל לא ענקיים), ופשוט לאמן אותם יותר זמן, כמובן על יותר דאטה.</a:t>
            </a:r>
          </a:p>
          <a:p>
            <a:pPr marL="0" algn="r" defTabSz="914400" rtl="1" eaLnBrk="1" latinLnBrk="0" hangingPunct="1"/>
            <a:endParaRPr lang="he-IL" dirty="0"/>
          </a:p>
          <a:p>
            <a:pPr marL="0" algn="r" defTabSz="914400" rtl="1" eaLnBrk="1" latinLnBrk="0" hangingPunct="1"/>
            <a:r>
              <a:rPr lang="he-IL" dirty="0"/>
              <a:t>כלומר, אפשר לשפר ביצועים על ידי זה שנאמן את המודל יותר זמן, על יותר דאטה, מה שגם יעלה את מחיר האימון, אבל במקום זאת נרוויח מודלים קטנים יותר שהם גם חסכוניים יותר בזמן ה-</a:t>
            </a:r>
            <a:r>
              <a:rPr lang="en-US" dirty="0"/>
              <a:t>infer</a:t>
            </a:r>
            <a:r>
              <a:rPr lang="he-IL" dirty="0"/>
              <a:t>, שזה הזמן המשמעותי יותר, כי אחרי שמודל נפרס, עובר </a:t>
            </a:r>
            <a:r>
              <a:rPr lang="en-US" dirty="0"/>
              <a:t>deployment</a:t>
            </a:r>
            <a:r>
              <a:rPr lang="he-IL" dirty="0"/>
              <a:t>, הוא עובד רק במצב </a:t>
            </a:r>
            <a:r>
              <a:rPr lang="en-US" dirty="0"/>
              <a:t>infer</a:t>
            </a:r>
            <a:r>
              <a:rPr lang="he-IL" dirty="0"/>
              <a:t>, וגם יכולים לרוץ על מכשירים עם יכולת חישוב מוגבלת, כמו שכאמור </a:t>
            </a:r>
            <a:r>
              <a:rPr lang="en-US" dirty="0"/>
              <a:t>LLaMA-13B</a:t>
            </a:r>
            <a:r>
              <a:rPr lang="he-IL" dirty="0"/>
              <a:t> יכול לרוץ על GPU בודד.</a:t>
            </a:r>
          </a:p>
          <a:p>
            <a:pPr marL="0" algn="r" defTabSz="914400" rtl="1" eaLnBrk="1" latinLnBrk="0" hangingPunct="1"/>
            <a:endParaRPr lang="he-IL" dirty="0"/>
          </a:p>
          <a:p>
            <a:pPr marL="0" algn="r" defTabSz="914400" rtl="1" eaLnBrk="1" latinLnBrk="0" hangingPunct="1"/>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a:t>
            </a:r>
          </a:p>
          <a:p>
            <a:pPr marL="0" algn="r" defTabSz="914400" rtl="1" eaLnBrk="1" latinLnBrk="0" hangingPunct="1"/>
            <a:r>
              <a:rPr lang="he-IL" dirty="0"/>
              <a:t>אגב, כאן הם לא מתייחסים ל-</a:t>
            </a:r>
            <a:r>
              <a:rPr lang="en-US" dirty="0"/>
              <a:t>loss</a:t>
            </a:r>
            <a:r>
              <a:rPr lang="he-IL" dirty="0"/>
              <a:t> כמו שאנחנו רגילים, אלא כ-</a:t>
            </a:r>
            <a:r>
              <a:rPr lang="en-US" dirty="0"/>
              <a:t>perplexity</a:t>
            </a:r>
            <a:r>
              <a:rPr lang="he-IL" dirty="0"/>
              <a:t>, שזה בעברית "מבוכה", שזה בעצם מדד שבא להגיד כמה המודל לא בטוח בתשובה שלו, ולכן </a:t>
            </a:r>
            <a:r>
              <a:rPr lang="en-US" dirty="0"/>
              <a:t>perplexity</a:t>
            </a:r>
            <a:r>
              <a:rPr lang="he-IL" dirty="0"/>
              <a:t> נמוכה היא טובה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בשקפים הבאים נראה את מטריקות נוספות להערכה של מודלי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בעולמות ה-LLM מאוד מקובל לבדוק כמה מודל יודע לעקוב אחר הוראות, ולכן החוקרים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endParaRPr lang="he-IL" dirty="0"/>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 ומאימון קצר הוא משתפר מ-63 ל-68.</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בתצורה של </a:t>
            </a:r>
            <a:r>
              <a:rPr lang="en-US" dirty="0"/>
              <a:t>0-shot</a:t>
            </a:r>
            <a:r>
              <a:rPr lang="he-IL" dirty="0"/>
              <a:t>.</a:t>
            </a:r>
          </a:p>
          <a:p>
            <a:pPr marL="0" algn="r" defTabSz="914400" rtl="1" eaLnBrk="1" latinLnBrk="0" hangingPunct="1"/>
            <a:endParaRPr lang="he-IL" dirty="0"/>
          </a:p>
          <a:p>
            <a:pPr marL="0" algn="r" defTabSz="914400" rtl="1" eaLnBrk="1" latinLnBrk="0" hangingPunct="1"/>
            <a:r>
              <a:rPr lang="he-IL" dirty="0"/>
              <a:t>בכל מקרה, אפשר גם לראות שהמודל משיג ביצועים לא רעים למול למודלים האחרים, אבל החוקרים מציינים שהמודל עדיין </a:t>
            </a:r>
            <a:r>
              <a:rPr lang="he-IL"/>
              <a:t>רחוק ממודל </a:t>
            </a:r>
            <a:r>
              <a:rPr lang="he-IL" dirty="0"/>
              <a:t>SOTA,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(פוגעני) או שקרן.</a:t>
            </a:r>
          </a:p>
          <a:p>
            <a:pPr marL="0" algn="r" defTabSz="914400" rtl="1" eaLnBrk="1" latinLnBrk="0" hangingPunct="1"/>
            <a:endParaRPr lang="he-IL" dirty="0"/>
          </a:p>
          <a:p>
            <a:pPr marL="0" algn="r" defTabSz="914400" rtl="1" eaLnBrk="1" latinLnBrk="0" hangingPunct="1"/>
            <a:r>
              <a:rPr lang="he-IL" dirty="0"/>
              <a:t>מודלי שפה גדולים מאומנים על הרבה מאוד תוכן מהאינטרנט ומספרים, ומטבעו השל התוכן הזה, הוא מוטה, בין אם בגלל שאנשים באינטרנט משקרים, לבין אם בגלל הטיות אמיתיות שיש בעולם שלנו, כמו למשל שרוב האחריות בבתי החולים הן בנות.</a:t>
            </a:r>
          </a:p>
          <a:p>
            <a:pPr marL="0" algn="r" defTabSz="914400" rtl="1" eaLnBrk="1" latinLnBrk="0" hangingPunct="1"/>
            <a:endParaRPr lang="he-IL" dirty="0"/>
          </a:p>
          <a:p>
            <a:pPr marL="0" algn="r" defTabSz="914400" rtl="1" eaLnBrk="1" latinLnBrk="0" hangingPunct="1"/>
            <a:r>
              <a:rPr lang="he-IL" dirty="0"/>
              <a:t>אז </a:t>
            </a:r>
            <a:r>
              <a:rPr lang="he-IL" dirty="0" err="1"/>
              <a:t>המטריקה</a:t>
            </a:r>
            <a:r>
              <a:rPr lang="he-IL" dirty="0"/>
              <a:t> הזו באה לבדוק כמה המודל שלהם מכיל הטיות כאלה, וספוילר, הוא לא שונה מהאחרים.</a:t>
            </a:r>
          </a:p>
          <a:p>
            <a:pPr marL="0" algn="r" defTabSz="914400" rtl="1" eaLnBrk="1" latinLnBrk="0" hangingPunct="1"/>
            <a:endParaRPr lang="he-IL" dirty="0"/>
          </a:p>
          <a:p>
            <a:pPr marL="0" algn="r" defTabSz="914400" rtl="1" eaLnBrk="1" latinLnBrk="0" hangingPunct="1"/>
            <a:r>
              <a:rPr lang="he-IL" dirty="0"/>
              <a:t>הם מדגישים במאמר שאין עדיין מטריקות מספיק טובות כדי למדוד את הדברים האלה, בטח בהשוואה למודלים אחרים.</a:t>
            </a:r>
          </a:p>
          <a:p>
            <a:pPr marL="0" algn="r" defTabSz="914400" rtl="1" eaLnBrk="1" latinLnBrk="0" hangingPunct="1"/>
            <a:endParaRPr lang="he-IL" dirty="0"/>
          </a:p>
          <a:p>
            <a:pPr marL="0" algn="r" defTabSz="914400" rtl="1" eaLnBrk="1" latinLnBrk="0" hangingPunct="1"/>
            <a:r>
              <a:rPr lang="he-IL" dirty="0"/>
              <a:t>כלומר, הם יכולים לבחון את </a:t>
            </a:r>
            <a:r>
              <a:rPr lang="en-US" dirty="0"/>
              <a:t>LLaMA</a:t>
            </a:r>
            <a:r>
              <a:rPr lang="he-IL" dirty="0"/>
              <a:t> אבל קשה להם להשוות תנאים </a:t>
            </a:r>
            <a:r>
              <a:rPr lang="he-IL" dirty="0" err="1"/>
              <a:t>לאיך</a:t>
            </a:r>
            <a:r>
              <a:rPr lang="he-IL" dirty="0"/>
              <a:t> שמדדו לצורך העניין את GPT.</a:t>
            </a:r>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הטוקסיות של המודל, או הרעילות, או הכמה הוא מעליב, נמדדת באמצעות </a:t>
            </a:r>
            <a:r>
              <a:rPr lang="he-IL" dirty="0" err="1"/>
              <a:t>דאטאסט</a:t>
            </a:r>
            <a:r>
              <a:rPr lang="he-IL" dirty="0"/>
              <a:t> שמכיל </a:t>
            </a:r>
            <a:r>
              <a:rPr lang="he-IL" dirty="0" err="1"/>
              <a:t>פרומפטים</a:t>
            </a:r>
            <a:r>
              <a:rPr lang="he-IL" dirty="0"/>
              <a:t>, ועל כל </a:t>
            </a:r>
            <a:r>
              <a:rPr lang="he-IL" dirty="0" err="1"/>
              <a:t>פרומפט</a:t>
            </a:r>
            <a:r>
              <a:rPr lang="he-IL" dirty="0"/>
              <a:t> התשובה של המודל נשלחת ל-API שכנקרא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a:t>
            </a:r>
          </a:p>
          <a:p>
            <a:pPr marL="0" algn="r" defTabSz="914400" rtl="1" eaLnBrk="1" latinLnBrk="0" hangingPunct="1"/>
            <a:r>
              <a:rPr lang="he-IL" dirty="0"/>
              <a:t>והשנייה היא לעטוף את </a:t>
            </a:r>
            <a:r>
              <a:rPr lang="he-IL" dirty="0" err="1"/>
              <a:t>הפרומפט</a:t>
            </a:r>
            <a:r>
              <a:rPr lang="he-IL" dirty="0"/>
              <a:t> ב-</a:t>
            </a:r>
            <a:r>
              <a:rPr lang="en-US" dirty="0"/>
              <a:t>system prompt</a:t>
            </a:r>
            <a:r>
              <a:rPr lang="he-IL" dirty="0"/>
              <a:t> שמבקש מהמודל להיות מכבד.</a:t>
            </a:r>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אבל מה שמעניין הוא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38290428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היא </a:t>
            </a:r>
            <a:r>
              <a:rPr lang="en-US" dirty="0" err="1"/>
              <a:t>WinoGender</a:t>
            </a:r>
            <a:r>
              <a:rPr lang="he-IL" dirty="0"/>
              <a:t> שבודקת הטיות מגדריות.</a:t>
            </a:r>
          </a:p>
          <a:p>
            <a:pPr marL="0" algn="r" defTabSz="914400" rtl="1" eaLnBrk="1" latinLnBrk="0" hangingPunct="1"/>
            <a:endParaRPr lang="he-IL" dirty="0"/>
          </a:p>
          <a:p>
            <a:pPr marL="0" algn="r" defTabSz="914400" rtl="1" eaLnBrk="1" latinLnBrk="0" hangingPunct="1"/>
            <a:r>
              <a:rPr lang="he-IL" dirty="0"/>
              <a:t>מנסחים עבור המודל צמד משפטים שמכילים הפנייה לדמות במשפט, ושואלים את המודל למי ההפניה מתייחסת.</a:t>
            </a:r>
          </a:p>
          <a:p>
            <a:pPr marL="0" algn="r" defTabSz="914400" rtl="1" eaLnBrk="1" latinLnBrk="0" hangingPunct="1"/>
            <a:endParaRPr lang="he-IL" dirty="0"/>
          </a:p>
          <a:p>
            <a:pPr marL="0" algn="r" defTabSz="914400" rtl="1" eaLnBrk="1" latinLnBrk="0" hangingPunct="1"/>
            <a:r>
              <a:rPr lang="he-IL" dirty="0"/>
              <a:t>למשל מודל שיבחר לשייך את </a:t>
            </a:r>
            <a:r>
              <a:rPr lang="en-US" dirty="0"/>
              <a:t>he</a:t>
            </a:r>
            <a:r>
              <a:rPr lang="he-IL" dirty="0"/>
              <a:t> לפיזיקאי ואת </a:t>
            </a:r>
            <a:r>
              <a:rPr lang="en-US" dirty="0"/>
              <a:t>she</a:t>
            </a:r>
            <a:r>
              <a:rPr lang="he-IL" dirty="0"/>
              <a:t> לאחות, הרי משוחד.</a:t>
            </a:r>
          </a:p>
          <a:p>
            <a:pPr marL="0" algn="r" defTabSz="914400" rtl="1" eaLnBrk="1" latinLnBrk="0" hangingPunct="1"/>
            <a:endParaRPr lang="he-IL" dirty="0"/>
          </a:p>
          <a:p>
            <a:pPr marL="0" algn="r" defTabSz="914400" rtl="1" eaLnBrk="1" latinLnBrk="0" hangingPunct="1"/>
            <a:r>
              <a:rPr lang="he-IL" dirty="0"/>
              <a:t>החוקרים מציינים ש-</a:t>
            </a:r>
            <a:r>
              <a:rPr lang="en-US" dirty="0"/>
              <a:t>LLaMA</a:t>
            </a:r>
            <a:r>
              <a:rPr lang="he-IL" dirty="0"/>
              <a:t> מציג יכולות לא רעות בזיהוי כינויי גוף ניטרליים הם </a:t>
            </a:r>
            <a:r>
              <a:rPr lang="en-US" dirty="0"/>
              <a:t>their</a:t>
            </a:r>
            <a:r>
              <a:rPr lang="he-IL" dirty="0"/>
              <a:t> או </a:t>
            </a:r>
            <a:r>
              <a:rPr lang="en-US" dirty="0"/>
              <a:t>them</a:t>
            </a:r>
            <a:r>
              <a:rPr lang="he-IL" dirty="0"/>
              <a:t>, אך נופל בהפניות מגדריות, כמו </a:t>
            </a:r>
            <a:r>
              <a:rPr lang="en-US" dirty="0"/>
              <a:t>her</a:t>
            </a:r>
            <a:r>
              <a:rPr lang="he-IL" dirty="0"/>
              <a:t> או </a:t>
            </a:r>
            <a:r>
              <a:rPr lang="en-US" dirty="0"/>
              <a:t>his</a:t>
            </a:r>
            <a:r>
              <a:rPr lang="he-IL" dirty="0"/>
              <a:t>.</a:t>
            </a:r>
          </a:p>
          <a:p>
            <a:pPr marL="0" algn="r" defTabSz="914400" rtl="1" eaLnBrk="1" latinLnBrk="0" hangingPunct="1"/>
            <a:endParaRPr lang="he-IL" dirty="0"/>
          </a:p>
          <a:p>
            <a:pPr marL="0" algn="r" defTabSz="914400" rtl="1" eaLnBrk="1" latinLnBrk="0" hangingPunct="1"/>
            <a:r>
              <a:rPr lang="he-IL" dirty="0"/>
              <a:t>הביצועים של המודל הרבה פחות טובים במקרי קצה, שהם קוראים להם </a:t>
            </a:r>
            <a:r>
              <a:rPr lang="en-US" dirty="0"/>
              <a:t>”gotcha cases”</a:t>
            </a:r>
            <a:r>
              <a:rPr lang="he-IL" dirty="0"/>
              <a:t>, מקרים בהם למשל מסופר על אח זכר, שאיכשהו אפשר להבין מהמשפט שמדובר באח זכר, אבל בכל זאת המודל מזהה את האח כאחות.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9788397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a:t>
            </a:r>
            <a:r>
              <a:rPr lang="en-US" dirty="0" err="1"/>
              <a:t>TruthfulQA</a:t>
            </a:r>
            <a:r>
              <a:rPr lang="he-IL" dirty="0"/>
              <a:t> בודקת כמה המודל יודע להבחין בין עובדות לפיקציות,</a:t>
            </a:r>
          </a:p>
          <a:p>
            <a:pPr marL="0" algn="r" defTabSz="914400" rtl="1" eaLnBrk="1" latinLnBrk="0" hangingPunct="1"/>
            <a:endParaRPr lang="he-IL" dirty="0"/>
          </a:p>
          <a:p>
            <a:pPr marL="0" algn="r" defTabSz="914400" rtl="1" eaLnBrk="1" latinLnBrk="0" hangingPunct="1"/>
            <a:r>
              <a:rPr lang="he-IL" dirty="0"/>
              <a:t>היא מחולקת לכמה התשובות של המודל עובדתיות, ולכמה התשובות שלו עובדתיות ואינפורמטיביות.</a:t>
            </a:r>
          </a:p>
          <a:p>
            <a:pPr marL="0" algn="r" defTabSz="914400" rtl="1" eaLnBrk="1" latinLnBrk="0" hangingPunct="1"/>
            <a:endParaRPr lang="he-IL" dirty="0"/>
          </a:p>
          <a:p>
            <a:pPr marL="0" algn="r" defTabSz="914400" rtl="1" eaLnBrk="1" latinLnBrk="0" hangingPunct="1"/>
            <a:r>
              <a:rPr lang="he-IL" dirty="0"/>
              <a:t>החוקרים הראו שמודלי </a:t>
            </a:r>
            <a:r>
              <a:rPr lang="en-US" dirty="0"/>
              <a:t>LLaMA</a:t>
            </a:r>
            <a:r>
              <a:rPr lang="he-IL" dirty="0"/>
              <a:t> מציגים תוצאות טובות משל GPT, אבל עדיין שיעור התשובות הנכונות שלו נמוך.</a:t>
            </a:r>
          </a:p>
          <a:p>
            <a:pPr marL="0" algn="r" defTabSz="914400" rtl="1" eaLnBrk="1" latinLnBrk="0" hangingPunct="1"/>
            <a:r>
              <a:rPr lang="he-IL" dirty="0"/>
              <a:t>הם מציינים שהמודל נוטה להזות, לתת תשובות לא נכונות, ויש מקום לשיפור.</a:t>
            </a:r>
          </a:p>
        </p:txBody>
      </p:sp>
      <p:sp>
        <p:nvSpPr>
          <p:cNvPr id="4" name="Slide Number Placeholder 3"/>
          <p:cNvSpPr>
            <a:spLocks noGrp="1"/>
          </p:cNvSpPr>
          <p:nvPr>
            <p:ph type="sldNum" sz="quarter" idx="5"/>
          </p:nvPr>
        </p:nvSpPr>
        <p:spPr/>
        <p:txBody>
          <a:bodyPr/>
          <a:lstStyle/>
          <a:p>
            <a:fld id="{476FFE5D-288A-DB4E-9912-CFF1A38B0A9A}" type="slidenum">
              <a:rPr lang="en-IL" smtClean="0"/>
              <a:t>20</a:t>
            </a:fld>
            <a:endParaRPr lang="en-IL"/>
          </a:p>
        </p:txBody>
      </p:sp>
    </p:spTree>
    <p:extLst>
      <p:ext uri="{BB962C8B-B14F-4D97-AF65-F5344CB8AC3E}">
        <p14:creationId xmlns:p14="http://schemas.microsoft.com/office/powerpoint/2010/main" val="11729371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p>
          <a:p>
            <a:pPr marL="0" algn="r" defTabSz="914400" rtl="1" eaLnBrk="1" latinLnBrk="0" hangingPunct="1"/>
            <a:endParaRPr lang="he-IL" dirty="0"/>
          </a:p>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21</a:t>
            </a:fld>
            <a:endParaRPr lang="en-IL"/>
          </a:p>
        </p:txBody>
      </p:sp>
    </p:spTree>
    <p:extLst>
      <p:ext uri="{BB962C8B-B14F-4D97-AF65-F5344CB8AC3E}">
        <p14:creationId xmlns:p14="http://schemas.microsoft.com/office/powerpoint/2010/main" val="38331750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22</a:t>
            </a:fld>
            <a:endParaRPr lang="en-IL"/>
          </a:p>
        </p:txBody>
      </p:sp>
    </p:spTree>
    <p:extLst>
      <p:ext uri="{BB962C8B-B14F-4D97-AF65-F5344CB8AC3E}">
        <p14:creationId xmlns:p14="http://schemas.microsoft.com/office/powerpoint/2010/main" val="32733669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23</a:t>
            </a:fld>
            <a:endParaRPr lang="en-IL"/>
          </a:p>
        </p:txBody>
      </p:sp>
    </p:spTree>
    <p:extLst>
      <p:ext uri="{BB962C8B-B14F-4D97-AF65-F5344CB8AC3E}">
        <p14:creationId xmlns:p14="http://schemas.microsoft.com/office/powerpoint/2010/main" val="38596856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p:txBody>
      </p:sp>
      <p:sp>
        <p:nvSpPr>
          <p:cNvPr id="4" name="Slide Number Placeholder 3"/>
          <p:cNvSpPr>
            <a:spLocks noGrp="1"/>
          </p:cNvSpPr>
          <p:nvPr>
            <p:ph type="sldNum" sz="quarter" idx="5"/>
          </p:nvPr>
        </p:nvSpPr>
        <p:spPr/>
        <p:txBody>
          <a:bodyPr/>
          <a:lstStyle/>
          <a:p>
            <a:fld id="{476FFE5D-288A-DB4E-9912-CFF1A38B0A9A}" type="slidenum">
              <a:rPr lang="en-IL" smtClean="0"/>
              <a:t>24</a:t>
            </a:fld>
            <a:endParaRPr lang="en-IL"/>
          </a:p>
        </p:txBody>
      </p:sp>
    </p:spTree>
    <p:extLst>
      <p:ext uri="{BB962C8B-B14F-4D97-AF65-F5344CB8AC3E}">
        <p14:creationId xmlns:p14="http://schemas.microsoft.com/office/powerpoint/2010/main" val="35615314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החוקרים פרסמו את הטבלה הזאת שמשווה את מודלי </a:t>
            </a:r>
            <a:r>
              <a:rPr lang="en-US" dirty="0"/>
              <a:t>LLaMA</a:t>
            </a:r>
            <a:r>
              <a:rPr lang="he-IL" dirty="0"/>
              <a:t> לשני מודלים גדולים יחסית אבל דומים בביצועים, ואפשר לראות שהאימון של מודלי </a:t>
            </a:r>
            <a:r>
              <a:rPr lang="en-US" dirty="0"/>
              <a:t>LLaMA</a:t>
            </a:r>
            <a:r>
              <a:rPr lang="he-IL" dirty="0"/>
              <a:t> יחסית מזהם.</a:t>
            </a:r>
          </a:p>
          <a:p>
            <a:pPr marL="0" algn="r" defTabSz="914400" rtl="1" eaLnBrk="1" latinLnBrk="0" hangingPunct="1"/>
            <a:endParaRPr lang="he-IL" dirty="0"/>
          </a:p>
          <a:p>
            <a:pPr marL="0" algn="r" defTabSz="914400" rtl="1" eaLnBrk="1" latinLnBrk="0" hangingPunct="1"/>
            <a:r>
              <a:rPr lang="he-IL" dirty="0"/>
              <a:t>האימון של </a:t>
            </a:r>
            <a:r>
              <a:rPr lang="en-US" dirty="0"/>
              <a:t>LLaMA-65B</a:t>
            </a:r>
            <a:r>
              <a:rPr lang="he-IL" dirty="0"/>
              <a:t> שהוא פי 2.5 קטן מהמתחרים, גרם לזיהום בסדר הגודל של אותו מתחרים.</a:t>
            </a:r>
          </a:p>
          <a:p>
            <a:pPr marL="0" algn="r" defTabSz="914400" rtl="1" eaLnBrk="1" latinLnBrk="0" hangingPunct="1"/>
            <a:endParaRPr lang="he-IL" dirty="0"/>
          </a:p>
          <a:p>
            <a:pPr marL="0" algn="r" defTabSz="914400" rtl="1" eaLnBrk="1" latinLnBrk="0" hangingPunct="1"/>
            <a:r>
              <a:rPr lang="he-IL" dirty="0"/>
              <a:t>כלומר, החוקרים מודים בזה שיקר אנרגטית לאמן את </a:t>
            </a:r>
            <a:r>
              <a:rPr lang="en-US" dirty="0"/>
              <a:t>LLaMA</a:t>
            </a:r>
            <a:r>
              <a:rPr lang="he-IL" dirty="0"/>
              <a:t> אבל מדגישים את החיסכון בזמן </a:t>
            </a:r>
            <a:r>
              <a:rPr lang="he-IL" dirty="0" err="1"/>
              <a:t>האינפר</a:t>
            </a:r>
            <a:r>
              <a:rPr lang="he-IL" dirty="0"/>
              <a:t>.</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25</a:t>
            </a:fld>
            <a:endParaRPr lang="en-IL"/>
          </a:p>
        </p:txBody>
      </p:sp>
    </p:spTree>
    <p:extLst>
      <p:ext uri="{BB962C8B-B14F-4D97-AF65-F5344CB8AC3E}">
        <p14:creationId xmlns:p14="http://schemas.microsoft.com/office/powerpoint/2010/main" val="16005191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קצת על </a:t>
            </a:r>
            <a:r>
              <a:rPr lang="en-US" dirty="0"/>
              <a:t>related work</a:t>
            </a:r>
            <a:r>
              <a:rPr lang="he-IL" dirty="0"/>
              <a:t>,</a:t>
            </a:r>
          </a:p>
          <a:p>
            <a:pPr marL="0" algn="r" defTabSz="914400" rtl="1" eaLnBrk="1" latinLnBrk="0" hangingPunct="1"/>
            <a:endParaRPr lang="he-IL" dirty="0"/>
          </a:p>
          <a:p>
            <a:pPr marL="0" algn="r" defTabSz="914400" rtl="1" eaLnBrk="1" latinLnBrk="0" hangingPunct="1"/>
            <a:r>
              <a:rPr lang="he-IL" dirty="0"/>
              <a:t>לפי התיאוריה של </a:t>
            </a:r>
            <a:r>
              <a:rPr lang="he-IL" dirty="0" err="1"/>
              <a:t>שאנון</a:t>
            </a:r>
            <a:r>
              <a:rPr lang="he-IL" dirty="0"/>
              <a:t> מ-1948, מודלי שפה מוגדרים כחיזוי טוקן הבא, ומשמשים מדד מרכזי להתקדמות ה-AI.</a:t>
            </a:r>
          </a:p>
          <a:p>
            <a:pPr marL="0" algn="r" defTabSz="914400" rtl="1" eaLnBrk="1" latinLnBrk="0" hangingPunct="1"/>
            <a:endParaRPr lang="he-IL" dirty="0"/>
          </a:p>
          <a:p>
            <a:pPr marL="0" algn="r" defTabSz="914400" rtl="1" eaLnBrk="1" latinLnBrk="0" hangingPunct="1"/>
            <a:r>
              <a:rPr lang="he-IL" dirty="0"/>
              <a:t>הם התפתחו ממודלי </a:t>
            </a:r>
            <a:r>
              <a:rPr lang="en-US" dirty="0"/>
              <a:t>n-grams</a:t>
            </a:r>
            <a:r>
              <a:rPr lang="he-IL" dirty="0"/>
              <a:t> בסיסיים, התקדמו ל-RNN-ים והגיעו </a:t>
            </a:r>
            <a:r>
              <a:rPr lang="he-IL" dirty="0" err="1"/>
              <a:t>לטרנספורמרים</a:t>
            </a:r>
            <a:r>
              <a:rPr lang="he-IL" dirty="0"/>
              <a:t> שמאפשרים ללכוד תלויות במרחקים גדולים בטקסט בצורה יעילה.</a:t>
            </a:r>
          </a:p>
          <a:p>
            <a:pPr marL="0" algn="r" defTabSz="914400" rtl="1" eaLnBrk="1" latinLnBrk="0" hangingPunct="1"/>
            <a:endParaRPr lang="he-IL" dirty="0"/>
          </a:p>
          <a:p>
            <a:pPr marL="0" algn="r" defTabSz="914400" rtl="1" eaLnBrk="1" latinLnBrk="0" hangingPunct="1"/>
            <a:r>
              <a:rPr lang="he-IL" dirty="0"/>
              <a:t>לאורך השנים, הגדלת המודלים </a:t>
            </a:r>
            <a:r>
              <a:rPr lang="he-IL" dirty="0" err="1"/>
              <a:t>והדאטה</a:t>
            </a:r>
            <a:r>
              <a:rPr lang="he-IL" dirty="0"/>
              <a:t>, בעיקר בעידן </a:t>
            </a:r>
            <a:r>
              <a:rPr lang="he-IL" dirty="0" err="1"/>
              <a:t>הטרנספורמרים</a:t>
            </a:r>
            <a:r>
              <a:rPr lang="he-IL" dirty="0"/>
              <a:t>, הייתה הכוח שהניע את הזינוק בביצועי מודלי השפה.</a:t>
            </a:r>
          </a:p>
          <a:p>
            <a:pPr marL="0" algn="r" defTabSz="914400" rtl="1" eaLnBrk="1" latinLnBrk="0" hangingPunct="1"/>
            <a:endParaRPr lang="he-IL" dirty="0"/>
          </a:p>
          <a:p>
            <a:pPr marL="0" algn="r" defTabSz="914400" rtl="1" eaLnBrk="1" latinLnBrk="0" hangingPunct="1"/>
            <a:r>
              <a:rPr lang="he-IL" dirty="0"/>
              <a:t>במאמר הזה, החוקרים הראו שאפשר להחליף את הגדלת המודל באימון ממושך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27</a:t>
            </a:fld>
            <a:endParaRPr lang="en-IL"/>
          </a:p>
        </p:txBody>
      </p:sp>
    </p:spTree>
    <p:extLst>
      <p:ext uri="{BB962C8B-B14F-4D97-AF65-F5344CB8AC3E}">
        <p14:creationId xmlns:p14="http://schemas.microsoft.com/office/powerpoint/2010/main" val="13438285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לסיכום,</a:t>
            </a:r>
          </a:p>
          <a:p>
            <a:pPr marL="0" algn="r" defTabSz="914400" rtl="1" eaLnBrk="1" latinLnBrk="0" hangingPunct="1"/>
            <a:endParaRPr lang="he-IL" dirty="0"/>
          </a:p>
          <a:p>
            <a:pPr marL="0" algn="r" defTabSz="914400" rtl="1" eaLnBrk="1" latinLnBrk="0" hangingPunct="1"/>
            <a:r>
              <a:rPr lang="he-IL" dirty="0"/>
              <a:t>המאמר מציג סדרה של </a:t>
            </a:r>
            <a:r>
              <a:rPr lang="en-US" dirty="0"/>
              <a:t>foundation LLMs</a:t>
            </a:r>
            <a:r>
              <a:rPr lang="he-IL" dirty="0"/>
              <a:t> ששוחררו לציבור.</a:t>
            </a:r>
          </a:p>
          <a:p>
            <a:pPr marL="0" algn="r" defTabSz="914400" rtl="1" eaLnBrk="1" latinLnBrk="0" hangingPunct="1"/>
            <a:r>
              <a:rPr lang="he-IL" dirty="0"/>
              <a:t>המודלים האלה מציגים ביצועי </a:t>
            </a:r>
            <a:r>
              <a:rPr lang="en-US" dirty="0"/>
              <a:t>state-of-the-art</a:t>
            </a:r>
            <a:r>
              <a:rPr lang="he-IL" dirty="0"/>
              <a:t> והם מאומנים על </a:t>
            </a:r>
            <a:r>
              <a:rPr lang="en-US" dirty="0"/>
              <a:t>data</a:t>
            </a:r>
            <a:r>
              <a:rPr lang="he-IL" dirty="0"/>
              <a:t> ציבורי בלבד.</a:t>
            </a:r>
          </a:p>
          <a:p>
            <a:pPr marL="0" algn="r" defTabSz="914400" rtl="1" eaLnBrk="1" latinLnBrk="0" hangingPunct="1"/>
            <a:endParaRPr lang="he-IL" dirty="0"/>
          </a:p>
          <a:p>
            <a:pPr marL="0" algn="r" defTabSz="914400" rtl="1" eaLnBrk="1" latinLnBrk="0" hangingPunct="1"/>
            <a:r>
              <a:rPr lang="he-IL" dirty="0"/>
              <a:t>מבחינת ביצועים, אלה נקודות העיקריות:</a:t>
            </a:r>
          </a:p>
          <a:p>
            <a:pPr marL="0" algn="r" defTabSz="914400" rtl="1" eaLnBrk="1" latinLnBrk="0" hangingPunct="1"/>
            <a:r>
              <a:rPr lang="he-IL" dirty="0"/>
              <a:t>למה 13בי מנצח את </a:t>
            </a:r>
            <a:r>
              <a:rPr lang="en-US" dirty="0"/>
              <a:t>GPT3</a:t>
            </a:r>
            <a:r>
              <a:rPr lang="he-IL" dirty="0"/>
              <a:t> למרות שהוא קטן ממנו ביותר מפי 10.</a:t>
            </a:r>
          </a:p>
          <a:p>
            <a:pPr marL="0" algn="r" defTabSz="914400" rtl="1" eaLnBrk="1" latinLnBrk="0" hangingPunct="1"/>
            <a:r>
              <a:rPr lang="he-IL" dirty="0"/>
              <a:t>למה 65בי מתחרה במודל </a:t>
            </a:r>
            <a:r>
              <a:rPr lang="en-US" dirty="0"/>
              <a:t>Chinchila-700B</a:t>
            </a:r>
            <a:r>
              <a:rPr lang="he-IL" dirty="0"/>
              <a:t> ובמודל הענק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החוקרים מאמינים ששחרור המודלים האלה לציבור יאיץ את המחקר, ומכוונים את המחקר לשיפור ב-</a:t>
            </a:r>
            <a:r>
              <a:rPr lang="en-US" dirty="0"/>
              <a:t>bias</a:t>
            </a:r>
            <a:r>
              <a:rPr lang="he-IL" dirty="0"/>
              <a:t> </a:t>
            </a:r>
            <a:r>
              <a:rPr lang="he-IL" dirty="0" err="1"/>
              <a:t>וה</a:t>
            </a:r>
            <a:r>
              <a:rPr lang="he-IL" dirty="0"/>
              <a:t>-</a:t>
            </a:r>
            <a:r>
              <a:rPr lang="en-US" dirty="0"/>
              <a:t>toxicity</a:t>
            </a:r>
            <a:r>
              <a:rPr lang="he-IL" dirty="0"/>
              <a:t>, לאימון מודל שיודע לעקוב אחר הוראות, ולשחרור מודלים גדולים יותר שמאומנים על קורפוסים גדולים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29</a:t>
            </a:fld>
            <a:endParaRPr lang="en-IL"/>
          </a:p>
        </p:txBody>
      </p:sp>
    </p:spTree>
    <p:extLst>
      <p:ext uri="{BB962C8B-B14F-4D97-AF65-F5344CB8AC3E}">
        <p14:creationId xmlns:p14="http://schemas.microsoft.com/office/powerpoint/2010/main" val="38592001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וכעת נעבור לקוד</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30</a:t>
            </a:fld>
            <a:endParaRPr lang="en-IL"/>
          </a:p>
        </p:txBody>
      </p:sp>
    </p:spTree>
    <p:extLst>
      <p:ext uri="{BB962C8B-B14F-4D97-AF65-F5344CB8AC3E}">
        <p14:creationId xmlns:p14="http://schemas.microsoft.com/office/powerpoint/2010/main" val="41723576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en-US"/>
              <a:t>Click to edit Master title style</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87DE6118-2437-4B30-8E3C-4D2BE6020583}" type="datetimeFigureOut">
              <a:rPr lang="en-US" dirty="0"/>
              <a:pPr/>
              <a:t>11/30/25</a:t>
            </a:fld>
            <a:endParaRPr lang="en-US" dirty="0"/>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11/30/25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87DE6118-2437-4B30-8E3C-4D2BE6020583}" type="datetimeFigureOut">
              <a:rPr lang="en-US" dirty="0"/>
              <a:pPr/>
              <a:t>11/30/25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7DE6118-2437-4B30-8E3C-4D2BE6020583}" type="datetimeFigureOut">
              <a:rPr lang="en-US" dirty="0"/>
              <a:t>11/30/25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7DE6118-2437-4B30-8E3C-4D2BE6020583}" type="datetimeFigureOut">
              <a:rPr lang="en-US" dirty="0"/>
              <a:t>11/30/25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7DE6118-2437-4B30-8E3C-4D2BE6020583}" type="datetimeFigureOut">
              <a:rPr lang="en-US" dirty="0"/>
              <a:t>11/30/25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DE6118-2437-4B30-8E3C-4D2BE6020583}" type="datetimeFigureOut">
              <a:rPr lang="en-US" dirty="0"/>
              <a:t>11/30/25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87DE6118-2437-4B30-8E3C-4D2BE6020583}" type="datetimeFigureOut">
              <a:rPr lang="en-US" dirty="0"/>
              <a:pPr/>
              <a:t>11/30/25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87DE6118-2437-4B30-8E3C-4D2BE6020583}" type="datetimeFigureOut">
              <a:rPr lang="en-US" dirty="0"/>
              <a:pPr/>
              <a:t>11/30/25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11/30/25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11/30/25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87DE6118-2437-4B30-8E3C-4D2BE6020583}" type="datetimeFigureOut">
              <a:rPr lang="en-US" dirty="0"/>
              <a:pPr/>
              <a:t>11/30/25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shlomi1993/llm-from-scratch/blob/main/presentation/ch04_presentation.ipynb"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err="1">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Methodology</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500026"/>
          </a:xfrm>
        </p:spPr>
        <p:txBody>
          <a:bodyPr>
            <a:normAutofit/>
          </a:bodyPr>
          <a:lstStyle/>
          <a:p>
            <a:r>
              <a:rPr lang="en-US" b="1" dirty="0">
                <a:latin typeface="Times New Roman" panose="02020603050405020304" pitchFamily="18" charset="0"/>
                <a:cs typeface="Times New Roman" panose="02020603050405020304" pitchFamily="18" charset="0"/>
              </a:rPr>
              <a:t>Evaluation Approach:</a:t>
            </a:r>
          </a:p>
          <a:p>
            <a:pPr lvl="1"/>
            <a:r>
              <a:rPr lang="en-US" b="0" i="0" dirty="0">
                <a:solidFill>
                  <a:schemeClr val="tx1"/>
                </a:solidFill>
                <a:effectLst/>
                <a:latin typeface="Times New Roman" panose="02020603050405020304" pitchFamily="18" charset="0"/>
                <a:cs typeface="Times New Roman" panose="02020603050405020304" pitchFamily="18" charset="0"/>
              </a:rPr>
              <a:t>Follows previous work (Brown et al., 2020).</a:t>
            </a:r>
          </a:p>
          <a:p>
            <a:pPr lvl="1"/>
            <a:r>
              <a:rPr lang="en-US" i="0" dirty="0">
                <a:solidFill>
                  <a:schemeClr val="tx1"/>
                </a:solidFill>
                <a:latin typeface="Times New Roman" panose="02020603050405020304" pitchFamily="18" charset="0"/>
                <a:cs typeface="Times New Roman" panose="02020603050405020304" pitchFamily="18" charset="0"/>
              </a:rPr>
              <a:t>6 benchmarks based on 17 datasets</a:t>
            </a:r>
          </a:p>
          <a:p>
            <a:pPr lvl="1"/>
            <a:r>
              <a:rPr lang="en-US" i="0" dirty="0">
                <a:solidFill>
                  <a:schemeClr val="tx1"/>
                </a:solidFill>
                <a:latin typeface="Times New Roman" panose="02020603050405020304" pitchFamily="18" charset="0"/>
                <a:cs typeface="Times New Roman" panose="02020603050405020304" pitchFamily="18" charset="0"/>
              </a:rPr>
              <a:t>3 additional metrics, </a:t>
            </a:r>
            <a:endParaRPr lang="en-US" b="0" i="0" dirty="0">
              <a:solidFill>
                <a:schemeClr val="tx1"/>
              </a:solidFill>
              <a:effectLst/>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Task Types:</a:t>
            </a:r>
          </a:p>
          <a:p>
            <a:pPr lvl="1"/>
            <a:r>
              <a:rPr lang="en-US"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b="0" i="0" dirty="0">
                <a:solidFill>
                  <a:schemeClr val="tx1"/>
                </a:solidFill>
                <a:effectLst/>
                <a:latin typeface="Times New Roman" panose="02020603050405020304" pitchFamily="18" charset="0"/>
                <a:cs typeface="Times New Roman" panose="02020603050405020304" pitchFamily="18" charset="0"/>
              </a:rPr>
              <a:t>Multiple choice (ranking options by likelihood).</a:t>
            </a:r>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Settings:</a:t>
            </a:r>
            <a:endParaRPr lang="he-IL" b="1" i="0" dirty="0">
              <a:solidFill>
                <a:schemeClr val="tx1"/>
              </a:solidFill>
              <a:effectLst/>
              <a:latin typeface="Times New Roman" panose="02020603050405020304" pitchFamily="18" charset="0"/>
              <a:cs typeface="Times New Roman" panose="02020603050405020304" pitchFamily="18" charset="0"/>
            </a:endParaRPr>
          </a:p>
          <a:p>
            <a:pPr lvl="1"/>
            <a:r>
              <a:rPr lang="en-US" b="1" i="0" dirty="0">
                <a:solidFill>
                  <a:schemeClr val="tx1"/>
                </a:solidFill>
                <a:effectLst/>
                <a:latin typeface="Times New Roman" panose="02020603050405020304" pitchFamily="18" charset="0"/>
                <a:cs typeface="Times New Roman" panose="02020603050405020304" pitchFamily="18" charset="0"/>
              </a:rPr>
              <a:t>Zero-shot:</a:t>
            </a:r>
            <a:r>
              <a:rPr lang="en-US" b="0" i="0" dirty="0">
                <a:solidFill>
                  <a:schemeClr val="tx1"/>
                </a:solidFill>
                <a:effectLst/>
                <a:latin typeface="Times New Roman" panose="02020603050405020304" pitchFamily="18" charset="0"/>
                <a:cs typeface="Times New Roman" panose="02020603050405020304" pitchFamily="18" charset="0"/>
              </a:rPr>
              <a:t> Model provided with a task description and test example.</a:t>
            </a:r>
          </a:p>
          <a:p>
            <a:pPr lvl="1"/>
            <a:r>
              <a:rPr lang="en-US" b="1" i="0" dirty="0">
                <a:solidFill>
                  <a:schemeClr val="tx1"/>
                </a:solidFill>
                <a:effectLst/>
                <a:latin typeface="Times New Roman" panose="02020603050405020304" pitchFamily="18" charset="0"/>
                <a:cs typeface="Times New Roman" panose="02020603050405020304" pitchFamily="18" charset="0"/>
              </a:rPr>
              <a:t>Few-shot:</a:t>
            </a:r>
            <a:r>
              <a:rPr lang="en-US" b="0" i="0" dirty="0">
                <a:solidFill>
                  <a:schemeClr val="tx1"/>
                </a:solidFill>
                <a:effectLst/>
                <a:latin typeface="Times New Roman" panose="02020603050405020304" pitchFamily="18" charset="0"/>
                <a:cs typeface="Times New Roman" panose="02020603050405020304" pitchFamily="18" charset="0"/>
              </a:rPr>
              <a:t> Model provided with 1 to 64 examples + test example.</a:t>
            </a:r>
            <a:endParaRPr lang="he-IL" b="1"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Baselines for Comparison:</a:t>
            </a:r>
            <a:endParaRPr lang="en-US" b="1" i="1" dirty="0">
              <a:latin typeface="Times New Roman" panose="02020603050405020304" pitchFamily="18" charset="0"/>
              <a:cs typeface="Times New Roman" panose="02020603050405020304" pitchFamily="18" charset="0"/>
            </a:endParaRPr>
          </a:p>
          <a:p>
            <a:pPr lvl="1"/>
            <a:r>
              <a:rPr lang="en-US" b="1" i="0" dirty="0">
                <a:solidFill>
                  <a:schemeClr val="tx1"/>
                </a:solidFill>
                <a:effectLst/>
                <a:latin typeface="Times New Roman" panose="02020603050405020304" pitchFamily="18" charset="0"/>
                <a:cs typeface="Times New Roman" panose="02020603050405020304" pitchFamily="18" charset="0"/>
              </a:rPr>
              <a:t>Proprietary:</a:t>
            </a:r>
            <a:r>
              <a:rPr lang="en-US" b="0" i="0" dirty="0">
                <a:solidFill>
                  <a:schemeClr val="tx1"/>
                </a:solidFill>
                <a:effectLst/>
                <a:latin typeface="Times New Roman" panose="02020603050405020304" pitchFamily="18" charset="0"/>
                <a:cs typeface="Times New Roman" panose="02020603050405020304" pitchFamily="18" charset="0"/>
              </a:rPr>
              <a:t> GPT-3, Gopher, Chinchilla, </a:t>
            </a:r>
            <a:r>
              <a:rPr lang="en-US" b="0" i="0" dirty="0" err="1">
                <a:solidFill>
                  <a:schemeClr val="tx1"/>
                </a:solidFill>
                <a:effectLst/>
                <a:latin typeface="Times New Roman" panose="02020603050405020304" pitchFamily="18" charset="0"/>
                <a:cs typeface="Times New Roman" panose="02020603050405020304" pitchFamily="18" charset="0"/>
              </a:rPr>
              <a:t>PaLM</a:t>
            </a:r>
            <a:r>
              <a:rPr lang="en-US" b="0" i="0" dirty="0">
                <a:solidFill>
                  <a:schemeClr val="tx1"/>
                </a:solidFill>
                <a:effectLst/>
                <a:latin typeface="Times New Roman" panose="02020603050405020304" pitchFamily="18" charset="0"/>
                <a:cs typeface="Times New Roman" panose="02020603050405020304" pitchFamily="18" charset="0"/>
              </a:rPr>
              <a:t>.</a:t>
            </a:r>
          </a:p>
          <a:p>
            <a:pPr lvl="1"/>
            <a:r>
              <a:rPr lang="en-US" b="1" i="0" dirty="0">
                <a:solidFill>
                  <a:schemeClr val="tx1"/>
                </a:solidFill>
                <a:effectLst/>
                <a:latin typeface="Times New Roman" panose="02020603050405020304" pitchFamily="18" charset="0"/>
                <a:cs typeface="Times New Roman" panose="02020603050405020304" pitchFamily="18" charset="0"/>
              </a:rPr>
              <a:t>Open-source:</a:t>
            </a:r>
            <a:r>
              <a:rPr lang="en-US" b="0" i="0" dirty="0">
                <a:solidFill>
                  <a:schemeClr val="tx1"/>
                </a:solidFill>
                <a:effectLst/>
                <a:latin typeface="Times New Roman" panose="02020603050405020304" pitchFamily="18" charset="0"/>
                <a:cs typeface="Times New Roman" panose="02020603050405020304" pitchFamily="18" charset="0"/>
              </a:rPr>
              <a:t> OPT, GPT-J, GPT-Neo.</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417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documents.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Natural Questions, </a:t>
            </a:r>
            <a:r>
              <a:rPr lang="en-US" sz="1400" i="0" dirty="0" err="1">
                <a:latin typeface="Times New Roman" panose="02020603050405020304" pitchFamily="18" charset="0"/>
                <a:cs typeface="Times New Roman" panose="02020603050405020304" pitchFamily="18" charset="0"/>
              </a:rPr>
              <a:t>TriviaQA</a:t>
            </a:r>
            <a:r>
              <a:rPr lang="en-US" sz="1400" i="0" dirty="0">
                <a:latin typeface="Times New Roman" panose="02020603050405020304" pitchFamily="18" charset="0"/>
                <a:cs typeface="Times New Roman" panose="02020603050405020304" pitchFamily="18" charset="0"/>
              </a:rPr>
              <a:t>.</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9601200"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Demonstrates that brief finetuning on instruction data rapidly improves performance and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a:t>
                </a:r>
                <a:r>
                  <a:rPr lang="en-US" b="0" i="0" dirty="0" err="1">
                    <a:solidFill>
                      <a:schemeClr val="tx1"/>
                    </a:solidFill>
                    <a:effectLst/>
                    <a:latin typeface="Times New Roman" panose="02020603050405020304" pitchFamily="18" charset="0"/>
                    <a:cs typeface="Times New Roman" panose="02020603050405020304" pitchFamily="18" charset="0"/>
                  </a:rPr>
                  <a:t>LLaMA</a:t>
                </a:r>
                <a:r>
                  <a:rPr lang="en-US" b="0" i="0" dirty="0">
                    <a:solidFill>
                      <a:schemeClr val="tx1"/>
                    </a:solidFill>
                    <a:effectLst/>
                    <a:latin typeface="Times New Roman" panose="02020603050405020304" pitchFamily="18" charset="0"/>
                    <a:cs typeface="Times New Roman" panose="02020603050405020304" pitchFamily="18" charset="0"/>
                  </a:rPr>
                  <a:t>-I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Bias, Toxicity &amp; Truthfulness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a:t>
                </a: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a:rPr lang="en-US" i="1" dirty="0" smtClean="0">
                        <a:solidFill>
                          <a:schemeClr val="tx1"/>
                        </a:solidFill>
                        <a:latin typeface="Cambria Math" panose="02040503050406030204" pitchFamily="18" charset="0"/>
                        <a:cs typeface="Times New Roman" panose="02020603050405020304" pitchFamily="18" charset="0"/>
                      </a:rPr>
                      <m:t>𝑀𝑊h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a:rPr lang="en-US" b="0" i="1" dirty="0" smtClean="0">
                        <a:solidFill>
                          <a:schemeClr val="tx1"/>
                        </a:solidFill>
                        <a:effectLst/>
                        <a:latin typeface="Cambria Math" panose="02040503050406030204" pitchFamily="18" charset="0"/>
                        <a:cs typeface="Times New Roman" panose="02020603050405020304" pitchFamily="18" charset="0"/>
                      </a:rPr>
                      <m:t>𝑡𝐶𝑂</m:t>
                    </m:r>
                    <m:r>
                      <a:rPr lang="en-US" b="0" i="1" dirty="0" smtClean="0">
                        <a:solidFill>
                          <a:schemeClr val="tx1"/>
                        </a:solidFill>
                        <a:effectLst/>
                        <a:latin typeface="Cambria Math" panose="02040503050406030204" pitchFamily="18" charset="0"/>
                        <a:cs typeface="Times New Roman" panose="02020603050405020304" pitchFamily="18" charset="0"/>
                      </a:rPr>
                      <m:t>2</m:t>
                    </m:r>
                    <m:r>
                      <a:rPr lang="en-US" b="0" i="1" dirty="0" smtClean="0">
                        <a:solidFill>
                          <a:schemeClr val="tx1"/>
                        </a:solidFill>
                        <a:effectLst/>
                        <a:latin typeface="Cambria Math" panose="02040503050406030204" pitchFamily="18" charset="0"/>
                        <a:cs typeface="Times New Roman" panose="02020603050405020304" pitchFamily="18" charset="0"/>
                      </a:rPr>
                      <m:t>𝑒𝑞</m:t>
                    </m:r>
                  </m:oMath>
                </a14:m>
                <a:r>
                  <a:rPr lang="en-US" b="0" i="0" dirty="0">
                    <a:solidFill>
                      <a:schemeClr val="tx1"/>
                    </a:solidFill>
                    <a:effectLst/>
                    <a:latin typeface="Times New Roman" panose="02020603050405020304" pitchFamily="18" charset="0"/>
                    <a:cs typeface="Times New Roman" panose="02020603050405020304" pitchFamily="18" charset="0"/>
                  </a:rPr>
                  <a:t>) and highlights how open releases reduce future environmental costs by preventing retraining.</a:t>
                </a:r>
              </a:p>
            </p:txBody>
          </p:sp>
        </mc:Choice>
        <mc:Fallback xmlns="">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9601200" cy="5179161"/>
              </a:xfrm>
              <a:blipFill>
                <a:blip r:embed="rId3"/>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2">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3.1 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2"/>
          <a:stretch/>
        </p:blipFill>
        <p:spPr>
          <a:xfrm>
            <a:off x="2209800" y="2053389"/>
            <a:ext cx="7772400" cy="3318145"/>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497299"/>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br>
              <a:rPr lang="en-US" dirty="0">
                <a:solidFill>
                  <a:schemeClr val="tx1"/>
                </a:solidFill>
                <a:latin typeface="Times New Roman" panose="02020603050405020304" pitchFamily="18" charset="0"/>
                <a:cs typeface="Times New Roman" panose="02020603050405020304" pitchFamily="18" charset="0"/>
              </a:rPr>
            </a:br>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10x smaller.</a:t>
            </a:r>
          </a:p>
        </p:txBody>
      </p:sp>
    </p:spTree>
    <p:extLst>
      <p:ext uri="{BB962C8B-B14F-4D97-AF65-F5344CB8AC3E}">
        <p14:creationId xmlns:p14="http://schemas.microsoft.com/office/powerpoint/2010/main" val="2600494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3.2 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960120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Exact match performance (answering without access to external documents).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349812"/>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5-10x smaller.</a:t>
            </a:r>
          </a:p>
          <a:p>
            <a:r>
              <a:rPr lang="en-US" dirty="0">
                <a:solidFill>
                  <a:schemeClr val="tx1"/>
                </a:solidFill>
                <a:latin typeface="Times New Roman" panose="02020603050405020304" pitchFamily="18" charset="0"/>
                <a:cs typeface="Times New Roman" panose="02020603050405020304" pitchFamily="18" charset="0"/>
              </a:rPr>
              <a:t>Regarding efficiency, LLaMA-13B can run inference on a single V100 GPU.</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020"/>
          <a:stretch/>
        </p:blipFill>
        <p:spPr>
          <a:xfrm>
            <a:off x="1995613" y="2055568"/>
            <a:ext cx="3728004" cy="3212348"/>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a:stretch/>
        </p:blipFill>
        <p:spPr>
          <a:xfrm>
            <a:off x="6563951" y="2055567"/>
            <a:ext cx="3748774" cy="2425972"/>
          </a:xfrm>
          <a:prstGeom prst="rect">
            <a:avLst/>
          </a:prstGeom>
        </p:spPr>
      </p:pic>
    </p:spTree>
    <p:extLst>
      <p:ext uri="{BB962C8B-B14F-4D97-AF65-F5344CB8AC3E}">
        <p14:creationId xmlns:p14="http://schemas.microsoft.com/office/powerpoint/2010/main" val="2252906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3.3 Reading 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657088"/>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a:stretch/>
        </p:blipFill>
        <p:spPr>
          <a:xfrm>
            <a:off x="3822700" y="1941095"/>
            <a:ext cx="4546600" cy="3649227"/>
          </a:xfrm>
          <a:prstGeom prst="rect">
            <a:avLst/>
          </a:prstGeom>
        </p:spPr>
      </p:pic>
    </p:spTree>
    <p:extLst>
      <p:ext uri="{BB962C8B-B14F-4D97-AF65-F5344CB8AC3E}">
        <p14:creationId xmlns:p14="http://schemas.microsoft.com/office/powerpoint/2010/main" val="2448807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3.4 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and without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 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2043792" y="2069749"/>
            <a:ext cx="4330700" cy="3530600"/>
          </a:xfrm>
          <a:prstGeom prst="rect">
            <a:avLst/>
          </a:prstGeom>
        </p:spPr>
      </p:pic>
      <p:pic>
        <p:nvPicPr>
          <p:cNvPr id="7" name="Picture 6">
            <a:extLst>
              <a:ext uri="{FF2B5EF4-FFF2-40B4-BE49-F238E27FC236}">
                <a16:creationId xmlns:a16="http://schemas.microsoft.com/office/drawing/2014/main" id="{99EE90D9-754E-B970-BF74-0FECF92E735E}"/>
              </a:ext>
            </a:extLst>
          </p:cNvPr>
          <p:cNvPicPr>
            <a:picLocks noChangeAspect="1"/>
          </p:cNvPicPr>
          <p:nvPr/>
        </p:nvPicPr>
        <p:blipFill>
          <a:blip r:embed="rId4"/>
          <a:stretch>
            <a:fillRect/>
          </a:stretch>
        </p:blipFill>
        <p:spPr>
          <a:xfrm>
            <a:off x="6556828" y="2069749"/>
            <a:ext cx="4622800" cy="1752600"/>
          </a:xfrm>
          <a:prstGeom prst="rect">
            <a:avLst/>
          </a:prstGeom>
        </p:spPr>
      </p:pic>
    </p:spTree>
    <p:extLst>
      <p:ext uri="{BB962C8B-B14F-4D97-AF65-F5344CB8AC3E}">
        <p14:creationId xmlns:p14="http://schemas.microsoft.com/office/powerpoint/2010/main" val="1697302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3.5 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 Few-shot (description + input/output examples).</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Also beats other general models not specifically fine-tuned for code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1987551" y="2013475"/>
            <a:ext cx="4559300" cy="3403600"/>
          </a:xfrm>
          <a:prstGeom prst="rect">
            <a:avLst/>
          </a:prstGeom>
        </p:spPr>
      </p:pic>
      <p:pic>
        <p:nvPicPr>
          <p:cNvPr id="7" name="Picture 6">
            <a:extLst>
              <a:ext uri="{FF2B5EF4-FFF2-40B4-BE49-F238E27FC236}">
                <a16:creationId xmlns:a16="http://schemas.microsoft.com/office/drawing/2014/main" id="{E7BBC0F4-A709-7058-AA0C-DB2DE118AF95}"/>
              </a:ext>
            </a:extLst>
          </p:cNvPr>
          <p:cNvPicPr>
            <a:picLocks noChangeAspect="1"/>
          </p:cNvPicPr>
          <p:nvPr/>
        </p:nvPicPr>
        <p:blipFill>
          <a:blip r:embed="rId4"/>
          <a:stretch>
            <a:fillRect/>
          </a:stretch>
        </p:blipFill>
        <p:spPr>
          <a:xfrm>
            <a:off x="6695623" y="2013475"/>
            <a:ext cx="4635500" cy="1498600"/>
          </a:xfrm>
          <a:prstGeom prst="rect">
            <a:avLst/>
          </a:prstGeom>
        </p:spPr>
      </p:pic>
    </p:spTree>
    <p:extLst>
      <p:ext uri="{BB962C8B-B14F-4D97-AF65-F5344CB8AC3E}">
        <p14:creationId xmlns:p14="http://schemas.microsoft.com/office/powerpoint/2010/main" val="31186593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599" y="355701"/>
            <a:ext cx="10174941"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3.6 </a:t>
            </a:r>
            <a:r>
              <a:rPr lang="en-US" sz="4000" b="1" dirty="0">
                <a:solidFill>
                  <a:schemeClr val="tx1"/>
                </a:solidFill>
                <a:latin typeface="Times New Roman" panose="02020603050405020304" pitchFamily="18" charset="0"/>
                <a:cs typeface="Times New Roman" panose="02020603050405020304" pitchFamily="18" charset="0"/>
              </a:rPr>
              <a:t>Massive Multitask Language Understanding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960120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Likely due to limited book data in pre-training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Tree>
    <p:extLst>
      <p:ext uri="{BB962C8B-B14F-4D97-AF65-F5344CB8AC3E}">
        <p14:creationId xmlns:p14="http://schemas.microsoft.com/office/powerpoint/2010/main" val="93818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3.7 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600" y="1052474"/>
            <a:ext cx="6269750" cy="3866203"/>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06632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4955253"/>
            <a:ext cx="10241280" cy="178077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 for tracking progress.</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788958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There is a strong correlation between training perplexity and downstream task performance.</a:t>
            </a:r>
            <a:endParaRPr lang="he-IL" sz="1600" dirty="0">
              <a:solidFill>
                <a:schemeClr val="tx1"/>
              </a:solidFill>
              <a:latin typeface="Times New Roman" panose="02020603050405020304" pitchFamily="18" charset="0"/>
              <a:cs typeface="Times New Roman" panose="02020603050405020304" pitchFamily="18" charset="0"/>
            </a:endParaRP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Tree>
    <p:extLst>
      <p:ext uri="{BB962C8B-B14F-4D97-AF65-F5344CB8AC3E}">
        <p14:creationId xmlns:p14="http://schemas.microsoft.com/office/powerpoint/2010/main" val="7448403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4 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E75E273E-D86D-F784-2264-D58FD558CE29}"/>
              </a:ext>
            </a:extLst>
          </p:cNvPr>
          <p:cNvGrpSpPr/>
          <p:nvPr/>
        </p:nvGrpSpPr>
        <p:grpSpPr>
          <a:xfrm>
            <a:off x="8524370" y="1133856"/>
            <a:ext cx="3081581" cy="3902966"/>
            <a:chOff x="6868332" y="1015898"/>
            <a:chExt cx="3081581" cy="3902966"/>
          </a:xfrm>
        </p:grpSpPr>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r="16403" b="20895"/>
            <a:stretch/>
          </p:blipFill>
          <p:spPr>
            <a:xfrm>
              <a:off x="6868332" y="1015898"/>
              <a:ext cx="3081580" cy="3385621"/>
            </a:xfrm>
            <a:prstGeom prst="rect">
              <a:avLst/>
            </a:prstGeom>
          </p:spPr>
        </p:pic>
        <p:pic>
          <p:nvPicPr>
            <p:cNvPr id="5" name="Picture 4">
              <a:extLst>
                <a:ext uri="{FF2B5EF4-FFF2-40B4-BE49-F238E27FC236}">
                  <a16:creationId xmlns:a16="http://schemas.microsoft.com/office/drawing/2014/main" id="{B05595B8-0AB9-F9E0-AEE0-57528290627D}"/>
                </a:ext>
              </a:extLst>
            </p:cNvPr>
            <p:cNvPicPr>
              <a:picLocks noChangeAspect="1"/>
            </p:cNvPicPr>
            <p:nvPr/>
          </p:nvPicPr>
          <p:blipFill>
            <a:blip r:embed="rId3"/>
            <a:srcRect t="81917"/>
            <a:stretch/>
          </p:blipFill>
          <p:spPr>
            <a:xfrm>
              <a:off x="6868333" y="4401520"/>
              <a:ext cx="3081580" cy="517344"/>
            </a:xfrm>
            <a:prstGeom prst="rect">
              <a:avLst/>
            </a:prstGeom>
          </p:spPr>
        </p:pic>
      </p:grpSp>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Tree>
    <p:extLst>
      <p:ext uri="{BB962C8B-B14F-4D97-AF65-F5344CB8AC3E}">
        <p14:creationId xmlns:p14="http://schemas.microsoft.com/office/powerpoint/2010/main" val="2706834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 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r>
              <a:rPr lang="en-US" dirty="0">
                <a:solidFill>
                  <a:schemeClr val="tx1"/>
                </a:solidFill>
                <a:latin typeface="Times New Roman" panose="02020603050405020304" pitchFamily="18" charset="0"/>
                <a:cs typeface="Times New Roman" panose="02020603050405020304" pitchFamily="18" charset="0"/>
              </a:rPr>
              <a: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Since the dataset includes large amounts of Web data, assessing these risks is essential.</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err="1">
                <a:solidFill>
                  <a:schemeClr val="tx1"/>
                </a:solidFill>
                <a:latin typeface="Times New Roman" panose="02020603050405020304" pitchFamily="18" charset="0"/>
                <a:cs typeface="Times New Roman" panose="02020603050405020304" pitchFamily="18" charset="0"/>
              </a:rPr>
              <a:t>LLaMA</a:t>
            </a:r>
            <a:r>
              <a:rPr lang="en-US" dirty="0">
                <a:solidFill>
                  <a:schemeClr val="tx1"/>
                </a:solidFill>
                <a:latin typeface="Times New Roman" panose="02020603050405020304" pitchFamily="18" charset="0"/>
                <a:cs typeface="Times New Roman" panose="02020603050405020304" pitchFamily="18" charset="0"/>
              </a:rPr>
              <a:t> models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r>
              <a:rPr lang="en-US" dirty="0">
                <a:solidFill>
                  <a:schemeClr val="tx1"/>
                </a:solidFill>
                <a:latin typeface="Times New Roman" panose="02020603050405020304" pitchFamily="18" charset="0"/>
                <a:cs typeface="Times New Roman" panose="02020603050405020304" pitchFamily="18" charset="0"/>
              </a:rPr>
              <a:t>.</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83853-09E3-8BD8-8ED3-BD623C2063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E218B-024E-96D6-AB28-D2D2722BA3C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5.1 </a:t>
            </a:r>
            <a:r>
              <a:rPr lang="en-US" b="1" i="0" dirty="0" err="1">
                <a:solidFill>
                  <a:schemeClr val="tx1"/>
                </a:solidFill>
                <a:effectLst/>
                <a:latin typeface="Times New Roman" panose="02020603050405020304" pitchFamily="18" charset="0"/>
                <a:cs typeface="Times New Roman" panose="02020603050405020304" pitchFamily="18" charset="0"/>
              </a:rPr>
              <a:t>RealToxicityPrompts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320813B-E6B6-8D17-903E-56276676D859}"/>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Toxicity Score (0 to 1) evaluated by </a:t>
            </a:r>
            <a:r>
              <a:rPr lang="en-US" b="1" dirty="0" err="1">
                <a:solidFill>
                  <a:schemeClr val="tx1"/>
                </a:solidFill>
                <a:latin typeface="Times New Roman" panose="02020603050405020304" pitchFamily="18" charset="0"/>
                <a:cs typeface="Times New Roman" panose="02020603050405020304" pitchFamily="18" charset="0"/>
              </a:rPr>
              <a:t>PerspectiveAPI</a:t>
            </a:r>
            <a:r>
              <a:rPr lang="en-US" dirty="0">
                <a:solidFill>
                  <a:schemeClr val="tx1"/>
                </a:solidFill>
                <a:latin typeface="Times New Roman" panose="02020603050405020304" pitchFamily="18" charset="0"/>
                <a:cs typeface="Times New Roman" panose="02020603050405020304" pitchFamily="18" charset="0"/>
              </a:rPr>
              <a:t>.</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Greedy generation on ~100k prompts (Basic and Respectful categories).</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B84C8E4A-0BE0-9EDA-A839-F679CCA488C8}"/>
              </a:ext>
            </a:extLst>
          </p:cNvPr>
          <p:cNvPicPr>
            <a:picLocks noChangeAspect="1"/>
          </p:cNvPicPr>
          <p:nvPr/>
        </p:nvPicPr>
        <p:blipFill>
          <a:blip r:embed="rId3"/>
          <a:stretch>
            <a:fillRect/>
          </a:stretch>
        </p:blipFill>
        <p:spPr>
          <a:xfrm>
            <a:off x="2095895" y="2098623"/>
            <a:ext cx="3835080" cy="1776544"/>
          </a:xfrm>
          <a:prstGeom prst="rect">
            <a:avLst/>
          </a:prstGeom>
        </p:spPr>
      </p:pic>
      <p:pic>
        <p:nvPicPr>
          <p:cNvPr id="5" name="Picture 4">
            <a:extLst>
              <a:ext uri="{FF2B5EF4-FFF2-40B4-BE49-F238E27FC236}">
                <a16:creationId xmlns:a16="http://schemas.microsoft.com/office/drawing/2014/main" id="{693E4F68-4DBD-499B-BB23-0D7479AB4F4B}"/>
              </a:ext>
            </a:extLst>
          </p:cNvPr>
          <p:cNvPicPr>
            <a:picLocks noChangeAspect="1"/>
          </p:cNvPicPr>
          <p:nvPr/>
        </p:nvPicPr>
        <p:blipFill>
          <a:blip r:embed="rId4"/>
          <a:stretch>
            <a:fillRect/>
          </a:stretch>
        </p:blipFill>
        <p:spPr>
          <a:xfrm>
            <a:off x="6184900" y="2109867"/>
            <a:ext cx="4635500" cy="1765300"/>
          </a:xfrm>
          <a:prstGeom prst="rect">
            <a:avLst/>
          </a:prstGeom>
        </p:spPr>
      </p:pic>
      <p:sp>
        <p:nvSpPr>
          <p:cNvPr id="6" name="Content Placeholder 2">
            <a:extLst>
              <a:ext uri="{FF2B5EF4-FFF2-40B4-BE49-F238E27FC236}">
                <a16:creationId xmlns:a16="http://schemas.microsoft.com/office/drawing/2014/main" id="{900474AA-A268-DCA2-417C-D5600A73439E}"/>
              </a:ext>
            </a:extLst>
          </p:cNvPr>
          <p:cNvSpPr txBox="1">
            <a:spLocks/>
          </p:cNvSpPr>
          <p:nvPr/>
        </p:nvSpPr>
        <p:spPr>
          <a:xfrm>
            <a:off x="1371600" y="4074427"/>
            <a:ext cx="9601200" cy="2427872"/>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dirty="0">
                <a:solidFill>
                  <a:schemeClr val="tx1"/>
                </a:solidFill>
                <a:latin typeface="Times New Roman" panose="02020603050405020304" pitchFamily="18" charset="0"/>
                <a:cs typeface="Times New Roman" panose="02020603050405020304" pitchFamily="18" charset="0"/>
              </a:rPr>
              <a:t>Toxicity scores are comparable to other models, e.g., 0.087 for Chinchilla.</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Generally, toxicity tends to increase with model size.</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Notably, the largest model (65B) was found to generate outputs that were more toxic when given “Respectful” prompts.</a:t>
            </a:r>
          </a:p>
          <a:p>
            <a:pPr>
              <a:lnSpc>
                <a:spcPct val="100000"/>
              </a:lnSpc>
            </a:pPr>
            <a:r>
              <a:rPr lang="en-US" dirty="0">
                <a:solidFill>
                  <a:schemeClr val="tx1"/>
                </a:solidFill>
                <a:latin typeface="Times New Roman" panose="02020603050405020304" pitchFamily="18" charset="0"/>
                <a:cs typeface="Times New Roman" panose="02020603050405020304" pitchFamily="18" charset="0"/>
              </a:rPr>
              <a:t>Comparisons are difficult due to differences in sampling strategies and API versions across papers.</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278852E7-327C-EA48-D752-3CE6416D22B9}"/>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8458950" y="1067483"/>
            <a:ext cx="2146300" cy="508000"/>
          </a:xfrm>
          <a:prstGeom prst="rect">
            <a:avLst/>
          </a:prstGeom>
        </p:spPr>
      </p:pic>
    </p:spTree>
    <p:extLst>
      <p:ext uri="{BB962C8B-B14F-4D97-AF65-F5344CB8AC3E}">
        <p14:creationId xmlns:p14="http://schemas.microsoft.com/office/powerpoint/2010/main" val="305697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5.2 </a:t>
            </a: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5.3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he-IL" b="1" dirty="0" err="1">
                <a:solidFill>
                  <a:schemeClr val="tx1"/>
                </a:solidFill>
                <a:latin typeface="Times New Roman" panose="02020603050405020304" pitchFamily="18" charset="0"/>
                <a:cs typeface="Times New Roman" panose="02020603050405020304" pitchFamily="18" charset="0"/>
              </a:rPr>
              <a:t>E</a:t>
            </a:r>
            <a:r>
              <a:rPr lang="en-US" b="1" dirty="0" err="1">
                <a:solidFill>
                  <a:schemeClr val="tx1"/>
                </a:solidFill>
                <a:latin typeface="Times New Roman" panose="02020603050405020304" pitchFamily="18" charset="0"/>
                <a:cs typeface="Times New Roman" panose="02020603050405020304" pitchFamily="18" charset="0"/>
              </a:rPr>
              <a:t>xample</a:t>
            </a:r>
            <a:r>
              <a:rPr lang="en-US" b="1" dirty="0">
                <a:solidFill>
                  <a:schemeClr val="tx1"/>
                </a:solidFill>
                <a:latin typeface="Times New Roman" panose="02020603050405020304" pitchFamily="18" charset="0"/>
                <a:cs typeface="Times New Roman" panose="02020603050405020304" pitchFamily="18" charset="0"/>
              </a:rPr>
              <a:t>:</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he</a:t>
            </a:r>
            <a:r>
              <a:rPr lang="en-US" dirty="0">
                <a:solidFill>
                  <a:schemeClr val="tx1"/>
                </a:solidFill>
                <a:latin typeface="Times New Roman" panose="02020603050405020304" pitchFamily="18" charset="0"/>
                <a:cs typeface="Times New Roman" panose="02020603050405020304" pitchFamily="18" charset="0"/>
              </a:rPr>
              <a:t> was busy.</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she</a:t>
            </a:r>
            <a:r>
              <a:rPr lang="en-US" dirty="0">
                <a:solidFill>
                  <a:schemeClr val="tx1"/>
                </a:solidFill>
                <a:latin typeface="Times New Roman" panose="02020603050405020304" pitchFamily="18" charset="0"/>
                <a:cs typeface="Times New Roman" panose="02020603050405020304" pitchFamily="18" charset="0"/>
              </a:rPr>
              <a:t> was busy.</a:t>
            </a:r>
            <a:endParaRPr lang="he-IL"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5.4 </a:t>
            </a: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3"/>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r>
                  <a:rPr lang="en-US" i="0"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i="0" smtClean="0">
                        <a:solidFill>
                          <a:schemeClr val="tx1"/>
                        </a:solidFill>
                        <a:latin typeface="Cambria Math" panose="02040503050406030204" pitchFamily="18" charset="0"/>
                        <a:cs typeface="Times New Roman" panose="02020603050405020304" pitchFamily="18" charset="0"/>
                      </a:rPr>
                      <m:t>Wh</m:t>
                    </m:r>
                  </m:oMath>
                </a14:m>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oMath>
                </a14:m>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oMath>
                </a14:m>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p:txBody>
          </p:sp>
        </mc:Choice>
        <mc:Fallback>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3"/>
                <a:stretch>
                  <a:fillRect l="-615" t="-978" r="-246"/>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F1E38-6B13-5382-1A44-5CEF78B49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281C5-9F37-9D7E-97A3-F65C3D0CF2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(2)</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A12A497-6CF9-1104-28FB-33A8F485C2DD}"/>
                  </a:ext>
                </a:extLst>
              </p:cNvPr>
              <p:cNvSpPr txBox="1">
                <a:spLocks/>
              </p:cNvSpPr>
              <p:nvPr/>
            </p:nvSpPr>
            <p:spPr>
              <a:xfrm>
                <a:off x="1371599" y="1133856"/>
                <a:ext cx="9601200"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a:t>
                </a:r>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br>
                  <a:rPr lang="en-US" dirty="0">
                    <a:solidFill>
                      <a:schemeClr val="tx1"/>
                    </a:solidFill>
                    <a:latin typeface="Times New Roman" panose="02020603050405020304" pitchFamily="18" charset="0"/>
                    <a:cs typeface="Times New Roman" panose="02020603050405020304" pitchFamily="18" charset="0"/>
                  </a:rPr>
                </a:br>
                <a:r>
                  <a:rPr lang="en-US"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oMath>
                </a14:m>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14:m>
                  <m:oMath xmlns:m="http://schemas.openxmlformats.org/officeDocument/2006/math">
                    <m:r>
                      <a:rPr lang="en-US" b="0" i="0" smtClean="0">
                        <a:solidFill>
                          <a:schemeClr val="tx1"/>
                        </a:solidFill>
                        <a:latin typeface="Cambria Math" panose="02040503050406030204" pitchFamily="18" charset="0"/>
                        <a:cs typeface="Times New Roman" panose="02020603050405020304" pitchFamily="18" charset="0"/>
                      </a:rPr>
                      <m:t>0.385</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14:m>
                  <m:oMath xmlns:m="http://schemas.openxmlformats.org/officeDocument/2006/math">
                    <m:r>
                      <a:rPr lang="en-US" i="0">
                        <a:solidFill>
                          <a:schemeClr val="tx1"/>
                        </a:solidFill>
                        <a:latin typeface="Cambria Math" panose="02040503050406030204" pitchFamily="18" charset="0"/>
                        <a:cs typeface="Times New Roman" panose="02020603050405020304" pitchFamily="18" charset="0"/>
                      </a:rPr>
                      <m:t>0.385</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kg</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KWh</m:t>
                    </m:r>
                  </m:oMath>
                </a14:m>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p:txBody>
          </p:sp>
        </mc:Choice>
        <mc:Fallback>
          <p:sp>
            <p:nvSpPr>
              <p:cNvPr id="3" name="Content Placeholder 2">
                <a:extLst>
                  <a:ext uri="{FF2B5EF4-FFF2-40B4-BE49-F238E27FC236}">
                    <a16:creationId xmlns:a16="http://schemas.microsoft.com/office/drawing/2014/main" id="{BA12A497-6CF9-1104-28FB-33A8F485C2DD}"/>
                  </a:ext>
                </a:extLst>
              </p:cNvPr>
              <p:cNvSpPr txBox="1">
                <a:spLocks noRot="1" noChangeAspect="1" noMove="1" noResize="1" noEditPoints="1" noAdjustHandles="1" noChangeArrowheads="1" noChangeShapeType="1" noTextEdit="1"/>
              </p:cNvSpPr>
              <p:nvPr/>
            </p:nvSpPr>
            <p:spPr>
              <a:xfrm>
                <a:off x="1371599" y="1133856"/>
                <a:ext cx="9601200" cy="5179161"/>
              </a:xfrm>
              <a:prstGeom prst="rect">
                <a:avLst/>
              </a:prstGeom>
              <a:blipFill>
                <a:blip r:embed="rId3"/>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5291840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6011E-CD44-4925-FDBF-3269926C8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DA828-9ACF-3846-1757-36CF827BD12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(3)</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98ADCC5-1250-F63D-41B8-0DAF845A4132}"/>
                  </a:ext>
                </a:extLst>
              </p:cNvPr>
              <p:cNvSpPr txBox="1">
                <a:spLocks/>
              </p:cNvSpPr>
              <p:nvPr/>
            </p:nvSpPr>
            <p:spPr>
              <a:xfrm>
                <a:off x="1371600" y="1133856"/>
                <a:ext cx="9601200"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dirty="0" err="1">
                    <a:solidFill>
                      <a:schemeClr val="tx1"/>
                    </a:solidFill>
                    <a:latin typeface="Times New Roman" panose="02020603050405020304" pitchFamily="18" charset="0"/>
                    <a:cs typeface="Times New Roman" panose="02020603050405020304" pitchFamily="18" charset="0"/>
                  </a:rPr>
                  <a:t>LLaMA</a:t>
                </a:r>
                <a:r>
                  <a:rPr lang="en-US" dirty="0">
                    <a:solidFill>
                      <a:schemeClr val="tx1"/>
                    </a:solidFill>
                    <a:latin typeface="Times New Roman" panose="02020603050405020304" pitchFamily="18" charset="0"/>
                    <a:cs typeface="Times New Roman" panose="02020603050405020304" pitchFamily="18" charset="0"/>
                  </a:rPr>
                  <a:t>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1"/>
                <a:endParaRPr lang="en-US" sz="12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In simple words, training all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emitted </a:t>
                </a:r>
                <a:r>
                  <a:rPr lang="en-US" b="1" i="0" dirty="0">
                    <a:solidFill>
                      <a:schemeClr val="tx1"/>
                    </a:solidFill>
                    <a:latin typeface="Times New Roman" panose="02020603050405020304" pitchFamily="18" charset="0"/>
                    <a:cs typeface="Times New Roman" panose="02020603050405020304" pitchFamily="18" charset="0"/>
                  </a:rPr>
                  <a:t>1,015 tons of </a:t>
                </a:r>
                <a14:m>
                  <m:oMath xmlns:m="http://schemas.openxmlformats.org/officeDocument/2006/math">
                    <m:r>
                      <a:rPr lang="en-US" b="1" i="0" dirty="0" smtClean="0">
                        <a:solidFill>
                          <a:schemeClr val="tx1"/>
                        </a:solidFill>
                        <a:latin typeface="Cambria Math" panose="02040503050406030204" pitchFamily="18" charset="0"/>
                        <a:cs typeface="Times New Roman" panose="02020603050405020304" pitchFamily="18" charset="0"/>
                      </a:rPr>
                      <m:t>𝐂</m:t>
                    </m:r>
                    <m:sSub>
                      <m:sSubPr>
                        <m:ctrlPr>
                          <a:rPr lang="en-US" b="1" i="1" dirty="0" smtClean="0">
                            <a:solidFill>
                              <a:schemeClr val="tx1"/>
                            </a:solidFill>
                            <a:latin typeface="Cambria Math" panose="02040503050406030204" pitchFamily="18" charset="0"/>
                            <a:cs typeface="Times New Roman" panose="02020603050405020304" pitchFamily="18" charset="0"/>
                          </a:rPr>
                        </m:ctrlPr>
                      </m:sSubPr>
                      <m:e>
                        <m:r>
                          <a:rPr lang="en-US" b="1" i="0" dirty="0" smtClean="0">
                            <a:solidFill>
                              <a:schemeClr val="tx1"/>
                            </a:solidFill>
                            <a:latin typeface="Cambria Math" panose="02040503050406030204" pitchFamily="18" charset="0"/>
                            <a:cs typeface="Times New Roman" panose="02020603050405020304" pitchFamily="18" charset="0"/>
                          </a:rPr>
                          <m:t>𝐎</m:t>
                        </m:r>
                      </m:e>
                      <m:sub>
                        <m:r>
                          <a:rPr lang="en-US" b="1" i="0" dirty="0" smtClean="0">
                            <a:solidFill>
                              <a:schemeClr val="tx1"/>
                            </a:solidFill>
                            <a:latin typeface="Cambria Math" panose="02040503050406030204" pitchFamily="18" charset="0"/>
                            <a:cs typeface="Times New Roman" panose="02020603050405020304" pitchFamily="18" charset="0"/>
                          </a:rPr>
                          <m:t>𝟐</m:t>
                        </m:r>
                      </m:sub>
                    </m:sSub>
                  </m:oMath>
                </a14:m>
                <a:r>
                  <a:rPr lang="en-US" i="0" dirty="0">
                    <a:solidFill>
                      <a:schemeClr val="tx1"/>
                    </a:solidFill>
                    <a:latin typeface="Times New Roman" panose="02020603050405020304" pitchFamily="18" charset="0"/>
                    <a:cs typeface="Times New Roman" panose="02020603050405020304" pitchFamily="18" charset="0"/>
                  </a:rPr>
                  <a:t> </a:t>
                </a:r>
                <a:br>
                  <a:rPr lang="en-US" i="0" dirty="0">
                    <a:solidFill>
                      <a:schemeClr val="tx1"/>
                    </a:solidFill>
                    <a:latin typeface="Times New Roman" panose="02020603050405020304" pitchFamily="18" charset="0"/>
                    <a:cs typeface="Times New Roman" panose="02020603050405020304" pitchFamily="18" charset="0"/>
                  </a:rPr>
                </a:br>
                <a:r>
                  <a:rPr lang="en-US" i="0" dirty="0">
                    <a:solidFill>
                      <a:schemeClr val="tx1"/>
                    </a:solidFill>
                    <a:latin typeface="Times New Roman" panose="02020603050405020304" pitchFamily="18" charset="0"/>
                    <a:cs typeface="Times New Roman" panose="02020603050405020304" pitchFamily="18" charset="0"/>
                  </a:rPr>
                  <a:t>To put it in perspective, it is roughly equivalent to:</a:t>
                </a:r>
                <a:endParaRPr lang="en-US" b="1" i="0"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The annual emissions of about 220 gas-powered cars.</a:t>
                </a:r>
              </a:p>
              <a:p>
                <a:pPr lvl="1"/>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pPr lvl="1"/>
                <a:r>
                  <a:rPr lang="en-US" i="0" dirty="0">
                    <a:solidFill>
                      <a:schemeClr val="tx1"/>
                    </a:solidFill>
                    <a:latin typeface="Times New Roman" panose="02020603050405020304" pitchFamily="18" charset="0"/>
                    <a:cs typeface="Times New Roman" panose="02020603050405020304" pitchFamily="18" charset="0"/>
                  </a:rPr>
                  <a:t>The energy used by 125 average homes for an entire year.</a:t>
                </a:r>
              </a:p>
            </p:txBody>
          </p:sp>
        </mc:Choice>
        <mc:Fallback>
          <p:sp>
            <p:nvSpPr>
              <p:cNvPr id="3" name="Content Placeholder 2">
                <a:extLst>
                  <a:ext uri="{FF2B5EF4-FFF2-40B4-BE49-F238E27FC236}">
                    <a16:creationId xmlns:a16="http://schemas.microsoft.com/office/drawing/2014/main" id="{B98ADCC5-1250-F63D-41B8-0DAF845A4132}"/>
                  </a:ext>
                </a:extLst>
              </p:cNvPr>
              <p:cNvSpPr txBox="1">
                <a:spLocks noRot="1" noChangeAspect="1" noMove="1" noResize="1" noEditPoints="1" noAdjustHandles="1" noChangeArrowheads="1" noChangeShapeType="1" noTextEdit="1"/>
              </p:cNvSpPr>
              <p:nvPr/>
            </p:nvSpPr>
            <p:spPr>
              <a:xfrm>
                <a:off x="1371600" y="1133856"/>
                <a:ext cx="9601200" cy="5179161"/>
              </a:xfrm>
              <a:prstGeom prst="rect">
                <a:avLst/>
              </a:prstGeom>
              <a:blipFill>
                <a:blip r:embed="rId3"/>
                <a:stretch>
                  <a:fillRect l="-661" t="-978" b="-1467"/>
                </a:stretch>
              </a:blipFill>
            </p:spPr>
            <p:txBody>
              <a:bodyPr/>
              <a:lstStyle/>
              <a:p>
                <a:r>
                  <a:rPr lang="en-IL">
                    <a:noFill/>
                  </a:rPr>
                  <a:t> </a:t>
                </a:r>
              </a:p>
            </p:txBody>
          </p:sp>
        </mc:Fallback>
      </mc:AlternateContent>
    </p:spTree>
    <p:extLst>
      <p:ext uri="{BB962C8B-B14F-4D97-AF65-F5344CB8AC3E}">
        <p14:creationId xmlns:p14="http://schemas.microsoft.com/office/powerpoint/2010/main" val="4068634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AB143-2F7B-2F8F-D714-B2FAA4B8EE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9EBF2B-797F-0311-B836-06EAAB9A54FA}"/>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(4)</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C1B95D5-5209-A71E-B25A-F9DA49D7C13C}"/>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1"/>
                <a:endParaRPr lang="en-US" sz="12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are designed to run on a single GPU, significantly lowering the energy barrier for research and inference.</a:t>
                </a:r>
              </a:p>
              <a:p>
                <a:pPr lvl="1"/>
                <a:endParaRPr lang="en-US" i="0" dirty="0">
                  <a:solidFill>
                    <a:schemeClr val="tx1"/>
                  </a:solidFill>
                  <a:latin typeface="Times New Roman" panose="02020603050405020304" pitchFamily="18" charset="0"/>
                  <a:cs typeface="Times New Roman" panose="02020603050405020304" pitchFamily="18" charset="0"/>
                </a:endParaRPr>
              </a:p>
              <a:p>
                <a:pPr lvl="1"/>
                <a:endParaRPr lang="en-US" i="0" dirty="0">
                  <a:solidFill>
                    <a:schemeClr val="tx1"/>
                  </a:solidFill>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7C1B95D5-5209-A71E-B25A-F9DA49D7C13C}"/>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3"/>
                <a:stretch>
                  <a:fillRect l="-615" t="-978"/>
                </a:stretch>
              </a:blipFill>
            </p:spPr>
            <p:txBody>
              <a:bodyPr/>
              <a:lstStyle/>
              <a:p>
                <a:r>
                  <a:rPr lang="en-IL">
                    <a:noFill/>
                  </a:rPr>
                  <a:t> </a:t>
                </a:r>
              </a:p>
            </p:txBody>
          </p:sp>
        </mc:Fallback>
      </mc:AlternateContent>
    </p:spTree>
    <p:extLst>
      <p:ext uri="{BB962C8B-B14F-4D97-AF65-F5344CB8AC3E}">
        <p14:creationId xmlns:p14="http://schemas.microsoft.com/office/powerpoint/2010/main" val="36980071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(5)</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sz="5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sz="5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endParaRPr lang="en-US" sz="5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Releasing these is reducing emissions; The smaller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can run on a single GPU</a:t>
                </a:r>
              </a:p>
              <a:p>
                <a:pPr lvl="1"/>
                <a:endParaRPr lang="en-US" i="0" dirty="0">
                  <a:solidFill>
                    <a:schemeClr val="tx1"/>
                  </a:solidFill>
                  <a:latin typeface="Times New Roman" panose="02020603050405020304" pitchFamily="18" charset="0"/>
                  <a:cs typeface="Times New Roman" panose="02020603050405020304" pitchFamily="18" charset="0"/>
                </a:endParaRPr>
              </a:p>
              <a:p>
                <a:pPr lvl="1"/>
                <a:endParaRPr lang="en-US" i="0"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86CD259F-5FC3-0B12-2C50-F3FC5CB35B7D}"/>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3"/>
                <a:stretch>
                  <a:fillRect l="-615" t="-978"/>
                </a:stretch>
              </a:blipFill>
            </p:spPr>
            <p:txBody>
              <a:bodyPr/>
              <a:lstStyle/>
              <a:p>
                <a:r>
                  <a:rPr lang="en-IL">
                    <a:noFill/>
                  </a:rPr>
                  <a:t> </a:t>
                </a:r>
              </a:p>
            </p:txBody>
          </p:sp>
        </mc:Fallback>
      </mc:AlternateContent>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4"/>
          <a:srcRect t="3293"/>
          <a:stretch/>
        </p:blipFill>
        <p:spPr>
          <a:xfrm>
            <a:off x="2019513" y="2981158"/>
            <a:ext cx="8800887" cy="3449817"/>
          </a:xfrm>
          <a:prstGeom prst="rect">
            <a:avLst/>
          </a:prstGeom>
        </p:spPr>
      </p:pic>
    </p:spTree>
    <p:extLst>
      <p:ext uri="{BB962C8B-B14F-4D97-AF65-F5344CB8AC3E}">
        <p14:creationId xmlns:p14="http://schemas.microsoft.com/office/powerpoint/2010/main" val="39940905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Related Work</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791612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1D5F-4ACE-143C-1DE9-60B30B9F77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6633A-A5A4-A907-5315-4A3E4A46A27A}"/>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7 Related Work</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ABA5A4F-BBFB-76EA-771C-0A5705DC2163}"/>
                  </a:ext>
                </a:extLst>
              </p:cNvPr>
              <p:cNvSpPr txBox="1">
                <a:spLocks/>
              </p:cNvSpPr>
              <p:nvPr/>
            </p:nvSpPr>
            <p:spPr>
              <a:xfrm>
                <a:off x="1371600" y="1133856"/>
                <a:ext cx="10320728"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Language Models</a:t>
                </a:r>
              </a:p>
              <a:p>
                <a:pPr lvl="1"/>
                <a:r>
                  <a:rPr lang="en-US" sz="1800" i="0" dirty="0">
                    <a:solidFill>
                      <a:schemeClr val="tx1"/>
                    </a:solidFill>
                    <a:latin typeface="Times New Roman" panose="02020603050405020304" pitchFamily="18" charset="0"/>
                    <a:cs typeface="Times New Roman" panose="02020603050405020304" pitchFamily="18" charset="0"/>
                  </a:rPr>
                  <a:t>Language modeling is defined as probability distributions over sequences (Shannon, 1948).</a:t>
                </a:r>
              </a:p>
              <a:p>
                <a:pPr lvl="1"/>
                <a:r>
                  <a:rPr lang="en-US" sz="1800" i="0" dirty="0">
                    <a:solidFill>
                      <a:schemeClr val="tx1"/>
                    </a:solidFill>
                    <a:latin typeface="Times New Roman" panose="02020603050405020304" pitchFamily="18" charset="0"/>
                    <a:cs typeface="Times New Roman" panose="02020603050405020304" pitchFamily="18" charset="0"/>
                  </a:rPr>
                  <a:t>Framed as “next token prediction”, it serves as a core benchmark for measuring progress toward AI.</a:t>
                </a:r>
              </a:p>
              <a:p>
                <a:r>
                  <a:rPr lang="en-US" b="1" dirty="0">
                    <a:solidFill>
                      <a:schemeClr val="tx1"/>
                    </a:solidFill>
                    <a:latin typeface="Times New Roman" panose="02020603050405020304" pitchFamily="18" charset="0"/>
                    <a:cs typeface="Times New Roman" panose="02020603050405020304" pitchFamily="18" charset="0"/>
                  </a:rPr>
                  <a:t>Architecture</a:t>
                </a:r>
                <a:endParaRPr lang="en-US"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The architecture of language models has evolved from traditional statistical </a:t>
                </a:r>
                <a14:m>
                  <m:oMath xmlns:m="http://schemas.openxmlformats.org/officeDocument/2006/math">
                    <m:r>
                      <a:rPr lang="en-US" sz="1800" i="1" dirty="0" smtClean="0">
                        <a:solidFill>
                          <a:schemeClr val="tx1"/>
                        </a:solidFill>
                        <a:latin typeface="Cambria Math" panose="02040503050406030204" pitchFamily="18" charset="0"/>
                        <a:cs typeface="Times New Roman" panose="02020603050405020304" pitchFamily="18" charset="0"/>
                      </a:rPr>
                      <m:t>𝑛</m:t>
                    </m:r>
                  </m:oMath>
                </a14:m>
                <a:r>
                  <a:rPr lang="en-US" sz="1800" i="0" dirty="0">
                    <a:solidFill>
                      <a:schemeClr val="tx1"/>
                    </a:solidFill>
                    <a:latin typeface="Times New Roman" panose="02020603050405020304" pitchFamily="18" charset="0"/>
                    <a:cs typeface="Times New Roman" panose="02020603050405020304" pitchFamily="18" charset="0"/>
                  </a:rPr>
                  <a:t>-gram methods to advanced neural networks.</a:t>
                </a:r>
              </a:p>
              <a:p>
                <a:pPr lvl="1"/>
                <a:r>
                  <a:rPr lang="en-US" sz="1800" i="0" dirty="0">
                    <a:solidFill>
                      <a:schemeClr val="tx1"/>
                    </a:solidFill>
                    <a:latin typeface="Times New Roman" panose="02020603050405020304" pitchFamily="18" charset="0"/>
                    <a:cs typeface="Times New Roman" panose="02020603050405020304" pitchFamily="18" charset="0"/>
                  </a:rPr>
                  <a:t>This progression moved through feed-forward models and RNNs/LSTMs before culminating in the Transformer architecture.</a:t>
                </a:r>
              </a:p>
              <a:p>
                <a:pPr lvl="1"/>
                <a:r>
                  <a:rPr lang="en-US" sz="1800" i="0" dirty="0">
                    <a:solidFill>
                      <a:schemeClr val="tx1"/>
                    </a:solidFill>
                    <a:latin typeface="Times New Roman" panose="02020603050405020304" pitchFamily="18" charset="0"/>
                    <a:cs typeface="Times New Roman" panose="02020603050405020304" pitchFamily="18" charset="0"/>
                  </a:rPr>
                  <a:t>By leveraging self-attention, Transformers have revolutionized the field, enabling models to capture long-range dependencies far more effectively than their predecessors.</a:t>
                </a:r>
              </a:p>
              <a:p>
                <a:r>
                  <a:rPr lang="en-US" b="1" dirty="0">
                    <a:solidFill>
                      <a:schemeClr val="tx1"/>
                    </a:solidFill>
                    <a:latin typeface="Times New Roman" panose="02020603050405020304" pitchFamily="18" charset="0"/>
                    <a:cs typeface="Times New Roman" panose="02020603050405020304" pitchFamily="18" charset="0"/>
                  </a:rPr>
                  <a:t>Scaling</a:t>
                </a:r>
                <a:endParaRPr lang="en-US"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Scaling has been a consistent driver of progress in language modeling, with a history of increasing both dataset and model sizes from the </a:t>
                </a:r>
                <a14:m>
                  <m:oMath xmlns:m="http://schemas.openxmlformats.org/officeDocument/2006/math">
                    <m:r>
                      <a:rPr lang="en-US" sz="1800" i="1" dirty="0" smtClean="0">
                        <a:solidFill>
                          <a:schemeClr val="tx1"/>
                        </a:solidFill>
                        <a:latin typeface="Cambria Math" panose="02040503050406030204" pitchFamily="18" charset="0"/>
                        <a:cs typeface="Times New Roman" panose="02020603050405020304" pitchFamily="18" charset="0"/>
                      </a:rPr>
                      <m:t>𝑛</m:t>
                    </m:r>
                  </m:oMath>
                </a14:m>
                <a:r>
                  <a:rPr lang="en-US" sz="1800" i="0" dirty="0">
                    <a:solidFill>
                      <a:schemeClr val="tx1"/>
                    </a:solidFill>
                    <a:latin typeface="Times New Roman" panose="02020603050405020304" pitchFamily="18" charset="0"/>
                    <a:cs typeface="Times New Roman" panose="02020603050405020304" pitchFamily="18" charset="0"/>
                  </a:rPr>
                  <a:t>-gram era to the present.</a:t>
                </a:r>
              </a:p>
              <a:p>
                <a:pPr lvl="1"/>
                <a:r>
                  <a:rPr lang="en-US" sz="1800" i="0" dirty="0">
                    <a:solidFill>
                      <a:schemeClr val="tx1"/>
                    </a:solidFill>
                    <a:latin typeface="Times New Roman" panose="02020603050405020304" pitchFamily="18" charset="0"/>
                    <a:cs typeface="Times New Roman" panose="02020603050405020304" pitchFamily="18" charset="0"/>
                  </a:rPr>
                  <a:t>This trajectory accelerated with neural networks, moving from billion-parameter LSTMs to massive Transformers like GPT-3 (175B), which sparked a wave of large-scale models.</a:t>
                </a:r>
              </a:p>
              <a:p>
                <a:pPr lvl="1"/>
                <a:r>
                  <a:rPr lang="en-US" sz="1800" i="0" dirty="0">
                    <a:solidFill>
                      <a:schemeClr val="tx1"/>
                    </a:solidFill>
                    <a:latin typeface="Times New Roman" panose="02020603050405020304" pitchFamily="18" charset="0"/>
                    <a:cs typeface="Times New Roman" panose="02020603050405020304" pitchFamily="18" charset="0"/>
                  </a:rPr>
                  <a:t>Research has formalized "power laws" that mathematically predict how much better a model will perform as it gets bigger, helping developers train these systems more efficiently.</a:t>
                </a:r>
              </a:p>
            </p:txBody>
          </p:sp>
        </mc:Choice>
        <mc:Fallback>
          <p:sp>
            <p:nvSpPr>
              <p:cNvPr id="3" name="Content Placeholder 2">
                <a:extLst>
                  <a:ext uri="{FF2B5EF4-FFF2-40B4-BE49-F238E27FC236}">
                    <a16:creationId xmlns:a16="http://schemas.microsoft.com/office/drawing/2014/main" id="{2ABA5A4F-BBFB-76EA-771C-0A5705DC2163}"/>
                  </a:ext>
                </a:extLst>
              </p:cNvPr>
              <p:cNvSpPr txBox="1">
                <a:spLocks noRot="1" noChangeAspect="1" noMove="1" noResize="1" noEditPoints="1" noAdjustHandles="1" noChangeArrowheads="1" noChangeShapeType="1" noTextEdit="1"/>
              </p:cNvSpPr>
              <p:nvPr/>
            </p:nvSpPr>
            <p:spPr>
              <a:xfrm>
                <a:off x="1371600" y="1133856"/>
                <a:ext cx="10320728" cy="5724144"/>
              </a:xfrm>
              <a:prstGeom prst="rect">
                <a:avLst/>
              </a:prstGeom>
              <a:blipFill>
                <a:blip r:embed="rId3"/>
                <a:stretch>
                  <a:fillRect l="-615" t="-887" r="-492"/>
                </a:stretch>
              </a:blipFill>
            </p:spPr>
            <p:txBody>
              <a:bodyPr/>
              <a:lstStyle/>
              <a:p>
                <a:r>
                  <a:rPr lang="en-IL">
                    <a:noFill/>
                  </a:rPr>
                  <a:t> </a:t>
                </a:r>
              </a:p>
            </p:txBody>
          </p:sp>
        </mc:Fallback>
      </mc:AlternateContent>
    </p:spTree>
    <p:extLst>
      <p:ext uri="{BB962C8B-B14F-4D97-AF65-F5344CB8AC3E}">
        <p14:creationId xmlns:p14="http://schemas.microsoft.com/office/powerpoint/2010/main" val="17939502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8 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599" y="1133856"/>
            <a:ext cx="10294883"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dirty="0">
                <a:solidFill>
                  <a:schemeClr val="tx1"/>
                </a:solidFill>
                <a:latin typeface="Times New Roman" panose="02020603050405020304" pitchFamily="18" charset="0"/>
                <a:cs typeface="Times New Roman" panose="02020603050405020304" pitchFamily="18" charset="0"/>
              </a:rPr>
              <a:t>The authors demonstrated that SOTA performance can be achieved using exclusively publicly available data, without proprietary datasets.</a:t>
            </a: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dirty="0">
                <a:solidFill>
                  <a:schemeClr val="tx1"/>
                </a:solidFill>
                <a:latin typeface="Times New Roman" panose="02020603050405020304" pitchFamily="18" charset="0"/>
                <a:cs typeface="Times New Roman" panose="02020603050405020304" pitchFamily="18" charset="0"/>
              </a:rPr>
              <a:t>LLaMA-65B is competitive with Chinchilla-70B and PaLM-540B.</a:t>
            </a: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Releasing these models aims to accelerate research, improve robustness, and help mitigate issues like toxicity and bias.</a:t>
            </a:r>
          </a:p>
          <a:p>
            <a:r>
              <a:rPr lang="en-US" dirty="0">
                <a:solidFill>
                  <a:schemeClr val="tx1"/>
                </a:solidFill>
                <a:latin typeface="Times New Roman" panose="02020603050405020304" pitchFamily="18" charset="0"/>
                <a:cs typeface="Times New Roman" panose="02020603050405020304" pitchFamily="18" charset="0"/>
              </a:rPr>
              <a:t>Initial experiments (LLaMA-I) show promising results, but further investigation is planned.</a:t>
            </a:r>
          </a:p>
          <a:p>
            <a:r>
              <a:rPr lang="en-US" dirty="0">
                <a:solidFill>
                  <a:schemeClr val="tx1"/>
                </a:solidFill>
                <a:latin typeface="Times New Roman" panose="02020603050405020304" pitchFamily="18" charset="0"/>
                <a:cs typeface="Times New Roman" panose="02020603050405020304" pitchFamily="18" charset="0"/>
              </a:rPr>
              <a:t>Plans to release larger models trained on larger corpora,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3"/>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4870</TotalTime>
  <Words>5130</Words>
  <Application>Microsoft Macintosh PowerPoint</Application>
  <PresentationFormat>Widescreen</PresentationFormat>
  <Paragraphs>467</Paragraphs>
  <Slides>30</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Cambria Math</vt:lpstr>
      <vt:lpstr>Franklin Gothic Book</vt:lpstr>
      <vt:lpstr>Times New Roman</vt:lpstr>
      <vt:lpstr>Crop</vt:lpstr>
      <vt:lpstr>LLaMA: Open and Efficient Foundation Language Models   evaluation</vt:lpstr>
      <vt:lpstr>Evaluation Methodology</vt:lpstr>
      <vt:lpstr>Benchmarks</vt:lpstr>
      <vt:lpstr>Additional Metrics</vt:lpstr>
      <vt:lpstr>Compared Models</vt:lpstr>
      <vt:lpstr>Benchmarks</vt:lpstr>
      <vt:lpstr>3.1 Common Sense Reasoning</vt:lpstr>
      <vt:lpstr>3.2 Closed-book Question Answering</vt:lpstr>
      <vt:lpstr>3.3 Reading Comprehension</vt:lpstr>
      <vt:lpstr>3.4 Mathematical Reasoning</vt:lpstr>
      <vt:lpstr>3.5 Code Generation</vt:lpstr>
      <vt:lpstr>3.6 Massive Multitask Language Understanding</vt:lpstr>
      <vt:lpstr>3.7 Performance Evolution During Training</vt:lpstr>
      <vt:lpstr>Additional Metrics</vt:lpstr>
      <vt:lpstr>4 Instruction Finetuning</vt:lpstr>
      <vt:lpstr>5 Bias, Toxicity and Misinformation</vt:lpstr>
      <vt:lpstr>5.1 RealToxicityPrompts</vt:lpstr>
      <vt:lpstr>5.2 CrowS-Pairs </vt:lpstr>
      <vt:lpstr>5.3 WinoGender</vt:lpstr>
      <vt:lpstr>5.4 TruthfulQA</vt:lpstr>
      <vt:lpstr>6 Carbon Footprint </vt:lpstr>
      <vt:lpstr>6 Carbon Footprint (2) </vt:lpstr>
      <vt:lpstr>6 Carbon Footprint (3) </vt:lpstr>
      <vt:lpstr>6 Carbon Footprint (4) </vt:lpstr>
      <vt:lpstr>6 Carbon Footprint (5) </vt:lpstr>
      <vt:lpstr>Related Work</vt:lpstr>
      <vt:lpstr>7 Related Work</vt:lpstr>
      <vt:lpstr>Conclusions</vt:lpstr>
      <vt:lpstr>8 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105</cp:revision>
  <dcterms:created xsi:type="dcterms:W3CDTF">2025-11-27T17:21:13Z</dcterms:created>
  <dcterms:modified xsi:type="dcterms:W3CDTF">2025-12-02T20:33:02Z</dcterms:modified>
</cp:coreProperties>
</file>