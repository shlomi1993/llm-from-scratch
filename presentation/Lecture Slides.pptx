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1"/>
  </p:notesMasterIdLst>
  <p:sldIdLst>
    <p:sldId id="256" r:id="rId2"/>
    <p:sldId id="288" r:id="rId3"/>
    <p:sldId id="270" r:id="rId4"/>
    <p:sldId id="257" r:id="rId5"/>
    <p:sldId id="289" r:id="rId6"/>
    <p:sldId id="259" r:id="rId7"/>
    <p:sldId id="260" r:id="rId8"/>
    <p:sldId id="264" r:id="rId9"/>
    <p:sldId id="268" r:id="rId10"/>
    <p:sldId id="261" r:id="rId11"/>
    <p:sldId id="262" r:id="rId12"/>
    <p:sldId id="263" r:id="rId13"/>
    <p:sldId id="265" r:id="rId14"/>
    <p:sldId id="266" r:id="rId15"/>
    <p:sldId id="267" r:id="rId16"/>
    <p:sldId id="272" r:id="rId17"/>
    <p:sldId id="269" r:id="rId18"/>
    <p:sldId id="274" r:id="rId19"/>
    <p:sldId id="275" r:id="rId20"/>
    <p:sldId id="290" r:id="rId21"/>
    <p:sldId id="277" r:id="rId22"/>
    <p:sldId id="278" r:id="rId23"/>
    <p:sldId id="279" r:id="rId24"/>
    <p:sldId id="291" r:id="rId25"/>
    <p:sldId id="280" r:id="rId26"/>
    <p:sldId id="284" r:id="rId27"/>
    <p:sldId id="271" r:id="rId28"/>
    <p:sldId id="286" r:id="rId29"/>
    <p:sldId id="287"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9F9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6FFB4AB-6A20-CE4F-A565-F4C20D365A13}" v="831" dt="2025-11-28T21:43:24.3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907"/>
    <p:restoredTop sz="67582"/>
  </p:normalViewPr>
  <p:slideViewPr>
    <p:cSldViewPr snapToGrid="0">
      <p:cViewPr>
        <p:scale>
          <a:sx n="104" d="100"/>
          <a:sy n="104" d="100"/>
        </p:scale>
        <p:origin x="1408" y="144"/>
      </p:cViewPr>
      <p:guideLst/>
    </p:cSldViewPr>
  </p:slideViewPr>
  <p:outlineViewPr>
    <p:cViewPr>
      <p:scale>
        <a:sx n="33" d="100"/>
        <a:sy n="33" d="100"/>
      </p:scale>
      <p:origin x="0" y="-1004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lomi Ben Shushan" userId="7c78c233cbcc4ad7" providerId="LiveId" clId="{A6FFB4AB-6A20-CE4F-A565-F4C20D365A13}"/>
    <pc:docChg chg="undo redo custSel addSld delSld modSld sldOrd">
      <pc:chgData name="Shlomi Ben Shushan" userId="7c78c233cbcc4ad7" providerId="LiveId" clId="{A6FFB4AB-6A20-CE4F-A565-F4C20D365A13}" dt="2025-11-28T21:44:07.625" v="2872" actId="113"/>
      <pc:docMkLst>
        <pc:docMk/>
      </pc:docMkLst>
      <pc:sldChg chg="addSp delSp modSp mod setBg addAnim delAnim">
        <pc:chgData name="Shlomi Ben Shushan" userId="7c78c233cbcc4ad7" providerId="LiveId" clId="{A6FFB4AB-6A20-CE4F-A565-F4C20D365A13}" dt="2025-11-28T12:01:19.927" v="46" actId="1076"/>
        <pc:sldMkLst>
          <pc:docMk/>
          <pc:sldMk cId="1067226349" sldId="256"/>
        </pc:sldMkLst>
        <pc:spChg chg="mod">
          <ac:chgData name="Shlomi Ben Shushan" userId="7c78c233cbcc4ad7" providerId="LiveId" clId="{A6FFB4AB-6A20-CE4F-A565-F4C20D365A13}" dt="2025-11-28T11:59:08.769" v="10" actId="26606"/>
          <ac:spMkLst>
            <pc:docMk/>
            <pc:sldMk cId="1067226349" sldId="256"/>
            <ac:spMk id="2" creationId="{F31495AF-29A0-C076-CC01-E0BD6E953BA1}"/>
          </ac:spMkLst>
        </pc:spChg>
        <pc:spChg chg="mod">
          <ac:chgData name="Shlomi Ben Shushan" userId="7c78c233cbcc4ad7" providerId="LiveId" clId="{A6FFB4AB-6A20-CE4F-A565-F4C20D365A13}" dt="2025-11-28T11:59:08.769" v="10" actId="26606"/>
          <ac:spMkLst>
            <pc:docMk/>
            <pc:sldMk cId="1067226349" sldId="256"/>
            <ac:spMk id="3" creationId="{D8FBB279-AF1D-54EC-CB83-3F90F28DED23}"/>
          </ac:spMkLst>
        </pc:spChg>
        <pc:spChg chg="add del">
          <ac:chgData name="Shlomi Ben Shushan" userId="7c78c233cbcc4ad7" providerId="LiveId" clId="{A6FFB4AB-6A20-CE4F-A565-F4C20D365A13}" dt="2025-11-28T11:59:04.881" v="8" actId="26606"/>
          <ac:spMkLst>
            <pc:docMk/>
            <pc:sldMk cId="1067226349" sldId="256"/>
            <ac:spMk id="1033" creationId="{7BB74091-09FE-44AF-8325-7FE6E175F727}"/>
          </ac:spMkLst>
        </pc:spChg>
        <pc:spChg chg="add del">
          <ac:chgData name="Shlomi Ben Shushan" userId="7c78c233cbcc4ad7" providerId="LiveId" clId="{A6FFB4AB-6A20-CE4F-A565-F4C20D365A13}" dt="2025-11-28T11:59:04.881" v="8" actId="26606"/>
          <ac:spMkLst>
            <pc:docMk/>
            <pc:sldMk cId="1067226349" sldId="256"/>
            <ac:spMk id="1035" creationId="{0F30CCEB-94C4-4F72-BA5A-9CEA853022DA}"/>
          </ac:spMkLst>
        </pc:spChg>
        <pc:spChg chg="add del">
          <ac:chgData name="Shlomi Ben Shushan" userId="7c78c233cbcc4ad7" providerId="LiveId" clId="{A6FFB4AB-6A20-CE4F-A565-F4C20D365A13}" dt="2025-11-28T11:59:04.881" v="8" actId="26606"/>
          <ac:spMkLst>
            <pc:docMk/>
            <pc:sldMk cId="1067226349" sldId="256"/>
            <ac:spMk id="1037" creationId="{0DE1A94F-CC8B-4954-97A7-ADD4F300D647}"/>
          </ac:spMkLst>
        </pc:spChg>
        <pc:spChg chg="add del">
          <ac:chgData name="Shlomi Ben Shushan" userId="7c78c233cbcc4ad7" providerId="LiveId" clId="{A6FFB4AB-6A20-CE4F-A565-F4C20D365A13}" dt="2025-11-28T11:59:08.769" v="10" actId="26606"/>
          <ac:spMkLst>
            <pc:docMk/>
            <pc:sldMk cId="1067226349" sldId="256"/>
            <ac:spMk id="1039" creationId="{1F9A0C1C-8ABC-401B-8FE9-AC9327C4C587}"/>
          </ac:spMkLst>
        </pc:spChg>
        <pc:spChg chg="add del">
          <ac:chgData name="Shlomi Ben Shushan" userId="7c78c233cbcc4ad7" providerId="LiveId" clId="{A6FFB4AB-6A20-CE4F-A565-F4C20D365A13}" dt="2025-11-28T11:59:08.769" v="10" actId="26606"/>
          <ac:spMkLst>
            <pc:docMk/>
            <pc:sldMk cId="1067226349" sldId="256"/>
            <ac:spMk id="1040" creationId="{BA5783C3-2F96-40A7-A24F-30CB07AA3928}"/>
          </ac:spMkLst>
        </pc:spChg>
        <pc:spChg chg="add del">
          <ac:chgData name="Shlomi Ben Shushan" userId="7c78c233cbcc4ad7" providerId="LiveId" clId="{A6FFB4AB-6A20-CE4F-A565-F4C20D365A13}" dt="2025-11-28T11:59:08.769" v="10" actId="26606"/>
          <ac:spMkLst>
            <pc:docMk/>
            <pc:sldMk cId="1067226349" sldId="256"/>
            <ac:spMk id="1041" creationId="{A9D08DBA-0326-4C4E-ACFB-576F3ABDD2D0}"/>
          </ac:spMkLst>
        </pc:spChg>
        <pc:picChg chg="add mod">
          <ac:chgData name="Shlomi Ben Shushan" userId="7c78c233cbcc4ad7" providerId="LiveId" clId="{A6FFB4AB-6A20-CE4F-A565-F4C20D365A13}" dt="2025-11-28T11:58:55.360" v="2"/>
          <ac:picMkLst>
            <pc:docMk/>
            <pc:sldMk cId="1067226349" sldId="256"/>
            <ac:picMk id="4" creationId="{E29ECD90-55B5-41DA-B601-ED2C0546BCDE}"/>
          </ac:picMkLst>
        </pc:picChg>
        <pc:picChg chg="add del">
          <ac:chgData name="Shlomi Ben Shushan" userId="7c78c233cbcc4ad7" providerId="LiveId" clId="{A6FFB4AB-6A20-CE4F-A565-F4C20D365A13}" dt="2025-11-28T11:58:55.052" v="1" actId="478"/>
          <ac:picMkLst>
            <pc:docMk/>
            <pc:sldMk cId="1067226349" sldId="256"/>
            <ac:picMk id="1026" creationId="{EE855881-AB40-476D-D8DD-6F499AD049CA}"/>
          </ac:picMkLst>
        </pc:picChg>
        <pc:picChg chg="add mod">
          <ac:chgData name="Shlomi Ben Shushan" userId="7c78c233cbcc4ad7" providerId="LiveId" clId="{A6FFB4AB-6A20-CE4F-A565-F4C20D365A13}" dt="2025-11-28T12:01:19.927" v="46" actId="1076"/>
          <ac:picMkLst>
            <pc:docMk/>
            <pc:sldMk cId="1067226349" sldId="256"/>
            <ac:picMk id="1028" creationId="{4DAD5C20-EE08-FA81-5B77-7A2E6583510B}"/>
          </ac:picMkLst>
        </pc:picChg>
      </pc:sldChg>
      <pc:sldChg chg="modSp mod">
        <pc:chgData name="Shlomi Ben Shushan" userId="7c78c233cbcc4ad7" providerId="LiveId" clId="{A6FFB4AB-6A20-CE4F-A565-F4C20D365A13}" dt="2025-11-28T12:05:06.924" v="183" actId="14100"/>
        <pc:sldMkLst>
          <pc:docMk/>
          <pc:sldMk cId="3961959209" sldId="259"/>
        </pc:sldMkLst>
        <pc:spChg chg="mod">
          <ac:chgData name="Shlomi Ben Shushan" userId="7c78c233cbcc4ad7" providerId="LiveId" clId="{A6FFB4AB-6A20-CE4F-A565-F4C20D365A13}" dt="2025-11-28T12:05:06.924" v="183" actId="14100"/>
          <ac:spMkLst>
            <pc:docMk/>
            <pc:sldMk cId="3961959209" sldId="259"/>
            <ac:spMk id="3" creationId="{0B7BF769-2041-7AC8-449B-E9A7C3DE899C}"/>
          </ac:spMkLst>
        </pc:spChg>
      </pc:sldChg>
      <pc:sldChg chg="modSp mod">
        <pc:chgData name="Shlomi Ben Shushan" userId="7c78c233cbcc4ad7" providerId="LiveId" clId="{A6FFB4AB-6A20-CE4F-A565-F4C20D365A13}" dt="2025-11-28T13:28:45.844" v="1128" actId="20577"/>
        <pc:sldMkLst>
          <pc:docMk/>
          <pc:sldMk cId="2600494817" sldId="261"/>
        </pc:sldMkLst>
        <pc:spChg chg="mod">
          <ac:chgData name="Shlomi Ben Shushan" userId="7c78c233cbcc4ad7" providerId="LiveId" clId="{A6FFB4AB-6A20-CE4F-A565-F4C20D365A13}" dt="2025-11-28T13:28:45.844" v="1128" actId="20577"/>
          <ac:spMkLst>
            <pc:docMk/>
            <pc:sldMk cId="2600494817" sldId="261"/>
            <ac:spMk id="2" creationId="{639B0E91-3CF5-267F-CDBE-1F8FDD53BEC7}"/>
          </ac:spMkLst>
        </pc:spChg>
        <pc:spChg chg="mod">
          <ac:chgData name="Shlomi Ben Shushan" userId="7c78c233cbcc4ad7" providerId="LiveId" clId="{A6FFB4AB-6A20-CE4F-A565-F4C20D365A13}" dt="2025-11-28T12:07:21.169" v="207" actId="20577"/>
          <ac:spMkLst>
            <pc:docMk/>
            <pc:sldMk cId="2600494817" sldId="261"/>
            <ac:spMk id="3" creationId="{A0BD8891-4C0C-6645-7046-378843D1FE63}"/>
          </ac:spMkLst>
        </pc:spChg>
        <pc:spChg chg="mod">
          <ac:chgData name="Shlomi Ben Shushan" userId="7c78c233cbcc4ad7" providerId="LiveId" clId="{A6FFB4AB-6A20-CE4F-A565-F4C20D365A13}" dt="2025-11-28T12:09:07.540" v="230" actId="20577"/>
          <ac:spMkLst>
            <pc:docMk/>
            <pc:sldMk cId="2600494817" sldId="261"/>
            <ac:spMk id="5" creationId="{F2E89FB6-3AE1-C077-752B-CBE900A6394E}"/>
          </ac:spMkLst>
        </pc:spChg>
        <pc:picChg chg="mod modCrop">
          <ac:chgData name="Shlomi Ben Shushan" userId="7c78c233cbcc4ad7" providerId="LiveId" clId="{A6FFB4AB-6A20-CE4F-A565-F4C20D365A13}" dt="2025-11-28T12:07:44.140" v="213" actId="1076"/>
          <ac:picMkLst>
            <pc:docMk/>
            <pc:sldMk cId="2600494817" sldId="261"/>
            <ac:picMk id="4" creationId="{CC0136AF-8A97-BE11-A538-8FFD5564866A}"/>
          </ac:picMkLst>
        </pc:picChg>
      </pc:sldChg>
      <pc:sldChg chg="modSp mod">
        <pc:chgData name="Shlomi Ben Shushan" userId="7c78c233cbcc4ad7" providerId="LiveId" clId="{A6FFB4AB-6A20-CE4F-A565-F4C20D365A13}" dt="2025-11-28T13:28:53.927" v="1132" actId="20577"/>
        <pc:sldMkLst>
          <pc:docMk/>
          <pc:sldMk cId="2252906687" sldId="262"/>
        </pc:sldMkLst>
        <pc:spChg chg="mod">
          <ac:chgData name="Shlomi Ben Shushan" userId="7c78c233cbcc4ad7" providerId="LiveId" clId="{A6FFB4AB-6A20-CE4F-A565-F4C20D365A13}" dt="2025-11-28T13:28:53.927" v="1132" actId="20577"/>
          <ac:spMkLst>
            <pc:docMk/>
            <pc:sldMk cId="2252906687" sldId="262"/>
            <ac:spMk id="2" creationId="{83A932C3-CBA0-D85F-2A75-1F1034779529}"/>
          </ac:spMkLst>
        </pc:spChg>
        <pc:spChg chg="mod">
          <ac:chgData name="Shlomi Ben Shushan" userId="7c78c233cbcc4ad7" providerId="LiveId" clId="{A6FFB4AB-6A20-CE4F-A565-F4C20D365A13}" dt="2025-11-28T12:09:56.800" v="254" actId="14100"/>
          <ac:spMkLst>
            <pc:docMk/>
            <pc:sldMk cId="2252906687" sldId="262"/>
            <ac:spMk id="3" creationId="{348EEEA6-3AD5-6CDD-106B-8EE0515DEE03}"/>
          </ac:spMkLst>
        </pc:spChg>
        <pc:spChg chg="mod">
          <ac:chgData name="Shlomi Ben Shushan" userId="7c78c233cbcc4ad7" providerId="LiveId" clId="{A6FFB4AB-6A20-CE4F-A565-F4C20D365A13}" dt="2025-11-28T12:13:45.795" v="284" actId="255"/>
          <ac:spMkLst>
            <pc:docMk/>
            <pc:sldMk cId="2252906687" sldId="262"/>
            <ac:spMk id="5" creationId="{E5E84475-2046-FCFA-841E-0952C0B46063}"/>
          </ac:spMkLst>
        </pc:spChg>
        <pc:picChg chg="mod modCrop">
          <ac:chgData name="Shlomi Ben Shushan" userId="7c78c233cbcc4ad7" providerId="LiveId" clId="{A6FFB4AB-6A20-CE4F-A565-F4C20D365A13}" dt="2025-11-28T12:11:30.139" v="262"/>
          <ac:picMkLst>
            <pc:docMk/>
            <pc:sldMk cId="2252906687" sldId="262"/>
            <ac:picMk id="6" creationId="{48A9FD09-8489-01FB-9197-7F7ECAED26FB}"/>
          </ac:picMkLst>
        </pc:picChg>
        <pc:picChg chg="mod modCrop">
          <ac:chgData name="Shlomi Ben Shushan" userId="7c78c233cbcc4ad7" providerId="LiveId" clId="{A6FFB4AB-6A20-CE4F-A565-F4C20D365A13}" dt="2025-11-28T12:10:38.512" v="257" actId="732"/>
          <ac:picMkLst>
            <pc:docMk/>
            <pc:sldMk cId="2252906687" sldId="262"/>
            <ac:picMk id="7" creationId="{7380C948-BFDE-C401-84F0-1968A9E1BDA0}"/>
          </ac:picMkLst>
        </pc:picChg>
      </pc:sldChg>
      <pc:sldChg chg="modSp mod">
        <pc:chgData name="Shlomi Ben Shushan" userId="7c78c233cbcc4ad7" providerId="LiveId" clId="{A6FFB4AB-6A20-CE4F-A565-F4C20D365A13}" dt="2025-11-28T13:28:58.728" v="1136" actId="20577"/>
        <pc:sldMkLst>
          <pc:docMk/>
          <pc:sldMk cId="2448807410" sldId="263"/>
        </pc:sldMkLst>
        <pc:spChg chg="mod">
          <ac:chgData name="Shlomi Ben Shushan" userId="7c78c233cbcc4ad7" providerId="LiveId" clId="{A6FFB4AB-6A20-CE4F-A565-F4C20D365A13}" dt="2025-11-28T13:28:58.728" v="1136" actId="20577"/>
          <ac:spMkLst>
            <pc:docMk/>
            <pc:sldMk cId="2448807410" sldId="263"/>
            <ac:spMk id="2" creationId="{47F7E851-A46E-B688-6E60-5D21FD01553D}"/>
          </ac:spMkLst>
        </pc:spChg>
        <pc:spChg chg="mod">
          <ac:chgData name="Shlomi Ben Shushan" userId="7c78c233cbcc4ad7" providerId="LiveId" clId="{A6FFB4AB-6A20-CE4F-A565-F4C20D365A13}" dt="2025-11-28T12:12:22.523" v="267" actId="113"/>
          <ac:spMkLst>
            <pc:docMk/>
            <pc:sldMk cId="2448807410" sldId="263"/>
            <ac:spMk id="3" creationId="{AF9E73C3-6C38-AE10-0DD8-25D356843912}"/>
          </ac:spMkLst>
        </pc:spChg>
        <pc:spChg chg="mod">
          <ac:chgData name="Shlomi Ben Shushan" userId="7c78c233cbcc4ad7" providerId="LiveId" clId="{A6FFB4AB-6A20-CE4F-A565-F4C20D365A13}" dt="2025-11-28T12:13:38.870" v="283" actId="113"/>
          <ac:spMkLst>
            <pc:docMk/>
            <pc:sldMk cId="2448807410" sldId="263"/>
            <ac:spMk id="5" creationId="{B7BCD6D4-9869-26D2-38E1-26D9738A1634}"/>
          </ac:spMkLst>
        </pc:spChg>
        <pc:picChg chg="mod modCrop">
          <ac:chgData name="Shlomi Ben Shushan" userId="7c78c233cbcc4ad7" providerId="LiveId" clId="{A6FFB4AB-6A20-CE4F-A565-F4C20D365A13}" dt="2025-11-28T12:13:20.095" v="278" actId="1076"/>
          <ac:picMkLst>
            <pc:docMk/>
            <pc:sldMk cId="2448807410" sldId="263"/>
            <ac:picMk id="4" creationId="{3D615BDE-4870-6D75-F421-392C2B5CBC57}"/>
          </ac:picMkLst>
        </pc:picChg>
      </pc:sldChg>
      <pc:sldChg chg="addSp delSp modSp add mod">
        <pc:chgData name="Shlomi Ben Shushan" userId="7c78c233cbcc4ad7" providerId="LiveId" clId="{A6FFB4AB-6A20-CE4F-A565-F4C20D365A13}" dt="2025-11-28T13:29:03.228" v="1140" actId="20577"/>
        <pc:sldMkLst>
          <pc:docMk/>
          <pc:sldMk cId="1697302025" sldId="265"/>
        </pc:sldMkLst>
        <pc:spChg chg="mod">
          <ac:chgData name="Shlomi Ben Shushan" userId="7c78c233cbcc4ad7" providerId="LiveId" clId="{A6FFB4AB-6A20-CE4F-A565-F4C20D365A13}" dt="2025-11-28T13:29:03.228" v="1140" actId="20577"/>
          <ac:spMkLst>
            <pc:docMk/>
            <pc:sldMk cId="1697302025" sldId="265"/>
            <ac:spMk id="2" creationId="{8556C308-B8A4-0D1C-A446-5C2E66A47B46}"/>
          </ac:spMkLst>
        </pc:spChg>
        <pc:spChg chg="mod">
          <ac:chgData name="Shlomi Ben Shushan" userId="7c78c233cbcc4ad7" providerId="LiveId" clId="{A6FFB4AB-6A20-CE4F-A565-F4C20D365A13}" dt="2025-11-28T12:14:37.340" v="294" actId="20577"/>
          <ac:spMkLst>
            <pc:docMk/>
            <pc:sldMk cId="1697302025" sldId="265"/>
            <ac:spMk id="3" creationId="{C7EDE637-A89C-CD6D-777F-3D319C1C0135}"/>
          </ac:spMkLst>
        </pc:spChg>
        <pc:spChg chg="mod">
          <ac:chgData name="Shlomi Ben Shushan" userId="7c78c233cbcc4ad7" providerId="LiveId" clId="{A6FFB4AB-6A20-CE4F-A565-F4C20D365A13}" dt="2025-11-28T12:16:36.642" v="322" actId="20577"/>
          <ac:spMkLst>
            <pc:docMk/>
            <pc:sldMk cId="1697302025" sldId="265"/>
            <ac:spMk id="5" creationId="{8EBBEAC8-3288-6621-42B0-B133ED8C45A9}"/>
          </ac:spMkLst>
        </pc:spChg>
        <pc:picChg chg="del">
          <ac:chgData name="Shlomi Ben Shushan" userId="7c78c233cbcc4ad7" providerId="LiveId" clId="{A6FFB4AB-6A20-CE4F-A565-F4C20D365A13}" dt="2025-11-28T12:15:08.751" v="295" actId="478"/>
          <ac:picMkLst>
            <pc:docMk/>
            <pc:sldMk cId="1697302025" sldId="265"/>
            <ac:picMk id="4" creationId="{FC603C30-D3CA-D278-FB38-CF7D8139AD26}"/>
          </ac:picMkLst>
        </pc:picChg>
        <pc:picChg chg="add mod">
          <ac:chgData name="Shlomi Ben Shushan" userId="7c78c233cbcc4ad7" providerId="LiveId" clId="{A6FFB4AB-6A20-CE4F-A565-F4C20D365A13}" dt="2025-11-28T12:15:31.098" v="307" actId="1035"/>
          <ac:picMkLst>
            <pc:docMk/>
            <pc:sldMk cId="1697302025" sldId="265"/>
            <ac:picMk id="6" creationId="{CBFDC9D0-BB45-B0E0-5690-BD33DFD59316}"/>
          </ac:picMkLst>
        </pc:picChg>
        <pc:picChg chg="add mod">
          <ac:chgData name="Shlomi Ben Shushan" userId="7c78c233cbcc4ad7" providerId="LiveId" clId="{A6FFB4AB-6A20-CE4F-A565-F4C20D365A13}" dt="2025-11-28T12:15:31.098" v="307" actId="1035"/>
          <ac:picMkLst>
            <pc:docMk/>
            <pc:sldMk cId="1697302025" sldId="265"/>
            <ac:picMk id="7" creationId="{99EE90D9-754E-B970-BF74-0FECF92E735E}"/>
          </ac:picMkLst>
        </pc:picChg>
      </pc:sldChg>
      <pc:sldChg chg="addSp delSp modSp add mod ord">
        <pc:chgData name="Shlomi Ben Shushan" userId="7c78c233cbcc4ad7" providerId="LiveId" clId="{A6FFB4AB-6A20-CE4F-A565-F4C20D365A13}" dt="2025-11-28T13:29:07.056" v="1144" actId="20577"/>
        <pc:sldMkLst>
          <pc:docMk/>
          <pc:sldMk cId="3118659364" sldId="266"/>
        </pc:sldMkLst>
        <pc:spChg chg="mod">
          <ac:chgData name="Shlomi Ben Shushan" userId="7c78c233cbcc4ad7" providerId="LiveId" clId="{A6FFB4AB-6A20-CE4F-A565-F4C20D365A13}" dt="2025-11-28T13:29:07.056" v="1144" actId="20577"/>
          <ac:spMkLst>
            <pc:docMk/>
            <pc:sldMk cId="3118659364" sldId="266"/>
            <ac:spMk id="2" creationId="{16A35C53-D3CA-4A2F-5C4C-026B880EEA1D}"/>
          </ac:spMkLst>
        </pc:spChg>
        <pc:spChg chg="mod">
          <ac:chgData name="Shlomi Ben Shushan" userId="7c78c233cbcc4ad7" providerId="LiveId" clId="{A6FFB4AB-6A20-CE4F-A565-F4C20D365A13}" dt="2025-11-28T12:18:23.943" v="356" actId="20577"/>
          <ac:spMkLst>
            <pc:docMk/>
            <pc:sldMk cId="3118659364" sldId="266"/>
            <ac:spMk id="3" creationId="{6F71E94A-F6B4-FF1A-65C7-0C04FA36B2E7}"/>
          </ac:spMkLst>
        </pc:spChg>
        <pc:spChg chg="mod">
          <ac:chgData name="Shlomi Ben Shushan" userId="7c78c233cbcc4ad7" providerId="LiveId" clId="{A6FFB4AB-6A20-CE4F-A565-F4C20D365A13}" dt="2025-11-28T12:20:27.465" v="381" actId="14100"/>
          <ac:spMkLst>
            <pc:docMk/>
            <pc:sldMk cId="3118659364" sldId="266"/>
            <ac:spMk id="5" creationId="{3174CBAD-1086-871A-42AD-3B0ACFC8F833}"/>
          </ac:spMkLst>
        </pc:spChg>
        <pc:picChg chg="del">
          <ac:chgData name="Shlomi Ben Shushan" userId="7c78c233cbcc4ad7" providerId="LiveId" clId="{A6FFB4AB-6A20-CE4F-A565-F4C20D365A13}" dt="2025-11-28T12:19:02.222" v="357" actId="478"/>
          <ac:picMkLst>
            <pc:docMk/>
            <pc:sldMk cId="3118659364" sldId="266"/>
            <ac:picMk id="4" creationId="{850DF9A4-D755-140F-2AE2-C9ECBD6AF38D}"/>
          </ac:picMkLst>
        </pc:picChg>
        <pc:picChg chg="add mod">
          <ac:chgData name="Shlomi Ben Shushan" userId="7c78c233cbcc4ad7" providerId="LiveId" clId="{A6FFB4AB-6A20-CE4F-A565-F4C20D365A13}" dt="2025-11-28T12:19:32.963" v="368" actId="1076"/>
          <ac:picMkLst>
            <pc:docMk/>
            <pc:sldMk cId="3118659364" sldId="266"/>
            <ac:picMk id="6" creationId="{BFC27E72-23EF-4DBF-1567-61A3A354C963}"/>
          </ac:picMkLst>
        </pc:picChg>
        <pc:picChg chg="add mod">
          <ac:chgData name="Shlomi Ben Shushan" userId="7c78c233cbcc4ad7" providerId="LiveId" clId="{A6FFB4AB-6A20-CE4F-A565-F4C20D365A13}" dt="2025-11-28T12:19:32.963" v="368" actId="1076"/>
          <ac:picMkLst>
            <pc:docMk/>
            <pc:sldMk cId="3118659364" sldId="266"/>
            <ac:picMk id="7" creationId="{E7BBC0F4-A709-7058-AA0C-DB2DE118AF95}"/>
          </ac:picMkLst>
        </pc:picChg>
      </pc:sldChg>
      <pc:sldChg chg="addSp delSp modSp add mod">
        <pc:chgData name="Shlomi Ben Shushan" userId="7c78c233cbcc4ad7" providerId="LiveId" clId="{A6FFB4AB-6A20-CE4F-A565-F4C20D365A13}" dt="2025-11-28T13:29:10.672" v="1148" actId="20577"/>
        <pc:sldMkLst>
          <pc:docMk/>
          <pc:sldMk cId="93818669" sldId="267"/>
        </pc:sldMkLst>
        <pc:spChg chg="mod">
          <ac:chgData name="Shlomi Ben Shushan" userId="7c78c233cbcc4ad7" providerId="LiveId" clId="{A6FFB4AB-6A20-CE4F-A565-F4C20D365A13}" dt="2025-11-28T13:29:10.672" v="1148" actId="20577"/>
          <ac:spMkLst>
            <pc:docMk/>
            <pc:sldMk cId="93818669" sldId="267"/>
            <ac:spMk id="2" creationId="{6B2D2AB4-E728-EE38-58F5-111113600852}"/>
          </ac:spMkLst>
        </pc:spChg>
        <pc:spChg chg="mod">
          <ac:chgData name="Shlomi Ben Shushan" userId="7c78c233cbcc4ad7" providerId="LiveId" clId="{A6FFB4AB-6A20-CE4F-A565-F4C20D365A13}" dt="2025-11-28T12:46:39.857" v="587" actId="20577"/>
          <ac:spMkLst>
            <pc:docMk/>
            <pc:sldMk cId="93818669" sldId="267"/>
            <ac:spMk id="3" creationId="{9A8B6BB5-6E8A-B43E-6D45-43B3946064D3}"/>
          </ac:spMkLst>
        </pc:spChg>
        <pc:spChg chg="mod">
          <ac:chgData name="Shlomi Ben Shushan" userId="7c78c233cbcc4ad7" providerId="LiveId" clId="{A6FFB4AB-6A20-CE4F-A565-F4C20D365A13}" dt="2025-11-28T12:48:03.591" v="609" actId="14100"/>
          <ac:spMkLst>
            <pc:docMk/>
            <pc:sldMk cId="93818669" sldId="267"/>
            <ac:spMk id="5" creationId="{2FC952DA-A53F-B0DD-C26D-4E6022151BBE}"/>
          </ac:spMkLst>
        </pc:spChg>
        <pc:picChg chg="add mod modCrop">
          <ac:chgData name="Shlomi Ben Shushan" userId="7c78c233cbcc4ad7" providerId="LiveId" clId="{A6FFB4AB-6A20-CE4F-A565-F4C20D365A13}" dt="2025-11-28T12:48:07.753" v="611" actId="1076"/>
          <ac:picMkLst>
            <pc:docMk/>
            <pc:sldMk cId="93818669" sldId="267"/>
            <ac:picMk id="4" creationId="{E87A8F40-8AE3-91B2-D226-5176CF9E0C1D}"/>
          </ac:picMkLst>
        </pc:picChg>
        <pc:picChg chg="del">
          <ac:chgData name="Shlomi Ben Shushan" userId="7c78c233cbcc4ad7" providerId="LiveId" clId="{A6FFB4AB-6A20-CE4F-A565-F4C20D365A13}" dt="2025-11-28T12:47:01.960" v="589" actId="478"/>
          <ac:picMkLst>
            <pc:docMk/>
            <pc:sldMk cId="93818669" sldId="267"/>
            <ac:picMk id="6" creationId="{E340AF76-D475-0375-76E7-155E46D46104}"/>
          </ac:picMkLst>
        </pc:picChg>
        <pc:picChg chg="del">
          <ac:chgData name="Shlomi Ben Shushan" userId="7c78c233cbcc4ad7" providerId="LiveId" clId="{A6FFB4AB-6A20-CE4F-A565-F4C20D365A13}" dt="2025-11-28T12:47:01.708" v="588" actId="478"/>
          <ac:picMkLst>
            <pc:docMk/>
            <pc:sldMk cId="93818669" sldId="267"/>
            <ac:picMk id="7" creationId="{0A9CD897-C55C-BDDB-1A27-F6A3931FC4B0}"/>
          </ac:picMkLst>
        </pc:picChg>
      </pc:sldChg>
      <pc:sldChg chg="addSp delSp modSp add mod ord">
        <pc:chgData name="Shlomi Ben Shushan" userId="7c78c233cbcc4ad7" providerId="LiveId" clId="{A6FFB4AB-6A20-CE4F-A565-F4C20D365A13}" dt="2025-11-28T14:17:35.396" v="2341" actId="113"/>
        <pc:sldMkLst>
          <pc:docMk/>
          <pc:sldMk cId="804549778" sldId="268"/>
        </pc:sldMkLst>
        <pc:spChg chg="mod">
          <ac:chgData name="Shlomi Ben Shushan" userId="7c78c233cbcc4ad7" providerId="LiveId" clId="{A6FFB4AB-6A20-CE4F-A565-F4C20D365A13}" dt="2025-11-28T14:17:35.396" v="2341" actId="113"/>
          <ac:spMkLst>
            <pc:docMk/>
            <pc:sldMk cId="804549778" sldId="268"/>
            <ac:spMk id="2" creationId="{F533FC68-BE60-8767-3AE9-966323F1F6D1}"/>
          </ac:spMkLst>
        </pc:spChg>
        <pc:spChg chg="del mod">
          <ac:chgData name="Shlomi Ben Shushan" userId="7c78c233cbcc4ad7" providerId="LiveId" clId="{A6FFB4AB-6A20-CE4F-A565-F4C20D365A13}" dt="2025-11-28T12:21:34.431" v="399" actId="478"/>
          <ac:spMkLst>
            <pc:docMk/>
            <pc:sldMk cId="804549778" sldId="268"/>
            <ac:spMk id="3" creationId="{CE0971D1-8EDB-9890-40E8-26082555FA3A}"/>
          </ac:spMkLst>
        </pc:spChg>
        <pc:picChg chg="del">
          <ac:chgData name="Shlomi Ben Shushan" userId="7c78c233cbcc4ad7" providerId="LiveId" clId="{A6FFB4AB-6A20-CE4F-A565-F4C20D365A13}" dt="2025-11-28T12:29:04.084" v="405" actId="478"/>
          <ac:picMkLst>
            <pc:docMk/>
            <pc:sldMk cId="804549778" sldId="268"/>
            <ac:picMk id="1028" creationId="{30A85AE1-A68D-F319-4946-43B94C66FD5B}"/>
          </ac:picMkLst>
        </pc:picChg>
        <pc:picChg chg="add mod">
          <ac:chgData name="Shlomi Ben Shushan" userId="7c78c233cbcc4ad7" providerId="LiveId" clId="{A6FFB4AB-6A20-CE4F-A565-F4C20D365A13}" dt="2025-11-28T12:29:18.541" v="407"/>
          <ac:picMkLst>
            <pc:docMk/>
            <pc:sldMk cId="804549778" sldId="268"/>
            <ac:picMk id="2050" creationId="{A838B713-2AA1-4A52-ECDA-70079278E2F4}"/>
          </ac:picMkLst>
        </pc:picChg>
        <pc:picChg chg="add del mod">
          <ac:chgData name="Shlomi Ben Shushan" userId="7c78c233cbcc4ad7" providerId="LiveId" clId="{A6FFB4AB-6A20-CE4F-A565-F4C20D365A13}" dt="2025-11-28T12:39:22.336" v="476" actId="478"/>
          <ac:picMkLst>
            <pc:docMk/>
            <pc:sldMk cId="804549778" sldId="268"/>
            <ac:picMk id="2052" creationId="{52320E78-DB4F-F69B-3CFF-2FE8FE242863}"/>
          </ac:picMkLst>
        </pc:picChg>
        <pc:picChg chg="add mod">
          <ac:chgData name="Shlomi Ben Shushan" userId="7c78c233cbcc4ad7" providerId="LiveId" clId="{A6FFB4AB-6A20-CE4F-A565-F4C20D365A13}" dt="2025-11-28T12:39:46.292" v="490" actId="1038"/>
          <ac:picMkLst>
            <pc:docMk/>
            <pc:sldMk cId="804549778" sldId="268"/>
            <ac:picMk id="2054" creationId="{89AF1437-6ED1-2DA0-8676-3CCFF3412C72}"/>
          </ac:picMkLst>
        </pc:picChg>
      </pc:sldChg>
      <pc:sldChg chg="addSp delSp modSp add mod">
        <pc:chgData name="Shlomi Ben Shushan" userId="7c78c233cbcc4ad7" providerId="LiveId" clId="{A6FFB4AB-6A20-CE4F-A565-F4C20D365A13}" dt="2025-11-28T14:17:42.268" v="2342" actId="113"/>
        <pc:sldMkLst>
          <pc:docMk/>
          <pc:sldMk cId="2412208484" sldId="269"/>
        </pc:sldMkLst>
        <pc:spChg chg="mod">
          <ac:chgData name="Shlomi Ben Shushan" userId="7c78c233cbcc4ad7" providerId="LiveId" clId="{A6FFB4AB-6A20-CE4F-A565-F4C20D365A13}" dt="2025-11-28T14:17:42.268" v="2342" actId="113"/>
          <ac:spMkLst>
            <pc:docMk/>
            <pc:sldMk cId="2412208484" sldId="269"/>
            <ac:spMk id="2" creationId="{85EBB8C7-F0A8-35E9-4355-2AFDC787A76C}"/>
          </ac:spMkLst>
        </pc:spChg>
        <pc:spChg chg="add del">
          <ac:chgData name="Shlomi Ben Shushan" userId="7c78c233cbcc4ad7" providerId="LiveId" clId="{A6FFB4AB-6A20-CE4F-A565-F4C20D365A13}" dt="2025-11-28T12:34:18.209" v="446" actId="22"/>
          <ac:spMkLst>
            <pc:docMk/>
            <pc:sldMk cId="2412208484" sldId="269"/>
            <ac:spMk id="4" creationId="{B5FF90D6-57F0-42F4-257A-9E6071415BFA}"/>
          </ac:spMkLst>
        </pc:spChg>
        <pc:spChg chg="add del">
          <ac:chgData name="Shlomi Ben Shushan" userId="7c78c233cbcc4ad7" providerId="LiveId" clId="{A6FFB4AB-6A20-CE4F-A565-F4C20D365A13}" dt="2025-11-28T12:34:19.183" v="448" actId="22"/>
          <ac:spMkLst>
            <pc:docMk/>
            <pc:sldMk cId="2412208484" sldId="269"/>
            <ac:spMk id="6" creationId="{E2555A31-38B5-47E6-A9CB-5DBB526A1EC5}"/>
          </ac:spMkLst>
        </pc:spChg>
        <pc:spChg chg="add del">
          <ac:chgData name="Shlomi Ben Shushan" userId="7c78c233cbcc4ad7" providerId="LiveId" clId="{A6FFB4AB-6A20-CE4F-A565-F4C20D365A13}" dt="2025-11-28T12:38:24.135" v="465" actId="22"/>
          <ac:spMkLst>
            <pc:docMk/>
            <pc:sldMk cId="2412208484" sldId="269"/>
            <ac:spMk id="8" creationId="{322F4B19-8F94-C0BD-2099-76AEA609AFBD}"/>
          </ac:spMkLst>
        </pc:spChg>
        <pc:picChg chg="del">
          <ac:chgData name="Shlomi Ben Shushan" userId="7c78c233cbcc4ad7" providerId="LiveId" clId="{A6FFB4AB-6A20-CE4F-A565-F4C20D365A13}" dt="2025-11-28T12:30:33.931" v="444" actId="478"/>
          <ac:picMkLst>
            <pc:docMk/>
            <pc:sldMk cId="2412208484" sldId="269"/>
            <ac:picMk id="2052" creationId="{E4BEBA9E-BAA2-AA1E-68E5-265CDB67B808}"/>
          </ac:picMkLst>
        </pc:picChg>
        <pc:picChg chg="add del mod">
          <ac:chgData name="Shlomi Ben Shushan" userId="7c78c233cbcc4ad7" providerId="LiveId" clId="{A6FFB4AB-6A20-CE4F-A565-F4C20D365A13}" dt="2025-11-28T12:36:29.797" v="457" actId="478"/>
          <ac:picMkLst>
            <pc:docMk/>
            <pc:sldMk cId="2412208484" sldId="269"/>
            <ac:picMk id="3074" creationId="{05B4F323-CF61-3331-2171-D0D66486E80C}"/>
          </ac:picMkLst>
        </pc:picChg>
        <pc:picChg chg="add mod">
          <ac:chgData name="Shlomi Ben Shushan" userId="7c78c233cbcc4ad7" providerId="LiveId" clId="{A6FFB4AB-6A20-CE4F-A565-F4C20D365A13}" dt="2025-11-28T12:37:07.157" v="463" actId="1076"/>
          <ac:picMkLst>
            <pc:docMk/>
            <pc:sldMk cId="2412208484" sldId="269"/>
            <ac:picMk id="3076" creationId="{F067A38C-FD34-3F7B-7AA3-E285B2BCD4A8}"/>
          </ac:picMkLst>
        </pc:picChg>
        <pc:picChg chg="add mod">
          <ac:chgData name="Shlomi Ben Shushan" userId="7c78c233cbcc4ad7" providerId="LiveId" clId="{A6FFB4AB-6A20-CE4F-A565-F4C20D365A13}" dt="2025-11-28T12:38:51.197" v="475" actId="1076"/>
          <ac:picMkLst>
            <pc:docMk/>
            <pc:sldMk cId="2412208484" sldId="269"/>
            <ac:picMk id="3078" creationId="{D21B71E2-E60C-7867-4F7D-150ABA78BEE6}"/>
          </ac:picMkLst>
        </pc:picChg>
      </pc:sldChg>
      <pc:sldChg chg="addSp delSp modSp add mod">
        <pc:chgData name="Shlomi Ben Shushan" userId="7c78c233cbcc4ad7" providerId="LiveId" clId="{A6FFB4AB-6A20-CE4F-A565-F4C20D365A13}" dt="2025-11-28T14:17:26.922" v="2340" actId="113"/>
        <pc:sldMkLst>
          <pc:docMk/>
          <pc:sldMk cId="1179161266" sldId="270"/>
        </pc:sldMkLst>
        <pc:spChg chg="mod">
          <ac:chgData name="Shlomi Ben Shushan" userId="7c78c233cbcc4ad7" providerId="LiveId" clId="{A6FFB4AB-6A20-CE4F-A565-F4C20D365A13}" dt="2025-11-28T14:17:26.922" v="2340" actId="113"/>
          <ac:spMkLst>
            <pc:docMk/>
            <pc:sldMk cId="1179161266" sldId="270"/>
            <ac:spMk id="2" creationId="{27FDCDFE-7AE3-DB32-7B3D-189CD47EE874}"/>
          </ac:spMkLst>
        </pc:spChg>
        <pc:picChg chg="del">
          <ac:chgData name="Shlomi Ben Shushan" userId="7c78c233cbcc4ad7" providerId="LiveId" clId="{A6FFB4AB-6A20-CE4F-A565-F4C20D365A13}" dt="2025-11-28T12:41:24.904" v="498" actId="478"/>
          <ac:picMkLst>
            <pc:docMk/>
            <pc:sldMk cId="1179161266" sldId="270"/>
            <ac:picMk id="3078" creationId="{4E8429D9-E8E4-CD77-35CE-FF423AE7BF9E}"/>
          </ac:picMkLst>
        </pc:picChg>
        <pc:picChg chg="add mod">
          <ac:chgData name="Shlomi Ben Shushan" userId="7c78c233cbcc4ad7" providerId="LiveId" clId="{A6FFB4AB-6A20-CE4F-A565-F4C20D365A13}" dt="2025-11-28T12:41:23.375" v="497" actId="1076"/>
          <ac:picMkLst>
            <pc:docMk/>
            <pc:sldMk cId="1179161266" sldId="270"/>
            <ac:picMk id="4098" creationId="{D8B74DB0-C981-6691-8720-CF86C462A131}"/>
          </ac:picMkLst>
        </pc:picChg>
      </pc:sldChg>
      <pc:sldChg chg="addSp delSp modSp add mod">
        <pc:chgData name="Shlomi Ben Shushan" userId="7c78c233cbcc4ad7" providerId="LiveId" clId="{A6FFB4AB-6A20-CE4F-A565-F4C20D365A13}" dt="2025-11-28T14:18:03.744" v="2354" actId="113"/>
        <pc:sldMkLst>
          <pc:docMk/>
          <pc:sldMk cId="233039776" sldId="271"/>
        </pc:sldMkLst>
        <pc:spChg chg="mod">
          <ac:chgData name="Shlomi Ben Shushan" userId="7c78c233cbcc4ad7" providerId="LiveId" clId="{A6FFB4AB-6A20-CE4F-A565-F4C20D365A13}" dt="2025-11-28T14:18:03.744" v="2354" actId="113"/>
          <ac:spMkLst>
            <pc:docMk/>
            <pc:sldMk cId="233039776" sldId="271"/>
            <ac:spMk id="2" creationId="{13E818C7-C4C9-D6DF-CA24-B442B023086D}"/>
          </ac:spMkLst>
        </pc:spChg>
        <pc:picChg chg="del">
          <ac:chgData name="Shlomi Ben Shushan" userId="7c78c233cbcc4ad7" providerId="LiveId" clId="{A6FFB4AB-6A20-CE4F-A565-F4C20D365A13}" dt="2025-11-28T12:41:38.647" v="506" actId="478"/>
          <ac:picMkLst>
            <pc:docMk/>
            <pc:sldMk cId="233039776" sldId="271"/>
            <ac:picMk id="4098" creationId="{CDD19BB8-F37E-F630-5C71-E475DC7D2CAA}"/>
          </ac:picMkLst>
        </pc:picChg>
        <pc:picChg chg="add mod">
          <ac:chgData name="Shlomi Ben Shushan" userId="7c78c233cbcc4ad7" providerId="LiveId" clId="{A6FFB4AB-6A20-CE4F-A565-F4C20D365A13}" dt="2025-11-28T12:44:54.291" v="517" actId="1076"/>
          <ac:picMkLst>
            <pc:docMk/>
            <pc:sldMk cId="233039776" sldId="271"/>
            <ac:picMk id="5122" creationId="{063580BC-4CCE-7978-D6B1-06E28808195E}"/>
          </ac:picMkLst>
        </pc:picChg>
      </pc:sldChg>
      <pc:sldChg chg="addSp delSp modSp add mod">
        <pc:chgData name="Shlomi Ben Shushan" userId="7c78c233cbcc4ad7" providerId="LiveId" clId="{A6FFB4AB-6A20-CE4F-A565-F4C20D365A13}" dt="2025-11-28T13:29:16.778" v="1153" actId="14100"/>
        <pc:sldMkLst>
          <pc:docMk/>
          <pc:sldMk cId="744840342" sldId="272"/>
        </pc:sldMkLst>
        <pc:spChg chg="mod">
          <ac:chgData name="Shlomi Ben Shushan" userId="7c78c233cbcc4ad7" providerId="LiveId" clId="{A6FFB4AB-6A20-CE4F-A565-F4C20D365A13}" dt="2025-11-28T13:29:16.778" v="1153" actId="14100"/>
          <ac:spMkLst>
            <pc:docMk/>
            <pc:sldMk cId="744840342" sldId="272"/>
            <ac:spMk id="2" creationId="{2E1DE569-F8DF-A448-AE0C-0DC265DA5E51}"/>
          </ac:spMkLst>
        </pc:spChg>
        <pc:spChg chg="del mod">
          <ac:chgData name="Shlomi Ben Shushan" userId="7c78c233cbcc4ad7" providerId="LiveId" clId="{A6FFB4AB-6A20-CE4F-A565-F4C20D365A13}" dt="2025-11-28T12:55:41.655" v="694" actId="478"/>
          <ac:spMkLst>
            <pc:docMk/>
            <pc:sldMk cId="744840342" sldId="272"/>
            <ac:spMk id="3" creationId="{420865C9-7BDC-71BC-89C6-13529AF92A29}"/>
          </ac:spMkLst>
        </pc:spChg>
        <pc:spChg chg="add del mod">
          <ac:chgData name="Shlomi Ben Shushan" userId="7c78c233cbcc4ad7" providerId="LiveId" clId="{A6FFB4AB-6A20-CE4F-A565-F4C20D365A13}" dt="2025-11-28T12:54:41.675" v="691" actId="22"/>
          <ac:spMkLst>
            <pc:docMk/>
            <pc:sldMk cId="744840342" sldId="272"/>
            <ac:spMk id="5" creationId="{954C2C65-77F3-650C-03C4-07786D9281E6}"/>
          </ac:spMkLst>
        </pc:spChg>
        <pc:spChg chg="add del mod">
          <ac:chgData name="Shlomi Ben Shushan" userId="7c78c233cbcc4ad7" providerId="LiveId" clId="{A6FFB4AB-6A20-CE4F-A565-F4C20D365A13}" dt="2025-11-28T12:55:44.348" v="695" actId="478"/>
          <ac:spMkLst>
            <pc:docMk/>
            <pc:sldMk cId="744840342" sldId="272"/>
            <ac:spMk id="11" creationId="{58F3D435-80BF-0885-9CC3-2D334CF35B26}"/>
          </ac:spMkLst>
        </pc:spChg>
        <pc:spChg chg="add del mod">
          <ac:chgData name="Shlomi Ben Shushan" userId="7c78c233cbcc4ad7" providerId="LiveId" clId="{A6FFB4AB-6A20-CE4F-A565-F4C20D365A13}" dt="2025-11-28T12:59:21.632" v="783" actId="478"/>
          <ac:spMkLst>
            <pc:docMk/>
            <pc:sldMk cId="744840342" sldId="272"/>
            <ac:spMk id="13" creationId="{1E10211C-30A3-30E8-714A-07CF3BDF491A}"/>
          </ac:spMkLst>
        </pc:spChg>
        <pc:spChg chg="add del mod">
          <ac:chgData name="Shlomi Ben Shushan" userId="7c78c233cbcc4ad7" providerId="LiveId" clId="{A6FFB4AB-6A20-CE4F-A565-F4C20D365A13}" dt="2025-11-28T12:59:24.475" v="784" actId="478"/>
          <ac:spMkLst>
            <pc:docMk/>
            <pc:sldMk cId="744840342" sldId="272"/>
            <ac:spMk id="18" creationId="{B6D1F272-52BF-AE8F-7E76-B1F2FC56F7DF}"/>
          </ac:spMkLst>
        </pc:spChg>
        <pc:grpChg chg="add mod">
          <ac:chgData name="Shlomi Ben Shushan" userId="7c78c233cbcc4ad7" providerId="LiveId" clId="{A6FFB4AB-6A20-CE4F-A565-F4C20D365A13}" dt="2025-11-28T12:58:57.541" v="770" actId="164"/>
          <ac:grpSpMkLst>
            <pc:docMk/>
            <pc:sldMk cId="744840342" sldId="272"/>
            <ac:grpSpMk id="16" creationId="{1582E86A-637A-9837-6127-D42159C66DA8}"/>
          </ac:grpSpMkLst>
        </pc:grpChg>
        <pc:picChg chg="add del mod">
          <ac:chgData name="Shlomi Ben Shushan" userId="7c78c233cbcc4ad7" providerId="LiveId" clId="{A6FFB4AB-6A20-CE4F-A565-F4C20D365A13}" dt="2025-11-28T12:54:40.292" v="686"/>
          <ac:picMkLst>
            <pc:docMk/>
            <pc:sldMk cId="744840342" sldId="272"/>
            <ac:picMk id="6" creationId="{5CC42AF8-180D-7D64-67F2-1180306DBC78}"/>
          </ac:picMkLst>
        </pc:picChg>
        <pc:picChg chg="add mod modCrop">
          <ac:chgData name="Shlomi Ben Shushan" userId="7c78c233cbcc4ad7" providerId="LiveId" clId="{A6FFB4AB-6A20-CE4F-A565-F4C20D365A13}" dt="2025-11-28T12:54:16.115" v="670"/>
          <ac:picMkLst>
            <pc:docMk/>
            <pc:sldMk cId="744840342" sldId="272"/>
            <ac:picMk id="7" creationId="{D4ECDD26-D817-DC63-DCDA-023A783E0EB6}"/>
          </ac:picMkLst>
        </pc:picChg>
        <pc:picChg chg="add mod modCrop">
          <ac:chgData name="Shlomi Ben Shushan" userId="7c78c233cbcc4ad7" providerId="LiveId" clId="{A6FFB4AB-6A20-CE4F-A565-F4C20D365A13}" dt="2025-11-28T12:54:10.138" v="665"/>
          <ac:picMkLst>
            <pc:docMk/>
            <pc:sldMk cId="744840342" sldId="272"/>
            <ac:picMk id="8" creationId="{D0D15398-ACA0-266F-3628-191F556A25A2}"/>
          </ac:picMkLst>
        </pc:picChg>
        <pc:picChg chg="add mod">
          <ac:chgData name="Shlomi Ben Shushan" userId="7c78c233cbcc4ad7" providerId="LiveId" clId="{A6FFB4AB-6A20-CE4F-A565-F4C20D365A13}" dt="2025-11-28T12:54:39.413" v="680"/>
          <ac:picMkLst>
            <pc:docMk/>
            <pc:sldMk cId="744840342" sldId="272"/>
            <ac:picMk id="9" creationId="{1BF54F59-4F73-EBB0-2EDF-11E514D000F1}"/>
          </ac:picMkLst>
        </pc:picChg>
        <pc:picChg chg="add del mod modCrop">
          <ac:chgData name="Shlomi Ben Shushan" userId="7c78c233cbcc4ad7" providerId="LiveId" clId="{A6FFB4AB-6A20-CE4F-A565-F4C20D365A13}" dt="2025-11-28T12:59:06.130" v="779" actId="478"/>
          <ac:picMkLst>
            <pc:docMk/>
            <pc:sldMk cId="744840342" sldId="272"/>
            <ac:picMk id="12" creationId="{E4B5D9AD-D631-51BA-C625-70D0DE2E37D7}"/>
          </ac:picMkLst>
        </pc:picChg>
        <pc:picChg chg="add mod modCrop">
          <ac:chgData name="Shlomi Ben Shushan" userId="7c78c233cbcc4ad7" providerId="LiveId" clId="{A6FFB4AB-6A20-CE4F-A565-F4C20D365A13}" dt="2025-11-28T12:59:35.774" v="789" actId="1076"/>
          <ac:picMkLst>
            <pc:docMk/>
            <pc:sldMk cId="744840342" sldId="272"/>
            <ac:picMk id="14" creationId="{7C0A8BD1-A1EF-3495-1515-5C455ABAC22A}"/>
          </ac:picMkLst>
        </pc:picChg>
        <pc:picChg chg="add del mod modCrop">
          <ac:chgData name="Shlomi Ben Shushan" userId="7c78c233cbcc4ad7" providerId="LiveId" clId="{A6FFB4AB-6A20-CE4F-A565-F4C20D365A13}" dt="2025-11-28T12:59:05.293" v="778" actId="478"/>
          <ac:picMkLst>
            <pc:docMk/>
            <pc:sldMk cId="744840342" sldId="272"/>
            <ac:picMk id="15" creationId="{3086541E-5AB3-ECCF-236E-7C91F9379C00}"/>
          </ac:picMkLst>
        </pc:picChg>
      </pc:sldChg>
      <pc:sldChg chg="addSp delSp modSp add mod">
        <pc:chgData name="Shlomi Ben Shushan" userId="7c78c233cbcc4ad7" providerId="LiveId" clId="{A6FFB4AB-6A20-CE4F-A565-F4C20D365A13}" dt="2025-11-28T13:59:45.597" v="1939" actId="14100"/>
        <pc:sldMkLst>
          <pc:docMk/>
          <pc:sldMk cId="3102449062" sldId="273"/>
        </pc:sldMkLst>
        <pc:spChg chg="mod">
          <ac:chgData name="Shlomi Ben Shushan" userId="7c78c233cbcc4ad7" providerId="LiveId" clId="{A6FFB4AB-6A20-CE4F-A565-F4C20D365A13}" dt="2025-11-28T13:59:45.597" v="1939" actId="14100"/>
          <ac:spMkLst>
            <pc:docMk/>
            <pc:sldMk cId="3102449062" sldId="273"/>
            <ac:spMk id="2" creationId="{9C706101-AE96-E2CF-75D5-63081D2A0765}"/>
          </ac:spMkLst>
        </pc:spChg>
        <pc:spChg chg="add mod">
          <ac:chgData name="Shlomi Ben Shushan" userId="7c78c233cbcc4ad7" providerId="LiveId" clId="{A6FFB4AB-6A20-CE4F-A565-F4C20D365A13}" dt="2025-11-28T13:02:30.347" v="822" actId="20577"/>
          <ac:spMkLst>
            <pc:docMk/>
            <pc:sldMk cId="3102449062" sldId="273"/>
            <ac:spMk id="3" creationId="{5F56CA7C-F6CB-FD47-400E-5F5569748DD3}"/>
          </ac:spMkLst>
        </pc:spChg>
        <pc:spChg chg="del mod">
          <ac:chgData name="Shlomi Ben Shushan" userId="7c78c233cbcc4ad7" providerId="LiveId" clId="{A6FFB4AB-6A20-CE4F-A565-F4C20D365A13}" dt="2025-11-28T12:59:51.955" v="793" actId="478"/>
          <ac:spMkLst>
            <pc:docMk/>
            <pc:sldMk cId="3102449062" sldId="273"/>
            <ac:spMk id="13" creationId="{6A412764-7D6E-502A-3F24-AC24B0454FA7}"/>
          </ac:spMkLst>
        </pc:spChg>
        <pc:picChg chg="del">
          <ac:chgData name="Shlomi Ben Shushan" userId="7c78c233cbcc4ad7" providerId="LiveId" clId="{A6FFB4AB-6A20-CE4F-A565-F4C20D365A13}" dt="2025-11-28T12:59:38.757" v="790" actId="478"/>
          <ac:picMkLst>
            <pc:docMk/>
            <pc:sldMk cId="3102449062" sldId="273"/>
            <ac:picMk id="14" creationId="{2F16997A-9E42-E5CE-F268-CF509E47D41D}"/>
          </ac:picMkLst>
        </pc:picChg>
      </pc:sldChg>
      <pc:sldChg chg="addSp modSp add mod">
        <pc:chgData name="Shlomi Ben Shushan" userId="7c78c233cbcc4ad7" providerId="LiveId" clId="{A6FFB4AB-6A20-CE4F-A565-F4C20D365A13}" dt="2025-11-28T13:29:28.504" v="1160" actId="20577"/>
        <pc:sldMkLst>
          <pc:docMk/>
          <pc:sldMk cId="2706834222" sldId="274"/>
        </pc:sldMkLst>
        <pc:spChg chg="mod">
          <ac:chgData name="Shlomi Ben Shushan" userId="7c78c233cbcc4ad7" providerId="LiveId" clId="{A6FFB4AB-6A20-CE4F-A565-F4C20D365A13}" dt="2025-11-28T13:29:28.504" v="1160" actId="20577"/>
          <ac:spMkLst>
            <pc:docMk/>
            <pc:sldMk cId="2706834222" sldId="274"/>
            <ac:spMk id="2" creationId="{B09DDBF4-31C0-E3F9-1A0E-7EE41FB5AD20}"/>
          </ac:spMkLst>
        </pc:spChg>
        <pc:spChg chg="mod">
          <ac:chgData name="Shlomi Ben Shushan" userId="7c78c233cbcc4ad7" providerId="LiveId" clId="{A6FFB4AB-6A20-CE4F-A565-F4C20D365A13}" dt="2025-11-28T13:10:03.799" v="922" actId="14100"/>
          <ac:spMkLst>
            <pc:docMk/>
            <pc:sldMk cId="2706834222" sldId="274"/>
            <ac:spMk id="3" creationId="{B83574A6-1B93-A06B-2A46-082836AAA011}"/>
          </ac:spMkLst>
        </pc:spChg>
        <pc:spChg chg="add mod">
          <ac:chgData name="Shlomi Ben Shushan" userId="7c78c233cbcc4ad7" providerId="LiveId" clId="{A6FFB4AB-6A20-CE4F-A565-F4C20D365A13}" dt="2025-11-28T13:10:25.800" v="928" actId="14100"/>
          <ac:spMkLst>
            <pc:docMk/>
            <pc:sldMk cId="2706834222" sldId="274"/>
            <ac:spMk id="8" creationId="{15A6607A-AB0A-FD75-44DE-AFFF24D3CDB4}"/>
          </ac:spMkLst>
        </pc:spChg>
        <pc:grpChg chg="add mod">
          <ac:chgData name="Shlomi Ben Shushan" userId="7c78c233cbcc4ad7" providerId="LiveId" clId="{A6FFB4AB-6A20-CE4F-A565-F4C20D365A13}" dt="2025-11-28T13:08:19.496" v="894" actId="1076"/>
          <ac:grpSpMkLst>
            <pc:docMk/>
            <pc:sldMk cId="2706834222" sldId="274"/>
            <ac:grpSpMk id="6" creationId="{E75E273E-D86D-F784-2264-D58FD558CE29}"/>
          </ac:grpSpMkLst>
        </pc:grpChg>
        <pc:picChg chg="add mod modCrop">
          <ac:chgData name="Shlomi Ben Shushan" userId="7c78c233cbcc4ad7" providerId="LiveId" clId="{A6FFB4AB-6A20-CE4F-A565-F4C20D365A13}" dt="2025-11-28T13:08:08.750" v="888" actId="164"/>
          <ac:picMkLst>
            <pc:docMk/>
            <pc:sldMk cId="2706834222" sldId="274"/>
            <ac:picMk id="4" creationId="{028D1303-14E9-C042-6A6D-ADFEB61DB0DC}"/>
          </ac:picMkLst>
        </pc:picChg>
        <pc:picChg chg="add mod modCrop">
          <ac:chgData name="Shlomi Ben Shushan" userId="7c78c233cbcc4ad7" providerId="LiveId" clId="{A6FFB4AB-6A20-CE4F-A565-F4C20D365A13}" dt="2025-11-28T13:08:08.750" v="888" actId="164"/>
          <ac:picMkLst>
            <pc:docMk/>
            <pc:sldMk cId="2706834222" sldId="274"/>
            <ac:picMk id="5" creationId="{B05595B8-0AB9-F9E0-AEE0-57528290627D}"/>
          </ac:picMkLst>
        </pc:picChg>
      </pc:sldChg>
      <pc:sldChg chg="modSp add mod">
        <pc:chgData name="Shlomi Ben Shushan" userId="7c78c233cbcc4ad7" providerId="LiveId" clId="{A6FFB4AB-6A20-CE4F-A565-F4C20D365A13}" dt="2025-11-28T13:29:36.135" v="1164" actId="20577"/>
        <pc:sldMkLst>
          <pc:docMk/>
          <pc:sldMk cId="486885655" sldId="275"/>
        </pc:sldMkLst>
        <pc:spChg chg="mod">
          <ac:chgData name="Shlomi Ben Shushan" userId="7c78c233cbcc4ad7" providerId="LiveId" clId="{A6FFB4AB-6A20-CE4F-A565-F4C20D365A13}" dt="2025-11-28T13:29:36.135" v="1164" actId="20577"/>
          <ac:spMkLst>
            <pc:docMk/>
            <pc:sldMk cId="486885655" sldId="275"/>
            <ac:spMk id="2" creationId="{DCFA8725-965E-4634-7475-87AE9C91092F}"/>
          </ac:spMkLst>
        </pc:spChg>
        <pc:spChg chg="mod">
          <ac:chgData name="Shlomi Ben Shushan" userId="7c78c233cbcc4ad7" providerId="LiveId" clId="{A6FFB4AB-6A20-CE4F-A565-F4C20D365A13}" dt="2025-11-28T13:16:20.631" v="978" actId="113"/>
          <ac:spMkLst>
            <pc:docMk/>
            <pc:sldMk cId="486885655" sldId="275"/>
            <ac:spMk id="3" creationId="{3ABA33AA-7776-C5C5-7990-707BA8FFF124}"/>
          </ac:spMkLst>
        </pc:spChg>
      </pc:sldChg>
      <pc:sldChg chg="addSp modSp add mod">
        <pc:chgData name="Shlomi Ben Shushan" userId="7c78c233cbcc4ad7" providerId="LiveId" clId="{A6FFB4AB-6A20-CE4F-A565-F4C20D365A13}" dt="2025-11-28T13:29:51.016" v="1172" actId="20577"/>
        <pc:sldMkLst>
          <pc:docMk/>
          <pc:sldMk cId="3056977848" sldId="276"/>
        </pc:sldMkLst>
        <pc:spChg chg="mod">
          <ac:chgData name="Shlomi Ben Shushan" userId="7c78c233cbcc4ad7" providerId="LiveId" clId="{A6FFB4AB-6A20-CE4F-A565-F4C20D365A13}" dt="2025-11-28T13:29:51.016" v="1172" actId="20577"/>
          <ac:spMkLst>
            <pc:docMk/>
            <pc:sldMk cId="3056977848" sldId="276"/>
            <ac:spMk id="2" creationId="{45CE218B-024E-96D6-AB28-D2D2722BA3C4}"/>
          </ac:spMkLst>
        </pc:spChg>
        <pc:spChg chg="mod">
          <ac:chgData name="Shlomi Ben Shushan" userId="7c78c233cbcc4ad7" providerId="LiveId" clId="{A6FFB4AB-6A20-CE4F-A565-F4C20D365A13}" dt="2025-11-28T13:17:21.902" v="995" actId="20577"/>
          <ac:spMkLst>
            <pc:docMk/>
            <pc:sldMk cId="3056977848" sldId="276"/>
            <ac:spMk id="3" creationId="{3320813B-E6B6-8D17-903E-56276676D859}"/>
          </ac:spMkLst>
        </pc:spChg>
        <pc:spChg chg="add mod">
          <ac:chgData name="Shlomi Ben Shushan" userId="7c78c233cbcc4ad7" providerId="LiveId" clId="{A6FFB4AB-6A20-CE4F-A565-F4C20D365A13}" dt="2025-11-28T13:19:18.110" v="1016" actId="20577"/>
          <ac:spMkLst>
            <pc:docMk/>
            <pc:sldMk cId="3056977848" sldId="276"/>
            <ac:spMk id="6" creationId="{900474AA-A268-DCA2-417C-D5600A73439E}"/>
          </ac:spMkLst>
        </pc:spChg>
        <pc:picChg chg="add mod">
          <ac:chgData name="Shlomi Ben Shushan" userId="7c78c233cbcc4ad7" providerId="LiveId" clId="{A6FFB4AB-6A20-CE4F-A565-F4C20D365A13}" dt="2025-11-28T13:18:09.562" v="1002" actId="1076"/>
          <ac:picMkLst>
            <pc:docMk/>
            <pc:sldMk cId="3056977848" sldId="276"/>
            <ac:picMk id="4" creationId="{B84C8E4A-0BE0-9EDA-A839-F679CCA488C8}"/>
          </ac:picMkLst>
        </pc:picChg>
        <pc:picChg chg="add mod">
          <ac:chgData name="Shlomi Ben Shushan" userId="7c78c233cbcc4ad7" providerId="LiveId" clId="{A6FFB4AB-6A20-CE4F-A565-F4C20D365A13}" dt="2025-11-28T13:18:09.562" v="1002" actId="1076"/>
          <ac:picMkLst>
            <pc:docMk/>
            <pc:sldMk cId="3056977848" sldId="276"/>
            <ac:picMk id="5" creationId="{693E4F68-4DBD-499B-BB23-0D7479AB4F4B}"/>
          </ac:picMkLst>
        </pc:picChg>
      </pc:sldChg>
      <pc:sldChg chg="addSp delSp modSp add mod">
        <pc:chgData name="Shlomi Ben Shushan" userId="7c78c233cbcc4ad7" providerId="LiveId" clId="{A6FFB4AB-6A20-CE4F-A565-F4C20D365A13}" dt="2025-11-28T13:29:54.187" v="1173" actId="20577"/>
        <pc:sldMkLst>
          <pc:docMk/>
          <pc:sldMk cId="3111432998" sldId="277"/>
        </pc:sldMkLst>
        <pc:spChg chg="mod">
          <ac:chgData name="Shlomi Ben Shushan" userId="7c78c233cbcc4ad7" providerId="LiveId" clId="{A6FFB4AB-6A20-CE4F-A565-F4C20D365A13}" dt="2025-11-28T13:29:54.187" v="1173" actId="20577"/>
          <ac:spMkLst>
            <pc:docMk/>
            <pc:sldMk cId="3111432998" sldId="277"/>
            <ac:spMk id="2" creationId="{16DD6369-1224-586C-92B3-1350BFFABD6F}"/>
          </ac:spMkLst>
        </pc:spChg>
        <pc:spChg chg="mod">
          <ac:chgData name="Shlomi Ben Shushan" userId="7c78c233cbcc4ad7" providerId="LiveId" clId="{A6FFB4AB-6A20-CE4F-A565-F4C20D365A13}" dt="2025-11-28T13:21:09.648" v="1037" actId="20577"/>
          <ac:spMkLst>
            <pc:docMk/>
            <pc:sldMk cId="3111432998" sldId="277"/>
            <ac:spMk id="3" creationId="{29B0B8D3-6CCB-4952-0A8E-0D11DA4F44E4}"/>
          </ac:spMkLst>
        </pc:spChg>
        <pc:spChg chg="mod">
          <ac:chgData name="Shlomi Ben Shushan" userId="7c78c233cbcc4ad7" providerId="LiveId" clId="{A6FFB4AB-6A20-CE4F-A565-F4C20D365A13}" dt="2025-11-28T13:22:31.237" v="1051" actId="20577"/>
          <ac:spMkLst>
            <pc:docMk/>
            <pc:sldMk cId="3111432998" sldId="277"/>
            <ac:spMk id="6" creationId="{FED4ABA8-E16E-FEC3-947C-EDC41AEB6DE3}"/>
          </ac:spMkLst>
        </pc:spChg>
        <pc:picChg chg="del">
          <ac:chgData name="Shlomi Ben Shushan" userId="7c78c233cbcc4ad7" providerId="LiveId" clId="{A6FFB4AB-6A20-CE4F-A565-F4C20D365A13}" dt="2025-11-28T13:21:12.183" v="1038" actId="478"/>
          <ac:picMkLst>
            <pc:docMk/>
            <pc:sldMk cId="3111432998" sldId="277"/>
            <ac:picMk id="4" creationId="{56861FEF-F15F-34A0-BAC4-A1F7BB99F14C}"/>
          </ac:picMkLst>
        </pc:picChg>
        <pc:picChg chg="del">
          <ac:chgData name="Shlomi Ben Shushan" userId="7c78c233cbcc4ad7" providerId="LiveId" clId="{A6FFB4AB-6A20-CE4F-A565-F4C20D365A13}" dt="2025-11-28T13:21:12.183" v="1038" actId="478"/>
          <ac:picMkLst>
            <pc:docMk/>
            <pc:sldMk cId="3111432998" sldId="277"/>
            <ac:picMk id="5" creationId="{1D4BD4DA-24F6-E6F5-E431-C101B5C4537E}"/>
          </ac:picMkLst>
        </pc:picChg>
        <pc:picChg chg="add mod">
          <ac:chgData name="Shlomi Ben Shushan" userId="7c78c233cbcc4ad7" providerId="LiveId" clId="{A6FFB4AB-6A20-CE4F-A565-F4C20D365A13}" dt="2025-11-28T13:21:38.453" v="1040" actId="1076"/>
          <ac:picMkLst>
            <pc:docMk/>
            <pc:sldMk cId="3111432998" sldId="277"/>
            <ac:picMk id="7" creationId="{31895B11-01CE-C6B0-1D16-AA422A5AD2A1}"/>
          </ac:picMkLst>
        </pc:picChg>
      </pc:sldChg>
      <pc:sldChg chg="addSp delSp modSp add mod">
        <pc:chgData name="Shlomi Ben Shushan" userId="7c78c233cbcc4ad7" providerId="LiveId" clId="{A6FFB4AB-6A20-CE4F-A565-F4C20D365A13}" dt="2025-11-28T13:29:58.205" v="1177" actId="20577"/>
        <pc:sldMkLst>
          <pc:docMk/>
          <pc:sldMk cId="1713120900" sldId="278"/>
        </pc:sldMkLst>
        <pc:spChg chg="mod">
          <ac:chgData name="Shlomi Ben Shushan" userId="7c78c233cbcc4ad7" providerId="LiveId" clId="{A6FFB4AB-6A20-CE4F-A565-F4C20D365A13}" dt="2025-11-28T13:29:58.205" v="1177" actId="20577"/>
          <ac:spMkLst>
            <pc:docMk/>
            <pc:sldMk cId="1713120900" sldId="278"/>
            <ac:spMk id="2" creationId="{287EA9AB-C34C-F072-ED63-A4AD073A7F54}"/>
          </ac:spMkLst>
        </pc:spChg>
        <pc:spChg chg="mod">
          <ac:chgData name="Shlomi Ben Shushan" userId="7c78c233cbcc4ad7" providerId="LiveId" clId="{A6FFB4AB-6A20-CE4F-A565-F4C20D365A13}" dt="2025-11-28T13:24:27.319" v="1094" actId="20577"/>
          <ac:spMkLst>
            <pc:docMk/>
            <pc:sldMk cId="1713120900" sldId="278"/>
            <ac:spMk id="3" creationId="{D0BE9299-2467-0DA7-CED5-9D4917C24471}"/>
          </ac:spMkLst>
        </pc:spChg>
        <pc:spChg chg="mod">
          <ac:chgData name="Shlomi Ben Shushan" userId="7c78c233cbcc4ad7" providerId="LiveId" clId="{A6FFB4AB-6A20-CE4F-A565-F4C20D365A13}" dt="2025-11-28T13:24:59.579" v="1098" actId="20577"/>
          <ac:spMkLst>
            <pc:docMk/>
            <pc:sldMk cId="1713120900" sldId="278"/>
            <ac:spMk id="6" creationId="{7AEE2BF7-018F-8862-F76A-DE4C51AA5B5E}"/>
          </ac:spMkLst>
        </pc:spChg>
        <pc:picChg chg="del">
          <ac:chgData name="Shlomi Ben Shushan" userId="7c78c233cbcc4ad7" providerId="LiveId" clId="{A6FFB4AB-6A20-CE4F-A565-F4C20D365A13}" dt="2025-11-28T13:23:29.453" v="1062" actId="478"/>
          <ac:picMkLst>
            <pc:docMk/>
            <pc:sldMk cId="1713120900" sldId="278"/>
            <ac:picMk id="4" creationId="{49924D92-22B9-DD08-6299-BF3539A7CE74}"/>
          </ac:picMkLst>
        </pc:picChg>
        <pc:picChg chg="del">
          <ac:chgData name="Shlomi Ben Shushan" userId="7c78c233cbcc4ad7" providerId="LiveId" clId="{A6FFB4AB-6A20-CE4F-A565-F4C20D365A13}" dt="2025-11-28T13:23:29.453" v="1062" actId="478"/>
          <ac:picMkLst>
            <pc:docMk/>
            <pc:sldMk cId="1713120900" sldId="278"/>
            <ac:picMk id="5" creationId="{AB2F2579-4C4D-6E7F-9B75-D70BEA826AAF}"/>
          </ac:picMkLst>
        </pc:picChg>
        <pc:picChg chg="add mod">
          <ac:chgData name="Shlomi Ben Shushan" userId="7c78c233cbcc4ad7" providerId="LiveId" clId="{A6FFB4AB-6A20-CE4F-A565-F4C20D365A13}" dt="2025-11-28T13:23:35.485" v="1064" actId="1076"/>
          <ac:picMkLst>
            <pc:docMk/>
            <pc:sldMk cId="1713120900" sldId="278"/>
            <ac:picMk id="7" creationId="{60A5D502-EF3B-7459-FADD-36F6DBFDACCB}"/>
          </ac:picMkLst>
        </pc:picChg>
      </pc:sldChg>
      <pc:sldChg chg="addSp delSp modSp add mod">
        <pc:chgData name="Shlomi Ben Shushan" userId="7c78c233cbcc4ad7" providerId="LiveId" clId="{A6FFB4AB-6A20-CE4F-A565-F4C20D365A13}" dt="2025-11-28T13:30:02.087" v="1181" actId="20577"/>
        <pc:sldMkLst>
          <pc:docMk/>
          <pc:sldMk cId="4271413360" sldId="279"/>
        </pc:sldMkLst>
        <pc:spChg chg="mod">
          <ac:chgData name="Shlomi Ben Shushan" userId="7c78c233cbcc4ad7" providerId="LiveId" clId="{A6FFB4AB-6A20-CE4F-A565-F4C20D365A13}" dt="2025-11-28T13:30:02.087" v="1181" actId="20577"/>
          <ac:spMkLst>
            <pc:docMk/>
            <pc:sldMk cId="4271413360" sldId="279"/>
            <ac:spMk id="2" creationId="{5DB193EE-EAD6-4848-36EA-4CFF40383233}"/>
          </ac:spMkLst>
        </pc:spChg>
        <pc:spChg chg="mod">
          <ac:chgData name="Shlomi Ben Shushan" userId="7c78c233cbcc4ad7" providerId="LiveId" clId="{A6FFB4AB-6A20-CE4F-A565-F4C20D365A13}" dt="2025-11-28T13:26:30.673" v="1116" actId="20577"/>
          <ac:spMkLst>
            <pc:docMk/>
            <pc:sldMk cId="4271413360" sldId="279"/>
            <ac:spMk id="3" creationId="{40298481-A0E0-C23F-8ACC-700FB14D8DC1}"/>
          </ac:spMkLst>
        </pc:spChg>
        <pc:spChg chg="mod">
          <ac:chgData name="Shlomi Ben Shushan" userId="7c78c233cbcc4ad7" providerId="LiveId" clId="{A6FFB4AB-6A20-CE4F-A565-F4C20D365A13}" dt="2025-11-28T13:27:29.252" v="1125" actId="113"/>
          <ac:spMkLst>
            <pc:docMk/>
            <pc:sldMk cId="4271413360" sldId="279"/>
            <ac:spMk id="6" creationId="{F3C57722-1D1B-4386-D6B1-2274B1E80696}"/>
          </ac:spMkLst>
        </pc:spChg>
        <pc:picChg chg="add mod">
          <ac:chgData name="Shlomi Ben Shushan" userId="7c78c233cbcc4ad7" providerId="LiveId" clId="{A6FFB4AB-6A20-CE4F-A565-F4C20D365A13}" dt="2025-11-28T13:26:03.832" v="1104" actId="1076"/>
          <ac:picMkLst>
            <pc:docMk/>
            <pc:sldMk cId="4271413360" sldId="279"/>
            <ac:picMk id="4" creationId="{42A708A4-CCB2-5A0F-4C0C-2545E9D37FBC}"/>
          </ac:picMkLst>
        </pc:picChg>
        <pc:picChg chg="del">
          <ac:chgData name="Shlomi Ben Shushan" userId="7c78c233cbcc4ad7" providerId="LiveId" clId="{A6FFB4AB-6A20-CE4F-A565-F4C20D365A13}" dt="2025-11-28T13:25:59.532" v="1102" actId="478"/>
          <ac:picMkLst>
            <pc:docMk/>
            <pc:sldMk cId="4271413360" sldId="279"/>
            <ac:picMk id="7" creationId="{E489F311-BA95-4321-63A4-7BA37CF26F0F}"/>
          </ac:picMkLst>
        </pc:picChg>
      </pc:sldChg>
      <pc:sldChg chg="modSp add mod">
        <pc:chgData name="Shlomi Ben Shushan" userId="7c78c233cbcc4ad7" providerId="LiveId" clId="{A6FFB4AB-6A20-CE4F-A565-F4C20D365A13}" dt="2025-11-28T14:00:03.454" v="1940" actId="255"/>
        <pc:sldMkLst>
          <pc:docMk/>
          <pc:sldMk cId="3071768110" sldId="280"/>
        </pc:sldMkLst>
        <pc:spChg chg="mod">
          <ac:chgData name="Shlomi Ben Shushan" userId="7c78c233cbcc4ad7" providerId="LiveId" clId="{A6FFB4AB-6A20-CE4F-A565-F4C20D365A13}" dt="2025-11-28T13:31:07.758" v="1186"/>
          <ac:spMkLst>
            <pc:docMk/>
            <pc:sldMk cId="3071768110" sldId="280"/>
            <ac:spMk id="2" creationId="{47E41802-DAEF-6104-FB8F-889EDA1E3629}"/>
          </ac:spMkLst>
        </pc:spChg>
        <pc:spChg chg="mod">
          <ac:chgData name="Shlomi Ben Shushan" userId="7c78c233cbcc4ad7" providerId="LiveId" clId="{A6FFB4AB-6A20-CE4F-A565-F4C20D365A13}" dt="2025-11-28T14:00:03.454" v="1940" actId="255"/>
          <ac:spMkLst>
            <pc:docMk/>
            <pc:sldMk cId="3071768110" sldId="280"/>
            <ac:spMk id="3" creationId="{279D2742-3BE8-4697-2149-8366A9F87555}"/>
          </ac:spMkLst>
        </pc:spChg>
      </pc:sldChg>
      <pc:sldChg chg="modSp add mod">
        <pc:chgData name="Shlomi Ben Shushan" userId="7c78c233cbcc4ad7" providerId="LiveId" clId="{A6FFB4AB-6A20-CE4F-A565-F4C20D365A13}" dt="2025-11-28T14:04:21.057" v="2062" actId="20577"/>
        <pc:sldMkLst>
          <pc:docMk/>
          <pc:sldMk cId="529184026" sldId="281"/>
        </pc:sldMkLst>
        <pc:spChg chg="mod">
          <ac:chgData name="Shlomi Ben Shushan" userId="7c78c233cbcc4ad7" providerId="LiveId" clId="{A6FFB4AB-6A20-CE4F-A565-F4C20D365A13}" dt="2025-11-28T14:00:15.990" v="1946" actId="255"/>
          <ac:spMkLst>
            <pc:docMk/>
            <pc:sldMk cId="529184026" sldId="281"/>
            <ac:spMk id="2" creationId="{A68281C5-9F37-9D7E-97A3-F65C3D0CF2C7}"/>
          </ac:spMkLst>
        </pc:spChg>
        <pc:spChg chg="mod">
          <ac:chgData name="Shlomi Ben Shushan" userId="7c78c233cbcc4ad7" providerId="LiveId" clId="{A6FFB4AB-6A20-CE4F-A565-F4C20D365A13}" dt="2025-11-28T14:04:21.057" v="2062" actId="20577"/>
          <ac:spMkLst>
            <pc:docMk/>
            <pc:sldMk cId="529184026" sldId="281"/>
            <ac:spMk id="3" creationId="{BA12A497-6CF9-1104-28FB-33A8F485C2DD}"/>
          </ac:spMkLst>
        </pc:spChg>
      </pc:sldChg>
      <pc:sldChg chg="modSp add mod">
        <pc:chgData name="Shlomi Ben Shushan" userId="7c78c233cbcc4ad7" providerId="LiveId" clId="{A6FFB4AB-6A20-CE4F-A565-F4C20D365A13}" dt="2025-11-28T14:13:47.904" v="2240" actId="404"/>
        <pc:sldMkLst>
          <pc:docMk/>
          <pc:sldMk cId="4068634338" sldId="282"/>
        </pc:sldMkLst>
        <pc:spChg chg="mod">
          <ac:chgData name="Shlomi Ben Shushan" userId="7c78c233cbcc4ad7" providerId="LiveId" clId="{A6FFB4AB-6A20-CE4F-A565-F4C20D365A13}" dt="2025-11-28T14:04:36.647" v="2064" actId="20577"/>
          <ac:spMkLst>
            <pc:docMk/>
            <pc:sldMk cId="4068634338" sldId="282"/>
            <ac:spMk id="2" creationId="{634DA828-9ACF-3846-1757-36CF827BD123}"/>
          </ac:spMkLst>
        </pc:spChg>
        <pc:spChg chg="mod">
          <ac:chgData name="Shlomi Ben Shushan" userId="7c78c233cbcc4ad7" providerId="LiveId" clId="{A6FFB4AB-6A20-CE4F-A565-F4C20D365A13}" dt="2025-11-28T14:13:47.904" v="2240" actId="404"/>
          <ac:spMkLst>
            <pc:docMk/>
            <pc:sldMk cId="4068634338" sldId="282"/>
            <ac:spMk id="3" creationId="{B98ADCC5-1250-F63D-41B8-0DAF845A4132}"/>
          </ac:spMkLst>
        </pc:spChg>
      </pc:sldChg>
      <pc:sldChg chg="modSp add mod">
        <pc:chgData name="Shlomi Ben Shushan" userId="7c78c233cbcc4ad7" providerId="LiveId" clId="{A6FFB4AB-6A20-CE4F-A565-F4C20D365A13}" dt="2025-11-28T14:14:34.197" v="2266"/>
        <pc:sldMkLst>
          <pc:docMk/>
          <pc:sldMk cId="3698007181" sldId="283"/>
        </pc:sldMkLst>
        <pc:spChg chg="mod">
          <ac:chgData name="Shlomi Ben Shushan" userId="7c78c233cbcc4ad7" providerId="LiveId" clId="{A6FFB4AB-6A20-CE4F-A565-F4C20D365A13}" dt="2025-11-28T14:13:15.351" v="2220" actId="20577"/>
          <ac:spMkLst>
            <pc:docMk/>
            <pc:sldMk cId="3698007181" sldId="283"/>
            <ac:spMk id="2" creationId="{AB9EBF2B-797F-0311-B836-06EAAB9A54FA}"/>
          </ac:spMkLst>
        </pc:spChg>
        <pc:spChg chg="mod">
          <ac:chgData name="Shlomi Ben Shushan" userId="7c78c233cbcc4ad7" providerId="LiveId" clId="{A6FFB4AB-6A20-CE4F-A565-F4C20D365A13}" dt="2025-11-28T14:14:34.197" v="2266"/>
          <ac:spMkLst>
            <pc:docMk/>
            <pc:sldMk cId="3698007181" sldId="283"/>
            <ac:spMk id="3" creationId="{7C1B95D5-5209-A71E-B25A-F9DA49D7C13C}"/>
          </ac:spMkLst>
        </pc:spChg>
      </pc:sldChg>
      <pc:sldChg chg="addSp modSp add mod">
        <pc:chgData name="Shlomi Ben Shushan" userId="7c78c233cbcc4ad7" providerId="LiveId" clId="{A6FFB4AB-6A20-CE4F-A565-F4C20D365A13}" dt="2025-11-28T14:17:07.859" v="2325" actId="1076"/>
        <pc:sldMkLst>
          <pc:docMk/>
          <pc:sldMk cId="3994090515" sldId="284"/>
        </pc:sldMkLst>
        <pc:spChg chg="mod">
          <ac:chgData name="Shlomi Ben Shushan" userId="7c78c233cbcc4ad7" providerId="LiveId" clId="{A6FFB4AB-6A20-CE4F-A565-F4C20D365A13}" dt="2025-11-28T14:14:54.265" v="2268" actId="20577"/>
          <ac:spMkLst>
            <pc:docMk/>
            <pc:sldMk cId="3994090515" sldId="284"/>
            <ac:spMk id="2" creationId="{4563298B-CA43-3F32-EC08-43EEED771F32}"/>
          </ac:spMkLst>
        </pc:spChg>
        <pc:spChg chg="mod">
          <ac:chgData name="Shlomi Ben Shushan" userId="7c78c233cbcc4ad7" providerId="LiveId" clId="{A6FFB4AB-6A20-CE4F-A565-F4C20D365A13}" dt="2025-11-28T14:17:03.569" v="2324" actId="20577"/>
          <ac:spMkLst>
            <pc:docMk/>
            <pc:sldMk cId="3994090515" sldId="284"/>
            <ac:spMk id="3" creationId="{86CD259F-5FC3-0B12-2C50-F3FC5CB35B7D}"/>
          </ac:spMkLst>
        </pc:spChg>
        <pc:picChg chg="add mod">
          <ac:chgData name="Shlomi Ben Shushan" userId="7c78c233cbcc4ad7" providerId="LiveId" clId="{A6FFB4AB-6A20-CE4F-A565-F4C20D365A13}" dt="2025-11-28T14:17:07.859" v="2325" actId="1076"/>
          <ac:picMkLst>
            <pc:docMk/>
            <pc:sldMk cId="3994090515" sldId="284"/>
            <ac:picMk id="4" creationId="{C8041323-3B7E-B359-7753-1E160AC93BFC}"/>
          </ac:picMkLst>
        </pc:picChg>
      </pc:sldChg>
      <pc:sldChg chg="modSp add mod">
        <pc:chgData name="Shlomi Ben Shushan" userId="7c78c233cbcc4ad7" providerId="LiveId" clId="{A6FFB4AB-6A20-CE4F-A565-F4C20D365A13}" dt="2025-11-28T14:32:09.780" v="2545" actId="20577"/>
        <pc:sldMkLst>
          <pc:docMk/>
          <pc:sldMk cId="1793950296" sldId="285"/>
        </pc:sldMkLst>
        <pc:spChg chg="mod">
          <ac:chgData name="Shlomi Ben Shushan" userId="7c78c233cbcc4ad7" providerId="LiveId" clId="{A6FFB4AB-6A20-CE4F-A565-F4C20D365A13}" dt="2025-11-28T14:18:55.367" v="2374" actId="20577"/>
          <ac:spMkLst>
            <pc:docMk/>
            <pc:sldMk cId="1793950296" sldId="285"/>
            <ac:spMk id="2" creationId="{C916633A-A5A4-A907-5315-4A3E4A46A27A}"/>
          </ac:spMkLst>
        </pc:spChg>
        <pc:spChg chg="mod">
          <ac:chgData name="Shlomi Ben Shushan" userId="7c78c233cbcc4ad7" providerId="LiveId" clId="{A6FFB4AB-6A20-CE4F-A565-F4C20D365A13}" dt="2025-11-28T14:32:09.780" v="2545" actId="20577"/>
          <ac:spMkLst>
            <pc:docMk/>
            <pc:sldMk cId="1793950296" sldId="285"/>
            <ac:spMk id="3" creationId="{2ABA5A4F-BBFB-76EA-771C-0A5705DC2163}"/>
          </ac:spMkLst>
        </pc:spChg>
      </pc:sldChg>
      <pc:sldChg chg="modSp add mod">
        <pc:chgData name="Shlomi Ben Shushan" userId="7c78c233cbcc4ad7" providerId="LiveId" clId="{A6FFB4AB-6A20-CE4F-A565-F4C20D365A13}" dt="2025-11-28T14:37:10.244" v="2661" actId="20577"/>
        <pc:sldMkLst>
          <pc:docMk/>
          <pc:sldMk cId="1395443283" sldId="286"/>
        </pc:sldMkLst>
        <pc:spChg chg="mod">
          <ac:chgData name="Shlomi Ben Shushan" userId="7c78c233cbcc4ad7" providerId="LiveId" clId="{A6FFB4AB-6A20-CE4F-A565-F4C20D365A13}" dt="2025-11-28T14:32:26.751" v="2559" actId="20577"/>
          <ac:spMkLst>
            <pc:docMk/>
            <pc:sldMk cId="1395443283" sldId="286"/>
            <ac:spMk id="2" creationId="{A2C108AD-238A-B046-6E50-FF71E95282C1}"/>
          </ac:spMkLst>
        </pc:spChg>
        <pc:spChg chg="mod">
          <ac:chgData name="Shlomi Ben Shushan" userId="7c78c233cbcc4ad7" providerId="LiveId" clId="{A6FFB4AB-6A20-CE4F-A565-F4C20D365A13}" dt="2025-11-28T14:37:10.244" v="2661" actId="20577"/>
          <ac:spMkLst>
            <pc:docMk/>
            <pc:sldMk cId="1395443283" sldId="286"/>
            <ac:spMk id="3" creationId="{D25BA6B8-A259-AC99-19FE-F4EEBBC091EC}"/>
          </ac:spMkLst>
        </pc:spChg>
      </pc:sldChg>
      <pc:sldChg chg="delSp modSp add del mod">
        <pc:chgData name="Shlomi Ben Shushan" userId="7c78c233cbcc4ad7" providerId="LiveId" clId="{A6FFB4AB-6A20-CE4F-A565-F4C20D365A13}" dt="2025-11-28T14:39:24.225" v="2668" actId="2696"/>
        <pc:sldMkLst>
          <pc:docMk/>
          <pc:sldMk cId="3035256814" sldId="287"/>
        </pc:sldMkLst>
        <pc:spChg chg="mod">
          <ac:chgData name="Shlomi Ben Shushan" userId="7c78c233cbcc4ad7" providerId="LiveId" clId="{A6FFB4AB-6A20-CE4F-A565-F4C20D365A13}" dt="2025-11-28T14:38:09.750" v="2667" actId="20577"/>
          <ac:spMkLst>
            <pc:docMk/>
            <pc:sldMk cId="3035256814" sldId="287"/>
            <ac:spMk id="2" creationId="{98BCE8B3-0421-6F80-EB0E-2D9C0FFB2F2A}"/>
          </ac:spMkLst>
        </pc:spChg>
        <pc:picChg chg="del">
          <ac:chgData name="Shlomi Ben Shushan" userId="7c78c233cbcc4ad7" providerId="LiveId" clId="{A6FFB4AB-6A20-CE4F-A565-F4C20D365A13}" dt="2025-11-28T14:38:03.437" v="2663" actId="478"/>
          <ac:picMkLst>
            <pc:docMk/>
            <pc:sldMk cId="3035256814" sldId="287"/>
            <ac:picMk id="5122" creationId="{35D165B1-9E79-DD39-2DAE-6AB41B8801BA}"/>
          </ac:picMkLst>
        </pc:picChg>
      </pc:sldChg>
      <pc:sldChg chg="addSp delSp modSp add mod">
        <pc:chgData name="Shlomi Ben Shushan" userId="7c78c233cbcc4ad7" providerId="LiveId" clId="{A6FFB4AB-6A20-CE4F-A565-F4C20D365A13}" dt="2025-11-28T21:44:07.625" v="2872" actId="113"/>
        <pc:sldMkLst>
          <pc:docMk/>
          <pc:sldMk cId="3842049619" sldId="287"/>
        </pc:sldMkLst>
        <pc:spChg chg="del mod">
          <ac:chgData name="Shlomi Ben Shushan" userId="7c78c233cbcc4ad7" providerId="LiveId" clId="{A6FFB4AB-6A20-CE4F-A565-F4C20D365A13}" dt="2025-11-28T21:43:52.333" v="2867" actId="478"/>
          <ac:spMkLst>
            <pc:docMk/>
            <pc:sldMk cId="3842049619" sldId="287"/>
            <ac:spMk id="2" creationId="{246A92D6-4734-377E-2C0C-4B5A26E956B1}"/>
          </ac:spMkLst>
        </pc:spChg>
        <pc:spChg chg="del">
          <ac:chgData name="Shlomi Ben Shushan" userId="7c78c233cbcc4ad7" providerId="LiveId" clId="{A6FFB4AB-6A20-CE4F-A565-F4C20D365A13}" dt="2025-11-28T14:40:21.643" v="2703" actId="478"/>
          <ac:spMkLst>
            <pc:docMk/>
            <pc:sldMk cId="3842049619" sldId="287"/>
            <ac:spMk id="3" creationId="{E7B3A272-4143-3759-7C1C-198C74654E23}"/>
          </ac:spMkLst>
        </pc:spChg>
        <pc:spChg chg="add del mod">
          <ac:chgData name="Shlomi Ben Shushan" userId="7c78c233cbcc4ad7" providerId="LiveId" clId="{A6FFB4AB-6A20-CE4F-A565-F4C20D365A13}" dt="2025-11-28T14:40:24.520" v="2704" actId="478"/>
          <ac:spMkLst>
            <pc:docMk/>
            <pc:sldMk cId="3842049619" sldId="287"/>
            <ac:spMk id="5" creationId="{6FB27116-C46E-775C-965A-B5BD2B158EF2}"/>
          </ac:spMkLst>
        </pc:spChg>
        <pc:spChg chg="add mod">
          <ac:chgData name="Shlomi Ben Shushan" userId="7c78c233cbcc4ad7" providerId="LiveId" clId="{A6FFB4AB-6A20-CE4F-A565-F4C20D365A13}" dt="2025-11-28T21:44:07.625" v="2872" actId="113"/>
          <ac:spMkLst>
            <pc:docMk/>
            <pc:sldMk cId="3842049619" sldId="287"/>
            <ac:spMk id="6" creationId="{8A8CD650-EFBC-1EED-7449-3B76ABD6881C}"/>
          </ac:spMkLst>
        </pc:spChg>
        <pc:spChg chg="add del mod">
          <ac:chgData name="Shlomi Ben Shushan" userId="7c78c233cbcc4ad7" providerId="LiveId" clId="{A6FFB4AB-6A20-CE4F-A565-F4C20D365A13}" dt="2025-11-28T21:43:55.474" v="2868" actId="478"/>
          <ac:spMkLst>
            <pc:docMk/>
            <pc:sldMk cId="3842049619" sldId="287"/>
            <ac:spMk id="8" creationId="{05DE8940-FC96-154E-1883-BFA6AA5BF95F}"/>
          </ac:spMkLst>
        </pc:spChg>
        <pc:picChg chg="del">
          <ac:chgData name="Shlomi Ben Shushan" userId="7c78c233cbcc4ad7" providerId="LiveId" clId="{A6FFB4AB-6A20-CE4F-A565-F4C20D365A13}" dt="2025-11-28T14:40:26.213" v="2705" actId="478"/>
          <ac:picMkLst>
            <pc:docMk/>
            <pc:sldMk cId="3842049619" sldId="287"/>
            <ac:picMk id="1028" creationId="{3A6C7C31-F051-5D47-476A-F1863E36AE94}"/>
          </ac:picMkLst>
        </pc:picChg>
      </pc:sldChg>
      <pc:sldChg chg="addSp delSp modSp add del mod">
        <pc:chgData name="Shlomi Ben Shushan" userId="7c78c233cbcc4ad7" providerId="LiveId" clId="{A6FFB4AB-6A20-CE4F-A565-F4C20D365A13}" dt="2025-11-28T21:39:53.090" v="2777" actId="2696"/>
        <pc:sldMkLst>
          <pc:docMk/>
          <pc:sldMk cId="2551654734" sldId="288"/>
        </pc:sldMkLst>
        <pc:spChg chg="mod">
          <ac:chgData name="Shlomi Ben Shushan" userId="7c78c233cbcc4ad7" providerId="LiveId" clId="{A6FFB4AB-6A20-CE4F-A565-F4C20D365A13}" dt="2025-11-28T14:42:19.964" v="2718" actId="20577"/>
          <ac:spMkLst>
            <pc:docMk/>
            <pc:sldMk cId="2551654734" sldId="288"/>
            <ac:spMk id="2" creationId="{FAFAD8E1-E6F4-277E-499A-E0B4BDD940B4}"/>
          </ac:spMkLst>
        </pc:spChg>
        <pc:spChg chg="add mod">
          <ac:chgData name="Shlomi Ben Shushan" userId="7c78c233cbcc4ad7" providerId="LiveId" clId="{A6FFB4AB-6A20-CE4F-A565-F4C20D365A13}" dt="2025-11-28T14:42:24.639" v="2730" actId="20577"/>
          <ac:spMkLst>
            <pc:docMk/>
            <pc:sldMk cId="2551654734" sldId="288"/>
            <ac:spMk id="3" creationId="{45E9FBC7-618D-26DB-F6D3-7FB922190885}"/>
          </ac:spMkLst>
        </pc:spChg>
        <pc:picChg chg="del">
          <ac:chgData name="Shlomi Ben Shushan" userId="7c78c233cbcc4ad7" providerId="LiveId" clId="{A6FFB4AB-6A20-CE4F-A565-F4C20D365A13}" dt="2025-11-28T14:41:49.147" v="2712" actId="478"/>
          <ac:picMkLst>
            <pc:docMk/>
            <pc:sldMk cId="2551654734" sldId="288"/>
            <ac:picMk id="5122" creationId="{490D8AF6-C17E-630E-2A8E-37EC0C441B1F}"/>
          </ac:picMkLst>
        </pc:picChg>
      </pc:sldChg>
      <pc:sldChg chg="add del">
        <pc:chgData name="Shlomi Ben Shushan" userId="7c78c233cbcc4ad7" providerId="LiveId" clId="{A6FFB4AB-6A20-CE4F-A565-F4C20D365A13}" dt="2025-11-28T14:41:44" v="2709"/>
        <pc:sldMkLst>
          <pc:docMk/>
          <pc:sldMk cId="2771919034" sldId="288"/>
        </pc:sldMkLst>
      </pc:sldChg>
      <pc:sldChg chg="modSp add del mod">
        <pc:chgData name="Shlomi Ben Shushan" userId="7c78c233cbcc4ad7" providerId="LiveId" clId="{A6FFB4AB-6A20-CE4F-A565-F4C20D365A13}" dt="2025-11-28T21:39:49.280" v="2775" actId="2696"/>
        <pc:sldMkLst>
          <pc:docMk/>
          <pc:sldMk cId="2987643792" sldId="289"/>
        </pc:sldMkLst>
        <pc:spChg chg="mod">
          <ac:chgData name="Shlomi Ben Shushan" userId="7c78c233cbcc4ad7" providerId="LiveId" clId="{A6FFB4AB-6A20-CE4F-A565-F4C20D365A13}" dt="2025-11-28T14:42:35.921" v="2751" actId="20577"/>
          <ac:spMkLst>
            <pc:docMk/>
            <pc:sldMk cId="2987643792" sldId="289"/>
            <ac:spMk id="2" creationId="{A1269A73-7174-0DEA-3083-7C0D9AF0368D}"/>
          </ac:spMkLst>
        </pc:spChg>
        <pc:spChg chg="mod">
          <ac:chgData name="Shlomi Ben Shushan" userId="7c78c233cbcc4ad7" providerId="LiveId" clId="{A6FFB4AB-6A20-CE4F-A565-F4C20D365A13}" dt="2025-11-28T14:42:38.430" v="2752" actId="20577"/>
          <ac:spMkLst>
            <pc:docMk/>
            <pc:sldMk cId="2987643792" sldId="289"/>
            <ac:spMk id="3" creationId="{C30ACFCE-84DF-05FF-5A67-4B7816402670}"/>
          </ac:spMkLst>
        </pc:spChg>
      </pc:sldChg>
      <pc:sldChg chg="add del">
        <pc:chgData name="Shlomi Ben Shushan" userId="7c78c233cbcc4ad7" providerId="LiveId" clId="{A6FFB4AB-6A20-CE4F-A565-F4C20D365A13}" dt="2025-11-28T14:42:27.723" v="2731" actId="2696"/>
        <pc:sldMkLst>
          <pc:docMk/>
          <pc:sldMk cId="2997548917" sldId="289"/>
        </pc:sldMkLst>
      </pc:sldChg>
      <pc:sldChg chg="add del">
        <pc:chgData name="Shlomi Ben Shushan" userId="7c78c233cbcc4ad7" providerId="LiveId" clId="{A6FFB4AB-6A20-CE4F-A565-F4C20D365A13}" dt="2025-11-28T14:41:43.715" v="2708"/>
        <pc:sldMkLst>
          <pc:docMk/>
          <pc:sldMk cId="3258658113" sldId="289"/>
        </pc:sldMkLst>
      </pc:sldChg>
      <pc:sldChg chg="modSp add del mod">
        <pc:chgData name="Shlomi Ben Shushan" userId="7c78c233cbcc4ad7" providerId="LiveId" clId="{A6FFB4AB-6A20-CE4F-A565-F4C20D365A13}" dt="2025-11-28T21:39:50.135" v="2776" actId="2696"/>
        <pc:sldMkLst>
          <pc:docMk/>
          <pc:sldMk cId="3174204772" sldId="290"/>
        </pc:sldMkLst>
        <pc:spChg chg="mod">
          <ac:chgData name="Shlomi Ben Shushan" userId="7c78c233cbcc4ad7" providerId="LiveId" clId="{A6FFB4AB-6A20-CE4F-A565-F4C20D365A13}" dt="2025-11-28T14:43:03.354" v="2770" actId="20577"/>
          <ac:spMkLst>
            <pc:docMk/>
            <pc:sldMk cId="3174204772" sldId="290"/>
            <ac:spMk id="2" creationId="{88899B0D-7965-998C-C9C4-F3DA1DEE7BFE}"/>
          </ac:spMkLst>
        </pc:spChg>
        <pc:spChg chg="mod">
          <ac:chgData name="Shlomi Ben Shushan" userId="7c78c233cbcc4ad7" providerId="LiveId" clId="{A6FFB4AB-6A20-CE4F-A565-F4C20D365A13}" dt="2025-11-28T14:42:59.029" v="2759" actId="5793"/>
          <ac:spMkLst>
            <pc:docMk/>
            <pc:sldMk cId="3174204772" sldId="290"/>
            <ac:spMk id="3" creationId="{3C0F2549-A047-B5D9-0DD0-5823744F1419}"/>
          </ac:spMkLst>
        </pc:spChg>
      </pc:sldChg>
      <pc:sldChg chg="add del">
        <pc:chgData name="Shlomi Ben Shushan" userId="7c78c233cbcc4ad7" providerId="LiveId" clId="{A6FFB4AB-6A20-CE4F-A565-F4C20D365A13}" dt="2025-11-28T14:42:55.371" v="2755"/>
        <pc:sldMkLst>
          <pc:docMk/>
          <pc:sldMk cId="1994161100" sldId="291"/>
        </pc:sldMkLst>
      </pc:sldChg>
      <pc:sldChg chg="add del">
        <pc:chgData name="Shlomi Ben Shushan" userId="7c78c233cbcc4ad7" providerId="LiveId" clId="{A6FFB4AB-6A20-CE4F-A565-F4C20D365A13}" dt="2025-11-28T21:39:48.187" v="2774" actId="2696"/>
        <pc:sldMkLst>
          <pc:docMk/>
          <pc:sldMk cId="3308602755" sldId="29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72032C-FC28-6346-8005-2D9B1FD312FC}" type="datetimeFigureOut">
              <a:rPr lang="en-IL" smtClean="0"/>
              <a:t>03/12/2025</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6FFE5D-288A-DB4E-9912-CFF1A38B0A9A}" type="slidenum">
              <a:rPr lang="en-IL" smtClean="0"/>
              <a:t>‹#›</a:t>
            </a:fld>
            <a:endParaRPr lang="en-IL"/>
          </a:p>
        </p:txBody>
      </p:sp>
    </p:spTree>
    <p:extLst>
      <p:ext uri="{BB962C8B-B14F-4D97-AF65-F5344CB8AC3E}">
        <p14:creationId xmlns:p14="http://schemas.microsoft.com/office/powerpoint/2010/main" val="550613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0.5</a:t>
            </a:r>
            <a:endParaRPr lang="en-US" dirty="0"/>
          </a:p>
          <a:p>
            <a:pPr marL="0" algn="r" defTabSz="914400" rtl="1" eaLnBrk="1" latinLnBrk="0" hangingPunct="1"/>
            <a:endParaRPr lang="en-US" dirty="0"/>
          </a:p>
          <a:p>
            <a:pPr marL="0" algn="r" defTabSz="914400" rtl="1" eaLnBrk="1" latinLnBrk="0" hangingPunct="1"/>
            <a:r>
              <a:rPr lang="he-IL" dirty="0"/>
              <a:t>שלום לכולם,</a:t>
            </a:r>
          </a:p>
          <a:p>
            <a:pPr marL="0" algn="r" defTabSz="914400" rtl="1" eaLnBrk="1" latinLnBrk="0" hangingPunct="1"/>
            <a:r>
              <a:rPr lang="he-IL" dirty="0"/>
              <a:t>שמי שלומי בן שושן,</a:t>
            </a:r>
          </a:p>
          <a:p>
            <a:pPr marL="0" algn="r" defTabSz="914400" rtl="1" eaLnBrk="1" latinLnBrk="0" hangingPunct="1"/>
            <a:r>
              <a:rPr lang="he-IL" dirty="0"/>
              <a:t>והיום אציג את הערכת הביצועים של מודלי </a:t>
            </a:r>
            <a:r>
              <a:rPr lang="en-US" dirty="0"/>
              <a:t>LLaMA</a:t>
            </a:r>
            <a:r>
              <a:rPr lang="he-IL" dirty="0"/>
              <a:t> לפי מגוון </a:t>
            </a:r>
            <a:r>
              <a:rPr lang="he-IL" dirty="0" err="1"/>
              <a:t>בנצ'מרקים</a:t>
            </a:r>
            <a:r>
              <a:rPr lang="he-IL" dirty="0"/>
              <a:t> ומטריקות, תוך השוואה למודלים מתחרים נכון לשנת 2023.</a:t>
            </a:r>
          </a:p>
        </p:txBody>
      </p:sp>
      <p:sp>
        <p:nvSpPr>
          <p:cNvPr id="4" name="Slide Number Placeholder 3"/>
          <p:cNvSpPr>
            <a:spLocks noGrp="1"/>
          </p:cNvSpPr>
          <p:nvPr>
            <p:ph type="sldNum" sz="quarter" idx="5"/>
          </p:nvPr>
        </p:nvSpPr>
        <p:spPr/>
        <p:txBody>
          <a:bodyPr/>
          <a:lstStyle/>
          <a:p>
            <a:fld id="{476FFE5D-288A-DB4E-9912-CFF1A38B0A9A}" type="slidenum">
              <a:rPr lang="en-IL" smtClean="0"/>
              <a:t>1</a:t>
            </a:fld>
            <a:endParaRPr lang="en-IL"/>
          </a:p>
        </p:txBody>
      </p:sp>
    </p:spTree>
    <p:extLst>
      <p:ext uri="{BB962C8B-B14F-4D97-AF65-F5344CB8AC3E}">
        <p14:creationId xmlns:p14="http://schemas.microsoft.com/office/powerpoint/2010/main" val="12451292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49E3E-A54D-0CF8-6F27-5ADC98B697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858005-21C4-BE74-2CD2-BBA92AB2A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E6BA2B-5ABF-ED4F-628F-BD9D92491B1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p:txBody>
      </p:sp>
      <p:sp>
        <p:nvSpPr>
          <p:cNvPr id="4" name="Slide Number Placeholder 3">
            <a:extLst>
              <a:ext uri="{FF2B5EF4-FFF2-40B4-BE49-F238E27FC236}">
                <a16:creationId xmlns:a16="http://schemas.microsoft.com/office/drawing/2014/main" id="{4A15FDF6-BB70-6B79-67AA-CBA9E61BBCF6}"/>
              </a:ext>
            </a:extLst>
          </p:cNvPr>
          <p:cNvSpPr>
            <a:spLocks noGrp="1"/>
          </p:cNvSpPr>
          <p:nvPr>
            <p:ph type="sldNum" sz="quarter" idx="5"/>
          </p:nvPr>
        </p:nvSpPr>
        <p:spPr/>
        <p:txBody>
          <a:bodyPr/>
          <a:lstStyle/>
          <a:p>
            <a:fld id="{476FFE5D-288A-DB4E-9912-CFF1A38B0A9A}" type="slidenum">
              <a:rPr lang="en-IL" smtClean="0"/>
              <a:t>2</a:t>
            </a:fld>
            <a:endParaRPr lang="en-IL"/>
          </a:p>
        </p:txBody>
      </p:sp>
    </p:spTree>
    <p:extLst>
      <p:ext uri="{BB962C8B-B14F-4D97-AF65-F5344CB8AC3E}">
        <p14:creationId xmlns:p14="http://schemas.microsoft.com/office/powerpoint/2010/main" val="32877272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2</a:t>
            </a:r>
            <a:endParaRPr lang="en-US" dirty="0"/>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אוקיי, אז בואו נתחיל מלדבר על שיטת </a:t>
            </a:r>
            <a:r>
              <a:rPr lang="he-IL" sz="1200" kern="1200" dirty="0" err="1">
                <a:solidFill>
                  <a:schemeClr val="tx1"/>
                </a:solidFill>
                <a:latin typeface="+mn-lt"/>
                <a:ea typeface="+mn-ea"/>
                <a:cs typeface="+mn-cs"/>
              </a:rPr>
              <a:t>האבלואציה</a:t>
            </a:r>
            <a:r>
              <a:rPr lang="he-IL" sz="1200" kern="1200" dirty="0">
                <a:solidFill>
                  <a:schemeClr val="tx1"/>
                </a:solidFill>
                <a:latin typeface="+mn-lt"/>
                <a:ea typeface="+mn-ea"/>
                <a:cs typeface="+mn-cs"/>
              </a:rPr>
              <a:t>.</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כותבי המאמר מציינים שהם משתמשים בשיטות הערכה שהוצגו על-ידי בראון ושותפיו, כלומר, הם לא ממציאים שיטת הערכה חדשה, אלא עובדים לפי סטנדרטים מקובלים.</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לצורך ההערכה הם משתמשים בשישה </a:t>
            </a:r>
            <a:r>
              <a:rPr lang="he-IL" sz="1200" kern="1200" dirty="0" err="1">
                <a:solidFill>
                  <a:schemeClr val="tx1"/>
                </a:solidFill>
                <a:latin typeface="+mn-lt"/>
                <a:ea typeface="+mn-ea"/>
                <a:cs typeface="+mn-cs"/>
              </a:rPr>
              <a:t>דאטאסטים</a:t>
            </a:r>
            <a:r>
              <a:rPr lang="he-IL" sz="1200" kern="1200" dirty="0">
                <a:solidFill>
                  <a:schemeClr val="tx1"/>
                </a:solidFill>
                <a:latin typeface="+mn-lt"/>
                <a:ea typeface="+mn-ea"/>
                <a:cs typeface="+mn-cs"/>
              </a:rPr>
              <a:t> שונים, שנבנו במיוחד עבור </a:t>
            </a:r>
            <a:r>
              <a:rPr lang="en-US" sz="1200" kern="1200" dirty="0">
                <a:solidFill>
                  <a:schemeClr val="tx1"/>
                </a:solidFill>
                <a:latin typeface="+mn-lt"/>
                <a:ea typeface="+mn-ea"/>
                <a:cs typeface="+mn-cs"/>
              </a:rPr>
              <a:t>benchmarking</a:t>
            </a:r>
            <a:r>
              <a:rPr lang="he-IL" sz="1200" kern="1200" dirty="0">
                <a:solidFill>
                  <a:schemeClr val="tx1"/>
                </a:solidFill>
                <a:latin typeface="+mn-lt"/>
                <a:ea typeface="+mn-ea"/>
                <a:cs typeface="+mn-cs"/>
              </a:rPr>
              <a:t>.</a:t>
            </a:r>
          </a:p>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כל </a:t>
            </a:r>
            <a:r>
              <a:rPr lang="he-IL" sz="1200" kern="1200" dirty="0" err="1">
                <a:solidFill>
                  <a:schemeClr val="tx1"/>
                </a:solidFill>
                <a:latin typeface="+mn-lt"/>
                <a:ea typeface="+mn-ea"/>
                <a:cs typeface="+mn-cs"/>
              </a:rPr>
              <a:t>דאטאסט</a:t>
            </a:r>
            <a:r>
              <a:rPr lang="he-IL" sz="1200" kern="1200" dirty="0">
                <a:solidFill>
                  <a:schemeClr val="tx1"/>
                </a:solidFill>
                <a:latin typeface="+mn-lt"/>
                <a:ea typeface="+mn-ea"/>
                <a:cs typeface="+mn-cs"/>
              </a:rPr>
              <a:t> כולל שאלות שהמודל צריך לענות עליהן - או באמצעות גנרציה חופשית, או באמצעות בחירה מבין מספר אפשרויות.</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אם מדובר בגנרציה, למשל יצירה של קוד, אז יש איזושהי דרך לאמת את היצירה, למשל להריץ </a:t>
            </a:r>
            <a:r>
              <a:rPr lang="en-US" sz="1200" kern="1200" dirty="0">
                <a:solidFill>
                  <a:schemeClr val="tx1"/>
                </a:solidFill>
                <a:latin typeface="+mn-lt"/>
                <a:ea typeface="+mn-ea"/>
                <a:cs typeface="+mn-cs"/>
              </a:rPr>
              <a:t>unit-test</a:t>
            </a:r>
            <a:r>
              <a:rPr lang="he-IL" sz="1200" kern="1200" dirty="0">
                <a:solidFill>
                  <a:schemeClr val="tx1"/>
                </a:solidFill>
                <a:latin typeface="+mn-lt"/>
                <a:ea typeface="+mn-ea"/>
                <a:cs typeface="+mn-cs"/>
              </a:rPr>
              <a:t> על הקוד שנוצר.</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אם מדובר בבחירת תשובה, אז התשובה הנכונה פשוט נמצאת </a:t>
            </a:r>
            <a:r>
              <a:rPr lang="he-IL" sz="1200" kern="1200" dirty="0" err="1">
                <a:solidFill>
                  <a:schemeClr val="tx1"/>
                </a:solidFill>
                <a:latin typeface="+mn-lt"/>
                <a:ea typeface="+mn-ea"/>
                <a:cs typeface="+mn-cs"/>
              </a:rPr>
              <a:t>בדאטאסט</a:t>
            </a:r>
            <a:r>
              <a:rPr lang="he-IL" sz="1200" kern="1200" dirty="0">
                <a:solidFill>
                  <a:schemeClr val="tx1"/>
                </a:solidFill>
                <a:latin typeface="+mn-lt"/>
                <a:ea typeface="+mn-ea"/>
                <a:cs typeface="+mn-cs"/>
              </a:rPr>
              <a:t>.</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בנוסף, החוקרים מדגישים שבחלק מהמבחנים הם משתמשים ב-</a:t>
            </a:r>
            <a:r>
              <a:rPr lang="en-US" sz="1200" kern="1200" dirty="0">
                <a:solidFill>
                  <a:schemeClr val="tx1"/>
                </a:solidFill>
                <a:latin typeface="+mn-lt"/>
                <a:ea typeface="+mn-ea"/>
                <a:cs typeface="+mn-cs"/>
              </a:rPr>
              <a:t>zero-shot</a:t>
            </a:r>
            <a:r>
              <a:rPr lang="he-IL" sz="1200" kern="1200" dirty="0">
                <a:solidFill>
                  <a:schemeClr val="tx1"/>
                </a:solidFill>
                <a:latin typeface="+mn-lt"/>
                <a:ea typeface="+mn-ea"/>
                <a:cs typeface="+mn-cs"/>
              </a:rPr>
              <a:t>,</a:t>
            </a:r>
            <a:r>
              <a:rPr lang="en-US" sz="1200" kern="1200" dirty="0">
                <a:solidFill>
                  <a:schemeClr val="tx1"/>
                </a:solidFill>
                <a:latin typeface="+mn-lt"/>
                <a:ea typeface="+mn-ea"/>
                <a:cs typeface="+mn-cs"/>
              </a:rPr>
              <a:t> </a:t>
            </a:r>
            <a:r>
              <a:rPr lang="he-IL" sz="1200" kern="1200" dirty="0">
                <a:solidFill>
                  <a:schemeClr val="tx1"/>
                </a:solidFill>
                <a:latin typeface="+mn-lt"/>
                <a:ea typeface="+mn-ea"/>
                <a:cs typeface="+mn-cs"/>
              </a:rPr>
              <a:t>ובחלק אחר ב-</a:t>
            </a:r>
            <a:r>
              <a:rPr lang="en-US" sz="1200" kern="1200" dirty="0">
                <a:solidFill>
                  <a:schemeClr val="tx1"/>
                </a:solidFill>
                <a:latin typeface="+mn-lt"/>
                <a:ea typeface="+mn-ea"/>
                <a:cs typeface="+mn-cs"/>
              </a:rPr>
              <a:t>few-shot</a:t>
            </a:r>
            <a:r>
              <a:rPr lang="he-IL" sz="1200" kern="1200" dirty="0">
                <a:solidFill>
                  <a:schemeClr val="tx1"/>
                </a:solidFill>
                <a:latin typeface="+mn-lt"/>
                <a:ea typeface="+mn-ea"/>
                <a:cs typeface="+mn-cs"/>
              </a:rPr>
              <a:t>.</a:t>
            </a:r>
            <a:endParaRPr lang="en-US"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למי שלא מכיר:</a:t>
            </a:r>
            <a:br>
              <a:rPr lang="he-IL" sz="1200" kern="1200" dirty="0">
                <a:solidFill>
                  <a:schemeClr val="tx1"/>
                </a:solidFill>
                <a:latin typeface="+mn-lt"/>
                <a:ea typeface="+mn-ea"/>
                <a:cs typeface="+mn-cs"/>
              </a:rPr>
            </a:br>
            <a:r>
              <a:rPr lang="en-US" sz="1200" kern="1200" dirty="0">
                <a:solidFill>
                  <a:schemeClr val="tx1"/>
                </a:solidFill>
                <a:latin typeface="+mn-lt"/>
                <a:ea typeface="+mn-ea"/>
                <a:cs typeface="+mn-cs"/>
              </a:rPr>
              <a:t>Zero-shot</a:t>
            </a:r>
            <a:r>
              <a:rPr lang="he-IL" sz="1200" kern="1200" dirty="0">
                <a:solidFill>
                  <a:schemeClr val="tx1"/>
                </a:solidFill>
                <a:latin typeface="+mn-lt"/>
                <a:ea typeface="+mn-ea"/>
                <a:cs typeface="+mn-cs"/>
              </a:rPr>
              <a:t> זו שיטה שבה מציגים למודל שאלה, הוא נותן תשובה, ובודקים אם היא נכונה - בלי שום דוגמה מקדימה.</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ב-</a:t>
            </a:r>
            <a:r>
              <a:rPr lang="en-US" sz="1200" kern="1200" dirty="0">
                <a:solidFill>
                  <a:schemeClr val="tx1"/>
                </a:solidFill>
                <a:latin typeface="+mn-lt"/>
                <a:ea typeface="+mn-ea"/>
                <a:cs typeface="+mn-cs"/>
              </a:rPr>
              <a:t>Few-shot</a:t>
            </a:r>
            <a:r>
              <a:rPr lang="he-IL" sz="1200" kern="1200" dirty="0">
                <a:solidFill>
                  <a:schemeClr val="tx1"/>
                </a:solidFill>
                <a:latin typeface="+mn-lt"/>
                <a:ea typeface="+mn-ea"/>
                <a:cs typeface="+mn-cs"/>
              </a:rPr>
              <a:t> לעומת זאת, לכל שאלת מבחן, מראים למודל כמה דוגמאות של שאלה ותשובה נכונה, ורק לאחר מכן מציגים את השאלה האמיתית, ומצפים שהוא יענה באותו הפורמט של הדוגמאות שהוצגו.</a:t>
            </a:r>
          </a:p>
          <a:p>
            <a:pPr algn="r" rtl="1"/>
            <a:r>
              <a:rPr lang="he-IL" sz="1200" kern="1200" dirty="0">
                <a:solidFill>
                  <a:schemeClr val="tx1"/>
                </a:solidFill>
                <a:latin typeface="+mn-lt"/>
                <a:ea typeface="+mn-ea"/>
                <a:cs typeface="+mn-cs"/>
              </a:rPr>
              <a:t>זה שימושי במיוחד במבחנים כמו </a:t>
            </a:r>
            <a:r>
              <a:rPr lang="en-US" sz="1200" kern="1200" dirty="0">
                <a:solidFill>
                  <a:schemeClr val="tx1"/>
                </a:solidFill>
                <a:latin typeface="+mn-lt"/>
                <a:ea typeface="+mn-ea"/>
                <a:cs typeface="+mn-cs"/>
              </a:rPr>
              <a:t>MMLU</a:t>
            </a:r>
            <a:r>
              <a:rPr lang="he-IL" sz="1200" kern="1200" dirty="0">
                <a:solidFill>
                  <a:schemeClr val="tx1"/>
                </a:solidFill>
                <a:latin typeface="+mn-lt"/>
                <a:ea typeface="+mn-ea"/>
                <a:cs typeface="+mn-cs"/>
              </a:rPr>
              <a:t> שנראה בהמשך, שבהם מציגים רוצים לבחון את הידע של המודל, ולא למשל כמה הוא יודע לעקוב אחר הוראות.</a:t>
            </a:r>
          </a:p>
          <a:p>
            <a:pPr algn="r" rtl="1"/>
            <a:r>
              <a:rPr lang="he-IL" sz="1200" kern="1200" dirty="0">
                <a:solidFill>
                  <a:schemeClr val="tx1"/>
                </a:solidFill>
                <a:latin typeface="+mn-lt"/>
                <a:ea typeface="+mn-ea"/>
                <a:cs typeface="+mn-cs"/>
              </a:rPr>
              <a:t>אגב, </a:t>
            </a:r>
            <a:r>
              <a:rPr lang="en-US" sz="1200" kern="1200" dirty="0">
                <a:solidFill>
                  <a:schemeClr val="tx1"/>
                </a:solidFill>
                <a:latin typeface="+mn-lt"/>
                <a:ea typeface="+mn-ea"/>
                <a:cs typeface="+mn-cs"/>
              </a:rPr>
              <a:t>Few-shots</a:t>
            </a:r>
            <a:r>
              <a:rPr lang="he-IL" sz="1200" kern="1200" dirty="0">
                <a:solidFill>
                  <a:schemeClr val="tx1"/>
                </a:solidFill>
                <a:latin typeface="+mn-lt"/>
                <a:ea typeface="+mn-ea"/>
                <a:cs typeface="+mn-cs"/>
              </a:rPr>
              <a:t> הוא שם כללי, לעיתים משתמשים בדוגמה אחת (</a:t>
            </a:r>
            <a:r>
              <a:rPr lang="en-US" sz="1200" kern="1200" dirty="0">
                <a:solidFill>
                  <a:schemeClr val="tx1"/>
                </a:solidFill>
                <a:latin typeface="+mn-lt"/>
                <a:ea typeface="+mn-ea"/>
                <a:cs typeface="+mn-cs"/>
              </a:rPr>
              <a:t>1-shot</a:t>
            </a:r>
            <a:r>
              <a:rPr lang="he-IL" sz="1200" kern="1200" dirty="0">
                <a:solidFill>
                  <a:schemeClr val="tx1"/>
                </a:solidFill>
                <a:latin typeface="+mn-lt"/>
                <a:ea typeface="+mn-ea"/>
                <a:cs typeface="+mn-cs"/>
              </a:rPr>
              <a:t>), בחמש דוגמאות (</a:t>
            </a:r>
            <a:r>
              <a:rPr lang="en-US" sz="1200" kern="1200" dirty="0">
                <a:solidFill>
                  <a:schemeClr val="tx1"/>
                </a:solidFill>
                <a:latin typeface="+mn-lt"/>
                <a:ea typeface="+mn-ea"/>
                <a:cs typeface="+mn-cs"/>
              </a:rPr>
              <a:t>5-shots</a:t>
            </a:r>
            <a:r>
              <a:rPr lang="he-IL" sz="1200" kern="1200" dirty="0">
                <a:solidFill>
                  <a:schemeClr val="tx1"/>
                </a:solidFill>
                <a:latin typeface="+mn-lt"/>
                <a:ea typeface="+mn-ea"/>
                <a:cs typeface="+mn-cs"/>
              </a:rPr>
              <a:t>) או במקרים נדירים בהרבה דוגמאות, כמו </a:t>
            </a:r>
            <a:r>
              <a:rPr lang="en-US" sz="1200" kern="1200" dirty="0">
                <a:solidFill>
                  <a:schemeClr val="tx1"/>
                </a:solidFill>
                <a:latin typeface="+mn-lt"/>
                <a:ea typeface="+mn-ea"/>
                <a:cs typeface="+mn-cs"/>
              </a:rPr>
              <a:t>64-shots</a:t>
            </a:r>
            <a:endParaRPr lang="he-IL" sz="1200" kern="1200" dirty="0">
              <a:solidFill>
                <a:schemeClr val="tx1"/>
              </a:solidFill>
              <a:latin typeface="+mn-lt"/>
              <a:ea typeface="+mn-ea"/>
              <a:cs typeface="+mn-cs"/>
            </a:endParaRPr>
          </a:p>
        </p:txBody>
      </p:sp>
      <p:sp>
        <p:nvSpPr>
          <p:cNvPr id="4" name="Slide Number Placeholder 3"/>
          <p:cNvSpPr>
            <a:spLocks noGrp="1"/>
          </p:cNvSpPr>
          <p:nvPr>
            <p:ph type="sldNum" sz="quarter" idx="5"/>
          </p:nvPr>
        </p:nvSpPr>
        <p:spPr/>
        <p:txBody>
          <a:bodyPr/>
          <a:lstStyle/>
          <a:p>
            <a:fld id="{476FFE5D-288A-DB4E-9912-CFF1A38B0A9A}" type="slidenum">
              <a:rPr lang="en-IL" smtClean="0"/>
              <a:t>4</a:t>
            </a:fld>
            <a:endParaRPr lang="en-IL"/>
          </a:p>
        </p:txBody>
      </p:sp>
    </p:spTree>
    <p:extLst>
      <p:ext uri="{BB962C8B-B14F-4D97-AF65-F5344CB8AC3E}">
        <p14:creationId xmlns:p14="http://schemas.microsoft.com/office/powerpoint/2010/main" val="7243110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57600-2E87-1F48-B3D7-32A4816BF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A11AF5-E1B4-DA61-975B-5F4E395BE9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1647F3-85F6-43F8-2C86-EFC54715D5E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p:txBody>
      </p:sp>
      <p:sp>
        <p:nvSpPr>
          <p:cNvPr id="4" name="Slide Number Placeholder 3">
            <a:extLst>
              <a:ext uri="{FF2B5EF4-FFF2-40B4-BE49-F238E27FC236}">
                <a16:creationId xmlns:a16="http://schemas.microsoft.com/office/drawing/2014/main" id="{DDB30A4B-82B4-504E-F9DE-30A962E8609E}"/>
              </a:ext>
            </a:extLst>
          </p:cNvPr>
          <p:cNvSpPr>
            <a:spLocks noGrp="1"/>
          </p:cNvSpPr>
          <p:nvPr>
            <p:ph type="sldNum" sz="quarter" idx="5"/>
          </p:nvPr>
        </p:nvSpPr>
        <p:spPr/>
        <p:txBody>
          <a:bodyPr/>
          <a:lstStyle/>
          <a:p>
            <a:fld id="{476FFE5D-288A-DB4E-9912-CFF1A38B0A9A}" type="slidenum">
              <a:rPr lang="en-IL" smtClean="0"/>
              <a:t>5</a:t>
            </a:fld>
            <a:endParaRPr lang="en-IL"/>
          </a:p>
        </p:txBody>
      </p:sp>
    </p:spTree>
    <p:extLst>
      <p:ext uri="{BB962C8B-B14F-4D97-AF65-F5344CB8AC3E}">
        <p14:creationId xmlns:p14="http://schemas.microsoft.com/office/powerpoint/2010/main" val="27028786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algn="r" defTabSz="914400" rtl="1" eaLnBrk="1" latinLnBrk="0" hangingPunct="1"/>
            <a:endParaRPr lang="he-IL" dirty="0"/>
          </a:p>
          <a:p>
            <a:pPr marL="0" algn="r" defTabSz="914400" rtl="1" eaLnBrk="1" latinLnBrk="0" hangingPunct="1"/>
            <a:r>
              <a:rPr lang="he-IL" dirty="0"/>
              <a:t>אם כן, אלה </a:t>
            </a:r>
            <a:r>
              <a:rPr lang="he-IL" dirty="0" err="1"/>
              <a:t>הבנצ'מרקים</a:t>
            </a:r>
            <a:r>
              <a:rPr lang="he-IL" dirty="0"/>
              <a:t> שבהם החוקרים משתמשים כדי להעריך את </a:t>
            </a:r>
            <a:r>
              <a:rPr lang="en-US" dirty="0"/>
              <a:t>LLaMA</a:t>
            </a:r>
            <a:r>
              <a:rPr lang="he-IL" dirty="0"/>
              <a:t>:</a:t>
            </a:r>
            <a:endParaRPr lang="en-US" dirty="0"/>
          </a:p>
          <a:p>
            <a:pPr marL="0" algn="r" defTabSz="914400" rtl="1" eaLnBrk="1" latinLnBrk="0" hangingPunct="1"/>
            <a:endParaRPr lang="en-US" dirty="0"/>
          </a:p>
          <a:p>
            <a:pPr marL="0" algn="r" defTabSz="914400" rtl="1" eaLnBrk="1" latinLnBrk="0" hangingPunct="1"/>
            <a:r>
              <a:rPr lang="en-US" dirty="0"/>
              <a:t>Common Sense Reasoning</a:t>
            </a:r>
            <a:r>
              <a:rPr lang="he-IL" dirty="0"/>
              <a:t> – 8 </a:t>
            </a:r>
            <a:r>
              <a:rPr lang="he-IL" dirty="0" err="1"/>
              <a:t>דאטאסטים</a:t>
            </a:r>
            <a:r>
              <a:rPr lang="he-IL" dirty="0"/>
              <a:t> – עד כמה המודל יודע להפעיל היגיון יומיומי.</a:t>
            </a:r>
          </a:p>
          <a:p>
            <a:pPr marL="0" algn="r" defTabSz="914400" rtl="1" eaLnBrk="1" latinLnBrk="0" hangingPunct="1"/>
            <a:endParaRPr lang="he-IL" dirty="0"/>
          </a:p>
          <a:p>
            <a:pPr marL="0" algn="r" defTabSz="914400" rtl="1" eaLnBrk="1" latinLnBrk="0" hangingPunct="1"/>
            <a:r>
              <a:rPr lang="en-US" dirty="0"/>
              <a:t>Closed-book Question Answering</a:t>
            </a:r>
            <a:r>
              <a:rPr lang="he-IL" dirty="0"/>
              <a:t> – 2 </a:t>
            </a:r>
            <a:r>
              <a:rPr lang="he-IL" dirty="0" err="1"/>
              <a:t>דאטאסטים</a:t>
            </a:r>
            <a:r>
              <a:rPr lang="he-IL" dirty="0"/>
              <a:t> – יכולת לענות על שאלות ללא חומרי עזר.</a:t>
            </a:r>
          </a:p>
          <a:p>
            <a:pPr marL="0" algn="r" defTabSz="914400" rtl="1" eaLnBrk="1" latinLnBrk="0" hangingPunct="1"/>
            <a:endParaRPr lang="he-IL" dirty="0"/>
          </a:p>
          <a:p>
            <a:pPr marL="0" algn="r" defTabSz="914400" rtl="1" eaLnBrk="1" latinLnBrk="0" hangingPunct="1"/>
            <a:r>
              <a:rPr lang="en-US" dirty="0"/>
              <a:t>Reading Comprehension</a:t>
            </a:r>
            <a:r>
              <a:rPr lang="he-IL" dirty="0"/>
              <a:t> - 2 </a:t>
            </a:r>
            <a:r>
              <a:rPr lang="he-IL" dirty="0" err="1"/>
              <a:t>דאטאסטים</a:t>
            </a:r>
            <a:r>
              <a:rPr lang="he-IL" dirty="0"/>
              <a:t> – הבנת הנקרא.</a:t>
            </a:r>
          </a:p>
          <a:p>
            <a:pPr marL="0" algn="r" defTabSz="914400" rtl="1" eaLnBrk="1" latinLnBrk="0" hangingPunct="1"/>
            <a:endParaRPr lang="he-IL" dirty="0"/>
          </a:p>
          <a:p>
            <a:pPr marL="0" algn="r" defTabSz="914400" rtl="1" eaLnBrk="1" latinLnBrk="0" hangingPunct="1"/>
            <a:r>
              <a:rPr lang="en-US" dirty="0"/>
              <a:t>Mathematical Reasoning</a:t>
            </a:r>
            <a:r>
              <a:rPr lang="he-IL" dirty="0"/>
              <a:t> – 2 </a:t>
            </a:r>
            <a:r>
              <a:rPr lang="he-IL" dirty="0" err="1"/>
              <a:t>דאטאסטים</a:t>
            </a:r>
            <a:r>
              <a:rPr lang="he-IL" dirty="0"/>
              <a:t> – יכולת חשיבה מתמטית ופיתוח מתמטי.</a:t>
            </a:r>
          </a:p>
          <a:p>
            <a:pPr marL="0" algn="r" defTabSz="914400" rtl="1" eaLnBrk="1" latinLnBrk="0" hangingPunct="1"/>
            <a:endParaRPr lang="he-IL" dirty="0"/>
          </a:p>
          <a:p>
            <a:pPr marL="0" algn="r" defTabSz="914400" rtl="1" eaLnBrk="1" latinLnBrk="0" hangingPunct="1"/>
            <a:r>
              <a:rPr lang="en-US" dirty="0"/>
              <a:t>Code Generation</a:t>
            </a:r>
            <a:r>
              <a:rPr lang="he-IL" dirty="0"/>
              <a:t> – 2 </a:t>
            </a:r>
            <a:r>
              <a:rPr lang="he-IL" dirty="0" err="1"/>
              <a:t>דאטאסטים</a:t>
            </a:r>
            <a:r>
              <a:rPr lang="he-IL" dirty="0"/>
              <a:t> – יכולת כתיבת הקוד של המודל.</a:t>
            </a:r>
          </a:p>
          <a:p>
            <a:pPr marL="0" algn="r" defTabSz="914400" rtl="1" eaLnBrk="1" latinLnBrk="0" hangingPunct="1"/>
            <a:endParaRPr lang="he-IL" dirty="0"/>
          </a:p>
          <a:p>
            <a:pPr marL="0" algn="r" defTabSz="914400" rtl="1" eaLnBrk="1" latinLnBrk="0" hangingPunct="1"/>
            <a:r>
              <a:rPr lang="en-US" dirty="0"/>
              <a:t>MMLU</a:t>
            </a:r>
            <a:r>
              <a:rPr lang="he-IL" dirty="0"/>
              <a:t> – </a:t>
            </a:r>
            <a:r>
              <a:rPr lang="he-IL" dirty="0" err="1"/>
              <a:t>דאטאסט</a:t>
            </a:r>
            <a:r>
              <a:rPr lang="he-IL" dirty="0"/>
              <a:t> אחד – בוחנים את הידע הכללי של המודל על פני תחומים רבים</a:t>
            </a:r>
            <a:endParaRPr lang="en-US" dirty="0"/>
          </a:p>
          <a:p>
            <a:pPr marL="0" algn="r" defTabSz="914400" rtl="1" eaLnBrk="1" latinLnBrk="0" hangingPunct="1"/>
            <a:endParaRPr lang="en-US" dirty="0"/>
          </a:p>
          <a:p>
            <a:pPr marL="0" algn="r" defTabSz="914400" rtl="1" eaLnBrk="1" latinLnBrk="0" hangingPunct="1"/>
            <a:r>
              <a:rPr lang="he-IL" dirty="0"/>
              <a:t>בסך הכול, מדובר ב־17 </a:t>
            </a:r>
            <a:r>
              <a:rPr lang="he-IL" dirty="0" err="1"/>
              <a:t>דאטאסטים</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6</a:t>
            </a:fld>
            <a:endParaRPr lang="en-IL"/>
          </a:p>
        </p:txBody>
      </p:sp>
    </p:spTree>
    <p:extLst>
      <p:ext uri="{BB962C8B-B14F-4D97-AF65-F5344CB8AC3E}">
        <p14:creationId xmlns:p14="http://schemas.microsoft.com/office/powerpoint/2010/main" val="38747586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חוץ </a:t>
            </a:r>
            <a:r>
              <a:rPr lang="he-IL" dirty="0" err="1"/>
              <a:t>מהבנצ'מרקים</a:t>
            </a:r>
            <a:r>
              <a:rPr lang="he-IL" dirty="0"/>
              <a:t>, יש עוד שלוש מטריקות שבאמצעותן החוקרים העריכו את </a:t>
            </a:r>
            <a:r>
              <a:rPr lang="en-US" dirty="0"/>
              <a:t>LLaMA</a:t>
            </a:r>
            <a:r>
              <a:rPr lang="he-IL" dirty="0"/>
              <a:t>.</a:t>
            </a:r>
            <a:endParaRPr lang="en-US" dirty="0"/>
          </a:p>
          <a:p>
            <a:pPr marL="0" algn="r" defTabSz="914400" rtl="1" eaLnBrk="1" latinLnBrk="0" hangingPunct="1"/>
            <a:endParaRPr lang="en-US" dirty="0"/>
          </a:p>
          <a:p>
            <a:pPr marL="0" algn="r" defTabSz="914400" rtl="1" eaLnBrk="1" latinLnBrk="0" hangingPunct="1"/>
            <a:r>
              <a:rPr lang="he-IL" dirty="0"/>
              <a:t>בניגוד </a:t>
            </a:r>
            <a:r>
              <a:rPr lang="he-IL" dirty="0" err="1"/>
              <a:t>לבנצ'מרקים</a:t>
            </a:r>
            <a:r>
              <a:rPr lang="he-IL" dirty="0"/>
              <a:t> שמבוססים על </a:t>
            </a:r>
            <a:r>
              <a:rPr lang="he-IL" dirty="0" err="1"/>
              <a:t>דאטאסטים</a:t>
            </a:r>
            <a:r>
              <a:rPr lang="he-IL" dirty="0"/>
              <a:t>, </a:t>
            </a:r>
            <a:r>
              <a:rPr lang="he-IL" dirty="0" err="1"/>
              <a:t>המטריקות</a:t>
            </a:r>
            <a:r>
              <a:rPr lang="he-IL" dirty="0"/>
              <a:t> האלו נמדדות בדרכים אחרות, כפי שנראה בהמשך.</a:t>
            </a:r>
          </a:p>
          <a:p>
            <a:pPr marL="0" algn="r" defTabSz="914400" rtl="1" eaLnBrk="1" latinLnBrk="0" hangingPunct="1"/>
            <a:endParaRPr lang="he-IL" dirty="0"/>
          </a:p>
          <a:p>
            <a:pPr marL="0" algn="r" defTabSz="914400" rtl="1" eaLnBrk="1" latinLnBrk="0" hangingPunct="1"/>
            <a:r>
              <a:rPr lang="he-IL" dirty="0" err="1"/>
              <a:t>המטריקות</a:t>
            </a:r>
            <a:r>
              <a:rPr lang="he-IL" dirty="0"/>
              <a:t> הן:</a:t>
            </a:r>
          </a:p>
          <a:p>
            <a:pPr marL="0" algn="r" defTabSz="914400" rtl="1" eaLnBrk="1" latinLnBrk="0" hangingPunct="1"/>
            <a:endParaRPr lang="he-IL" dirty="0"/>
          </a:p>
          <a:p>
            <a:pPr marL="0" algn="r" defTabSz="914400" rtl="1" eaLnBrk="1" latinLnBrk="0" hangingPunct="1"/>
            <a:r>
              <a:rPr lang="he-IL" dirty="0"/>
              <a:t>1. יכולת המודל לעקוב אחרי הוראות - נמדדה בניסוי ייעודי.</a:t>
            </a:r>
          </a:p>
          <a:p>
            <a:pPr marL="0" algn="r" defTabSz="914400" rtl="1" eaLnBrk="1" latinLnBrk="0" hangingPunct="1"/>
            <a:endParaRPr lang="he-IL" dirty="0"/>
          </a:p>
          <a:p>
            <a:pPr marL="0" algn="r" defTabSz="914400" rtl="1" eaLnBrk="1" latinLnBrk="0" hangingPunct="1"/>
            <a:r>
              <a:rPr lang="he-IL" dirty="0"/>
              <a:t>2. מידת ה-</a:t>
            </a:r>
            <a:r>
              <a:rPr lang="en-US" dirty="0"/>
              <a:t>bias</a:t>
            </a:r>
            <a:r>
              <a:rPr lang="he-IL" dirty="0"/>
              <a:t> </a:t>
            </a:r>
            <a:r>
              <a:rPr lang="he-IL" dirty="0" err="1"/>
              <a:t>וה</a:t>
            </a:r>
            <a:r>
              <a:rPr lang="he-IL" dirty="0"/>
              <a:t>-</a:t>
            </a:r>
            <a:r>
              <a:rPr lang="en-US" dirty="0"/>
              <a:t>toxicity</a:t>
            </a:r>
            <a:r>
              <a:rPr lang="he-IL" dirty="0"/>
              <a:t> של המודל – נמדדים באמצעות קריאות API.</a:t>
            </a:r>
          </a:p>
          <a:p>
            <a:pPr marL="0" algn="r" defTabSz="914400" rtl="1" eaLnBrk="1" latinLnBrk="0" hangingPunct="1"/>
            <a:endParaRPr lang="he-IL" dirty="0"/>
          </a:p>
          <a:p>
            <a:pPr marL="0" algn="r" defTabSz="914400" rtl="1" eaLnBrk="1" latinLnBrk="0" hangingPunct="1"/>
            <a:r>
              <a:rPr lang="he-IL" dirty="0"/>
              <a:t>3. הנזק הסביבתי שנגרם מאימון המודל - חושב באמצעות משוואות.</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7</a:t>
            </a:fld>
            <a:endParaRPr lang="en-IL"/>
          </a:p>
        </p:txBody>
      </p:sp>
    </p:spTree>
    <p:extLst>
      <p:ext uri="{BB962C8B-B14F-4D97-AF65-F5344CB8AC3E}">
        <p14:creationId xmlns:p14="http://schemas.microsoft.com/office/powerpoint/2010/main" val="37247929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a:t>בשקף </a:t>
            </a:r>
            <a:r>
              <a:rPr lang="he-IL" dirty="0"/>
              <a:t>הזה רואים את המודלים אליהם משווים את </a:t>
            </a:r>
            <a:r>
              <a:rPr lang="en-US" dirty="0"/>
              <a:t>LLaMA</a:t>
            </a:r>
            <a:r>
              <a:rPr lang="he-IL" dirty="0"/>
              <a:t>.</a:t>
            </a:r>
          </a:p>
          <a:p>
            <a:pPr marL="0" algn="r" defTabSz="914400" rtl="1" eaLnBrk="1" latinLnBrk="0" hangingPunct="1"/>
            <a:endParaRPr lang="he-IL" dirty="0"/>
          </a:p>
          <a:p>
            <a:pPr marL="0" algn="r" defTabSz="914400" rtl="1" eaLnBrk="1" latinLnBrk="0" hangingPunct="1"/>
            <a:r>
              <a:rPr lang="he-IL" dirty="0"/>
              <a:t>גדלים שונים</a:t>
            </a:r>
          </a:p>
          <a:p>
            <a:pPr marL="0" algn="r" defTabSz="914400" rtl="1" eaLnBrk="1" latinLnBrk="0" hangingPunct="1"/>
            <a:endParaRPr lang="he-IL" dirty="0"/>
          </a:p>
          <a:p>
            <a:pPr marL="0" algn="r" defTabSz="914400" rtl="1" eaLnBrk="1" latinLnBrk="0" hangingPunct="1"/>
            <a:r>
              <a:rPr lang="he-IL" dirty="0"/>
              <a:t>ציבוריים וקנייניים</a:t>
            </a:r>
          </a:p>
          <a:p>
            <a:pPr marL="0" algn="r" defTabSz="914400" rtl="1" eaLnBrk="1" latinLnBrk="0" hangingPunct="1"/>
            <a:endParaRPr lang="he-IL" dirty="0"/>
          </a:p>
          <a:p>
            <a:pPr marL="0" algn="r" defTabSz="914400" rtl="1" eaLnBrk="1" latinLnBrk="0" hangingPunct="1"/>
            <a:r>
              <a:rPr lang="he-IL" dirty="0"/>
              <a:t>מוכווני משימה וכלליים</a:t>
            </a:r>
          </a:p>
          <a:p>
            <a:pPr marL="0" algn="r" defTabSz="914400" rtl="1" eaLnBrk="1" latinLnBrk="0" hangingPunct="1"/>
            <a:endParaRPr lang="he-IL" dirty="0"/>
          </a:p>
          <a:p>
            <a:pPr marL="0" algn="r" defTabSz="914400" rtl="1" eaLnBrk="1" latinLnBrk="0" hangingPunct="1"/>
            <a:r>
              <a:rPr lang="he-IL" dirty="0"/>
              <a:t>קבוצות מחקר מובילות</a:t>
            </a:r>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he-IL" dirty="0"/>
              <a:t>מדובר במודלים בגדלים שונים, חלקם ציבוריים וחלקם קנייניים, כולם פותחו על-ידי קבוצות מחקר מובילות.</a:t>
            </a:r>
          </a:p>
          <a:p>
            <a:pPr marL="0" algn="r" defTabSz="914400" rtl="1" eaLnBrk="1" latinLnBrk="0" hangingPunct="1"/>
            <a:r>
              <a:rPr lang="he-IL" dirty="0"/>
              <a:t>חלק מהמודלים מותאמים למשימות ספציפיות, כמו </a:t>
            </a:r>
            <a:r>
              <a:rPr lang="en-US" dirty="0"/>
              <a:t>Minerva</a:t>
            </a:r>
            <a:r>
              <a:rPr lang="he-IL" dirty="0"/>
              <a:t>, וחלקם כלליים מאוד כמו GPT-3.</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8</a:t>
            </a:fld>
            <a:endParaRPr lang="en-IL"/>
          </a:p>
        </p:txBody>
      </p:sp>
    </p:spTree>
    <p:extLst>
      <p:ext uri="{BB962C8B-B14F-4D97-AF65-F5344CB8AC3E}">
        <p14:creationId xmlns:p14="http://schemas.microsoft.com/office/powerpoint/2010/main" val="25757652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9</a:t>
            </a:fld>
            <a:endParaRPr lang="en-IL"/>
          </a:p>
        </p:txBody>
      </p:sp>
    </p:spTree>
    <p:extLst>
      <p:ext uri="{BB962C8B-B14F-4D97-AF65-F5344CB8AC3E}">
        <p14:creationId xmlns:p14="http://schemas.microsoft.com/office/powerpoint/2010/main" val="29863251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במדד זה מציגים למודל שאלות רב-ברירה מ-8 </a:t>
            </a:r>
            <a:r>
              <a:rPr lang="he-IL" dirty="0" err="1"/>
              <a:t>דאטאסטים</a:t>
            </a:r>
            <a:r>
              <a:rPr lang="he-IL" dirty="0"/>
              <a:t>, הכוללים מבחני השלמת משפטים עם או בלי בחירת מילה.</a:t>
            </a:r>
          </a:p>
          <a:p>
            <a:pPr marL="0" algn="r" defTabSz="914400" rtl="1" eaLnBrk="1" latinLnBrk="0" hangingPunct="1"/>
            <a:endParaRPr lang="he-IL" dirty="0"/>
          </a:p>
          <a:p>
            <a:pPr marL="0" algn="r" defTabSz="914400" rtl="1" eaLnBrk="1" latinLnBrk="0" hangingPunct="1"/>
            <a:r>
              <a:rPr lang="he-IL" dirty="0"/>
              <a:t>המבחן נערך ב־</a:t>
            </a:r>
            <a:r>
              <a:rPr lang="en-US" dirty="0"/>
              <a:t>zero-shot</a:t>
            </a:r>
            <a:r>
              <a:rPr lang="he-IL" dirty="0"/>
              <a:t>.</a:t>
            </a:r>
            <a:endParaRPr lang="en-US" dirty="0"/>
          </a:p>
          <a:p>
            <a:pPr marL="0" algn="r" defTabSz="914400" rtl="1" eaLnBrk="1" latinLnBrk="0" hangingPunct="1"/>
            <a:endParaRPr lang="en-US" dirty="0"/>
          </a:p>
          <a:p>
            <a:pPr marL="0" algn="r" defTabSz="914400" rtl="1" eaLnBrk="1" latinLnBrk="0" hangingPunct="1"/>
            <a:r>
              <a:rPr lang="en-US" dirty="0"/>
              <a:t>LLaMA‑65B</a:t>
            </a:r>
            <a:r>
              <a:rPr lang="he-IL" dirty="0"/>
              <a:t> משיג ביצועים טובים יותר מרוב המודלים,</a:t>
            </a:r>
          </a:p>
          <a:p>
            <a:pPr marL="0" algn="r" defTabSz="914400" rtl="1" eaLnBrk="1" latinLnBrk="0" hangingPunct="1"/>
            <a:r>
              <a:rPr lang="he-IL" dirty="0"/>
              <a:t>מנצח את </a:t>
            </a:r>
            <a:r>
              <a:rPr lang="en-US" dirty="0"/>
              <a:t>Chinchilla‑70B</a:t>
            </a:r>
            <a:r>
              <a:rPr lang="he-IL" dirty="0"/>
              <a:t>, מודל בסדר גודל דומה,</a:t>
            </a:r>
          </a:p>
          <a:p>
            <a:pPr marL="0" algn="r" defTabSz="914400" rtl="1" eaLnBrk="1" latinLnBrk="0" hangingPunct="1"/>
            <a:r>
              <a:rPr lang="he-IL" dirty="0"/>
              <a:t>ואפילו גובר על </a:t>
            </a:r>
            <a:r>
              <a:rPr lang="en-US" dirty="0"/>
              <a:t>PaLM‑540B</a:t>
            </a:r>
            <a:r>
              <a:rPr lang="he-IL" dirty="0"/>
              <a:t>,</a:t>
            </a:r>
            <a:r>
              <a:rPr lang="en-US" dirty="0"/>
              <a:t> </a:t>
            </a:r>
            <a:r>
              <a:rPr lang="he-IL" dirty="0"/>
              <a:t>שהוא מודל ענק.</a:t>
            </a:r>
          </a:p>
          <a:p>
            <a:pPr marL="0" algn="r" defTabSz="914400" rtl="1" eaLnBrk="1" latinLnBrk="0" hangingPunct="1"/>
            <a:endParaRPr lang="he-IL" dirty="0"/>
          </a:p>
          <a:p>
            <a:pPr marL="0" algn="r" defTabSz="914400" rtl="1" eaLnBrk="1" latinLnBrk="0" hangingPunct="1"/>
            <a:r>
              <a:rPr lang="en-US" dirty="0"/>
              <a:t>LLaMA‑13B</a:t>
            </a:r>
            <a:r>
              <a:rPr lang="he-IL" dirty="0"/>
              <a:t> מנצח את </a:t>
            </a:r>
            <a:r>
              <a:rPr lang="en-US" dirty="0"/>
              <a:t>GPT‑3</a:t>
            </a:r>
            <a:r>
              <a:rPr lang="he-IL" dirty="0"/>
              <a:t> ברוב המדדים, למרות שהוא קטן ממנו ביותר מפי 10 - אחד הממצאים המרכזיים של המאמר, שאפשר להשיג שיפור בביצועים גם בלי להמשיך להגדיל את כמות הפרמטרים.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10</a:t>
            </a:fld>
            <a:endParaRPr lang="en-IL"/>
          </a:p>
        </p:txBody>
      </p:sp>
    </p:spTree>
    <p:extLst>
      <p:ext uri="{BB962C8B-B14F-4D97-AF65-F5344CB8AC3E}">
        <p14:creationId xmlns:p14="http://schemas.microsoft.com/office/powerpoint/2010/main" val="5674186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בודקים את ההתאמה המדויקת בין תשובת המודל לתשובה הנכונה. לכן, ניתן לראות הבדלים משמעותיים ככל שמספקים למודל יותר דוגמאות לפני השאלה.</a:t>
            </a:r>
          </a:p>
          <a:p>
            <a:pPr marL="0" algn="r" defTabSz="914400" rtl="1" eaLnBrk="1" latinLnBrk="0" hangingPunct="1"/>
            <a:endParaRPr lang="he-IL" dirty="0"/>
          </a:p>
          <a:p>
            <a:pPr marL="0" algn="r" defTabSz="914400" rtl="1" eaLnBrk="1" latinLnBrk="0" hangingPunct="1"/>
            <a:r>
              <a:rPr lang="he-IL" dirty="0"/>
              <a:t>כאן השתמשו ב-</a:t>
            </a:r>
            <a:r>
              <a:rPr lang="en-US" dirty="0"/>
              <a:t>zero-shot</a:t>
            </a:r>
            <a:r>
              <a:rPr lang="he-IL" dirty="0"/>
              <a:t> כ-</a:t>
            </a:r>
            <a:r>
              <a:rPr lang="en-US" dirty="0"/>
              <a:t>baseline</a:t>
            </a:r>
            <a:r>
              <a:rPr lang="he-IL" dirty="0"/>
              <a:t>, אחר כך ב-</a:t>
            </a:r>
            <a:r>
              <a:rPr lang="en-US" dirty="0"/>
              <a:t>1-shot</a:t>
            </a:r>
            <a:r>
              <a:rPr lang="he-IL" dirty="0"/>
              <a:t> </a:t>
            </a:r>
            <a:r>
              <a:rPr lang="he-IL" dirty="0" err="1"/>
              <a:t>וב</a:t>
            </a:r>
            <a:r>
              <a:rPr lang="he-IL" dirty="0"/>
              <a:t>-</a:t>
            </a:r>
            <a:r>
              <a:rPr lang="en-US" dirty="0"/>
              <a:t>5-shot</a:t>
            </a:r>
            <a:r>
              <a:rPr lang="he-IL" dirty="0"/>
              <a:t>, ואף הגזימו וניסו גם </a:t>
            </a:r>
            <a:r>
              <a:rPr lang="en-US" dirty="0"/>
              <a:t>64-shot</a:t>
            </a:r>
            <a:r>
              <a:rPr lang="he-IL" dirty="0"/>
              <a:t>, כנראה כדי לראות לכמה אפשר להגיע עם ודאות גבוהה שהמודל הבין את המשימה.</a:t>
            </a:r>
          </a:p>
          <a:p>
            <a:pPr marL="0" algn="r" defTabSz="914400" rtl="1" eaLnBrk="1" latinLnBrk="0" hangingPunct="1"/>
            <a:endParaRPr lang="he-IL" dirty="0"/>
          </a:p>
          <a:p>
            <a:pPr marL="0" algn="r" defTabSz="914400" rtl="1" eaLnBrk="1" latinLnBrk="0" hangingPunct="1"/>
            <a:r>
              <a:rPr lang="he-IL" dirty="0"/>
              <a:t>אפשר לראות ש-</a:t>
            </a:r>
            <a:r>
              <a:rPr lang="en-US" dirty="0"/>
              <a:t>LLaMA‑65B</a:t>
            </a:r>
            <a:r>
              <a:rPr lang="he-IL" dirty="0"/>
              <a:t> השיג תוצאות מצוינות בכל </a:t>
            </a:r>
            <a:r>
              <a:rPr lang="en-US" dirty="0"/>
              <a:t>setting</a:t>
            </a:r>
            <a:r>
              <a:rPr lang="he-IL" dirty="0"/>
              <a:t>.</a:t>
            </a:r>
          </a:p>
          <a:p>
            <a:pPr marL="0" algn="r" defTabSz="914400" rtl="1" eaLnBrk="1" latinLnBrk="0" hangingPunct="1"/>
            <a:endParaRPr lang="en-US" dirty="0"/>
          </a:p>
          <a:p>
            <a:pPr marL="0" algn="r" defTabSz="914400" rtl="1" eaLnBrk="1" latinLnBrk="0" hangingPunct="1"/>
            <a:r>
              <a:rPr lang="he-IL" dirty="0"/>
              <a:t>בנוסף, </a:t>
            </a:r>
            <a:r>
              <a:rPr lang="en-US" dirty="0"/>
              <a:t>LLaMA‑13B</a:t>
            </a:r>
            <a:r>
              <a:rPr lang="he-IL" dirty="0"/>
              <a:t> מציג ביצועים שמתחרים ב-</a:t>
            </a:r>
            <a:r>
              <a:rPr lang="en-US" dirty="0"/>
              <a:t>GPT‑3</a:t>
            </a:r>
            <a:r>
              <a:rPr lang="he-IL" dirty="0"/>
              <a:t> </a:t>
            </a:r>
            <a:r>
              <a:rPr lang="he-IL" dirty="0" err="1"/>
              <a:t>וב</a:t>
            </a:r>
            <a:r>
              <a:rPr lang="he-IL" dirty="0"/>
              <a:t>-</a:t>
            </a:r>
            <a:r>
              <a:rPr lang="en-US" dirty="0"/>
              <a:t>Chinchilla‑70B</a:t>
            </a:r>
            <a:r>
              <a:rPr lang="he-IL" dirty="0"/>
              <a:t>, למרות שהוא קטן מהם פי 5 עד פי 10.</a:t>
            </a:r>
          </a:p>
          <a:p>
            <a:pPr marL="0" algn="r" defTabSz="914400" rtl="1" eaLnBrk="1" latinLnBrk="0" hangingPunct="1"/>
            <a:endParaRPr lang="he-IL" dirty="0"/>
          </a:p>
          <a:p>
            <a:pPr marL="0" algn="r" defTabSz="914400" rtl="1" eaLnBrk="1" latinLnBrk="0" hangingPunct="1"/>
            <a:r>
              <a:rPr lang="he-IL" dirty="0"/>
              <a:t>יתרון נוסף של </a:t>
            </a:r>
            <a:r>
              <a:rPr lang="en-US" dirty="0"/>
              <a:t>LLaMA‑13B</a:t>
            </a:r>
            <a:r>
              <a:rPr lang="he-IL" dirty="0"/>
              <a:t> הוא שניתן להריץ </a:t>
            </a:r>
            <a:r>
              <a:rPr lang="en-US" dirty="0"/>
              <a:t>infer</a:t>
            </a:r>
            <a:r>
              <a:rPr lang="he-IL" dirty="0"/>
              <a:t> שלו על יחידת GPU בודדת, שעוד שנדרשות מספר יחידות למודלים הגדולים יותר.</a:t>
            </a:r>
          </a:p>
        </p:txBody>
      </p:sp>
      <p:sp>
        <p:nvSpPr>
          <p:cNvPr id="4" name="Slide Number Placeholder 3"/>
          <p:cNvSpPr>
            <a:spLocks noGrp="1"/>
          </p:cNvSpPr>
          <p:nvPr>
            <p:ph type="sldNum" sz="quarter" idx="5"/>
          </p:nvPr>
        </p:nvSpPr>
        <p:spPr/>
        <p:txBody>
          <a:bodyPr/>
          <a:lstStyle/>
          <a:p>
            <a:fld id="{476FFE5D-288A-DB4E-9912-CFF1A38B0A9A}" type="slidenum">
              <a:rPr lang="en-IL" smtClean="0"/>
              <a:t>11</a:t>
            </a:fld>
            <a:endParaRPr lang="en-IL"/>
          </a:p>
        </p:txBody>
      </p:sp>
    </p:spTree>
    <p:extLst>
      <p:ext uri="{BB962C8B-B14F-4D97-AF65-F5344CB8AC3E}">
        <p14:creationId xmlns:p14="http://schemas.microsoft.com/office/powerpoint/2010/main" val="39921453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מציגים למודל פסקאות טקסט בשתי רמות קושי, ואז שואלים אותו שאלות רב-ברירה ב-</a:t>
            </a:r>
            <a:r>
              <a:rPr lang="en-US" dirty="0"/>
              <a:t>zero-shot</a:t>
            </a:r>
            <a:r>
              <a:rPr lang="he-IL" dirty="0"/>
              <a:t>.</a:t>
            </a:r>
            <a:endParaRPr lang="en-US" dirty="0"/>
          </a:p>
          <a:p>
            <a:pPr marL="0" algn="r" defTabSz="914400" rtl="1" eaLnBrk="1" latinLnBrk="0" hangingPunct="1"/>
            <a:endParaRPr lang="en-US" dirty="0"/>
          </a:p>
          <a:p>
            <a:pPr marL="0" algn="r" defTabSz="914400" rtl="1" eaLnBrk="1" latinLnBrk="0" hangingPunct="1"/>
            <a:r>
              <a:rPr lang="he-IL" dirty="0"/>
              <a:t>מהמדד הזה עולה כי </a:t>
            </a:r>
            <a:r>
              <a:rPr lang="en-US" dirty="0"/>
              <a:t>LLaMA‑65B</a:t>
            </a:r>
            <a:r>
              <a:rPr lang="he-IL" dirty="0"/>
              <a:t> מתעלה על </a:t>
            </a:r>
            <a:r>
              <a:rPr lang="en-US" dirty="0"/>
              <a:t>PaLM‑540B</a:t>
            </a:r>
            <a:r>
              <a:rPr lang="he-IL" dirty="0"/>
              <a:t>, וכדי להתחרות ב-</a:t>
            </a:r>
            <a:r>
              <a:rPr lang="en-US" dirty="0"/>
              <a:t>GPT-3</a:t>
            </a:r>
            <a:r>
              <a:rPr lang="he-IL" dirty="0"/>
              <a:t> מספיק גם </a:t>
            </a:r>
            <a:r>
              <a:rPr lang="en-US" dirty="0"/>
              <a:t>LLaMA-13B</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12</a:t>
            </a:fld>
            <a:endParaRPr lang="en-IL"/>
          </a:p>
        </p:txBody>
      </p:sp>
    </p:spTree>
    <p:extLst>
      <p:ext uri="{BB962C8B-B14F-4D97-AF65-F5344CB8AC3E}">
        <p14:creationId xmlns:p14="http://schemas.microsoft.com/office/powerpoint/2010/main" val="26021489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כדי למדוד את יכולת המודל לפתור בעיות מתמטיות השתמשו בשני </a:t>
            </a:r>
            <a:r>
              <a:rPr lang="he-IL" dirty="0" err="1"/>
              <a:t>הדאטאסטים</a:t>
            </a:r>
            <a:r>
              <a:rPr lang="he-IL" dirty="0"/>
              <a:t>: </a:t>
            </a:r>
            <a:r>
              <a:rPr lang="en-US" dirty="0"/>
              <a:t>MATH</a:t>
            </a:r>
            <a:r>
              <a:rPr lang="he-IL" dirty="0"/>
              <a:t> ו-</a:t>
            </a:r>
            <a:r>
              <a:rPr lang="en-US" dirty="0"/>
              <a:t>GSM8k</a:t>
            </a:r>
            <a:r>
              <a:rPr lang="he-IL" dirty="0"/>
              <a:t>, בתצורת </a:t>
            </a:r>
            <a:r>
              <a:rPr lang="en-US" dirty="0"/>
              <a:t>zero-shot</a:t>
            </a:r>
            <a:r>
              <a:rPr lang="he-IL" dirty="0"/>
              <a:t>, עם ובלי </a:t>
            </a:r>
            <a:r>
              <a:rPr lang="en-US" dirty="0"/>
              <a:t>majority vote</a:t>
            </a:r>
            <a:r>
              <a:rPr lang="he-IL" dirty="0"/>
              <a:t>.</a:t>
            </a:r>
          </a:p>
          <a:p>
            <a:pPr marL="0" algn="r" defTabSz="914400" rtl="1" eaLnBrk="1" latinLnBrk="0" hangingPunct="1"/>
            <a:endParaRPr lang="he-IL" dirty="0"/>
          </a:p>
          <a:p>
            <a:pPr marL="0" algn="r" defTabSz="914400" rtl="1" eaLnBrk="1" latinLnBrk="0" hangingPunct="1"/>
            <a:r>
              <a:rPr lang="he-IL" dirty="0"/>
              <a:t>כלומר, המודל קיבל מספר ניסיונות לענות על השאלה, ואם רוב התשובות היו נכונות - זה נחשב נכון.</a:t>
            </a:r>
          </a:p>
          <a:p>
            <a:pPr marL="0" algn="r" defTabSz="914400" rtl="1" eaLnBrk="1" latinLnBrk="0" hangingPunct="1"/>
            <a:endParaRPr lang="he-IL" dirty="0"/>
          </a:p>
          <a:p>
            <a:pPr marL="0" algn="r" defTabSz="914400" rtl="1" eaLnBrk="1" latinLnBrk="0" hangingPunct="1"/>
            <a:r>
              <a:rPr lang="he-IL" dirty="0"/>
              <a:t>במדד זה משווים את </a:t>
            </a:r>
            <a:r>
              <a:rPr lang="en-US" dirty="0"/>
              <a:t>LLaMA</a:t>
            </a:r>
            <a:r>
              <a:rPr lang="he-IL" dirty="0"/>
              <a:t> ל-</a:t>
            </a:r>
            <a:r>
              <a:rPr lang="en-US" dirty="0"/>
              <a:t>Minerva</a:t>
            </a:r>
            <a:r>
              <a:rPr lang="he-IL" dirty="0"/>
              <a:t>, סדרת מודלים שעברו </a:t>
            </a:r>
            <a:r>
              <a:rPr lang="he-IL" dirty="0" err="1"/>
              <a:t>טיונינג</a:t>
            </a:r>
            <a:r>
              <a:rPr lang="he-IL" dirty="0"/>
              <a:t> לפתרון שאלות מתמטיות, </a:t>
            </a:r>
            <a:r>
              <a:rPr lang="he-IL" dirty="0" err="1"/>
              <a:t>ול</a:t>
            </a:r>
            <a:r>
              <a:rPr lang="he-IL" dirty="0"/>
              <a:t>-</a:t>
            </a:r>
            <a:r>
              <a:rPr lang="en-US" dirty="0" err="1"/>
              <a:t>PaLM</a:t>
            </a:r>
            <a:r>
              <a:rPr lang="he-IL" dirty="0"/>
              <a:t> שאם תשאלו אותי החוקרים אוהבים להשוות אליו כי כמעט תמיד </a:t>
            </a:r>
            <a:r>
              <a:rPr lang="en-US" dirty="0"/>
              <a:t>LLaMA</a:t>
            </a:r>
            <a:r>
              <a:rPr lang="he-IL" dirty="0"/>
              <a:t> מנצח אותו.</a:t>
            </a:r>
          </a:p>
          <a:p>
            <a:pPr marL="0" algn="r" defTabSz="914400" rtl="1" eaLnBrk="1" latinLnBrk="0" hangingPunct="1"/>
            <a:endParaRPr lang="he-IL" dirty="0"/>
          </a:p>
          <a:p>
            <a:pPr marL="0" algn="r" defTabSz="914400" rtl="1" eaLnBrk="1" latinLnBrk="0" hangingPunct="1"/>
            <a:r>
              <a:rPr lang="he-IL" dirty="0"/>
              <a:t>אפשר לראות ש-</a:t>
            </a:r>
            <a:r>
              <a:rPr lang="en-US" dirty="0"/>
              <a:t>LLaMA‑65B</a:t>
            </a:r>
            <a:r>
              <a:rPr lang="he-IL" dirty="0"/>
              <a:t> מנצח את </a:t>
            </a:r>
            <a:r>
              <a:rPr lang="en-US" dirty="0"/>
              <a:t>Minerva‑62B</a:t>
            </a:r>
            <a:r>
              <a:rPr lang="he-IL" dirty="0"/>
              <a:t> על </a:t>
            </a:r>
            <a:r>
              <a:rPr lang="en-US" dirty="0"/>
              <a:t>GSM8k</a:t>
            </a:r>
            <a:r>
              <a:rPr lang="he-IL" dirty="0"/>
              <a:t> – וזאת ללא </a:t>
            </a:r>
            <a:r>
              <a:rPr lang="he-IL" dirty="0" err="1"/>
              <a:t>טיונינג</a:t>
            </a:r>
            <a:r>
              <a:rPr lang="he-IL" dirty="0"/>
              <a:t> על מתמטיקה.</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13</a:t>
            </a:fld>
            <a:endParaRPr lang="en-IL"/>
          </a:p>
        </p:txBody>
      </p:sp>
    </p:spTree>
    <p:extLst>
      <p:ext uri="{BB962C8B-B14F-4D97-AF65-F5344CB8AC3E}">
        <p14:creationId xmlns:p14="http://schemas.microsoft.com/office/powerpoint/2010/main" val="40340848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כדי לבחון את יכולת כתיבת הקוד של המודל משתמשים </a:t>
            </a:r>
            <a:r>
              <a:rPr lang="he-IL" dirty="0" err="1"/>
              <a:t>בדאטאסטים</a:t>
            </a:r>
            <a:r>
              <a:rPr lang="he-IL" dirty="0"/>
              <a:t> </a:t>
            </a:r>
            <a:r>
              <a:rPr lang="en-US" dirty="0" err="1"/>
              <a:t>HumanEval</a:t>
            </a:r>
            <a:r>
              <a:rPr lang="he-IL" dirty="0"/>
              <a:t> ו-</a:t>
            </a:r>
            <a:r>
              <a:rPr lang="en-US" dirty="0"/>
              <a:t>MBPP</a:t>
            </a:r>
            <a:r>
              <a:rPr lang="he-IL" dirty="0"/>
              <a:t>.</a:t>
            </a:r>
          </a:p>
          <a:p>
            <a:pPr marL="0" algn="r" defTabSz="914400" rtl="1" eaLnBrk="1" latinLnBrk="0" hangingPunct="1"/>
            <a:endParaRPr lang="he-IL" dirty="0"/>
          </a:p>
          <a:p>
            <a:pPr marL="0" algn="r" defTabSz="914400" rtl="1" eaLnBrk="1" latinLnBrk="0" hangingPunct="1"/>
            <a:r>
              <a:rPr lang="he-IL" dirty="0"/>
              <a:t>באחד מהם מציגים למודל תיאור פונקציה, ובשני מציגים חתימה עם </a:t>
            </a:r>
            <a:r>
              <a:rPr lang="en-US" dirty="0"/>
              <a:t>docstring</a:t>
            </a:r>
            <a:r>
              <a:rPr lang="he-IL" dirty="0"/>
              <a:t>, ומצפים שהוא יכתוב פונקציה תקנית ב‑</a:t>
            </a:r>
            <a:r>
              <a:rPr lang="en-US" dirty="0"/>
              <a:t>Python</a:t>
            </a:r>
            <a:r>
              <a:rPr lang="he-IL" dirty="0"/>
              <a:t> שתעבור </a:t>
            </a:r>
            <a:r>
              <a:rPr lang="en-US" dirty="0"/>
              <a:t>unit-test</a:t>
            </a:r>
            <a:r>
              <a:rPr lang="he-IL" dirty="0"/>
              <a:t>.</a:t>
            </a:r>
            <a:endParaRPr lang="en-US" dirty="0"/>
          </a:p>
          <a:p>
            <a:pPr marL="0" algn="r" defTabSz="914400" rtl="1" eaLnBrk="1" latinLnBrk="0" hangingPunct="1"/>
            <a:endParaRPr lang="en-US" dirty="0"/>
          </a:p>
          <a:p>
            <a:pPr marL="0" algn="r" defTabSz="914400" rtl="1" eaLnBrk="1" latinLnBrk="0" hangingPunct="1"/>
            <a:r>
              <a:rPr lang="he-IL" dirty="0"/>
              <a:t>במדד זה משתמשים ב-</a:t>
            </a:r>
            <a:r>
              <a:rPr lang="en-US" dirty="0"/>
              <a:t>zero-shot</a:t>
            </a:r>
            <a:r>
              <a:rPr lang="he-IL" dirty="0"/>
              <a:t> ו-</a:t>
            </a:r>
            <a:r>
              <a:rPr lang="en-US" dirty="0"/>
              <a:t>few-shot</a:t>
            </a:r>
            <a:r>
              <a:rPr lang="he-IL" dirty="0"/>
              <a:t>, על פני ניסיונות רבים: 1 או 100 עבור </a:t>
            </a:r>
            <a:r>
              <a:rPr lang="en-US" dirty="0" err="1"/>
              <a:t>HumanEval</a:t>
            </a:r>
            <a:r>
              <a:rPr lang="he-IL" dirty="0"/>
              <a:t>, ו‑80 עבור </a:t>
            </a:r>
            <a:r>
              <a:rPr lang="en-US" dirty="0"/>
              <a:t>MBPP</a:t>
            </a:r>
            <a:r>
              <a:rPr lang="he-IL" dirty="0"/>
              <a:t>.</a:t>
            </a:r>
          </a:p>
          <a:p>
            <a:pPr marL="0" algn="r" defTabSz="914400" rtl="1" eaLnBrk="1" latinLnBrk="0" hangingPunct="1"/>
            <a:r>
              <a:rPr lang="he-IL" dirty="0"/>
              <a:t>כלומר, ב-</a:t>
            </a:r>
            <a:r>
              <a:rPr lang="en-US" dirty="0"/>
              <a:t>pass@100</a:t>
            </a:r>
            <a:r>
              <a:rPr lang="he-IL" dirty="0"/>
              <a:t> מספיק שהמודל יעבור </a:t>
            </a:r>
            <a:r>
              <a:rPr lang="en-US" dirty="0"/>
              <a:t>unit-test</a:t>
            </a:r>
            <a:r>
              <a:rPr lang="he-IL" dirty="0"/>
              <a:t> פעם אחת מתוך 100.</a:t>
            </a:r>
          </a:p>
          <a:p>
            <a:pPr marL="0" algn="r" defTabSz="914400" rtl="1" eaLnBrk="1" latinLnBrk="0" hangingPunct="1"/>
            <a:r>
              <a:rPr lang="he-IL" dirty="0"/>
              <a:t>כתוצאה מכך, יש שיפור דרמטי בין </a:t>
            </a:r>
            <a:r>
              <a:rPr lang="en-US" dirty="0"/>
              <a:t>pass@1</a:t>
            </a:r>
            <a:r>
              <a:rPr lang="he-IL" dirty="0"/>
              <a:t> ל‑</a:t>
            </a:r>
            <a:r>
              <a:rPr lang="en-US" dirty="0"/>
              <a:t>pass@100</a:t>
            </a:r>
            <a:r>
              <a:rPr lang="he-IL" dirty="0"/>
              <a:t> או </a:t>
            </a:r>
            <a:r>
              <a:rPr lang="en-US" dirty="0"/>
              <a:t>pass@80</a:t>
            </a:r>
            <a:r>
              <a:rPr lang="he-IL" dirty="0"/>
              <a:t>.,אך זה בסדר, כי כל המודלים נבחנים באותו אופן, ולא סביר שמודל יצליח לעבור </a:t>
            </a:r>
            <a:r>
              <a:rPr lang="en-US" dirty="0"/>
              <a:t>unit-test</a:t>
            </a:r>
            <a:r>
              <a:rPr lang="he-IL" dirty="0"/>
              <a:t> בטעות (כמובן, תלוי באיכות הטסט).</a:t>
            </a:r>
          </a:p>
          <a:p>
            <a:pPr marL="0" algn="r" defTabSz="914400" rtl="1" eaLnBrk="1" latinLnBrk="0" hangingPunct="1"/>
            <a:endParaRPr lang="he-IL" dirty="0"/>
          </a:p>
          <a:p>
            <a:pPr marL="0" algn="r" defTabSz="914400" rtl="1" eaLnBrk="1" latinLnBrk="0" hangingPunct="1"/>
            <a:r>
              <a:rPr lang="he-IL" dirty="0"/>
              <a:t>כאן משווים את </a:t>
            </a:r>
            <a:r>
              <a:rPr lang="en-US" dirty="0"/>
              <a:t>LLaMA</a:t>
            </a:r>
            <a:r>
              <a:rPr lang="he-IL" dirty="0"/>
              <a:t> ל-</a:t>
            </a:r>
            <a:r>
              <a:rPr lang="en-US" dirty="0"/>
              <a:t>LaMDA</a:t>
            </a:r>
            <a:r>
              <a:rPr lang="he-IL" dirty="0"/>
              <a:t> ו-</a:t>
            </a:r>
            <a:r>
              <a:rPr lang="en-US" dirty="0" err="1"/>
              <a:t>PaLM</a:t>
            </a:r>
            <a:r>
              <a:rPr lang="he-IL" dirty="0"/>
              <a:t>.</a:t>
            </a:r>
          </a:p>
          <a:p>
            <a:pPr marL="0" algn="r" defTabSz="914400" rtl="1" eaLnBrk="1" latinLnBrk="0" hangingPunct="1"/>
            <a:r>
              <a:rPr lang="he-IL" dirty="0"/>
              <a:t>ניתן לראות ש-</a:t>
            </a:r>
            <a:r>
              <a:rPr lang="en-US" dirty="0"/>
              <a:t>LLaMA‑13B</a:t>
            </a:r>
            <a:r>
              <a:rPr lang="he-IL" dirty="0"/>
              <a:t> מנצח מודל מתחרה בגודל </a:t>
            </a:r>
            <a:r>
              <a:rPr lang="en-US" dirty="0"/>
              <a:t>137B</a:t>
            </a:r>
            <a:r>
              <a:rPr lang="he-IL" dirty="0"/>
              <a:t> בשני </a:t>
            </a:r>
            <a:r>
              <a:rPr lang="he-IL" dirty="0" err="1"/>
              <a:t>דאטאסטים</a:t>
            </a:r>
            <a:r>
              <a:rPr lang="he-IL" dirty="0"/>
              <a:t>, ו-</a:t>
            </a:r>
            <a:r>
              <a:rPr lang="en-US" dirty="0"/>
              <a:t>LLaMA-65B</a:t>
            </a:r>
            <a:r>
              <a:rPr lang="he-IL" dirty="0"/>
              <a:t> גובר על </a:t>
            </a:r>
            <a:r>
              <a:rPr lang="en-US" dirty="0"/>
              <a:t>PaLM-62B</a:t>
            </a:r>
            <a:r>
              <a:rPr lang="he-IL" dirty="0"/>
              <a:t> אפילו </a:t>
            </a:r>
            <a:r>
              <a:rPr lang="he-IL" dirty="0" err="1"/>
              <a:t>כש</a:t>
            </a:r>
            <a:r>
              <a:rPr lang="he-IL" dirty="0"/>
              <a:t>-</a:t>
            </a:r>
            <a:r>
              <a:rPr lang="en-US" dirty="0" err="1"/>
              <a:t>PaLM</a:t>
            </a:r>
            <a:r>
              <a:rPr lang="he-IL" dirty="0"/>
              <a:t> מאומן זמן רב יותר.</a:t>
            </a:r>
          </a:p>
          <a:p>
            <a:pPr marL="0" algn="r" defTabSz="914400" rtl="1" eaLnBrk="1" latinLnBrk="0" hangingPunct="1"/>
            <a:r>
              <a:rPr lang="he-IL" dirty="0"/>
              <a:t>בנוסף, </a:t>
            </a:r>
            <a:r>
              <a:rPr lang="en-US" dirty="0"/>
              <a:t>LLaMA</a:t>
            </a:r>
            <a:r>
              <a:rPr lang="he-IL" dirty="0"/>
              <a:t> מנצח את כל המודלים האחרים שלא עברו </a:t>
            </a:r>
            <a:r>
              <a:rPr lang="he-IL" dirty="0" err="1"/>
              <a:t>טיונינג</a:t>
            </a:r>
            <a:r>
              <a:rPr lang="he-IL" dirty="0"/>
              <a:t> לקוד.</a:t>
            </a:r>
          </a:p>
          <a:p>
            <a:pPr marL="0" algn="r" defTabSz="914400" rtl="1" eaLnBrk="1" latinLnBrk="0" hangingPunct="1"/>
            <a:endParaRPr lang="he-IL" dirty="0"/>
          </a:p>
          <a:p>
            <a:pPr marL="0" algn="r" defTabSz="914400" rtl="1" eaLnBrk="1" latinLnBrk="0" hangingPunct="1"/>
            <a:r>
              <a:rPr lang="he-IL" dirty="0"/>
              <a:t>חשוב לציין שכל נושא ה‑</a:t>
            </a:r>
            <a:r>
              <a:rPr lang="en-US" dirty="0"/>
              <a:t>fine-tuning</a:t>
            </a:r>
            <a:r>
              <a:rPr lang="he-IL" dirty="0"/>
              <a:t> של </a:t>
            </a:r>
            <a:r>
              <a:rPr lang="en-US" dirty="0"/>
              <a:t>LLaMA</a:t>
            </a:r>
            <a:r>
              <a:rPr lang="he-IL" dirty="0"/>
              <a:t> מחוץ ל-</a:t>
            </a:r>
            <a:r>
              <a:rPr lang="en-US" dirty="0"/>
              <a:t>scope</a:t>
            </a:r>
            <a:r>
              <a:rPr lang="he-IL" dirty="0"/>
              <a:t> המאמר.</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14</a:t>
            </a:fld>
            <a:endParaRPr lang="en-IL"/>
          </a:p>
        </p:txBody>
      </p:sp>
    </p:spTree>
    <p:extLst>
      <p:ext uri="{BB962C8B-B14F-4D97-AF65-F5344CB8AC3E}">
        <p14:creationId xmlns:p14="http://schemas.microsoft.com/office/powerpoint/2010/main" val="12325437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והגענו </a:t>
            </a:r>
            <a:r>
              <a:rPr lang="he-IL" dirty="0" err="1"/>
              <a:t>לבנצ'מרק</a:t>
            </a:r>
            <a:r>
              <a:rPr lang="he-IL" dirty="0"/>
              <a:t> האחרון - </a:t>
            </a:r>
            <a:r>
              <a:rPr lang="en-US" dirty="0"/>
              <a:t>Massive Multitask Language Understanding</a:t>
            </a:r>
            <a:r>
              <a:rPr lang="he-IL" dirty="0"/>
              <a:t>, או בקיצור MMLU, שמטרתו לבדוק את הידע הכללי של המודל.</a:t>
            </a:r>
          </a:p>
          <a:p>
            <a:pPr marL="0" algn="r" defTabSz="914400" rtl="1" eaLnBrk="1" latinLnBrk="0" hangingPunct="1"/>
            <a:endParaRPr lang="he-IL" dirty="0"/>
          </a:p>
          <a:p>
            <a:pPr marL="0" algn="r" defTabSz="914400" rtl="1" eaLnBrk="1" latinLnBrk="0" hangingPunct="1"/>
            <a:r>
              <a:rPr lang="he-IL" dirty="0"/>
              <a:t>בכל דוגמה </a:t>
            </a:r>
            <a:r>
              <a:rPr lang="he-IL" dirty="0" err="1"/>
              <a:t>בדאטאסט</a:t>
            </a:r>
            <a:r>
              <a:rPr lang="he-IL" dirty="0"/>
              <a:t> יש שאלה, ארבע אפשרויות (</a:t>
            </a:r>
            <a:r>
              <a:rPr lang="en-US" dirty="0"/>
              <a:t>A, B, C, D</a:t>
            </a:r>
            <a:r>
              <a:rPr lang="he-IL" dirty="0"/>
              <a:t>) ותשובה נכונה.</a:t>
            </a:r>
          </a:p>
          <a:p>
            <a:pPr marL="0" algn="r" defTabSz="914400" rtl="1" eaLnBrk="1" latinLnBrk="0" hangingPunct="1"/>
            <a:endParaRPr lang="he-IL" dirty="0"/>
          </a:p>
          <a:p>
            <a:pPr marL="0" algn="r" defTabSz="914400" rtl="1" eaLnBrk="1" latinLnBrk="0" hangingPunct="1"/>
            <a:r>
              <a:rPr lang="he-IL" dirty="0"/>
              <a:t>מציגים למודל את השאלה ואת ארבע האפשרויות בעטיפה של </a:t>
            </a:r>
            <a:r>
              <a:rPr lang="en-US" dirty="0"/>
              <a:t>system prompts</a:t>
            </a:r>
            <a:r>
              <a:rPr lang="he-IL" dirty="0"/>
              <a:t>,</a:t>
            </a:r>
            <a:r>
              <a:rPr lang="en-US" dirty="0"/>
              <a:t> </a:t>
            </a:r>
            <a:r>
              <a:rPr lang="he-IL" dirty="0"/>
              <a:t>ולפני כל שאלה נותנים לו 5 דוגמאות של שאלה‑תשובה.</a:t>
            </a:r>
          </a:p>
          <a:p>
            <a:pPr marL="0" algn="r" defTabSz="914400" rtl="1" eaLnBrk="1" latinLnBrk="0" hangingPunct="1"/>
            <a:endParaRPr lang="he-IL" dirty="0"/>
          </a:p>
          <a:p>
            <a:pPr marL="0" algn="r" defTabSz="914400" rtl="1" eaLnBrk="1" latinLnBrk="0" hangingPunct="1"/>
            <a:r>
              <a:rPr lang="he-IL" dirty="0"/>
              <a:t>מהתוצאות ניתן לראות ש-</a:t>
            </a:r>
            <a:r>
              <a:rPr lang="en-US" dirty="0"/>
              <a:t>PaLM‑540B</a:t>
            </a:r>
            <a:r>
              <a:rPr lang="he-IL" dirty="0"/>
              <a:t> מוביל, אך </a:t>
            </a:r>
            <a:r>
              <a:rPr lang="en-US" dirty="0"/>
              <a:t>LLaMA‑65B</a:t>
            </a:r>
            <a:r>
              <a:rPr lang="he-IL" dirty="0"/>
              <a:t> לא רחוק ממנו </a:t>
            </a:r>
            <a:r>
              <a:rPr lang="he-IL" dirty="0" err="1"/>
              <a:t>ומ</a:t>
            </a:r>
            <a:r>
              <a:rPr lang="he-IL" dirty="0"/>
              <a:t>-</a:t>
            </a:r>
            <a:r>
              <a:rPr lang="en-US" dirty="0"/>
              <a:t>Chinchilla‑70B</a:t>
            </a:r>
            <a:r>
              <a:rPr lang="he-IL" dirty="0"/>
              <a:t>.</a:t>
            </a:r>
          </a:p>
          <a:p>
            <a:pPr marL="0" algn="r" defTabSz="914400" rtl="1" eaLnBrk="1" latinLnBrk="0" hangingPunct="1"/>
            <a:endParaRPr lang="he-IL" dirty="0"/>
          </a:p>
          <a:p>
            <a:pPr marL="0" algn="r" defTabSz="914400" rtl="1" eaLnBrk="1" latinLnBrk="0" hangingPunct="1"/>
            <a:r>
              <a:rPr lang="he-IL" dirty="0"/>
              <a:t>החוקרים מסבירים את הפער בכך ש-</a:t>
            </a:r>
            <a:r>
              <a:rPr lang="en-US" dirty="0"/>
              <a:t>LLaMA</a:t>
            </a:r>
            <a:r>
              <a:rPr lang="he-IL" dirty="0"/>
              <a:t> אומן רק על </a:t>
            </a:r>
            <a:r>
              <a:rPr lang="en-US" dirty="0"/>
              <a:t>177GB</a:t>
            </a:r>
            <a:r>
              <a:rPr lang="he-IL" dirty="0"/>
              <a:t> של ספרים, בעוד שהאחרים אומנו על </a:t>
            </a:r>
            <a:r>
              <a:rPr lang="en-US" dirty="0"/>
              <a:t>2TB</a:t>
            </a:r>
            <a:r>
              <a:rPr lang="he-IL" dirty="0"/>
              <a:t> של ספרים.</a:t>
            </a:r>
          </a:p>
        </p:txBody>
      </p:sp>
      <p:sp>
        <p:nvSpPr>
          <p:cNvPr id="4" name="Slide Number Placeholder 3"/>
          <p:cNvSpPr>
            <a:spLocks noGrp="1"/>
          </p:cNvSpPr>
          <p:nvPr>
            <p:ph type="sldNum" sz="quarter" idx="5"/>
          </p:nvPr>
        </p:nvSpPr>
        <p:spPr/>
        <p:txBody>
          <a:bodyPr/>
          <a:lstStyle/>
          <a:p>
            <a:fld id="{476FFE5D-288A-DB4E-9912-CFF1A38B0A9A}" type="slidenum">
              <a:rPr lang="en-IL" smtClean="0"/>
              <a:t>15</a:t>
            </a:fld>
            <a:endParaRPr lang="en-IL"/>
          </a:p>
        </p:txBody>
      </p:sp>
    </p:spTree>
    <p:extLst>
      <p:ext uri="{BB962C8B-B14F-4D97-AF65-F5344CB8AC3E}">
        <p14:creationId xmlns:p14="http://schemas.microsoft.com/office/powerpoint/2010/main" val="40029347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בשקף הזה אפשר לראות שה-</a:t>
            </a:r>
            <a:r>
              <a:rPr lang="en-US" dirty="0"/>
              <a:t>accuracy</a:t>
            </a:r>
            <a:r>
              <a:rPr lang="he-IL" dirty="0"/>
              <a:t> של מודלי </a:t>
            </a:r>
            <a:r>
              <a:rPr lang="en-US" dirty="0"/>
              <a:t>LLaMA</a:t>
            </a:r>
            <a:r>
              <a:rPr lang="he-IL" dirty="0"/>
              <a:t> על </a:t>
            </a:r>
            <a:r>
              <a:rPr lang="he-IL" dirty="0" err="1"/>
              <a:t>הבנצ'מרקים</a:t>
            </a:r>
            <a:r>
              <a:rPr lang="he-IL" dirty="0"/>
              <a:t> </a:t>
            </a:r>
            <a:r>
              <a:rPr lang="en-US" dirty="0"/>
              <a:t>Question Answering</a:t>
            </a:r>
            <a:r>
              <a:rPr lang="he-IL" dirty="0"/>
              <a:t> ו-</a:t>
            </a:r>
            <a:r>
              <a:rPr lang="en-US" dirty="0"/>
              <a:t>Common Sense</a:t>
            </a:r>
            <a:r>
              <a:rPr lang="he-IL" dirty="0"/>
              <a:t> הולך ומשתפר עם מספר הטוקנים עליהם מאמנים אותם, מה שגם מאריך את משך האימון, ומשווים את זה למודל </a:t>
            </a:r>
            <a:r>
              <a:rPr lang="en-US" dirty="0"/>
              <a:t>Chinchila-70B</a:t>
            </a:r>
            <a:r>
              <a:rPr lang="he-IL" dirty="0"/>
              <a:t> שהוא באותו סדר הגודל של מודל </a:t>
            </a:r>
            <a:r>
              <a:rPr lang="en-US" dirty="0"/>
              <a:t>LLaMA</a:t>
            </a:r>
            <a:r>
              <a:rPr lang="he-IL" dirty="0"/>
              <a:t> גדול - </a:t>
            </a:r>
            <a:r>
              <a:rPr lang="en-US" dirty="0"/>
              <a:t>LLaMA-65B</a:t>
            </a:r>
            <a:r>
              <a:rPr lang="he-IL" dirty="0"/>
              <a:t>.</a:t>
            </a:r>
          </a:p>
          <a:p>
            <a:pPr marL="0" algn="r" defTabSz="914400" rtl="1" eaLnBrk="1" latinLnBrk="0" hangingPunct="1"/>
            <a:endParaRPr lang="he-IL" dirty="0"/>
          </a:p>
          <a:p>
            <a:pPr marL="0" algn="r" defTabSz="914400" rtl="1" eaLnBrk="1" latinLnBrk="0" hangingPunct="1"/>
            <a:r>
              <a:rPr lang="he-IL" dirty="0"/>
              <a:t>וזה בעצם המסר המרכזי של החוקרים:</a:t>
            </a:r>
          </a:p>
          <a:p>
            <a:pPr marL="0" algn="r" defTabSz="914400" rtl="1" eaLnBrk="1" latinLnBrk="0" hangingPunct="1"/>
            <a:r>
              <a:rPr lang="he-IL" dirty="0"/>
              <a:t>אם עד כה האמנו ב-</a:t>
            </a:r>
            <a:r>
              <a:rPr lang="en-US" dirty="0"/>
              <a:t>scaling law</a:t>
            </a:r>
            <a:r>
              <a:rPr lang="he-IL" dirty="0"/>
              <a:t>, לפיו ביצועי המודל משתפרים ככל שמגדילים אותו, ובהתאם גם את הדאטה,</a:t>
            </a:r>
          </a:p>
          <a:p>
            <a:pPr marL="0" algn="r" defTabSz="914400" rtl="1" eaLnBrk="1" latinLnBrk="0" hangingPunct="1"/>
            <a:r>
              <a:rPr lang="he-IL" dirty="0"/>
              <a:t>אז עכשיו אפשר לטעון שניתן להסתפק במודלים בגדלים סבירים (לא קטנים, אבל לא ענקיים), ופשוט לאמן אותם יותר זמן, כמובן על יותר דאטה.</a:t>
            </a:r>
          </a:p>
          <a:p>
            <a:pPr marL="0" algn="r" defTabSz="914400" rtl="1" eaLnBrk="1" latinLnBrk="0" hangingPunct="1"/>
            <a:endParaRPr lang="he-IL" dirty="0"/>
          </a:p>
          <a:p>
            <a:pPr marL="0" algn="r" defTabSz="914400" rtl="1" eaLnBrk="1" latinLnBrk="0" hangingPunct="1"/>
            <a:r>
              <a:rPr lang="he-IL" dirty="0"/>
              <a:t>כלומר, אפשר לשפר ביצועים על ידי זה שנאמן את המודל יותר זמן, על יותר דאטה, מה שגם יעלה את מחיר האימון, אבל במקום זאת נרוויח מודלים קטנים יותר שהם גם חסכוניים יותר בזמן ה-</a:t>
            </a:r>
            <a:r>
              <a:rPr lang="en-US" dirty="0"/>
              <a:t>infer</a:t>
            </a:r>
            <a:r>
              <a:rPr lang="he-IL" dirty="0"/>
              <a:t>, שזה הזמן המשמעותי יותר, כי אחרי שמודל נפרס, עובר </a:t>
            </a:r>
            <a:r>
              <a:rPr lang="en-US" dirty="0"/>
              <a:t>deployment</a:t>
            </a:r>
            <a:r>
              <a:rPr lang="he-IL" dirty="0"/>
              <a:t>, הוא עובד רק במצב </a:t>
            </a:r>
            <a:r>
              <a:rPr lang="en-US" dirty="0"/>
              <a:t>infer</a:t>
            </a:r>
            <a:r>
              <a:rPr lang="he-IL" dirty="0"/>
              <a:t>, וגם יכולים לרוץ על מכשירים עם יכולת חישוב מוגבלת, כמו שכאמור </a:t>
            </a:r>
            <a:r>
              <a:rPr lang="en-US" dirty="0"/>
              <a:t>LLaMA-13B</a:t>
            </a:r>
            <a:r>
              <a:rPr lang="he-IL" dirty="0"/>
              <a:t> יכול לרוץ על GPU בודד.</a:t>
            </a:r>
          </a:p>
          <a:p>
            <a:pPr marL="0" algn="r" defTabSz="914400" rtl="1" eaLnBrk="1" latinLnBrk="0" hangingPunct="1"/>
            <a:endParaRPr lang="he-IL" dirty="0"/>
          </a:p>
          <a:p>
            <a:pPr marL="0" algn="r" defTabSz="914400" rtl="1" eaLnBrk="1" latinLnBrk="0" hangingPunct="1"/>
            <a:r>
              <a:rPr lang="he-IL" dirty="0" err="1"/>
              <a:t>בפיגר</a:t>
            </a:r>
            <a:r>
              <a:rPr lang="he-IL" dirty="0"/>
              <a:t> השני אפשר לראות ה-</a:t>
            </a:r>
            <a:r>
              <a:rPr lang="en-US" dirty="0"/>
              <a:t>loss</a:t>
            </a:r>
            <a:r>
              <a:rPr lang="he-IL" dirty="0"/>
              <a:t> של המודל יורד עם העלייה ב-</a:t>
            </a:r>
            <a:r>
              <a:rPr lang="en-US" dirty="0"/>
              <a:t>accuracy</a:t>
            </a:r>
            <a:r>
              <a:rPr lang="he-IL" dirty="0"/>
              <a:t>, כמצופה.</a:t>
            </a:r>
          </a:p>
          <a:p>
            <a:pPr marL="0" algn="r" defTabSz="914400" rtl="1" eaLnBrk="1" latinLnBrk="0" hangingPunct="1"/>
            <a:r>
              <a:rPr lang="he-IL" dirty="0"/>
              <a:t>אגב, כאן הם לא מתייחסים ל-</a:t>
            </a:r>
            <a:r>
              <a:rPr lang="en-US" dirty="0"/>
              <a:t>loss</a:t>
            </a:r>
            <a:r>
              <a:rPr lang="he-IL" dirty="0"/>
              <a:t> כמו שאנחנו רגילים, אלא כ-</a:t>
            </a:r>
            <a:r>
              <a:rPr lang="en-US" dirty="0"/>
              <a:t>perplexity</a:t>
            </a:r>
            <a:r>
              <a:rPr lang="he-IL" dirty="0"/>
              <a:t>, שזה בעברית "מבוכה", שזה בעצם מדד שבא להגיד כמה המודל לא בטוח בתשובה שלו, ולכן </a:t>
            </a:r>
            <a:r>
              <a:rPr lang="en-US" dirty="0"/>
              <a:t>perplexity</a:t>
            </a:r>
            <a:r>
              <a:rPr lang="he-IL" dirty="0"/>
              <a:t> נמוכה היא טובה יותר.</a:t>
            </a:r>
          </a:p>
        </p:txBody>
      </p:sp>
      <p:sp>
        <p:nvSpPr>
          <p:cNvPr id="4" name="Slide Number Placeholder 3"/>
          <p:cNvSpPr>
            <a:spLocks noGrp="1"/>
          </p:cNvSpPr>
          <p:nvPr>
            <p:ph type="sldNum" sz="quarter" idx="5"/>
          </p:nvPr>
        </p:nvSpPr>
        <p:spPr/>
        <p:txBody>
          <a:bodyPr/>
          <a:lstStyle/>
          <a:p>
            <a:fld id="{476FFE5D-288A-DB4E-9912-CFF1A38B0A9A}" type="slidenum">
              <a:rPr lang="en-IL" smtClean="0"/>
              <a:t>16</a:t>
            </a:fld>
            <a:endParaRPr lang="en-IL"/>
          </a:p>
        </p:txBody>
      </p:sp>
    </p:spTree>
    <p:extLst>
      <p:ext uri="{BB962C8B-B14F-4D97-AF65-F5344CB8AC3E}">
        <p14:creationId xmlns:p14="http://schemas.microsoft.com/office/powerpoint/2010/main" val="38746460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בשקפים הבאים נראה את מטריקות נוספות להערכה של מודלי </a:t>
            </a:r>
            <a:r>
              <a:rPr lang="en-US" dirty="0"/>
              <a:t>LLaMA</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17</a:t>
            </a:fld>
            <a:endParaRPr lang="en-IL"/>
          </a:p>
        </p:txBody>
      </p:sp>
    </p:spTree>
    <p:extLst>
      <p:ext uri="{BB962C8B-B14F-4D97-AF65-F5344CB8AC3E}">
        <p14:creationId xmlns:p14="http://schemas.microsoft.com/office/powerpoint/2010/main" val="29949931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בעולמות ה-LLM מאוד מקובל לבדוק כמה מודל יודע לעקוב אחר הוראות, ולכן החוקרים עשו את המינימום הנדרש כדי להוכיח שניתן להתאים את </a:t>
            </a:r>
            <a:r>
              <a:rPr lang="en-US" dirty="0"/>
              <a:t>LLaMA</a:t>
            </a:r>
            <a:r>
              <a:rPr lang="he-IL" dirty="0"/>
              <a:t> למשימה זו.</a:t>
            </a:r>
          </a:p>
          <a:p>
            <a:pPr marL="0" algn="r" defTabSz="914400" rtl="1" eaLnBrk="1" latinLnBrk="0" hangingPunct="1"/>
            <a:endParaRPr lang="he-IL" dirty="0"/>
          </a:p>
          <a:p>
            <a:pPr marL="0" algn="r" defTabSz="914400" rtl="1" eaLnBrk="1" latinLnBrk="0" hangingPunct="1"/>
            <a:r>
              <a:rPr lang="he-IL" dirty="0"/>
              <a:t>הם לקחו את המודל הגדול </a:t>
            </a:r>
            <a:r>
              <a:rPr lang="en-US" dirty="0"/>
              <a:t>65B</a:t>
            </a:r>
            <a:r>
              <a:rPr lang="he-IL" dirty="0"/>
              <a:t>, ועשו לו </a:t>
            </a:r>
            <a:r>
              <a:rPr lang="he-IL" dirty="0" err="1"/>
              <a:t>טיוניג</a:t>
            </a:r>
            <a:r>
              <a:rPr lang="he-IL" dirty="0"/>
              <a:t> קצר על </a:t>
            </a:r>
            <a:r>
              <a:rPr lang="he-IL" dirty="0" err="1"/>
              <a:t>דאטאסט</a:t>
            </a:r>
            <a:r>
              <a:rPr lang="he-IL" dirty="0"/>
              <a:t> למעקב אחר הוראות, וקראו למודל המותאם </a:t>
            </a:r>
            <a:r>
              <a:rPr lang="en-US" dirty="0"/>
              <a:t>LLaMA-I</a:t>
            </a:r>
            <a:r>
              <a:rPr lang="he-IL" dirty="0"/>
              <a:t>.</a:t>
            </a:r>
          </a:p>
          <a:p>
            <a:pPr marL="0" algn="r" defTabSz="914400" rtl="1" eaLnBrk="1" latinLnBrk="0" hangingPunct="1"/>
            <a:endParaRPr lang="he-IL" dirty="0"/>
          </a:p>
          <a:p>
            <a:pPr marL="0" algn="r" defTabSz="914400" rtl="1" eaLnBrk="1" latinLnBrk="0" hangingPunct="1"/>
            <a:r>
              <a:rPr lang="he-IL" dirty="0"/>
              <a:t>כדי לבדוק את המודל הם השתמשו ב-MMLU בתצורה של </a:t>
            </a:r>
            <a:r>
              <a:rPr lang="en-US" dirty="0"/>
              <a:t>5-shot</a:t>
            </a:r>
            <a:r>
              <a:rPr lang="he-IL" dirty="0"/>
              <a:t>.</a:t>
            </a:r>
          </a:p>
          <a:p>
            <a:pPr marL="0" algn="r" defTabSz="914400" rtl="1" eaLnBrk="1" latinLnBrk="0" hangingPunct="1"/>
            <a:endParaRPr lang="he-IL" dirty="0"/>
          </a:p>
          <a:p>
            <a:pPr marL="0" algn="r" defTabSz="914400" rtl="1" eaLnBrk="1" latinLnBrk="0" hangingPunct="1"/>
            <a:r>
              <a:rPr lang="he-IL" dirty="0"/>
              <a:t>הם מראים במאמר שהמודל הגדול הבסיסי, בלי </a:t>
            </a:r>
            <a:r>
              <a:rPr lang="he-IL" dirty="0" err="1"/>
              <a:t>טיונינג</a:t>
            </a:r>
            <a:r>
              <a:rPr lang="he-IL" dirty="0"/>
              <a:t>, כבר מציג יכולות לא רעות למעקב אחר הוראות, ומאימון קצר הוא משתפר מ-63 ל-68.</a:t>
            </a:r>
          </a:p>
          <a:p>
            <a:pPr marL="0" algn="r" defTabSz="914400" rtl="1" eaLnBrk="1" latinLnBrk="0" hangingPunct="1"/>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אגב, לדעתי אם הם היו ממש בטוחים בזה, הם היו מראים שהוא משתפר מהר בתצורה של </a:t>
            </a:r>
            <a:r>
              <a:rPr lang="en-US" dirty="0"/>
              <a:t>0-shot</a:t>
            </a:r>
            <a:r>
              <a:rPr lang="he-IL" dirty="0"/>
              <a:t>.</a:t>
            </a:r>
          </a:p>
          <a:p>
            <a:pPr marL="0" algn="r" defTabSz="914400" rtl="1" eaLnBrk="1" latinLnBrk="0" hangingPunct="1"/>
            <a:endParaRPr lang="he-IL" dirty="0"/>
          </a:p>
          <a:p>
            <a:pPr marL="0" algn="r" defTabSz="914400" rtl="1" eaLnBrk="1" latinLnBrk="0" hangingPunct="1"/>
            <a:r>
              <a:rPr lang="he-IL" dirty="0"/>
              <a:t>בכל מקרה, אפשר גם לראות שהמודל משיג ביצועים לא רעים למול למודלים האחרים, אבל החוקרים מציינים שהמודל עדיין </a:t>
            </a:r>
            <a:r>
              <a:rPr lang="he-IL"/>
              <a:t>רחוק ממודל </a:t>
            </a:r>
            <a:r>
              <a:rPr lang="he-IL" dirty="0"/>
              <a:t>SOTA, שמשיג ציון 77 במבחן הזה.</a:t>
            </a:r>
          </a:p>
          <a:p>
            <a:pPr marL="0" algn="r" defTabSz="914400" rtl="1" eaLnBrk="1" latinLnBrk="0" hangingPunct="1"/>
            <a:endParaRPr lang="he-IL" dirty="0"/>
          </a:p>
          <a:p>
            <a:pPr marL="0" algn="r" defTabSz="914400" rtl="1" eaLnBrk="1" latinLnBrk="0" hangingPunct="1"/>
            <a:r>
              <a:rPr lang="he-IL" dirty="0"/>
              <a:t>השיעור הנלמד כאן הוא שאפשר לאמן את </a:t>
            </a:r>
            <a:r>
              <a:rPr lang="en-US" dirty="0"/>
              <a:t>LLaMA</a:t>
            </a:r>
            <a:r>
              <a:rPr lang="he-IL" dirty="0"/>
              <a:t> למשימת מעקב אחר הוראות, משימה שהיא מקובלת בתחום.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18</a:t>
            </a:fld>
            <a:endParaRPr lang="en-IL"/>
          </a:p>
        </p:txBody>
      </p:sp>
    </p:spTree>
    <p:extLst>
      <p:ext uri="{BB962C8B-B14F-4D97-AF65-F5344CB8AC3E}">
        <p14:creationId xmlns:p14="http://schemas.microsoft.com/office/powerpoint/2010/main" val="2811746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במטריקה</a:t>
            </a:r>
            <a:r>
              <a:rPr lang="he-IL" dirty="0"/>
              <a:t> הבאה, החוקרים בודקים כמה המודל הוא משוחד, רעיל (פוגעני) או שקרן.</a:t>
            </a:r>
          </a:p>
          <a:p>
            <a:pPr marL="0" algn="r" defTabSz="914400" rtl="1" eaLnBrk="1" latinLnBrk="0" hangingPunct="1"/>
            <a:endParaRPr lang="he-IL" dirty="0"/>
          </a:p>
          <a:p>
            <a:pPr marL="0" algn="r" defTabSz="914400" rtl="1" eaLnBrk="1" latinLnBrk="0" hangingPunct="1"/>
            <a:r>
              <a:rPr lang="he-IL" dirty="0"/>
              <a:t>מודלי שפה גדולים מאומנים על הרבה מאוד תוכן מהאינטרנט ומספרים, ומטבעו השל התוכן הזה, הוא מוטה, בין אם בגלל שאנשים באינטרנט משקרים, לבין אם בגלל הטיות אמיתיות שיש בעולם שלנו, כמו למשל שרוב האחריות בבתי החולים הן בנות.</a:t>
            </a:r>
          </a:p>
          <a:p>
            <a:pPr marL="0" algn="r" defTabSz="914400" rtl="1" eaLnBrk="1" latinLnBrk="0" hangingPunct="1"/>
            <a:endParaRPr lang="he-IL" dirty="0"/>
          </a:p>
          <a:p>
            <a:pPr marL="0" algn="r" defTabSz="914400" rtl="1" eaLnBrk="1" latinLnBrk="0" hangingPunct="1"/>
            <a:r>
              <a:rPr lang="he-IL" dirty="0"/>
              <a:t>אז </a:t>
            </a:r>
            <a:r>
              <a:rPr lang="he-IL" dirty="0" err="1"/>
              <a:t>המטריקה</a:t>
            </a:r>
            <a:r>
              <a:rPr lang="he-IL" dirty="0"/>
              <a:t> הזו באה לבדוק כמה המודל שלהם מכיל הטיות כאלה, וספוילר, הוא לא שונה מהאחרים.</a:t>
            </a:r>
          </a:p>
          <a:p>
            <a:pPr marL="0" algn="r" defTabSz="914400" rtl="1" eaLnBrk="1" latinLnBrk="0" hangingPunct="1"/>
            <a:endParaRPr lang="he-IL" dirty="0"/>
          </a:p>
          <a:p>
            <a:pPr marL="0" algn="r" defTabSz="914400" rtl="1" eaLnBrk="1" latinLnBrk="0" hangingPunct="1"/>
            <a:r>
              <a:rPr lang="he-IL" dirty="0"/>
              <a:t>הם מדגישים במאמר שאין עדיין מטריקות מספיק טובות כדי למדוד את הדברים האלה, בטח בהשוואה למודלים אחרים.</a:t>
            </a:r>
          </a:p>
          <a:p>
            <a:pPr marL="0" algn="r" defTabSz="914400" rtl="1" eaLnBrk="1" latinLnBrk="0" hangingPunct="1"/>
            <a:endParaRPr lang="he-IL" dirty="0"/>
          </a:p>
          <a:p>
            <a:pPr marL="0" algn="r" defTabSz="914400" rtl="1" eaLnBrk="1" latinLnBrk="0" hangingPunct="1"/>
            <a:r>
              <a:rPr lang="he-IL" dirty="0"/>
              <a:t>כלומר, הם יכולים לבחון את </a:t>
            </a:r>
            <a:r>
              <a:rPr lang="en-US" dirty="0"/>
              <a:t>LLaMA</a:t>
            </a:r>
            <a:r>
              <a:rPr lang="he-IL" dirty="0"/>
              <a:t> אבל קשה להם להשוות תנאים </a:t>
            </a:r>
            <a:r>
              <a:rPr lang="he-IL" dirty="0" err="1"/>
              <a:t>לאיך</a:t>
            </a:r>
            <a:r>
              <a:rPr lang="he-IL" dirty="0"/>
              <a:t> שמדדו לצורך העניין את GPT.</a:t>
            </a:r>
          </a:p>
        </p:txBody>
      </p:sp>
      <p:sp>
        <p:nvSpPr>
          <p:cNvPr id="4" name="Slide Number Placeholder 3"/>
          <p:cNvSpPr>
            <a:spLocks noGrp="1"/>
          </p:cNvSpPr>
          <p:nvPr>
            <p:ph type="sldNum" sz="quarter" idx="5"/>
          </p:nvPr>
        </p:nvSpPr>
        <p:spPr/>
        <p:txBody>
          <a:bodyPr/>
          <a:lstStyle/>
          <a:p>
            <a:fld id="{476FFE5D-288A-DB4E-9912-CFF1A38B0A9A}" type="slidenum">
              <a:rPr lang="en-IL" smtClean="0"/>
              <a:t>19</a:t>
            </a:fld>
            <a:endParaRPr lang="en-IL"/>
          </a:p>
        </p:txBody>
      </p:sp>
    </p:spTree>
    <p:extLst>
      <p:ext uri="{BB962C8B-B14F-4D97-AF65-F5344CB8AC3E}">
        <p14:creationId xmlns:p14="http://schemas.microsoft.com/office/powerpoint/2010/main" val="33099992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F44D2-3424-2DA6-E31B-F8F6ED5953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B10600-299B-7A4C-EE49-94BAA7FE75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91F8FD-CE9B-91E9-C7AC-7E4AA97CF747}"/>
              </a:ext>
            </a:extLst>
          </p:cNvPr>
          <p:cNvSpPr>
            <a:spLocks noGrp="1"/>
          </p:cNvSpPr>
          <p:nvPr>
            <p:ph type="body" idx="1"/>
          </p:nvPr>
        </p:nvSpPr>
        <p:spPr/>
        <p:txBody>
          <a:bodyPr/>
          <a:lstStyle/>
          <a:p>
            <a:pPr marL="0" algn="r" defTabSz="914400" rtl="1" eaLnBrk="1" latinLnBrk="0" hangingPunct="1"/>
            <a:r>
              <a:rPr lang="he-IL" dirty="0"/>
              <a:t>אז הטוקסיות של המודל, או הרעילות, או הכמה הוא מעליב, נמדדת באמצעות </a:t>
            </a:r>
            <a:r>
              <a:rPr lang="he-IL" dirty="0" err="1"/>
              <a:t>דאטאסט</a:t>
            </a:r>
            <a:r>
              <a:rPr lang="he-IL" dirty="0"/>
              <a:t> שמכיל </a:t>
            </a:r>
            <a:r>
              <a:rPr lang="he-IL" dirty="0" err="1"/>
              <a:t>פרומפטים</a:t>
            </a:r>
            <a:r>
              <a:rPr lang="he-IL" dirty="0"/>
              <a:t>, ועל כל </a:t>
            </a:r>
            <a:r>
              <a:rPr lang="he-IL" dirty="0" err="1"/>
              <a:t>פרומפט</a:t>
            </a:r>
            <a:r>
              <a:rPr lang="he-IL" dirty="0"/>
              <a:t> התשובה של המודל נשלחת ל-API שכנקרא </a:t>
            </a:r>
            <a:r>
              <a:rPr lang="en-US" dirty="0" err="1"/>
              <a:t>PerspectiveAPI</a:t>
            </a:r>
            <a:r>
              <a:rPr lang="he-IL" dirty="0"/>
              <a:t> שמחזיר מספק בין 0 ל-1, כאשר מספר נמוך יותר זה טוב יותר.</a:t>
            </a:r>
          </a:p>
          <a:p>
            <a:pPr marL="0" algn="r" defTabSz="914400" rtl="1" eaLnBrk="1" latinLnBrk="0" hangingPunct="1"/>
            <a:endParaRPr lang="he-IL" dirty="0"/>
          </a:p>
          <a:p>
            <a:pPr marL="0" algn="r" defTabSz="914400" rtl="1" eaLnBrk="1" latinLnBrk="0" hangingPunct="1"/>
            <a:r>
              <a:rPr lang="he-IL" dirty="0"/>
              <a:t>יש שתי תצורות לניסוי הזה, אחת היא לקחת את </a:t>
            </a:r>
            <a:r>
              <a:rPr lang="he-IL" dirty="0" err="1"/>
              <a:t>הפרומפט</a:t>
            </a:r>
            <a:r>
              <a:rPr lang="he-IL" dirty="0"/>
              <a:t> כמו שהוא ולשלוח למודל,</a:t>
            </a:r>
          </a:p>
          <a:p>
            <a:pPr marL="0" algn="r" defTabSz="914400" rtl="1" eaLnBrk="1" latinLnBrk="0" hangingPunct="1"/>
            <a:r>
              <a:rPr lang="he-IL" dirty="0"/>
              <a:t>והשנייה היא לעטוף את </a:t>
            </a:r>
            <a:r>
              <a:rPr lang="he-IL" dirty="0" err="1"/>
              <a:t>הפרומפט</a:t>
            </a:r>
            <a:r>
              <a:rPr lang="he-IL" dirty="0"/>
              <a:t> ב-</a:t>
            </a:r>
            <a:r>
              <a:rPr lang="en-US" dirty="0"/>
              <a:t>system prompt</a:t>
            </a:r>
            <a:r>
              <a:rPr lang="he-IL" dirty="0"/>
              <a:t> שמבקש מהמודל להיות מכבד.</a:t>
            </a:r>
          </a:p>
          <a:p>
            <a:pPr marL="0" algn="r" defTabSz="914400" rtl="1" eaLnBrk="1" latinLnBrk="0" hangingPunct="1"/>
            <a:endParaRPr lang="he-IL" dirty="0"/>
          </a:p>
          <a:p>
            <a:pPr marL="0" algn="r" defTabSz="914400" rtl="1" eaLnBrk="1" latinLnBrk="0" hangingPunct="1"/>
            <a:r>
              <a:rPr lang="he-IL" dirty="0"/>
              <a:t>לטענת החוקרים, המודל רעיל כמו מודלים בסדר הגודל שלו.</a:t>
            </a:r>
          </a:p>
          <a:p>
            <a:pPr marL="0" algn="r" defTabSz="914400" rtl="1" eaLnBrk="1" latinLnBrk="0" hangingPunct="1"/>
            <a:endParaRPr lang="he-IL" dirty="0"/>
          </a:p>
          <a:p>
            <a:pPr marL="0" algn="r" defTabSz="914400" rtl="1" eaLnBrk="1" latinLnBrk="0" hangingPunct="1"/>
            <a:r>
              <a:rPr lang="he-IL" dirty="0"/>
              <a:t>אבל מה שמעניין הוא שככל שהמודל גדל, כך הוא הופך ליותר רעיל, אפשר לראות את זה גם בעמודה של </a:t>
            </a:r>
            <a:r>
              <a:rPr lang="en-US" dirty="0"/>
              <a:t>basic</a:t>
            </a:r>
            <a:r>
              <a:rPr lang="he-IL" dirty="0"/>
              <a:t> וגם בעמודה של </a:t>
            </a:r>
            <a:r>
              <a:rPr lang="en-US" dirty="0"/>
              <a:t>respectful</a:t>
            </a:r>
            <a:r>
              <a:rPr lang="he-IL" dirty="0"/>
              <a:t>,</a:t>
            </a:r>
          </a:p>
          <a:p>
            <a:pPr marL="0" algn="r" defTabSz="914400" rtl="1" eaLnBrk="1" latinLnBrk="0" hangingPunct="1"/>
            <a:r>
              <a:rPr lang="he-IL" dirty="0"/>
              <a:t>אבל מה שממש מצחיק, זה שדווקא המודל "הכי חכם", נהיה חצוף יותר כשמבקשים ממנו להיות מכבד, ואם זה לא התנהגות אנושית, אז מה כן? חח</a:t>
            </a:r>
          </a:p>
          <a:p>
            <a:pPr marL="0" algn="r" defTabSz="914400" rtl="1" eaLnBrk="1" latinLnBrk="0" hangingPunct="1"/>
            <a:endParaRPr lang="he-IL" dirty="0"/>
          </a:p>
          <a:p>
            <a:pPr marL="0" algn="r" defTabSz="914400" rtl="1" eaLnBrk="1" latinLnBrk="0" hangingPunct="1"/>
            <a:r>
              <a:rPr lang="he-IL" dirty="0"/>
              <a:t>החוקרים מתלוננים במאמר על זה שקשה למדוד את הרעילות של המודל למול המתחרים שלו, בגלל כל מיני אסטרטגיות </a:t>
            </a:r>
            <a:r>
              <a:rPr lang="en-US" dirty="0"/>
              <a:t>sampling</a:t>
            </a:r>
            <a:r>
              <a:rPr lang="he-IL" dirty="0"/>
              <a:t> וגרסאות שונות של API על פני מאמרים.</a:t>
            </a:r>
            <a:endParaRPr lang="en-IL" dirty="0"/>
          </a:p>
        </p:txBody>
      </p:sp>
      <p:sp>
        <p:nvSpPr>
          <p:cNvPr id="4" name="Slide Number Placeholder 3">
            <a:extLst>
              <a:ext uri="{FF2B5EF4-FFF2-40B4-BE49-F238E27FC236}">
                <a16:creationId xmlns:a16="http://schemas.microsoft.com/office/drawing/2014/main" id="{BEED6129-DD21-28E9-77C8-9E565B94A075}"/>
              </a:ext>
            </a:extLst>
          </p:cNvPr>
          <p:cNvSpPr>
            <a:spLocks noGrp="1"/>
          </p:cNvSpPr>
          <p:nvPr>
            <p:ph type="sldNum" sz="quarter" idx="5"/>
          </p:nvPr>
        </p:nvSpPr>
        <p:spPr/>
        <p:txBody>
          <a:bodyPr/>
          <a:lstStyle/>
          <a:p>
            <a:fld id="{476FFE5D-288A-DB4E-9912-CFF1A38B0A9A}" type="slidenum">
              <a:rPr lang="en-IL" smtClean="0"/>
              <a:t>20</a:t>
            </a:fld>
            <a:endParaRPr lang="en-IL"/>
          </a:p>
        </p:txBody>
      </p:sp>
    </p:spTree>
    <p:extLst>
      <p:ext uri="{BB962C8B-B14F-4D97-AF65-F5344CB8AC3E}">
        <p14:creationId xmlns:p14="http://schemas.microsoft.com/office/powerpoint/2010/main" val="8017576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הבאה נועדה להעריך עד כמה מודל נוטה לסטריאוטיפים, בתשע קטגוריות שונות.</a:t>
            </a:r>
          </a:p>
          <a:p>
            <a:pPr marL="0" algn="r" defTabSz="914400" rtl="1" eaLnBrk="1" latinLnBrk="0" hangingPunct="1"/>
            <a:endParaRPr lang="he-IL" dirty="0"/>
          </a:p>
          <a:p>
            <a:pPr marL="0" algn="r" defTabSz="914400" rtl="1" eaLnBrk="1" latinLnBrk="0" hangingPunct="1"/>
            <a:r>
              <a:rPr lang="he-IL" dirty="0"/>
              <a:t>כל דוגמה </a:t>
            </a:r>
            <a:r>
              <a:rPr lang="he-IL" dirty="0" err="1"/>
              <a:t>בדאטאסט</a:t>
            </a:r>
            <a:r>
              <a:rPr lang="he-IL" dirty="0"/>
              <a:t> כוללת זוג משפטים שההבדל ביניהם הוא מילה או ביטוי אחד בלבד.</a:t>
            </a:r>
          </a:p>
          <a:p>
            <a:pPr marL="0" algn="r" defTabSz="914400" rtl="1" eaLnBrk="1" latinLnBrk="0" hangingPunct="1"/>
            <a:endParaRPr lang="he-IL" dirty="0"/>
          </a:p>
          <a:p>
            <a:pPr marL="0" algn="r" defTabSz="914400" rtl="1" eaLnBrk="1" latinLnBrk="0" hangingPunct="1"/>
            <a:r>
              <a:rPr lang="he-IL" dirty="0"/>
              <a:t>בוחנים את המודל על ידי שאלה כמו: איזה מהמשפטים נשמע </a:t>
            </a:r>
            <a:r>
              <a:rPr lang="he-IL" dirty="0" err="1"/>
              <a:t>נייטרלי</a:t>
            </a:r>
            <a:r>
              <a:rPr lang="he-IL" dirty="0"/>
              <a:t> יותר?</a:t>
            </a:r>
          </a:p>
          <a:p>
            <a:pPr marL="0" algn="r" defTabSz="914400" rtl="1" eaLnBrk="1" latinLnBrk="0" hangingPunct="1"/>
            <a:r>
              <a:rPr lang="he-IL" dirty="0"/>
              <a:t>לאחר מכן, מודדים את ה-</a:t>
            </a:r>
            <a:r>
              <a:rPr lang="en-US" dirty="0"/>
              <a:t>perplexity</a:t>
            </a:r>
            <a:r>
              <a:rPr lang="he-IL" dirty="0"/>
              <a:t> של התשובה - בין אם טוקן-טוקן או על כל המשפט כולו.</a:t>
            </a:r>
          </a:p>
          <a:p>
            <a:pPr marL="0" algn="r" defTabSz="914400" rtl="1" eaLnBrk="1" latinLnBrk="0" hangingPunct="1"/>
            <a:endParaRPr lang="he-IL" dirty="0"/>
          </a:p>
          <a:p>
            <a:pPr marL="0" algn="r" defTabSz="914400" rtl="1" eaLnBrk="1" latinLnBrk="0" hangingPunct="1"/>
            <a:r>
              <a:rPr lang="he-IL" dirty="0"/>
              <a:t>לצורך העניין, יש פה דוגמה מהמאמר שמציג את </a:t>
            </a:r>
            <a:r>
              <a:rPr lang="he-IL" dirty="0" err="1"/>
              <a:t>המטריקה</a:t>
            </a:r>
            <a:r>
              <a:rPr lang="he-IL" dirty="0"/>
              <a:t> הזאת, אז יש פה שני משפטים עם הבדל של מילה אחת, של שם, ונניח שהמודל הציג </a:t>
            </a:r>
            <a:r>
              <a:rPr lang="en-US" dirty="0"/>
              <a:t>perplexity</a:t>
            </a:r>
            <a:r>
              <a:rPr lang="he-IL" dirty="0"/>
              <a:t> של 0.3 עבור </a:t>
            </a:r>
            <a:r>
              <a:rPr lang="he-IL" dirty="0" err="1"/>
              <a:t>J</a:t>
            </a:r>
            <a:r>
              <a:rPr lang="en-US" dirty="0" err="1"/>
              <a:t>ames</a:t>
            </a:r>
            <a:r>
              <a:rPr lang="he-IL" dirty="0"/>
              <a:t> ו-0.1 עבור </a:t>
            </a:r>
            <a:r>
              <a:rPr lang="en-US" dirty="0"/>
              <a:t>Judy</a:t>
            </a:r>
            <a:r>
              <a:rPr lang="he-IL" dirty="0"/>
              <a:t>, אז אפשר להגיד שהוא מוטה, כי למה שדני יצטרך לשכנע את </a:t>
            </a:r>
            <a:r>
              <a:rPr lang="he-IL" dirty="0" err="1"/>
              <a:t>J</a:t>
            </a:r>
            <a:r>
              <a:rPr lang="en-US" dirty="0" err="1"/>
              <a:t>ames</a:t>
            </a:r>
            <a:r>
              <a:rPr lang="he-IL" dirty="0"/>
              <a:t> לצפות בפוטבול, הרי הוא בן ויותר סביר שבנים ירצו לראות פוטבול מבנות כמו </a:t>
            </a:r>
            <a:r>
              <a:rPr lang="he-IL" dirty="0" err="1"/>
              <a:t>J</a:t>
            </a:r>
            <a:r>
              <a:rPr lang="en-US" dirty="0" err="1"/>
              <a:t>udy</a:t>
            </a:r>
            <a:r>
              <a:rPr lang="he-IL" dirty="0"/>
              <a:t>.</a:t>
            </a:r>
          </a:p>
          <a:p>
            <a:pPr marL="0" algn="r" defTabSz="914400" rtl="1" eaLnBrk="1" latinLnBrk="0" hangingPunct="1"/>
            <a:endParaRPr lang="he-IL" dirty="0"/>
          </a:p>
          <a:p>
            <a:pPr marL="0" algn="r" defTabSz="914400" rtl="1" eaLnBrk="1" latinLnBrk="0" hangingPunct="1"/>
            <a:r>
              <a:rPr lang="he-IL" dirty="0"/>
              <a:t>בכל מקרה, החוקרים טוענים ש-</a:t>
            </a:r>
            <a:r>
              <a:rPr lang="en-US" dirty="0"/>
              <a:t>LLaMA</a:t>
            </a:r>
            <a:r>
              <a:rPr lang="he-IL" dirty="0"/>
              <a:t> קצת יותר טוב ממודלים בסדר גודל של </a:t>
            </a:r>
            <a:r>
              <a:rPr lang="en-US" dirty="0"/>
              <a:t>175B</a:t>
            </a:r>
            <a:r>
              <a:rPr lang="he-IL" dirty="0"/>
              <a:t>, ומודים שהוא קצת יותר משוחד בנושאי דת, גיל ומגדר.</a:t>
            </a:r>
          </a:p>
          <a:p>
            <a:pPr marL="0" algn="r" defTabSz="914400" rtl="1" eaLnBrk="1" latinLnBrk="0" hangingPunct="1"/>
            <a:endParaRPr lang="he-IL" dirty="0"/>
          </a:p>
          <a:p>
            <a:pPr marL="0" algn="r" defTabSz="914400" rtl="1" eaLnBrk="1" latinLnBrk="0" hangingPunct="1"/>
            <a:r>
              <a:rPr lang="he-IL" dirty="0"/>
              <a:t>הם מייחסים את ההטיות האלה ל-</a:t>
            </a:r>
            <a:r>
              <a:rPr lang="en-US" dirty="0"/>
              <a:t>training set</a:t>
            </a:r>
            <a:r>
              <a:rPr lang="he-IL" dirty="0"/>
              <a:t> המרכזי של </a:t>
            </a:r>
            <a:r>
              <a:rPr lang="en-US" dirty="0"/>
              <a:t>LLaMA</a:t>
            </a:r>
            <a:r>
              <a:rPr lang="he-IL" dirty="0"/>
              <a:t> הוא </a:t>
            </a:r>
            <a:r>
              <a:rPr lang="en-US" dirty="0"/>
              <a:t>CommonCrawl</a:t>
            </a:r>
            <a:r>
              <a:rPr lang="he-IL" dirty="0"/>
              <a:t>, שהוא מגלם בתוכו הרבה מההטיות האלה, למרות כל ניסיונות </a:t>
            </a:r>
            <a:r>
              <a:rPr lang="he-IL" dirty="0" err="1"/>
              <a:t>הפילטור</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21</a:t>
            </a:fld>
            <a:endParaRPr lang="en-IL"/>
          </a:p>
        </p:txBody>
      </p:sp>
    </p:spTree>
    <p:extLst>
      <p:ext uri="{BB962C8B-B14F-4D97-AF65-F5344CB8AC3E}">
        <p14:creationId xmlns:p14="http://schemas.microsoft.com/office/powerpoint/2010/main" val="186540334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הבאה היא </a:t>
            </a:r>
            <a:r>
              <a:rPr lang="en-US" dirty="0" err="1"/>
              <a:t>WinoGender</a:t>
            </a:r>
            <a:r>
              <a:rPr lang="he-IL" dirty="0"/>
              <a:t> שבודקת הטיות מגדריות.</a:t>
            </a:r>
          </a:p>
          <a:p>
            <a:pPr marL="0" algn="r" defTabSz="914400" rtl="1" eaLnBrk="1" latinLnBrk="0" hangingPunct="1"/>
            <a:endParaRPr lang="he-IL" dirty="0"/>
          </a:p>
          <a:p>
            <a:pPr marL="0" algn="r" defTabSz="914400" rtl="1" eaLnBrk="1" latinLnBrk="0" hangingPunct="1"/>
            <a:r>
              <a:rPr lang="he-IL" dirty="0"/>
              <a:t>מנסחים עבור המודל צמד משפטים שמכילים הפנייה לדמות במשפט, ושואלים את המודל למי ההפניה מתייחסת.</a:t>
            </a:r>
          </a:p>
          <a:p>
            <a:pPr marL="0" algn="r" defTabSz="914400" rtl="1" eaLnBrk="1" latinLnBrk="0" hangingPunct="1"/>
            <a:endParaRPr lang="he-IL" dirty="0"/>
          </a:p>
          <a:p>
            <a:pPr marL="0" algn="r" defTabSz="914400" rtl="1" eaLnBrk="1" latinLnBrk="0" hangingPunct="1"/>
            <a:r>
              <a:rPr lang="he-IL" dirty="0"/>
              <a:t>למשל מודל שיבחר לשייך את </a:t>
            </a:r>
            <a:r>
              <a:rPr lang="en-US" dirty="0"/>
              <a:t>he</a:t>
            </a:r>
            <a:r>
              <a:rPr lang="he-IL" dirty="0"/>
              <a:t> לפיזיקאי ואת </a:t>
            </a:r>
            <a:r>
              <a:rPr lang="en-US" dirty="0"/>
              <a:t>she</a:t>
            </a:r>
            <a:r>
              <a:rPr lang="he-IL" dirty="0"/>
              <a:t> לאחות, הרי משוחד.</a:t>
            </a:r>
          </a:p>
          <a:p>
            <a:pPr marL="0" algn="r" defTabSz="914400" rtl="1" eaLnBrk="1" latinLnBrk="0" hangingPunct="1"/>
            <a:endParaRPr lang="he-IL" dirty="0"/>
          </a:p>
          <a:p>
            <a:pPr marL="0" algn="r" defTabSz="914400" rtl="1" eaLnBrk="1" latinLnBrk="0" hangingPunct="1"/>
            <a:r>
              <a:rPr lang="he-IL" dirty="0"/>
              <a:t>החוקרים מציינים ש-</a:t>
            </a:r>
            <a:r>
              <a:rPr lang="en-US" dirty="0"/>
              <a:t>LLaMA</a:t>
            </a:r>
            <a:r>
              <a:rPr lang="he-IL" dirty="0"/>
              <a:t> מציג יכולות לא רעות בזיהוי כינויי גוף ניטרליים הם </a:t>
            </a:r>
            <a:r>
              <a:rPr lang="en-US" dirty="0"/>
              <a:t>their</a:t>
            </a:r>
            <a:r>
              <a:rPr lang="he-IL" dirty="0"/>
              <a:t> או </a:t>
            </a:r>
            <a:r>
              <a:rPr lang="en-US" dirty="0"/>
              <a:t>them</a:t>
            </a:r>
            <a:r>
              <a:rPr lang="he-IL" dirty="0"/>
              <a:t>, אך נופל בהפניות מגדריות, כמו </a:t>
            </a:r>
            <a:r>
              <a:rPr lang="en-US" dirty="0"/>
              <a:t>her</a:t>
            </a:r>
            <a:r>
              <a:rPr lang="he-IL" dirty="0"/>
              <a:t> או </a:t>
            </a:r>
            <a:r>
              <a:rPr lang="en-US" dirty="0"/>
              <a:t>his</a:t>
            </a:r>
            <a:r>
              <a:rPr lang="he-IL" dirty="0"/>
              <a:t>.</a:t>
            </a:r>
          </a:p>
          <a:p>
            <a:pPr marL="0" algn="r" defTabSz="914400" rtl="1" eaLnBrk="1" latinLnBrk="0" hangingPunct="1"/>
            <a:endParaRPr lang="he-IL" dirty="0"/>
          </a:p>
          <a:p>
            <a:pPr marL="0" algn="r" defTabSz="914400" rtl="1" eaLnBrk="1" latinLnBrk="0" hangingPunct="1"/>
            <a:r>
              <a:rPr lang="he-IL" dirty="0"/>
              <a:t>הביצועים של המודל הרבה פחות טובים במקרי קצה, שהם קוראים להם </a:t>
            </a:r>
            <a:r>
              <a:rPr lang="en-US" dirty="0"/>
              <a:t>”gotcha cases”</a:t>
            </a:r>
            <a:r>
              <a:rPr lang="he-IL" dirty="0"/>
              <a:t>, מקרים בהם למשל מסופר על אח זכר, שאיכשהו אפשר להבין מהמשפט שמדובר באח זכר, אבל בכל זאת המודל מזהה את האח כאחות.</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22</a:t>
            </a:fld>
            <a:endParaRPr lang="en-IL"/>
          </a:p>
        </p:txBody>
      </p:sp>
    </p:spTree>
    <p:extLst>
      <p:ext uri="{BB962C8B-B14F-4D97-AF65-F5344CB8AC3E}">
        <p14:creationId xmlns:p14="http://schemas.microsoft.com/office/powerpoint/2010/main" val="9788397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a:t>
            </a:r>
            <a:r>
              <a:rPr lang="en-US" dirty="0" err="1"/>
              <a:t>TruthfulQA</a:t>
            </a:r>
            <a:r>
              <a:rPr lang="he-IL" dirty="0"/>
              <a:t> בודקת כמה המודל יודע להבחין בין עובדות לפיקציות,</a:t>
            </a:r>
          </a:p>
          <a:p>
            <a:pPr marL="0" algn="r" defTabSz="914400" rtl="1" eaLnBrk="1" latinLnBrk="0" hangingPunct="1"/>
            <a:endParaRPr lang="he-IL" dirty="0"/>
          </a:p>
          <a:p>
            <a:pPr marL="0" algn="r" defTabSz="914400" rtl="1" eaLnBrk="1" latinLnBrk="0" hangingPunct="1"/>
            <a:r>
              <a:rPr lang="he-IL" dirty="0"/>
              <a:t>היא מחולקת לכמה התשובות של המודל עובדתיות, ולכמה התשובות שלו עובדתיות ואינפורמטיביות.</a:t>
            </a:r>
          </a:p>
          <a:p>
            <a:pPr marL="0" algn="r" defTabSz="914400" rtl="1" eaLnBrk="1" latinLnBrk="0" hangingPunct="1"/>
            <a:endParaRPr lang="he-IL" dirty="0"/>
          </a:p>
          <a:p>
            <a:pPr marL="0" algn="r" defTabSz="914400" rtl="1" eaLnBrk="1" latinLnBrk="0" hangingPunct="1"/>
            <a:r>
              <a:rPr lang="he-IL" dirty="0"/>
              <a:t>החוקרים הראו שמודלי </a:t>
            </a:r>
            <a:r>
              <a:rPr lang="en-US" dirty="0"/>
              <a:t>LLaMA</a:t>
            </a:r>
            <a:r>
              <a:rPr lang="he-IL" dirty="0"/>
              <a:t> מציגים תוצאות טובות משל GPT, אבל עדיין שיעור התשובות הנכונות שלו נמוך.</a:t>
            </a:r>
          </a:p>
          <a:p>
            <a:pPr marL="0" algn="r" defTabSz="914400" rtl="1" eaLnBrk="1" latinLnBrk="0" hangingPunct="1"/>
            <a:r>
              <a:rPr lang="he-IL" dirty="0"/>
              <a:t>הם מציינים שהמודל נוטה להזות, לתת תשובות לא נכונות, ויש מקום לשיפור.</a:t>
            </a:r>
          </a:p>
        </p:txBody>
      </p:sp>
      <p:sp>
        <p:nvSpPr>
          <p:cNvPr id="4" name="Slide Number Placeholder 3"/>
          <p:cNvSpPr>
            <a:spLocks noGrp="1"/>
          </p:cNvSpPr>
          <p:nvPr>
            <p:ph type="sldNum" sz="quarter" idx="5"/>
          </p:nvPr>
        </p:nvSpPr>
        <p:spPr/>
        <p:txBody>
          <a:bodyPr/>
          <a:lstStyle/>
          <a:p>
            <a:fld id="{476FFE5D-288A-DB4E-9912-CFF1A38B0A9A}" type="slidenum">
              <a:rPr lang="en-IL" smtClean="0"/>
              <a:t>23</a:t>
            </a:fld>
            <a:endParaRPr lang="en-IL"/>
          </a:p>
        </p:txBody>
      </p:sp>
    </p:spTree>
    <p:extLst>
      <p:ext uri="{BB962C8B-B14F-4D97-AF65-F5344CB8AC3E}">
        <p14:creationId xmlns:p14="http://schemas.microsoft.com/office/powerpoint/2010/main" val="11729371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590DC-7077-5AB2-68E2-74EB9842F7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5E7954-83C6-129F-BA44-7D38156BBD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781381-6B5E-F879-3828-29DCA201667A}"/>
              </a:ext>
            </a:extLst>
          </p:cNvPr>
          <p:cNvSpPr>
            <a:spLocks noGrp="1"/>
          </p:cNvSpPr>
          <p:nvPr>
            <p:ph type="body" idx="1"/>
          </p:nvPr>
        </p:nvSpPr>
        <p:spPr/>
        <p:txBody>
          <a:bodyPr/>
          <a:lstStyle/>
          <a:p>
            <a:pPr marL="0" algn="r" defTabSz="914400" rtl="1" eaLnBrk="1" latinLnBrk="0" hangingPunct="1"/>
            <a:endParaRPr lang="en-IL" dirty="0"/>
          </a:p>
        </p:txBody>
      </p:sp>
      <p:sp>
        <p:nvSpPr>
          <p:cNvPr id="4" name="Slide Number Placeholder 3">
            <a:extLst>
              <a:ext uri="{FF2B5EF4-FFF2-40B4-BE49-F238E27FC236}">
                <a16:creationId xmlns:a16="http://schemas.microsoft.com/office/drawing/2014/main" id="{B687B43C-AE4D-983B-B34D-DAC2D524395A}"/>
              </a:ext>
            </a:extLst>
          </p:cNvPr>
          <p:cNvSpPr>
            <a:spLocks noGrp="1"/>
          </p:cNvSpPr>
          <p:nvPr>
            <p:ph type="sldNum" sz="quarter" idx="5"/>
          </p:nvPr>
        </p:nvSpPr>
        <p:spPr/>
        <p:txBody>
          <a:bodyPr/>
          <a:lstStyle/>
          <a:p>
            <a:fld id="{476FFE5D-288A-DB4E-9912-CFF1A38B0A9A}" type="slidenum">
              <a:rPr lang="en-IL" smtClean="0"/>
              <a:t>24</a:t>
            </a:fld>
            <a:endParaRPr lang="en-IL"/>
          </a:p>
        </p:txBody>
      </p:sp>
    </p:spTree>
    <p:extLst>
      <p:ext uri="{BB962C8B-B14F-4D97-AF65-F5344CB8AC3E}">
        <p14:creationId xmlns:p14="http://schemas.microsoft.com/office/powerpoint/2010/main" val="35902000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pPr marL="0" algn="r" defTabSz="914400" rtl="1" eaLnBrk="1" latinLnBrk="0" hangingPunct="1"/>
                <a:r>
                  <a:rPr lang="he-IL" dirty="0"/>
                  <a:t>באמצעות </a:t>
                </a:r>
                <a:r>
                  <a:rPr lang="he-IL" dirty="0" err="1"/>
                  <a:t>המטריקה</a:t>
                </a:r>
                <a:r>
                  <a:rPr lang="he-IL" dirty="0"/>
                  <a:t> האחרונה החוקרים מנסים להעריך את הנזק הסביבתי הכרוך באימון המודל, באמצעות חישוב של כמות הפחמן הדו-חמצני שנפלט כתוצאה מהאימון.</a:t>
                </a:r>
              </a:p>
              <a:p>
                <a:pPr marL="0" algn="r" defTabSz="914400" rtl="1" eaLnBrk="1" latinLnBrk="0" hangingPunct="1"/>
                <a:endParaRPr lang="he-IL" dirty="0"/>
              </a:p>
              <a:p>
                <a:pPr marL="0" algn="r" defTabSz="914400" rtl="1" eaLnBrk="1" latinLnBrk="0" hangingPunct="1"/>
                <a:r>
                  <a:rPr lang="he-IL" dirty="0"/>
                  <a:t>ראשית, הם לוקחים נוסחה מהמאמר של </a:t>
                </a:r>
                <a:r>
                  <a:rPr lang="en-US" dirty="0"/>
                  <a:t>Wu</a:t>
                </a:r>
                <a:r>
                  <a:rPr lang="he-IL" dirty="0"/>
                  <a:t> ושותפיו מ-2022.</a:t>
                </a:r>
              </a:p>
              <a:p>
                <a:pPr marL="0" algn="r" defTabSz="914400" rtl="1" eaLnBrk="1" latinLnBrk="0" hangingPunct="1"/>
                <a:endParaRPr lang="he-IL" dirty="0"/>
              </a:p>
              <a:p>
                <a:pPr marL="0" algn="r" defTabSz="914400" rtl="1" eaLnBrk="1" latinLnBrk="0" hangingPunct="1"/>
                <a:r>
                  <a:rPr lang="he-IL" dirty="0"/>
                  <a:t>באמצעות הנוסחה הזו הם מחשבים כמה אנרגיה אימון המודל דרש בוואט-שעה, על-ידי מכפלה של מספר יחידות ה-GPU כפול מספר שעות האימון, כפול הצריכה של כל GPU לשעה בוואט, כפול מספר שמתאר את היעילות של ה-</a:t>
                </a:r>
                <a:r>
                  <a:rPr lang="en-US" dirty="0"/>
                  <a:t>data center</a:t>
                </a:r>
                <a:r>
                  <a:rPr lang="he-IL" dirty="0"/>
                  <a:t>, והחוקרים השתמשו ב-PUE של 1.1 שאומר שלכל יחידה של אנרגיה מתווספת 0.1 יחידה עבור קירור, תשתיות, וכיו"ב.</a:t>
                </a:r>
                <a:endParaRPr lang="en-US" dirty="0"/>
              </a:p>
              <a:p>
                <a:pPr marL="0" algn="r" defTabSz="914400" rtl="1" eaLnBrk="1" latinLnBrk="0" hangingPunct="1"/>
                <a:endParaRPr lang="en-US" dirty="0"/>
              </a:p>
              <a:p>
                <a:pPr marL="0" algn="r" defTabSz="914400" rtl="1" eaLnBrk="1" latinLnBrk="0" hangingPunct="1"/>
                <a:r>
                  <a:rPr lang="he-IL" dirty="0"/>
                  <a:t>אחרי שחישבנו את צריכת האנרגיה </a:t>
                </a:r>
                <a:r>
                  <a:rPr lang="en-US" dirty="0" err="1"/>
                  <a:t>Wh</a:t>
                </a:r>
                <a:r>
                  <a:rPr lang="he-IL" dirty="0"/>
                  <a:t>, מחשבים את כמות הפחמן הדו-חמצני שנפלט במהלך האימון בטונות של פחמן דו-חמצני, באמצעות הנוסחה הבאה,</a:t>
                </a:r>
              </a:p>
              <a:p>
                <a:pPr marL="0" algn="r" defTabSz="914400" rtl="1" eaLnBrk="1" latinLnBrk="0" hangingPunct="1"/>
                <a:endParaRPr lang="he-IL" dirty="0"/>
              </a:p>
              <a:p>
                <a:pPr marL="0" algn="r" defTabSz="914400" rtl="1" eaLnBrk="1" latinLnBrk="0" hangingPunct="1"/>
                <a:r>
                  <a:rPr lang="he-IL" dirty="0"/>
                  <a:t>כאשר </a:t>
                </a:r>
                <a:r>
                  <a:rPr lang="en-US" dirty="0"/>
                  <a:t>1 MWh</a:t>
                </a:r>
                <a:r>
                  <a:rPr lang="he-IL" dirty="0"/>
                  <a:t> שקול למיליון </a:t>
                </a:r>
                <a:r>
                  <a:rPr lang="en-US" dirty="0" err="1"/>
                  <a:t>Wh</a:t>
                </a:r>
                <a:r>
                  <a:rPr lang="he-IL" dirty="0"/>
                  <a:t>, ו-0.385 הוא פקטור סטנדרטיזציה שנועד להשוואה הוגנת בין </a:t>
                </a:r>
                <a:r>
                  <a:rPr lang="en-US" dirty="0"/>
                  <a:t>data centers</a:t>
                </a:r>
                <a:r>
                  <a:rPr lang="he-IL" dirty="0"/>
                  <a:t>.</a:t>
                </a:r>
                <a:endParaRPr lang="en-US" dirty="0"/>
              </a:p>
              <a:p>
                <a:pPr marL="0" algn="r" defTabSz="914400" rtl="1" eaLnBrk="1" latinLnBrk="0" hangingPunct="1"/>
                <a:endParaRPr lang="en-US" dirty="0"/>
              </a:p>
              <a:p>
                <a:r>
                  <a:rPr lang="en-US" i="0" dirty="0">
                    <a:solidFill>
                      <a:schemeClr val="tx1"/>
                    </a:solidFill>
                    <a:latin typeface="Times New Roman" panose="02020603050405020304" pitchFamily="18" charset="0"/>
                    <a:cs typeface="Times New Roman" panose="02020603050405020304" pitchFamily="18" charset="0"/>
                  </a:rPr>
                  <a:t>where:</a:t>
                </a:r>
              </a:p>
              <a:p>
                <a:pPr lvl="1"/>
                <a14:m>
                  <m:oMath xmlns:m="http://schemas.openxmlformats.org/officeDocument/2006/math">
                    <m:r>
                      <m:rPr>
                        <m:sty m:val="p"/>
                      </m:rPr>
                      <a:rPr lang="en-US" i="0" smtClean="0">
                        <a:solidFill>
                          <a:schemeClr val="tx1"/>
                        </a:solidFill>
                        <a:latin typeface="Cambria Math" panose="02040503050406030204" pitchFamily="18" charset="0"/>
                        <a:cs typeface="Times New Roman" panose="02020603050405020304" pitchFamily="18" charset="0"/>
                      </a:rPr>
                      <m:t>Wh</m:t>
                    </m:r>
                  </m:oMath>
                </a14:m>
                <a:r>
                  <a:rPr lang="en-US" i="0" dirty="0">
                    <a:solidFill>
                      <a:schemeClr val="tx1"/>
                    </a:solidFill>
                    <a:latin typeface="Times New Roman" panose="02020603050405020304" pitchFamily="18" charset="0"/>
                    <a:cs typeface="Times New Roman" panose="02020603050405020304" pitchFamily="18" charset="0"/>
                  </a:rPr>
                  <a:t> (Watt-hours) is the total energy consumed by the training process.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oMath>
                </a14:m>
                <a:r>
                  <a:rPr lang="en-US" i="0" dirty="0">
                    <a:solidFill>
                      <a:schemeClr val="tx1"/>
                    </a:solidFill>
                    <a:latin typeface="Times New Roman" panose="02020603050405020304" pitchFamily="18" charset="0"/>
                    <a:cs typeface="Times New Roman" panose="02020603050405020304" pitchFamily="18" charset="0"/>
                  </a:rPr>
                  <a:t> (GPU-hours) is the total number of hours the GPUs were running. Calculated by the number of GPUs (2048) times the total training time (approx. 5 months).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oMath>
                </a14:m>
                <a:r>
                  <a:rPr lang="en-US" i="0" dirty="0">
                    <a:solidFill>
                      <a:schemeClr val="tx1"/>
                    </a:solidFill>
                    <a:latin typeface="Times New Roman" panose="02020603050405020304" pitchFamily="18" charset="0"/>
                    <a:cs typeface="Times New Roman" panose="02020603050405020304" pitchFamily="18" charset="0"/>
                  </a:rPr>
                  <a:t> is the amount of power a single A100-80GB GPU uses while running, typically measured in Watts.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r>
                  <a:rPr lang="en-US" i="0" dirty="0">
                    <a:solidFill>
                      <a:schemeClr val="tx1"/>
                    </a:solidFill>
                    <a:latin typeface="Times New Roman" panose="02020603050405020304" pitchFamily="18" charset="0"/>
                    <a:cs typeface="Times New Roman" panose="02020603050405020304" pitchFamily="18" charset="0"/>
                  </a:rPr>
                  <a:t> (Power Usage Effectiveness) is the ratio that measures how efficiently a data center uses energy. A PUE of 1.1 means that for every 1.0 unit of energy used by the computing equipment (GPUs), an additional 0.1 unit is used for cooling and other infrastructure</a:t>
                </a:r>
                <a:r>
                  <a:rPr lang="en-US" dirty="0">
                    <a:solidFill>
                      <a:schemeClr val="tx1"/>
                    </a:solidFill>
                    <a:latin typeface="Times New Roman" panose="02020603050405020304" pitchFamily="18" charset="0"/>
                    <a:cs typeface="Times New Roman" panose="02020603050405020304" pitchFamily="18" charset="0"/>
                  </a:rPr>
                  <a:t>.</a:t>
                </a:r>
              </a:p>
              <a:p>
                <a:r>
                  <a:rPr lang="en-US" dirty="0">
                    <a:solidFill>
                      <a:schemeClr val="tx1"/>
                    </a:solidFill>
                    <a:latin typeface="Times New Roman" panose="02020603050405020304" pitchFamily="18" charset="0"/>
                    <a:cs typeface="Times New Roman" panose="02020603050405020304" pitchFamily="18" charset="0"/>
                  </a:rPr>
                  <a:t>where:</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oMath>
                </a14:m>
                <a:r>
                  <a:rPr lang="en-US" i="0" dirty="0">
                    <a:solidFill>
                      <a:schemeClr val="tx1"/>
                    </a:solidFill>
                    <a:latin typeface="Times New Roman" panose="02020603050405020304" pitchFamily="18" charset="0"/>
                    <a:cs typeface="Times New Roman" panose="02020603050405020304" pitchFamily="18" charset="0"/>
                  </a:rPr>
                  <a:t> is the tons of Carbon Dioxide equivalent, the standard unit for measuring carbon footprints.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1" smtClean="0">
                        <a:solidFill>
                          <a:schemeClr val="tx1"/>
                        </a:solidFill>
                        <a:latin typeface="Cambria Math" panose="02040503050406030204" pitchFamily="18" charset="0"/>
                        <a:cs typeface="Times New Roman" panose="02020603050405020304" pitchFamily="18" charset="0"/>
                      </a:rPr>
                      <m:t> </m:t>
                    </m:r>
                  </m:oMath>
                </a14:m>
                <a:r>
                  <a:rPr lang="en-US" i="0" dirty="0">
                    <a:solidFill>
                      <a:schemeClr val="tx1"/>
                    </a:solidFill>
                    <a:latin typeface="Times New Roman" panose="02020603050405020304" pitchFamily="18" charset="0"/>
                    <a:cs typeface="Times New Roman" panose="02020603050405020304" pitchFamily="18" charset="0"/>
                  </a:rPr>
                  <a:t>is Megawatt-hours (1 MWh = 1,000,000 </a:t>
                </a:r>
                <a:r>
                  <a:rPr lang="en-US" i="0" dirty="0" err="1">
                    <a:solidFill>
                      <a:schemeClr val="tx1"/>
                    </a:solidFill>
                    <a:latin typeface="Times New Roman" panose="02020603050405020304" pitchFamily="18" charset="0"/>
                    <a:cs typeface="Times New Roman" panose="02020603050405020304" pitchFamily="18" charset="0"/>
                  </a:rPr>
                  <a:t>Wh</a:t>
                </a:r>
                <a:r>
                  <a:rPr lang="en-US" i="0" dirty="0">
                    <a:solidFill>
                      <a:schemeClr val="tx1"/>
                    </a:solidFill>
                    <a:latin typeface="Times New Roman" panose="02020603050405020304" pitchFamily="18" charset="0"/>
                    <a:cs typeface="Times New Roman" panose="02020603050405020304" pitchFamily="18" charset="0"/>
                  </a:rPr>
                  <a:t>).</a:t>
                </a:r>
              </a:p>
              <a:p>
                <a:pPr lvl="1"/>
                <a14:m>
                  <m:oMath xmlns:m="http://schemas.openxmlformats.org/officeDocument/2006/math">
                    <m:r>
                      <a:rPr lang="en-US" b="0" i="0" smtClean="0">
                        <a:solidFill>
                          <a:schemeClr val="tx1"/>
                        </a:solidFill>
                        <a:latin typeface="Cambria Math" panose="02040503050406030204" pitchFamily="18" charset="0"/>
                        <a:cs typeface="Times New Roman" panose="02020603050405020304" pitchFamily="18" charset="0"/>
                      </a:rPr>
                      <m:t>0.385</m:t>
                    </m:r>
                    <m:r>
                      <a:rPr lang="en-US" b="0" i="1" smtClean="0">
                        <a:solidFill>
                          <a:schemeClr val="tx1"/>
                        </a:solidFill>
                        <a:latin typeface="Cambria Math" panose="02040503050406030204" pitchFamily="18" charset="0"/>
                        <a:cs typeface="Times New Roman" panose="02020603050405020304" pitchFamily="18" charset="0"/>
                      </a:rPr>
                      <m:t> </m:t>
                    </m:r>
                  </m:oMath>
                </a14:m>
                <a:r>
                  <a:rPr lang="en-US" i="0" dirty="0">
                    <a:solidFill>
                      <a:schemeClr val="tx1"/>
                    </a:solidFill>
                    <a:latin typeface="Times New Roman" panose="02020603050405020304" pitchFamily="18" charset="0"/>
                    <a:cs typeface="Times New Roman" panose="02020603050405020304" pitchFamily="18" charset="0"/>
                  </a:rPr>
                  <a:t>is the carbon intensity standardization factor that represents the US national average (</a:t>
                </a:r>
                <a14:m>
                  <m:oMath xmlns:m="http://schemas.openxmlformats.org/officeDocument/2006/math">
                    <m:r>
                      <a:rPr lang="en-US" i="0">
                        <a:solidFill>
                          <a:schemeClr val="tx1"/>
                        </a:solidFill>
                        <a:latin typeface="Cambria Math" panose="02040503050406030204" pitchFamily="18" charset="0"/>
                        <a:cs typeface="Times New Roman" panose="02020603050405020304" pitchFamily="18" charset="0"/>
                      </a:rPr>
                      <m:t>0.385</m:t>
                    </m:r>
                    <m:r>
                      <a:rPr lang="en-US" b="0" i="0" smtClean="0">
                        <a:solidFill>
                          <a:schemeClr val="tx1"/>
                        </a:solidFill>
                        <a:latin typeface="Cambria Math" panose="02040503050406030204" pitchFamily="18" charset="0"/>
                        <a:cs typeface="Times New Roman" panose="02020603050405020304" pitchFamily="18" charset="0"/>
                      </a:rPr>
                      <m:t> </m:t>
                    </m:r>
                    <m:r>
                      <m:rPr>
                        <m:sty m:val="p"/>
                      </m:rPr>
                      <a:rPr lang="en-US" b="0" i="0" smtClean="0">
                        <a:solidFill>
                          <a:schemeClr val="tx1"/>
                        </a:solidFill>
                        <a:latin typeface="Cambria Math" panose="02040503050406030204" pitchFamily="18" charset="0"/>
                        <a:cs typeface="Times New Roman" panose="02020603050405020304" pitchFamily="18" charset="0"/>
                      </a:rPr>
                      <m:t>kg</m:t>
                    </m:r>
                    <m:r>
                      <a:rPr lang="en-US" b="0" i="0" smtClean="0">
                        <a:solidFill>
                          <a:schemeClr val="tx1"/>
                        </a:solidFill>
                        <a:latin typeface="Cambria Math" panose="02040503050406030204" pitchFamily="18" charset="0"/>
                        <a:cs typeface="Times New Roman" panose="02020603050405020304" pitchFamily="18" charset="0"/>
                      </a:rPr>
                      <m:t> </m:t>
                    </m:r>
                    <m:r>
                      <m:rPr>
                        <m:sty m:val="p"/>
                      </m:rPr>
                      <a:rPr lang="en-US" b="0" i="0" smtClean="0">
                        <a:solidFill>
                          <a:schemeClr val="tx1"/>
                        </a:solidFill>
                        <a:latin typeface="Cambria Math" panose="02040503050406030204" pitchFamily="18" charset="0"/>
                        <a:cs typeface="Times New Roman" panose="02020603050405020304" pitchFamily="18" charset="0"/>
                      </a:rPr>
                      <m: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KWh</m:t>
                    </m:r>
                  </m:oMath>
                </a14:m>
                <a:r>
                  <a:rPr lang="en-US" i="0" dirty="0">
                    <a:solidFill>
                      <a:schemeClr val="tx1"/>
                    </a:solidFill>
                    <a:latin typeface="Times New Roman" panose="02020603050405020304" pitchFamily="18" charset="0"/>
                    <a:cs typeface="Times New Roman" panose="02020603050405020304" pitchFamily="18" charset="0"/>
                  </a:rPr>
                  <a:t>) for how much carbon is emitted to generate one kilowatt-hour of electricity. Using this average allows for a fair comparison between models regardless of the specific "green" or "dirty" energy grid of their actual data center.</a:t>
                </a:r>
              </a:p>
              <a:p>
                <a:pPr lvl="1"/>
                <a:endParaRPr lang="en-US" dirty="0">
                  <a:solidFill>
                    <a:schemeClr val="tx1"/>
                  </a:solidFill>
                  <a:latin typeface="Times New Roman" panose="02020603050405020304" pitchFamily="18" charset="0"/>
                  <a:cs typeface="Times New Roman" panose="02020603050405020304" pitchFamily="18" charset="0"/>
                </a:endParaRPr>
              </a:p>
              <a:p>
                <a:pPr marL="0" algn="r" defTabSz="914400" rtl="1" eaLnBrk="1" latinLnBrk="0" hangingPunct="1"/>
                <a:endParaRPr lang="en-US" dirty="0"/>
              </a:p>
              <a:p>
                <a:pPr marL="0" algn="r" defTabSz="914400" rtl="1" eaLnBrk="1" latinLnBrk="0" hangingPunct="1"/>
                <a:endParaRPr lang="en-US" dirty="0"/>
              </a:p>
              <a:p>
                <a:pPr marL="0" algn="r" defTabSz="914400" rtl="1" eaLnBrk="1" latinLnBrk="0" hangingPunct="1"/>
                <a:r>
                  <a:rPr lang="he-IL" dirty="0"/>
                  <a:t>אם כן, אלה הנוסחאות שלנו, ועכשיו נוכל לשפוך אליהן את הנתונים, ולקבל הערכה לכך שבאימון של מודלי </a:t>
                </a:r>
                <a:r>
                  <a:rPr lang="en-US" dirty="0"/>
                  <a:t>LLaMA</a:t>
                </a:r>
                <a:r>
                  <a:rPr lang="he-IL" dirty="0"/>
                  <a:t> נפלטו כ-1015 טונות של פחמן דו-חמצני, וזה המון,</a:t>
                </a:r>
              </a:p>
              <a:p>
                <a:pPr marL="0" algn="r" defTabSz="914400" rtl="1" eaLnBrk="1" latinLnBrk="0" hangingPunct="1"/>
                <a:endParaRPr lang="he-IL" dirty="0"/>
              </a:p>
              <a:p>
                <a:pPr marL="0" algn="r" defTabSz="914400" rtl="1" eaLnBrk="1" latinLnBrk="0" hangingPunct="1"/>
                <a:r>
                  <a:rPr lang="he-IL" dirty="0"/>
                  <a:t>זה כמו לטוס מניו-יורק ללונדון הלוך חזור, 1000 פעמים.</a:t>
                </a:r>
                <a:endParaRPr lang="en-US" dirty="0"/>
              </a:p>
              <a:p>
                <a:pPr marL="0" algn="r" defTabSz="914400" rtl="1" eaLnBrk="1" latinLnBrk="0" hangingPunct="1"/>
                <a:endParaRPr lang="en-US" dirty="0"/>
              </a:p>
              <a:p>
                <a:pPr marL="0" algn="r" defTabSz="914400" rtl="1" eaLnBrk="1" latinLnBrk="0" hangingPunct="1"/>
                <a:r>
                  <a:rPr lang="he-IL" dirty="0"/>
                  <a:t>משמעות הדבר לדברי החוקרים היא ש:</a:t>
                </a:r>
              </a:p>
              <a:p>
                <a:pPr marL="0" algn="r" defTabSz="914400" rtl="1" eaLnBrk="1" latinLnBrk="0" hangingPunct="1"/>
                <a:endParaRPr lang="he-IL" dirty="0"/>
              </a:p>
              <a:p>
                <a:pPr marL="0" algn="r" defTabSz="914400" rtl="1" eaLnBrk="1" latinLnBrk="0" hangingPunct="1"/>
                <a:r>
                  <a:rPr lang="he-IL" dirty="0"/>
                  <a:t>א. שחרור המודל לקהילה תפחית זיהום עתידי, כי המשתמשים לא יצטרכו לאמן שוב את המודל, אגב הבעיה פה זה שבזמן פרסום המאמר החוקרים בכלל לא שחררו את המודל, אלא רק תיארו איך לאמן אותו.</a:t>
                </a:r>
              </a:p>
              <a:p>
                <a:pPr marL="0" algn="r" defTabSz="914400" rtl="1" eaLnBrk="1" latinLnBrk="0" hangingPunct="1"/>
                <a:endParaRPr lang="he-IL" dirty="0"/>
              </a:p>
              <a:p>
                <a:pPr marL="0" algn="r" defTabSz="914400" rtl="1" eaLnBrk="1" latinLnBrk="0" hangingPunct="1"/>
                <a:r>
                  <a:rPr lang="he-IL" dirty="0"/>
                  <a:t>ב. מודלי ה-</a:t>
                </a:r>
                <a:r>
                  <a:rPr lang="en-US" dirty="0"/>
                  <a:t>LLaMA</a:t>
                </a:r>
                <a:r>
                  <a:rPr lang="he-IL" dirty="0"/>
                  <a:t> הקטנים יותר, </a:t>
                </a:r>
                <a:r>
                  <a:rPr lang="en-US" dirty="0"/>
                  <a:t>7B</a:t>
                </a:r>
                <a:r>
                  <a:rPr lang="he-IL" dirty="0"/>
                  <a:t> ו-</a:t>
                </a:r>
                <a:r>
                  <a:rPr lang="en-US" dirty="0"/>
                  <a:t>13</a:t>
                </a:r>
                <a:r>
                  <a:rPr lang="he-IL" dirty="0" err="1"/>
                  <a:t>B</a:t>
                </a:r>
                <a:r>
                  <a:rPr lang="he-IL" dirty="0"/>
                  <a:t> יכולים לרות על גבי GPU בודד, מה שמפחית את הזיהום בזמן </a:t>
                </a:r>
                <a:r>
                  <a:rPr lang="he-IL" dirty="0" err="1"/>
                  <a:t>האינפר</a:t>
                </a:r>
                <a:r>
                  <a:rPr lang="he-IL" dirty="0"/>
                  <a:t>, שזה רוב הזמן בו המודל רץ.</a:t>
                </a:r>
              </a:p>
              <a:p>
                <a:pPr marL="0" algn="r" defTabSz="914400" rtl="1" eaLnBrk="1" latinLnBrk="0" hangingPunct="1"/>
                <a:endParaRPr lang="en-IL" dirty="0"/>
              </a:p>
              <a:p>
                <a:pPr marL="0" algn="r" defTabSz="914400" rtl="1" eaLnBrk="1" latinLnBrk="0" hangingPunct="1"/>
                <a:endParaRPr lang="he-IL" dirty="0"/>
              </a:p>
              <a:p>
                <a:pPr marL="0" algn="r" defTabSz="914400" rtl="1" eaLnBrk="1" latinLnBrk="0" hangingPunct="1"/>
                <a:endParaRPr lang="he-IL" dirty="0"/>
              </a:p>
              <a:p>
                <a:pPr marL="0" algn="r" defTabSz="914400" rtl="1" eaLnBrk="1" latinLnBrk="0" hangingPunct="1"/>
                <a:endParaRPr lang="he-IL" dirty="0"/>
              </a:p>
              <a:p>
                <a:pPr marL="0" algn="r" defTabSz="914400" rtl="1" eaLnBrk="1" latinLnBrk="0" hangingPunct="1"/>
                <a:endParaRPr lang="en-IL" dirty="0"/>
              </a:p>
            </p:txBody>
          </p:sp>
        </mc:Choice>
        <mc:Fallback>
          <p:sp>
            <p:nvSpPr>
              <p:cNvPr id="3" name="Notes Placeholder 2"/>
              <p:cNvSpPr>
                <a:spLocks noGrp="1"/>
              </p:cNvSpPr>
              <p:nvPr>
                <p:ph type="body" idx="1"/>
              </p:nvPr>
            </p:nvSpPr>
            <p:spPr/>
            <p:txBody>
              <a:bodyPr/>
              <a:lstStyle/>
              <a:p>
                <a:pPr marL="0" algn="r" defTabSz="914400" rtl="1" eaLnBrk="1" latinLnBrk="0" hangingPunct="1"/>
                <a:r>
                  <a:rPr lang="he-IL" dirty="0"/>
                  <a:t>באמצעות </a:t>
                </a:r>
                <a:r>
                  <a:rPr lang="he-IL" dirty="0" err="1"/>
                  <a:t>המטריקה</a:t>
                </a:r>
                <a:r>
                  <a:rPr lang="he-IL" dirty="0"/>
                  <a:t> האחרונה החוקרים מנסים להעריך את הנזק הסביבתי הכרוך באימון המודל, באמצעות חישוב של כמות הפחמן הדו-חמצני שנפלט כתוצאה מהאימון.</a:t>
                </a:r>
              </a:p>
              <a:p>
                <a:pPr marL="0" algn="r" defTabSz="914400" rtl="1" eaLnBrk="1" latinLnBrk="0" hangingPunct="1"/>
                <a:endParaRPr lang="he-IL" dirty="0"/>
              </a:p>
              <a:p>
                <a:pPr marL="0" algn="r" defTabSz="914400" rtl="1" eaLnBrk="1" latinLnBrk="0" hangingPunct="1"/>
                <a:r>
                  <a:rPr lang="he-IL" dirty="0"/>
                  <a:t>ראשית, הם לוקחים נוסחה מהמאמר של </a:t>
                </a:r>
                <a:r>
                  <a:rPr lang="en-US" dirty="0"/>
                  <a:t>Wu</a:t>
                </a:r>
                <a:r>
                  <a:rPr lang="he-IL" dirty="0"/>
                  <a:t> ושותפיו מ-2022.</a:t>
                </a:r>
              </a:p>
              <a:p>
                <a:pPr marL="0" algn="r" defTabSz="914400" rtl="1" eaLnBrk="1" latinLnBrk="0" hangingPunct="1"/>
                <a:endParaRPr lang="he-IL" dirty="0"/>
              </a:p>
              <a:p>
                <a:pPr marL="0" algn="r" defTabSz="914400" rtl="1" eaLnBrk="1" latinLnBrk="0" hangingPunct="1"/>
                <a:r>
                  <a:rPr lang="he-IL" dirty="0"/>
                  <a:t>באמצעות הנוסחה הזו הם מחשבים כמה אנרגיה אימון המודל דרש בוואט-שעה, על-ידי מכפלה של מספר יחידות ה-GPU כפול מספר שעות האימון, כפול הצריכה של כל GPU לשעה בוואט, כפול מספר שמתאר את היעילות של ה-</a:t>
                </a:r>
                <a:r>
                  <a:rPr lang="en-US" dirty="0"/>
                  <a:t>data center</a:t>
                </a:r>
                <a:r>
                  <a:rPr lang="he-IL" dirty="0"/>
                  <a:t>, והחוקרים השתמשו ב-PUE של 1.1 שאומר שלכל יחידה של אנרגיה מתווספת 0.1 יחידה עבור קירור, תשתיות, וכיו"ב.</a:t>
                </a:r>
                <a:endParaRPr lang="en-US" dirty="0"/>
              </a:p>
              <a:p>
                <a:pPr marL="0" algn="r" defTabSz="914400" rtl="1" eaLnBrk="1" latinLnBrk="0" hangingPunct="1"/>
                <a:endParaRPr lang="en-US" dirty="0"/>
              </a:p>
              <a:p>
                <a:pPr marL="0" algn="r" defTabSz="914400" rtl="1" eaLnBrk="1" latinLnBrk="0" hangingPunct="1"/>
                <a:r>
                  <a:rPr lang="he-IL" dirty="0"/>
                  <a:t>אחרי שחישבנו את צריכת האנרגיה </a:t>
                </a:r>
                <a:r>
                  <a:rPr lang="en-US" dirty="0" err="1"/>
                  <a:t>Wh</a:t>
                </a:r>
                <a:r>
                  <a:rPr lang="he-IL" dirty="0"/>
                  <a:t>, מחשבים את כמות הפחמן הדו-חמצני שנפלט במהלך האימון בטונות של פחמן דו-חמצני, באמצעות הנוסחה הבאה,</a:t>
                </a:r>
              </a:p>
              <a:p>
                <a:pPr marL="0" algn="r" defTabSz="914400" rtl="1" eaLnBrk="1" latinLnBrk="0" hangingPunct="1"/>
                <a:endParaRPr lang="he-IL" dirty="0"/>
              </a:p>
              <a:p>
                <a:pPr marL="0" algn="r" defTabSz="914400" rtl="1" eaLnBrk="1" latinLnBrk="0" hangingPunct="1"/>
                <a:r>
                  <a:rPr lang="he-IL" dirty="0"/>
                  <a:t>כאשר </a:t>
                </a:r>
                <a:r>
                  <a:rPr lang="en-US" dirty="0"/>
                  <a:t>1 MWh</a:t>
                </a:r>
                <a:r>
                  <a:rPr lang="he-IL" dirty="0"/>
                  <a:t> שקול למיליון </a:t>
                </a:r>
                <a:r>
                  <a:rPr lang="en-US" dirty="0" err="1"/>
                  <a:t>Wh</a:t>
                </a:r>
                <a:r>
                  <a:rPr lang="he-IL" dirty="0"/>
                  <a:t>, ו-0.385 הוא פקטור סטנדרטיזציה שנועד להשוואה הוגנת בין </a:t>
                </a:r>
                <a:r>
                  <a:rPr lang="en-US" dirty="0"/>
                  <a:t>data centers</a:t>
                </a:r>
                <a:r>
                  <a:rPr lang="he-IL" dirty="0"/>
                  <a:t>.</a:t>
                </a:r>
                <a:endParaRPr lang="en-US" dirty="0"/>
              </a:p>
              <a:p>
                <a:pPr marL="0" algn="r" defTabSz="914400" rtl="1" eaLnBrk="1" latinLnBrk="0" hangingPunct="1"/>
                <a:endParaRPr lang="en-US" dirty="0"/>
              </a:p>
              <a:p>
                <a:r>
                  <a:rPr lang="en-US" i="0" dirty="0">
                    <a:solidFill>
                      <a:schemeClr val="tx1"/>
                    </a:solidFill>
                    <a:latin typeface="Times New Roman" panose="02020603050405020304" pitchFamily="18" charset="0"/>
                    <a:cs typeface="Times New Roman" panose="02020603050405020304" pitchFamily="18" charset="0"/>
                  </a:rPr>
                  <a:t>where:</a:t>
                </a:r>
              </a:p>
              <a:p>
                <a:pPr lvl="1"/>
                <a:r>
                  <a:rPr lang="en-US" i="0">
                    <a:solidFill>
                      <a:schemeClr val="tx1"/>
                    </a:solidFill>
                    <a:latin typeface="Cambria Math" panose="02040503050406030204" pitchFamily="18" charset="0"/>
                    <a:cs typeface="Times New Roman" panose="02020603050405020304" pitchFamily="18" charset="0"/>
                  </a:rPr>
                  <a:t>Wh</a:t>
                </a:r>
                <a:r>
                  <a:rPr lang="en-US" i="0" dirty="0">
                    <a:solidFill>
                      <a:schemeClr val="tx1"/>
                    </a:solidFill>
                    <a:latin typeface="Times New Roman" panose="02020603050405020304" pitchFamily="18" charset="0"/>
                    <a:cs typeface="Times New Roman" panose="02020603050405020304" pitchFamily="18" charset="0"/>
                  </a:rPr>
                  <a:t> (Watt-hours) is the total energy consumed by the training process.</a:t>
                </a:r>
              </a:p>
              <a:p>
                <a:pPr lvl="1"/>
                <a:r>
                  <a:rPr lang="en-US" b="0" i="0">
                    <a:solidFill>
                      <a:schemeClr val="tx1"/>
                    </a:solidFill>
                    <a:latin typeface="Cambria Math" panose="02040503050406030204" pitchFamily="18" charset="0"/>
                    <a:cs typeface="Times New Roman" panose="02020603050405020304" pitchFamily="18" charset="0"/>
                  </a:rPr>
                  <a:t>GPU"−" h</a:t>
                </a:r>
                <a:r>
                  <a:rPr lang="en-US" i="0" dirty="0">
                    <a:solidFill>
                      <a:schemeClr val="tx1"/>
                    </a:solidFill>
                    <a:latin typeface="Times New Roman" panose="02020603050405020304" pitchFamily="18" charset="0"/>
                    <a:cs typeface="Times New Roman" panose="02020603050405020304" pitchFamily="18" charset="0"/>
                  </a:rPr>
                  <a:t> (GPU-hours) is the total number of hours the GPUs were running. Calculated by the number of GPUs (2048) times the total training time (approx. 5 months).</a:t>
                </a:r>
              </a:p>
              <a:p>
                <a:pPr lvl="1"/>
                <a:r>
                  <a:rPr lang="en-US" b="0" i="0">
                    <a:solidFill>
                      <a:schemeClr val="tx1"/>
                    </a:solidFill>
                    <a:latin typeface="Cambria Math" panose="02040503050406030204" pitchFamily="18" charset="0"/>
                    <a:cs typeface="Times New Roman" panose="02020603050405020304" pitchFamily="18" charset="0"/>
                  </a:rPr>
                  <a:t>GPU"−" power"−" conssumption</a:t>
                </a:r>
                <a:r>
                  <a:rPr lang="en-US" i="0" dirty="0">
                    <a:solidFill>
                      <a:schemeClr val="tx1"/>
                    </a:solidFill>
                    <a:latin typeface="Times New Roman" panose="02020603050405020304" pitchFamily="18" charset="0"/>
                    <a:cs typeface="Times New Roman" panose="02020603050405020304" pitchFamily="18" charset="0"/>
                  </a:rPr>
                  <a:t> is the amount of power a single A100-80GB GPU uses while running, typically measured in Watts.</a:t>
                </a:r>
              </a:p>
              <a:p>
                <a:pPr lvl="1"/>
                <a:r>
                  <a:rPr lang="en-US" b="0" i="0">
                    <a:solidFill>
                      <a:schemeClr val="tx1"/>
                    </a:solidFill>
                    <a:latin typeface="Cambria Math" panose="02040503050406030204" pitchFamily="18" charset="0"/>
                    <a:cs typeface="Times New Roman" panose="02020603050405020304" pitchFamily="18" charset="0"/>
                  </a:rPr>
                  <a:t>PUE</a:t>
                </a:r>
                <a:r>
                  <a:rPr lang="en-US" i="0" dirty="0">
                    <a:solidFill>
                      <a:schemeClr val="tx1"/>
                    </a:solidFill>
                    <a:latin typeface="Times New Roman" panose="02020603050405020304" pitchFamily="18" charset="0"/>
                    <a:cs typeface="Times New Roman" panose="02020603050405020304" pitchFamily="18" charset="0"/>
                  </a:rPr>
                  <a:t> (Power Usage Effectiveness) is the ratio that measures how efficiently a data center uses energy. A PUE of 1.1 means that for every 1.0 unit of energy used by the computing equipment (GPUs), an additional 0.1 unit is used for cooling and other infrastructure</a:t>
                </a:r>
                <a:r>
                  <a:rPr lang="en-US" dirty="0">
                    <a:solidFill>
                      <a:schemeClr val="tx1"/>
                    </a:solidFill>
                    <a:latin typeface="Times New Roman" panose="02020603050405020304" pitchFamily="18" charset="0"/>
                    <a:cs typeface="Times New Roman" panose="02020603050405020304" pitchFamily="18" charset="0"/>
                  </a:rPr>
                  <a:t>.</a:t>
                </a:r>
              </a:p>
              <a:p>
                <a:r>
                  <a:rPr lang="en-US" dirty="0">
                    <a:solidFill>
                      <a:schemeClr val="tx1"/>
                    </a:solidFill>
                    <a:latin typeface="Times New Roman" panose="02020603050405020304" pitchFamily="18" charset="0"/>
                    <a:cs typeface="Times New Roman" panose="02020603050405020304" pitchFamily="18" charset="0"/>
                  </a:rPr>
                  <a:t>where:</a:t>
                </a:r>
              </a:p>
              <a:p>
                <a:pPr lvl="1"/>
                <a:r>
                  <a:rPr lang="en-US" b="0" i="0">
                    <a:solidFill>
                      <a:schemeClr val="tx1"/>
                    </a:solidFill>
                    <a:latin typeface="Cambria Math" panose="02040503050406030204" pitchFamily="18" charset="0"/>
                    <a:cs typeface="Times New Roman" panose="02020603050405020304" pitchFamily="18" charset="0"/>
                  </a:rPr>
                  <a:t>tCO_2 eq</a:t>
                </a:r>
                <a:r>
                  <a:rPr lang="en-US" i="0" dirty="0">
                    <a:solidFill>
                      <a:schemeClr val="tx1"/>
                    </a:solidFill>
                    <a:latin typeface="Times New Roman" panose="02020603050405020304" pitchFamily="18" charset="0"/>
                    <a:cs typeface="Times New Roman" panose="02020603050405020304" pitchFamily="18" charset="0"/>
                  </a:rPr>
                  <a:t> is the tons of Carbon Dioxide equivalent, the standard unit for measuring carbon footprints.</a:t>
                </a:r>
              </a:p>
              <a:p>
                <a:pPr lvl="1"/>
                <a:r>
                  <a:rPr lang="en-US" b="0" i="0">
                    <a:solidFill>
                      <a:schemeClr val="tx1"/>
                    </a:solidFill>
                    <a:latin typeface="Cambria Math" panose="02040503050406030204" pitchFamily="18" charset="0"/>
                    <a:cs typeface="Times New Roman" panose="02020603050405020304" pitchFamily="18" charset="0"/>
                  </a:rPr>
                  <a:t>MWh </a:t>
                </a:r>
                <a:r>
                  <a:rPr lang="en-US" i="0" dirty="0">
                    <a:solidFill>
                      <a:schemeClr val="tx1"/>
                    </a:solidFill>
                    <a:latin typeface="Times New Roman" panose="02020603050405020304" pitchFamily="18" charset="0"/>
                    <a:cs typeface="Times New Roman" panose="02020603050405020304" pitchFamily="18" charset="0"/>
                  </a:rPr>
                  <a:t>is Megawatt-hours (1 MWh = 1,000,000 </a:t>
                </a:r>
                <a:r>
                  <a:rPr lang="en-US" i="0" dirty="0" err="1">
                    <a:solidFill>
                      <a:schemeClr val="tx1"/>
                    </a:solidFill>
                    <a:latin typeface="Times New Roman" panose="02020603050405020304" pitchFamily="18" charset="0"/>
                    <a:cs typeface="Times New Roman" panose="02020603050405020304" pitchFamily="18" charset="0"/>
                  </a:rPr>
                  <a:t>Wh</a:t>
                </a:r>
                <a:r>
                  <a:rPr lang="en-US" i="0" dirty="0">
                    <a:solidFill>
                      <a:schemeClr val="tx1"/>
                    </a:solidFill>
                    <a:latin typeface="Times New Roman" panose="02020603050405020304" pitchFamily="18" charset="0"/>
                    <a:cs typeface="Times New Roman" panose="02020603050405020304" pitchFamily="18" charset="0"/>
                  </a:rPr>
                  <a:t>).</a:t>
                </a:r>
              </a:p>
              <a:p>
                <a:pPr lvl="1"/>
                <a:r>
                  <a:rPr lang="en-US" b="0" i="0">
                    <a:solidFill>
                      <a:schemeClr val="tx1"/>
                    </a:solidFill>
                    <a:latin typeface="Cambria Math" panose="02040503050406030204" pitchFamily="18" charset="0"/>
                    <a:cs typeface="Times New Roman" panose="02020603050405020304" pitchFamily="18" charset="0"/>
                  </a:rPr>
                  <a:t>0.385 </a:t>
                </a:r>
                <a:r>
                  <a:rPr lang="en-US" i="0" dirty="0">
                    <a:solidFill>
                      <a:schemeClr val="tx1"/>
                    </a:solidFill>
                    <a:latin typeface="Times New Roman" panose="02020603050405020304" pitchFamily="18" charset="0"/>
                    <a:cs typeface="Times New Roman" panose="02020603050405020304" pitchFamily="18" charset="0"/>
                  </a:rPr>
                  <a:t>is the carbon intensity standardization factor that represents the US national average (</a:t>
                </a:r>
                <a:r>
                  <a:rPr lang="en-US" i="0">
                    <a:solidFill>
                      <a:schemeClr val="tx1"/>
                    </a:solidFill>
                    <a:latin typeface="Cambria Math" panose="02040503050406030204" pitchFamily="18" charset="0"/>
                    <a:cs typeface="Times New Roman" panose="02020603050405020304" pitchFamily="18" charset="0"/>
                  </a:rPr>
                  <a:t>0.385</a:t>
                </a:r>
                <a:r>
                  <a:rPr lang="en-US" b="0" i="0">
                    <a:solidFill>
                      <a:schemeClr val="tx1"/>
                    </a:solidFill>
                    <a:latin typeface="Cambria Math" panose="02040503050406030204" pitchFamily="18" charset="0"/>
                    <a:cs typeface="Times New Roman" panose="02020603050405020304" pitchFamily="18" charset="0"/>
                  </a:rPr>
                  <a:t> kg CO_2 eq/KWh</a:t>
                </a:r>
                <a:r>
                  <a:rPr lang="en-US" i="0" dirty="0">
                    <a:solidFill>
                      <a:schemeClr val="tx1"/>
                    </a:solidFill>
                    <a:latin typeface="Times New Roman" panose="02020603050405020304" pitchFamily="18" charset="0"/>
                    <a:cs typeface="Times New Roman" panose="02020603050405020304" pitchFamily="18" charset="0"/>
                  </a:rPr>
                  <a:t>) for how much carbon is emitted to generate one kilowatt-hour of electricity. Using this average allows for a fair comparison between models regardless of the specific "green" or "dirty" energy grid of their actual data center.</a:t>
                </a:r>
              </a:p>
              <a:p>
                <a:pPr lvl="1"/>
                <a:endParaRPr lang="en-US" dirty="0">
                  <a:solidFill>
                    <a:schemeClr val="tx1"/>
                  </a:solidFill>
                  <a:latin typeface="Times New Roman" panose="02020603050405020304" pitchFamily="18" charset="0"/>
                  <a:cs typeface="Times New Roman" panose="02020603050405020304" pitchFamily="18" charset="0"/>
                </a:endParaRPr>
              </a:p>
              <a:p>
                <a:pPr marL="0" algn="r" defTabSz="914400" rtl="1" eaLnBrk="1" latinLnBrk="0" hangingPunct="1"/>
                <a:endParaRPr lang="en-US" dirty="0"/>
              </a:p>
              <a:p>
                <a:pPr marL="0" algn="r" defTabSz="914400" rtl="1" eaLnBrk="1" latinLnBrk="0" hangingPunct="1"/>
                <a:endParaRPr lang="en-US" dirty="0"/>
              </a:p>
              <a:p>
                <a:pPr marL="0" algn="r" defTabSz="914400" rtl="1" eaLnBrk="1" latinLnBrk="0" hangingPunct="1"/>
                <a:r>
                  <a:rPr lang="he-IL" dirty="0"/>
                  <a:t>אם כן, אלה הנוסחאות שלנו, ועכשיו נוכל לשפוך אליהן את הנתונים, ולקבל הערכה לכך שבאימון של מודלי </a:t>
                </a:r>
                <a:r>
                  <a:rPr lang="en-US" dirty="0"/>
                  <a:t>LLaMA</a:t>
                </a:r>
                <a:r>
                  <a:rPr lang="he-IL" dirty="0"/>
                  <a:t> נפלטו כ-1015 טונות של פחמן דו-חמצני, וזה המון,</a:t>
                </a:r>
              </a:p>
              <a:p>
                <a:pPr marL="0" algn="r" defTabSz="914400" rtl="1" eaLnBrk="1" latinLnBrk="0" hangingPunct="1"/>
                <a:endParaRPr lang="he-IL" dirty="0"/>
              </a:p>
              <a:p>
                <a:pPr marL="0" algn="r" defTabSz="914400" rtl="1" eaLnBrk="1" latinLnBrk="0" hangingPunct="1"/>
                <a:r>
                  <a:rPr lang="he-IL" dirty="0"/>
                  <a:t>זה כמו לטוס מניו-יורק ללונדון הלוך חזור, 1000 פעמים.</a:t>
                </a:r>
                <a:endParaRPr lang="en-US" dirty="0"/>
              </a:p>
              <a:p>
                <a:pPr marL="0" algn="r" defTabSz="914400" rtl="1" eaLnBrk="1" latinLnBrk="0" hangingPunct="1"/>
                <a:endParaRPr lang="en-US" dirty="0"/>
              </a:p>
              <a:p>
                <a:pPr marL="0" algn="r" defTabSz="914400" rtl="1" eaLnBrk="1" latinLnBrk="0" hangingPunct="1"/>
                <a:r>
                  <a:rPr lang="he-IL" dirty="0"/>
                  <a:t>משמעות הדבר לדברי החוקרים היא ש:</a:t>
                </a:r>
              </a:p>
              <a:p>
                <a:pPr marL="0" algn="r" defTabSz="914400" rtl="1" eaLnBrk="1" latinLnBrk="0" hangingPunct="1"/>
                <a:endParaRPr lang="he-IL" dirty="0"/>
              </a:p>
              <a:p>
                <a:pPr marL="0" algn="r" defTabSz="914400" rtl="1" eaLnBrk="1" latinLnBrk="0" hangingPunct="1"/>
                <a:r>
                  <a:rPr lang="he-IL" dirty="0"/>
                  <a:t>א. שחרור המודל לקהילה תפחית זיהום עתידי, כי המשתמשים לא יצטרכו לאמן שוב את המודל, אגב הבעיה פה זה שבזמן פרסום המאמר החוקרים בכלל לא שחררו את המודל, אלא רק תיארו איך לאמן אותו.</a:t>
                </a:r>
              </a:p>
              <a:p>
                <a:pPr marL="0" algn="r" defTabSz="914400" rtl="1" eaLnBrk="1" latinLnBrk="0" hangingPunct="1"/>
                <a:endParaRPr lang="he-IL" dirty="0"/>
              </a:p>
              <a:p>
                <a:pPr marL="0" algn="r" defTabSz="914400" rtl="1" eaLnBrk="1" latinLnBrk="0" hangingPunct="1"/>
                <a:r>
                  <a:rPr lang="he-IL" dirty="0"/>
                  <a:t>ב. מודלי ה-</a:t>
                </a:r>
                <a:r>
                  <a:rPr lang="en-US" dirty="0"/>
                  <a:t>LLaMA</a:t>
                </a:r>
                <a:r>
                  <a:rPr lang="he-IL" dirty="0"/>
                  <a:t> הקטנים יותר, </a:t>
                </a:r>
                <a:r>
                  <a:rPr lang="en-US" dirty="0"/>
                  <a:t>7B</a:t>
                </a:r>
                <a:r>
                  <a:rPr lang="he-IL" dirty="0"/>
                  <a:t> ו-</a:t>
                </a:r>
                <a:r>
                  <a:rPr lang="en-US" dirty="0"/>
                  <a:t>13</a:t>
                </a:r>
                <a:r>
                  <a:rPr lang="he-IL" dirty="0" err="1"/>
                  <a:t>B</a:t>
                </a:r>
                <a:r>
                  <a:rPr lang="he-IL" dirty="0"/>
                  <a:t> יכולים לרות על גבי GPU בודד, מה שמפחית את הזיהום בזמן </a:t>
                </a:r>
                <a:r>
                  <a:rPr lang="he-IL" dirty="0" err="1"/>
                  <a:t>האינפר</a:t>
                </a:r>
                <a:r>
                  <a:rPr lang="he-IL" dirty="0"/>
                  <a:t>, שזה רוב הזמן בו המודל רץ.</a:t>
                </a:r>
              </a:p>
              <a:p>
                <a:pPr marL="0" algn="r" defTabSz="914400" rtl="1" eaLnBrk="1" latinLnBrk="0" hangingPunct="1"/>
                <a:endParaRPr lang="en-IL" dirty="0"/>
              </a:p>
              <a:p>
                <a:pPr marL="0" algn="r" defTabSz="914400" rtl="1" eaLnBrk="1" latinLnBrk="0" hangingPunct="1"/>
                <a:endParaRPr lang="he-IL" dirty="0"/>
              </a:p>
              <a:p>
                <a:pPr marL="0" algn="r" defTabSz="914400" rtl="1" eaLnBrk="1" latinLnBrk="0" hangingPunct="1"/>
                <a:endParaRPr lang="he-IL" dirty="0"/>
              </a:p>
              <a:p>
                <a:pPr marL="0" algn="r" defTabSz="914400" rtl="1" eaLnBrk="1" latinLnBrk="0" hangingPunct="1"/>
                <a:endParaRPr lang="he-IL" dirty="0"/>
              </a:p>
              <a:p>
                <a:pPr marL="0" algn="r" defTabSz="914400" rtl="1" eaLnBrk="1" latinLnBrk="0" hangingPunct="1"/>
                <a:endParaRPr lang="en-IL" dirty="0"/>
              </a:p>
            </p:txBody>
          </p:sp>
        </mc:Fallback>
      </mc:AlternateContent>
      <p:sp>
        <p:nvSpPr>
          <p:cNvPr id="4" name="Slide Number Placeholder 3"/>
          <p:cNvSpPr>
            <a:spLocks noGrp="1"/>
          </p:cNvSpPr>
          <p:nvPr>
            <p:ph type="sldNum" sz="quarter" idx="5"/>
          </p:nvPr>
        </p:nvSpPr>
        <p:spPr/>
        <p:txBody>
          <a:bodyPr/>
          <a:lstStyle/>
          <a:p>
            <a:fld id="{476FFE5D-288A-DB4E-9912-CFF1A38B0A9A}" type="slidenum">
              <a:rPr lang="en-IL" smtClean="0"/>
              <a:t>25</a:t>
            </a:fld>
            <a:endParaRPr lang="en-IL"/>
          </a:p>
        </p:txBody>
      </p:sp>
    </p:spTree>
    <p:extLst>
      <p:ext uri="{BB962C8B-B14F-4D97-AF65-F5344CB8AC3E}">
        <p14:creationId xmlns:p14="http://schemas.microsoft.com/office/powerpoint/2010/main" val="383317508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החוקרים פרסמו את הטבלה הזאת שמשווה את מודלי </a:t>
            </a:r>
            <a:r>
              <a:rPr lang="en-US" dirty="0"/>
              <a:t>LLaMA</a:t>
            </a:r>
            <a:r>
              <a:rPr lang="he-IL" dirty="0"/>
              <a:t> לשני מודלים גדולים יחסית אבל דומים בביצועים, ואפשר לראות שהאימון של מודלי </a:t>
            </a:r>
            <a:r>
              <a:rPr lang="en-US" dirty="0"/>
              <a:t>LLaMA</a:t>
            </a:r>
            <a:r>
              <a:rPr lang="he-IL" dirty="0"/>
              <a:t> יחסית מזהם.</a:t>
            </a:r>
          </a:p>
          <a:p>
            <a:pPr marL="0" algn="r" defTabSz="914400" rtl="1" eaLnBrk="1" latinLnBrk="0" hangingPunct="1"/>
            <a:endParaRPr lang="he-IL" dirty="0"/>
          </a:p>
          <a:p>
            <a:pPr marL="0" algn="r" defTabSz="914400" rtl="1" eaLnBrk="1" latinLnBrk="0" hangingPunct="1"/>
            <a:r>
              <a:rPr lang="he-IL" dirty="0"/>
              <a:t>האימון של </a:t>
            </a:r>
            <a:r>
              <a:rPr lang="en-US" dirty="0"/>
              <a:t>LLaMA-65B</a:t>
            </a:r>
            <a:r>
              <a:rPr lang="he-IL" dirty="0"/>
              <a:t> שהוא פי 2.5 קטן מהמתחרים, גרם לזיהום בסדר הגודל של אותו מתחרים.</a:t>
            </a:r>
          </a:p>
          <a:p>
            <a:pPr marL="0" algn="r" defTabSz="914400" rtl="1" eaLnBrk="1" latinLnBrk="0" hangingPunct="1"/>
            <a:endParaRPr lang="he-IL" dirty="0"/>
          </a:p>
          <a:p>
            <a:pPr marL="0" algn="r" defTabSz="914400" rtl="1" eaLnBrk="1" latinLnBrk="0" hangingPunct="1"/>
            <a:r>
              <a:rPr lang="he-IL" dirty="0"/>
              <a:t>כלומר, החוקרים מודים בזה שיקר אנרגטית לאמן את </a:t>
            </a:r>
            <a:r>
              <a:rPr lang="en-US" dirty="0"/>
              <a:t>LLaMA</a:t>
            </a:r>
            <a:r>
              <a:rPr lang="he-IL" dirty="0"/>
              <a:t> אבל מדגישים את החיסכון בזמן </a:t>
            </a:r>
            <a:r>
              <a:rPr lang="he-IL" dirty="0" err="1"/>
              <a:t>האינפר</a:t>
            </a:r>
            <a:r>
              <a:rPr lang="he-IL" dirty="0"/>
              <a:t>.</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26</a:t>
            </a:fld>
            <a:endParaRPr lang="en-IL"/>
          </a:p>
        </p:txBody>
      </p:sp>
    </p:spTree>
    <p:extLst>
      <p:ext uri="{BB962C8B-B14F-4D97-AF65-F5344CB8AC3E}">
        <p14:creationId xmlns:p14="http://schemas.microsoft.com/office/powerpoint/2010/main" val="16005191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אם כן, לסיכום,</a:t>
            </a:r>
          </a:p>
          <a:p>
            <a:pPr marL="0" algn="r" defTabSz="914400" rtl="1" eaLnBrk="1" latinLnBrk="0" hangingPunct="1"/>
            <a:endParaRPr lang="he-IL" dirty="0"/>
          </a:p>
          <a:p>
            <a:pPr marL="0" algn="r" defTabSz="914400" rtl="1" eaLnBrk="1" latinLnBrk="0" hangingPunct="1"/>
            <a:r>
              <a:rPr lang="he-IL" dirty="0"/>
              <a:t>המאמר מציג סדרה של </a:t>
            </a:r>
            <a:r>
              <a:rPr lang="en-US" dirty="0"/>
              <a:t>foundation LLMs</a:t>
            </a:r>
            <a:r>
              <a:rPr lang="he-IL" dirty="0"/>
              <a:t> ששוחררו לציבור.</a:t>
            </a:r>
          </a:p>
          <a:p>
            <a:pPr marL="0" algn="r" defTabSz="914400" rtl="1" eaLnBrk="1" latinLnBrk="0" hangingPunct="1"/>
            <a:r>
              <a:rPr lang="he-IL" dirty="0"/>
              <a:t>המודלים האלה מציגים ביצועי </a:t>
            </a:r>
            <a:r>
              <a:rPr lang="en-US" dirty="0"/>
              <a:t>state-of-the-art</a:t>
            </a:r>
            <a:r>
              <a:rPr lang="he-IL" dirty="0"/>
              <a:t> והם מאומנים על </a:t>
            </a:r>
            <a:r>
              <a:rPr lang="en-US" dirty="0"/>
              <a:t>data</a:t>
            </a:r>
            <a:r>
              <a:rPr lang="he-IL" dirty="0"/>
              <a:t> ציבורי בלבד.</a:t>
            </a:r>
          </a:p>
          <a:p>
            <a:pPr marL="0" algn="r" defTabSz="914400" rtl="1" eaLnBrk="1" latinLnBrk="0" hangingPunct="1"/>
            <a:endParaRPr lang="he-IL" dirty="0"/>
          </a:p>
          <a:p>
            <a:pPr marL="0" algn="r" defTabSz="914400" rtl="1" eaLnBrk="1" latinLnBrk="0" hangingPunct="1"/>
            <a:r>
              <a:rPr lang="he-IL" dirty="0"/>
              <a:t>מבחינת ביצועים, אלה נקודות העיקריות:</a:t>
            </a:r>
          </a:p>
          <a:p>
            <a:pPr marL="0" algn="r" defTabSz="914400" rtl="1" eaLnBrk="1" latinLnBrk="0" hangingPunct="1"/>
            <a:r>
              <a:rPr lang="he-IL" dirty="0"/>
              <a:t>למה 13בי מנצח את </a:t>
            </a:r>
            <a:r>
              <a:rPr lang="en-US" dirty="0"/>
              <a:t>GPT3</a:t>
            </a:r>
            <a:r>
              <a:rPr lang="he-IL" dirty="0"/>
              <a:t> למרות שהוא קטן ממנו ביותר מפי 10.</a:t>
            </a:r>
          </a:p>
          <a:p>
            <a:pPr marL="0" algn="r" defTabSz="914400" rtl="1" eaLnBrk="1" latinLnBrk="0" hangingPunct="1"/>
            <a:r>
              <a:rPr lang="he-IL" dirty="0"/>
              <a:t>למה 65בי מתחרה במודל </a:t>
            </a:r>
            <a:r>
              <a:rPr lang="en-US" dirty="0"/>
              <a:t>Chinchila-70B</a:t>
            </a:r>
            <a:r>
              <a:rPr lang="he-IL" dirty="0"/>
              <a:t> ובמודל הענק </a:t>
            </a:r>
            <a:r>
              <a:rPr lang="en-US" dirty="0"/>
              <a:t>PaLM-540B</a:t>
            </a:r>
            <a:r>
              <a:rPr lang="he-IL" dirty="0"/>
              <a:t>.</a:t>
            </a:r>
          </a:p>
          <a:p>
            <a:pPr marL="0" algn="r" defTabSz="914400" rtl="1" eaLnBrk="1" latinLnBrk="0" hangingPunct="1"/>
            <a:endParaRPr lang="he-IL" dirty="0"/>
          </a:p>
          <a:p>
            <a:pPr marL="0" algn="r" defTabSz="914400" rtl="1" eaLnBrk="1" latinLnBrk="0" hangingPunct="1"/>
            <a:r>
              <a:rPr lang="he-IL" dirty="0"/>
              <a:t>החוקרים מאמינים ששחרור המודלים האלה לציבור יאיץ את המחקר, ומכוונים את המחקר ל</a:t>
            </a:r>
            <a:r>
              <a:rPr lang="en-US" dirty="0"/>
              <a:t>:</a:t>
            </a:r>
          </a:p>
          <a:p>
            <a:pPr marL="0" algn="r" defTabSz="914400" rtl="1" eaLnBrk="1" latinLnBrk="0" hangingPunct="1"/>
            <a:r>
              <a:rPr lang="he-IL" dirty="0"/>
              <a:t>1. שיפור ב-</a:t>
            </a:r>
            <a:r>
              <a:rPr lang="en-US" dirty="0"/>
              <a:t>bias</a:t>
            </a:r>
            <a:r>
              <a:rPr lang="he-IL" dirty="0"/>
              <a:t> </a:t>
            </a:r>
            <a:r>
              <a:rPr lang="he-IL" err="1"/>
              <a:t>וה</a:t>
            </a:r>
            <a:r>
              <a:rPr lang="he-IL"/>
              <a:t>-</a:t>
            </a:r>
            <a:r>
              <a:rPr lang="en-US"/>
              <a:t>toxicity</a:t>
            </a:r>
            <a:endParaRPr lang="he-IL" dirty="0"/>
          </a:p>
          <a:p>
            <a:pPr marL="0" algn="r" defTabSz="914400" rtl="1" eaLnBrk="1" latinLnBrk="0" hangingPunct="1"/>
            <a:r>
              <a:rPr lang="he-IL" dirty="0"/>
              <a:t>2</a:t>
            </a:r>
            <a:r>
              <a:rPr lang="he-IL"/>
              <a:t>. אימון </a:t>
            </a:r>
            <a:r>
              <a:rPr lang="he-IL" dirty="0"/>
              <a:t>מודל שיודע לעקוב </a:t>
            </a:r>
            <a:r>
              <a:rPr lang="he-IL"/>
              <a:t>אחר הוראות</a:t>
            </a:r>
          </a:p>
          <a:p>
            <a:pPr marL="0" algn="r" defTabSz="914400" rtl="1" eaLnBrk="1" latinLnBrk="0" hangingPunct="1"/>
            <a:r>
              <a:rPr lang="he-IL"/>
              <a:t>4. שחרור מודלים גדולים יותר שמאומנים על קורפוסים גדולים יותר</a:t>
            </a:r>
            <a:endParaRPr lang="he-IL" dirty="0"/>
          </a:p>
        </p:txBody>
      </p:sp>
      <p:sp>
        <p:nvSpPr>
          <p:cNvPr id="4" name="Slide Number Placeholder 3"/>
          <p:cNvSpPr>
            <a:spLocks noGrp="1"/>
          </p:cNvSpPr>
          <p:nvPr>
            <p:ph type="sldNum" sz="quarter" idx="5"/>
          </p:nvPr>
        </p:nvSpPr>
        <p:spPr/>
        <p:txBody>
          <a:bodyPr/>
          <a:lstStyle/>
          <a:p>
            <a:fld id="{476FFE5D-288A-DB4E-9912-CFF1A38B0A9A}" type="slidenum">
              <a:rPr lang="en-IL" smtClean="0"/>
              <a:t>28</a:t>
            </a:fld>
            <a:endParaRPr lang="en-IL"/>
          </a:p>
        </p:txBody>
      </p:sp>
    </p:spTree>
    <p:extLst>
      <p:ext uri="{BB962C8B-B14F-4D97-AF65-F5344CB8AC3E}">
        <p14:creationId xmlns:p14="http://schemas.microsoft.com/office/powerpoint/2010/main" val="38592001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וכעת נעבור לקוד</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29</a:t>
            </a:fld>
            <a:endParaRPr lang="en-IL"/>
          </a:p>
        </p:txBody>
      </p:sp>
    </p:spTree>
    <p:extLst>
      <p:ext uri="{BB962C8B-B14F-4D97-AF65-F5344CB8AC3E}">
        <p14:creationId xmlns:p14="http://schemas.microsoft.com/office/powerpoint/2010/main" val="41723576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6000" cap="all" baseline="0">
                <a:solidFill>
                  <a:schemeClr val="tx2"/>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a:xfrm>
            <a:off x="752858" y="6453386"/>
            <a:ext cx="1607944" cy="404614"/>
          </a:xfrm>
          <a:prstGeom prst="rect">
            <a:avLst/>
          </a:prstGeom>
        </p:spPr>
        <p:txBody>
          <a:bodyPr/>
          <a:lstStyle>
            <a:lvl1pPr>
              <a:defRPr baseline="0">
                <a:solidFill>
                  <a:schemeClr val="tx2"/>
                </a:solidFill>
              </a:defRPr>
            </a:lvl1pPr>
          </a:lstStyle>
          <a:p>
            <a:fld id="{174E06AC-D962-C445-BD68-CCA9075FD162}" type="datetime1">
              <a:rPr lang="en-US" smtClean="0"/>
              <a:t>12/5/25</a:t>
            </a:fld>
            <a:endParaRPr lang="en-US" dirty="0"/>
          </a:p>
        </p:txBody>
      </p:sp>
      <p:sp>
        <p:nvSpPr>
          <p:cNvPr id="5" name="Footer Placeholder 4"/>
          <p:cNvSpPr>
            <a:spLocks noGrp="1"/>
          </p:cNvSpPr>
          <p:nvPr>
            <p:ph type="ftr" sz="quarter" idx="11"/>
          </p:nvPr>
        </p:nvSpPr>
        <p:spPr>
          <a:xfrm>
            <a:off x="2584054" y="6453386"/>
            <a:ext cx="7023377" cy="404614"/>
          </a:xfrm>
          <a:prstGeom prst="rect">
            <a:avLst/>
          </a:prstGeom>
        </p:spPr>
        <p:txBody>
          <a:bodyPr/>
          <a:lstStyle>
            <a:lvl1pPr algn="ct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a:prstGeom prst="rect">
            <a:avLst/>
          </a:prstGeom>
        </p:spPr>
        <p:txBody>
          <a:bodyPr/>
          <a:lstStyle>
            <a:lvl1pPr>
              <a:defRPr baseline="0">
                <a:solidFill>
                  <a:schemeClr val="tx2"/>
                </a:solidFill>
              </a:defRPr>
            </a:lvl1pPr>
          </a:lstStyle>
          <a:p>
            <a:fld id="{69E57DC2-970A-4B3E-BB1C-7A09969E49DF}" type="slidenum">
              <a:rPr lang="en-US" dirty="0"/>
              <a:pPr/>
              <a:t>‹#›</a:t>
            </a:fld>
            <a:endParaRPr lang="en-US" dirty="0"/>
          </a:p>
        </p:txBody>
      </p:sp>
      <p:grpSp>
        <p:nvGrpSpPr>
          <p:cNvPr id="7" name="Group 6"/>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headEnd/>
              <a:tailEnd/>
            </a:ln>
          </p:spPr>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headEnd/>
              <a:tailEnd/>
            </a:ln>
          </p:spPr>
        </p:sp>
      </p:gr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p:nvPr>
        </p:nvSpPr>
        <p:spPr/>
        <p:txBody>
          <a:bodyPr/>
          <a:lstStyle>
            <a:lvl1pPr>
              <a:defRPr>
                <a:latin typeface="Times New Roman" panose="02020603050405020304" pitchFamily="18" charset="0"/>
                <a:cs typeface="Times New Roman" panose="02020603050405020304" pitchFamily="18" charset="0"/>
              </a:defRPr>
            </a:lvl1pPr>
            <a:lvl2pPr>
              <a:defRPr i="0">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i="0">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Date Placeholder 3">
            <a:extLst>
              <a:ext uri="{FF2B5EF4-FFF2-40B4-BE49-F238E27FC236}">
                <a16:creationId xmlns:a16="http://schemas.microsoft.com/office/drawing/2014/main" id="{14A926F8-7907-9B77-2D5F-798678BF07BB}"/>
              </a:ext>
            </a:extLst>
          </p:cNvPr>
          <p:cNvSpPr>
            <a:spLocks noGrp="1"/>
          </p:cNvSpPr>
          <p:nvPr>
            <p:ph type="dt" sz="half" idx="10"/>
          </p:nvPr>
        </p:nvSpPr>
        <p:spPr>
          <a:xfrm>
            <a:off x="752858" y="6453386"/>
            <a:ext cx="1607944" cy="404614"/>
          </a:xfrm>
          <a:prstGeom prst="rect">
            <a:avLst/>
          </a:prstGeom>
        </p:spPr>
        <p:txBody>
          <a:bodyPr/>
          <a:lstStyle>
            <a:lvl1pPr>
              <a:defRPr baseline="0">
                <a:solidFill>
                  <a:schemeClr val="tx2"/>
                </a:solidFill>
              </a:defRPr>
            </a:lvl1pPr>
          </a:lstStyle>
          <a:p>
            <a:fld id="{C01C443A-F504-AE46-A972-278D7020ACAE}" type="datetime1">
              <a:rPr lang="en-US" smtClean="0"/>
              <a:t>12/5/25</a:t>
            </a:fld>
            <a:endParaRPr lang="en-US" dirty="0"/>
          </a:p>
        </p:txBody>
      </p:sp>
      <p:sp>
        <p:nvSpPr>
          <p:cNvPr id="12" name="Footer Placeholder 4">
            <a:extLst>
              <a:ext uri="{FF2B5EF4-FFF2-40B4-BE49-F238E27FC236}">
                <a16:creationId xmlns:a16="http://schemas.microsoft.com/office/drawing/2014/main" id="{CDC992E5-2CFE-69C3-D3BC-71B21CDA3A74}"/>
              </a:ext>
            </a:extLst>
          </p:cNvPr>
          <p:cNvSpPr>
            <a:spLocks noGrp="1"/>
          </p:cNvSpPr>
          <p:nvPr>
            <p:ph type="ftr" sz="quarter" idx="11"/>
          </p:nvPr>
        </p:nvSpPr>
        <p:spPr>
          <a:xfrm>
            <a:off x="2584054" y="6453386"/>
            <a:ext cx="7023377" cy="404614"/>
          </a:xfrm>
          <a:prstGeom prst="rect">
            <a:avLst/>
          </a:prstGeom>
        </p:spPr>
        <p:txBody>
          <a:bodyPr/>
          <a:lstStyle>
            <a:lvl1pPr algn="ctr">
              <a:defRPr baseline="0">
                <a:solidFill>
                  <a:schemeClr val="tx2"/>
                </a:solidFill>
              </a:defRPr>
            </a:lvl1pPr>
          </a:lstStyle>
          <a:p>
            <a:endParaRPr lang="en-US" dirty="0"/>
          </a:p>
        </p:txBody>
      </p:sp>
      <p:sp>
        <p:nvSpPr>
          <p:cNvPr id="13" name="Slide Number Placeholder 5">
            <a:extLst>
              <a:ext uri="{FF2B5EF4-FFF2-40B4-BE49-F238E27FC236}">
                <a16:creationId xmlns:a16="http://schemas.microsoft.com/office/drawing/2014/main" id="{23FD0564-4687-CFC0-1E92-DDB0E0342F43}"/>
              </a:ext>
            </a:extLst>
          </p:cNvPr>
          <p:cNvSpPr>
            <a:spLocks noGrp="1"/>
          </p:cNvSpPr>
          <p:nvPr>
            <p:ph type="sldNum" sz="quarter" idx="12"/>
          </p:nvPr>
        </p:nvSpPr>
        <p:spPr>
          <a:xfrm>
            <a:off x="9830683" y="6453386"/>
            <a:ext cx="1596292" cy="404614"/>
          </a:xfrm>
          <a:prstGeom prst="rect">
            <a:avLst/>
          </a:prstGeom>
        </p:spPr>
        <p:txBody>
          <a:bodyPr/>
          <a:lstStyle>
            <a:lvl1pPr>
              <a:defRPr baseline="0">
                <a:solidFill>
                  <a:schemeClr val="tx2"/>
                </a:solidFill>
              </a:defRPr>
            </a:lvl1pPr>
          </a:lstStyle>
          <a:p>
            <a:fld id="{69E57DC2-970A-4B3E-BB1C-7A09969E49DF}"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F7379F7D-A8DF-B44B-B7D5-5F767BC8B599}" type="datetime1">
              <a:rPr lang="en-US" smtClean="0"/>
              <a:t>12/5/25</a:t>
            </a:fld>
            <a:endParaRPr lang="en-US" dirty="0"/>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tx2"/>
          </a:solidFill>
          <a:ln w="0">
            <a:noFill/>
            <a:prstDash val="solid"/>
            <a:round/>
            <a:headEnd/>
            <a:tailEnd/>
          </a:ln>
        </p:spPr>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US"/>
              <a:t>Click to edit Master title style</a:t>
            </a:r>
            <a:endParaRPr lang="en-US" dirty="0"/>
          </a:p>
        </p:txBody>
      </p:sp>
      <p:sp>
        <p:nvSpPr>
          <p:cNvPr id="3" name="Content Placeholder 2"/>
          <p:cNvSpPr>
            <a:spLocks noGrp="1"/>
          </p:cNvSpPr>
          <p:nvPr>
            <p:ph sz="half" idx="1"/>
          </p:nvPr>
        </p:nvSpPr>
        <p:spPr>
          <a:xfrm>
            <a:off x="1371600" y="2285999"/>
            <a:ext cx="4447786" cy="358140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25403" y="2285999"/>
            <a:ext cx="4447786" cy="358140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1FFCFAF-5D61-D243-84D5-124AE95276F5}" type="datetime1">
              <a:rPr lang="en-US" smtClean="0"/>
              <a:t>12/5/25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1485900"/>
          </a:xfrm>
        </p:spPr>
        <p:txBody>
          <a:bodyPr/>
          <a:lstStyle>
            <a:lvl1pPr>
              <a:defRPr>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1371600"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371600"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5014"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25014"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1BC027B-29E2-CA4D-BBA7-FA61C20F2E11}" type="datetime1">
              <a:rPr lang="en-US" smtClean="0"/>
              <a:t>12/5/25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7D5E50D-1D65-F04A-B679-8E1F7CB10F85}" type="datetime1">
              <a:rPr lang="en-US" smtClean="0"/>
              <a:t>12/5/25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1BB0D1-FFBA-E944-A3BF-109DEA0605CF}" type="datetime1">
              <a:rPr lang="en-US" smtClean="0"/>
              <a:t>12/5/25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en-US"/>
              <a:t>Click to edit Master title style</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D3D900C6-2FFB-A947-B45D-5548633B581E}" type="datetime1">
              <a:rPr lang="en-US" smtClean="0"/>
              <a:t>12/5/25</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71EFDBA6-3DFA-E249-900C-DF92791B0CE9}" type="datetime1">
              <a:rPr lang="en-US" smtClean="0"/>
              <a:t>12/5/25</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1371600" y="2295525"/>
            <a:ext cx="9601200" cy="35718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69DCB41-7B34-3247-A564-84EE959A6480}" type="datetime1">
              <a:rPr lang="en-US" smtClean="0"/>
              <a:t>12/5/25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ED76F23-D13C-3A4D-A64C-A89317472802}" type="datetime1">
              <a:rPr lang="en-US" smtClean="0"/>
              <a:t>12/5/25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685800"/>
            <a:ext cx="9601200" cy="148590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p:cNvSpPr>
            <a:spLocks noGrp="1"/>
          </p:cNvSpPr>
          <p:nvPr>
            <p:ph type="body" idx="1"/>
          </p:nvPr>
        </p:nvSpPr>
        <p:spPr>
          <a:xfrm>
            <a:off x="1371600" y="2286000"/>
            <a:ext cx="9601200" cy="35814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1390650" y="6453386"/>
            <a:ext cx="1204572" cy="404614"/>
          </a:xfrm>
          <a:prstGeom prst="rect">
            <a:avLst/>
          </a:prstGeom>
        </p:spPr>
        <p:txBody>
          <a:bodyPr vert="horz" lIns="91440" tIns="45720" rIns="91440" bIns="45720" rtlCol="0" anchor="ctr"/>
          <a:lstStyle>
            <a:lvl1pPr algn="l">
              <a:defRPr sz="1200" baseline="0">
                <a:solidFill>
                  <a:schemeClr val="tx2"/>
                </a:solidFill>
              </a:defRPr>
            </a:lvl1pPr>
          </a:lstStyle>
          <a:p>
            <a:fld id="{08D6DC20-382B-F34C-9518-C97B8953A8F2}" type="datetime1">
              <a:rPr lang="en-US" smtClean="0"/>
              <a:t>12/5/25</a:t>
            </a:fld>
            <a:endParaRPr lang="en-US" dirty="0"/>
          </a:p>
        </p:txBody>
      </p:sp>
      <p:sp>
        <p:nvSpPr>
          <p:cNvPr id="5" name="Footer Placeholder 4"/>
          <p:cNvSpPr>
            <a:spLocks noGrp="1"/>
          </p:cNvSpPr>
          <p:nvPr>
            <p:ph type="ftr" sz="quarter" idx="3"/>
          </p:nvPr>
        </p:nvSpPr>
        <p:spPr>
          <a:xfrm>
            <a:off x="2893564" y="6453386"/>
            <a:ext cx="6280830" cy="404614"/>
          </a:xfrm>
          <a:prstGeom prst="rect">
            <a:avLst/>
          </a:prstGeom>
        </p:spPr>
        <p:txBody>
          <a:bodyPr vert="horz" lIns="91440" tIns="45720" rIns="91440" bIns="45720" rtlCol="0" anchor="ctr"/>
          <a:lstStyle>
            <a:lvl1pPr algn="l">
              <a:defRPr sz="1200" baseline="0">
                <a:solidFill>
                  <a:schemeClr val="tx2"/>
                </a:solidFill>
              </a:defRPr>
            </a:lvl1pPr>
          </a:lstStyle>
          <a:p>
            <a:endParaRPr lang="en-US" dirty="0"/>
          </a:p>
        </p:txBody>
      </p:sp>
      <p:sp>
        <p:nvSpPr>
          <p:cNvPr id="6" name="Slide Number Placeholder 5"/>
          <p:cNvSpPr>
            <a:spLocks noGrp="1"/>
          </p:cNvSpPr>
          <p:nvPr>
            <p:ph type="sldNum" sz="quarter" idx="4"/>
          </p:nvPr>
        </p:nvSpPr>
        <p:spPr>
          <a:xfrm>
            <a:off x="9472736" y="6453386"/>
            <a:ext cx="1596292" cy="404614"/>
          </a:xfrm>
          <a:prstGeom prst="rect">
            <a:avLst/>
          </a:prstGeom>
        </p:spPr>
        <p:txBody>
          <a:bodyPr vert="horz" lIns="91440" tIns="45720" rIns="91440" bIns="45720" rtlCol="0" anchor="ctr"/>
          <a:lstStyle>
            <a:lvl1pPr algn="r">
              <a:defRPr sz="1200" baseline="0">
                <a:solidFill>
                  <a:schemeClr val="tx2"/>
                </a:solidFill>
              </a:defRPr>
            </a:lvl1pPr>
          </a:lstStyle>
          <a:p>
            <a:fld id="{69E57DC2-970A-4B3E-BB1C-7A09969E49DF}" type="slidenum">
              <a:rPr lang="en-US" dirty="0"/>
              <a:pPr/>
              <a:t>‹#›</a:t>
            </a:fld>
            <a:endParaRPr lang="en-US" dirty="0"/>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p:titleStyle>
    <p:body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0"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368">
          <p15:clr>
            <a:srgbClr val="F26B43"/>
          </p15:clr>
        </p15:guide>
        <p15:guide id="4" orient="horz" pos="1440">
          <p15:clr>
            <a:srgbClr val="F26B43"/>
          </p15:clr>
        </p15:guide>
        <p15:guide id="6" orient="horz" pos="3696">
          <p15:clr>
            <a:srgbClr val="F26B43"/>
          </p15:clr>
        </p15:guide>
        <p15:guide id="7" orient="horz" pos="432">
          <p15:clr>
            <a:srgbClr val="F26B43"/>
          </p15:clr>
        </p15:guide>
        <p15:guide id="8" orient="horz" pos="1512">
          <p15:clr>
            <a:srgbClr val="F26B43"/>
          </p15:clr>
        </p15:guide>
        <p15:guide id="9" pos="6912">
          <p15:clr>
            <a:srgbClr val="F26B43"/>
          </p15:clr>
        </p15:guide>
        <p15:guide id="10" pos="936">
          <p15:clr>
            <a:srgbClr val="F26B43"/>
          </p15:clr>
        </p15:guide>
        <p15:guide id="11" pos="86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arxiv.org/pdf/2005.14165"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arxiv.org/pdf/2010.00133"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github.com/shlomi1993/llm-from-scratch/blob/main/presentation/ch04_presentation.ipynb"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495AF-29A0-C076-CC01-E0BD6E953BA1}"/>
              </a:ext>
            </a:extLst>
          </p:cNvPr>
          <p:cNvSpPr>
            <a:spLocks noGrp="1"/>
          </p:cNvSpPr>
          <p:nvPr>
            <p:ph type="ctrTitle"/>
          </p:nvPr>
        </p:nvSpPr>
        <p:spPr>
          <a:xfrm>
            <a:off x="1240631" y="1788454"/>
            <a:ext cx="9710224" cy="2098226"/>
          </a:xfrm>
        </p:spPr>
        <p:txBody>
          <a:bodyPr/>
          <a:lstStyle/>
          <a:p>
            <a:r>
              <a:rPr lang="en-US" sz="4000" b="1" dirty="0">
                <a:effectLst/>
                <a:latin typeface="Times New Roman" panose="02020603050405020304" pitchFamily="18" charset="0"/>
                <a:cs typeface="Times New Roman" panose="02020603050405020304" pitchFamily="18" charset="0"/>
              </a:rPr>
              <a:t>LLaMA</a:t>
            </a:r>
            <a:r>
              <a:rPr lang="en-US" sz="4000" dirty="0">
                <a:effectLst/>
                <a:latin typeface="Times New Roman" panose="02020603050405020304" pitchFamily="18" charset="0"/>
                <a:cs typeface="Times New Roman" panose="02020603050405020304" pitchFamily="18" charset="0"/>
              </a:rPr>
              <a:t>: Open and Efficient Foundation Language Models</a:t>
            </a:r>
            <a:br>
              <a:rPr lang="en-US" sz="4000" dirty="0">
                <a:effectLst/>
                <a:latin typeface="Times New Roman" panose="02020603050405020304" pitchFamily="18" charset="0"/>
                <a:cs typeface="Times New Roman" panose="02020603050405020304" pitchFamily="18" charset="0"/>
              </a:rPr>
            </a:br>
            <a:r>
              <a:rPr lang="en-US" sz="1500" dirty="0">
                <a:effectLst/>
                <a:latin typeface="Times New Roman" panose="02020603050405020304" pitchFamily="18" charset="0"/>
                <a:cs typeface="Times New Roman" panose="02020603050405020304" pitchFamily="18" charset="0"/>
              </a:rPr>
              <a:t> </a:t>
            </a:r>
            <a:br>
              <a:rPr lang="en-US" sz="4000" dirty="0">
                <a:effectLst/>
                <a:latin typeface="Times New Roman" panose="02020603050405020304" pitchFamily="18" charset="0"/>
                <a:cs typeface="Times New Roman" panose="02020603050405020304" pitchFamily="18" charset="0"/>
              </a:rPr>
            </a:br>
            <a:r>
              <a:rPr lang="en-US" sz="4000" b="1" dirty="0">
                <a:effectLst/>
                <a:latin typeface="Times New Roman" panose="02020603050405020304" pitchFamily="18" charset="0"/>
                <a:cs typeface="Times New Roman" panose="02020603050405020304" pitchFamily="18" charset="0"/>
              </a:rPr>
              <a:t>evaluation</a:t>
            </a:r>
            <a:endParaRPr lang="en-IL" sz="40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D8FBB279-AF1D-54EC-CB83-3F90F28DED23}"/>
              </a:ext>
            </a:extLst>
          </p:cNvPr>
          <p:cNvSpPr>
            <a:spLocks noGrp="1"/>
          </p:cNvSpPr>
          <p:nvPr>
            <p:ph type="subTitle" idx="1"/>
          </p:nvPr>
        </p:nvSpPr>
        <p:spPr/>
        <p:txBody>
          <a:bodyPr/>
          <a:lstStyle/>
          <a:p>
            <a:pPr>
              <a:spcAft>
                <a:spcPts val="600"/>
              </a:spcAft>
            </a:pPr>
            <a:r>
              <a:rPr lang="en-IL" dirty="0">
                <a:latin typeface="Times New Roman" panose="02020603050405020304" pitchFamily="18" charset="0"/>
                <a:cs typeface="Times New Roman" panose="02020603050405020304" pitchFamily="18" charset="0"/>
              </a:rPr>
              <a:t>Shlomi Ben-Shushan</a:t>
            </a:r>
          </a:p>
          <a:p>
            <a:r>
              <a:rPr lang="en-IL" dirty="0">
                <a:latin typeface="Times New Roman" panose="02020603050405020304" pitchFamily="18" charset="0"/>
                <a:cs typeface="Times New Roman" panose="02020603050405020304" pitchFamily="18" charset="0"/>
              </a:rPr>
              <a:t>8 . 12 . 2025</a:t>
            </a:r>
          </a:p>
        </p:txBody>
      </p:sp>
      <p:pic>
        <p:nvPicPr>
          <p:cNvPr id="1028" name="Picture 4" descr="A llama wearing sunglasses and a hat&#10;&#10;Description automatically generated">
            <a:extLst>
              <a:ext uri="{FF2B5EF4-FFF2-40B4-BE49-F238E27FC236}">
                <a16:creationId xmlns:a16="http://schemas.microsoft.com/office/drawing/2014/main" id="{4DAD5C20-EE08-FA81-5B77-7A2E6583510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6446" b="9133"/>
          <a:stretch/>
        </p:blipFill>
        <p:spPr bwMode="auto">
          <a:xfrm>
            <a:off x="1500811" y="4051917"/>
            <a:ext cx="2358190" cy="28060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226349"/>
      </p:ext>
    </p:extLst>
  </p:cSld>
  <p:clrMapOvr>
    <a:masterClrMapping/>
  </p:clrMapOvr>
  <p:transition>
    <p:fade thruBlk="1"/>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A8E08-2ED9-6D4A-4BFC-F85FC72DC6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37A13A-7929-EB5D-DE44-5EE11D20A539}"/>
              </a:ext>
            </a:extLst>
          </p:cNvPr>
          <p:cNvSpPr>
            <a:spLocks noGrp="1"/>
          </p:cNvSpPr>
          <p:nvPr>
            <p:ph type="title"/>
          </p:nvPr>
        </p:nvSpPr>
        <p:spPr>
          <a:xfrm>
            <a:off x="1371600" y="355701"/>
            <a:ext cx="9601200" cy="660197"/>
          </a:xfrm>
        </p:spPr>
        <p:txBody>
          <a:bodyPr>
            <a:normAutofit fontScale="90000"/>
          </a:bodyPr>
          <a:lstStyle/>
          <a:p>
            <a:pPr algn="l" defTabSz="914400" rtl="1" eaLnBrk="1" latinLnBrk="0" hangingPunct="1">
              <a:lnSpc>
                <a:spcPct val="89000"/>
              </a:lnSpc>
              <a:spcBef>
                <a:spcPct val="0"/>
              </a:spcBef>
              <a:spcAft>
                <a:spcPts val="600"/>
              </a:spcAft>
              <a:buNone/>
            </a:pPr>
            <a:r>
              <a:rPr lang="en-US" b="1" dirty="0">
                <a:solidFill>
                  <a:schemeClr val="tx1"/>
                </a:solidFill>
              </a:rPr>
              <a:t>Agenda</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330800C-DC1C-052B-5D84-DD06ED4FBC79}"/>
              </a:ext>
            </a:extLst>
          </p:cNvPr>
          <p:cNvSpPr>
            <a:spLocks noGrp="1"/>
          </p:cNvSpPr>
          <p:nvPr>
            <p:ph idx="1"/>
          </p:nvPr>
        </p:nvSpPr>
        <p:spPr>
          <a:xfrm>
            <a:off x="1371600" y="1133856"/>
            <a:ext cx="9601200" cy="5500026"/>
          </a:xfrm>
        </p:spPr>
        <p:txBody>
          <a:bodyPr>
            <a:normAutofit fontScale="92500" lnSpcReduction="20000"/>
          </a:bodyPr>
          <a:lstStyle/>
          <a:p>
            <a:r>
              <a:rPr lang="en-US" sz="2400" b="0" i="0" dirty="0">
                <a:solidFill>
                  <a:schemeClr val="tx1"/>
                </a:solidFill>
                <a:effectLst/>
                <a:latin typeface="Times New Roman" panose="02020603050405020304" pitchFamily="18" charset="0"/>
                <a:cs typeface="Times New Roman" panose="02020603050405020304" pitchFamily="18" charset="0"/>
              </a:rPr>
              <a:t>Evaluation Methodology</a:t>
            </a:r>
          </a:p>
          <a:p>
            <a:endParaRPr lang="en-US" sz="1100" dirty="0">
              <a:solidFill>
                <a:schemeClr val="tx1"/>
              </a:solidFill>
            </a:endParaRPr>
          </a:p>
          <a:p>
            <a:r>
              <a:rPr lang="en-US" sz="2400" dirty="0">
                <a:solidFill>
                  <a:schemeClr val="tx1"/>
                </a:solidFill>
              </a:rPr>
              <a:t>Benchmarks</a:t>
            </a:r>
          </a:p>
          <a:p>
            <a:pPr lvl="1"/>
            <a:r>
              <a:rPr lang="en-US" sz="1900" dirty="0">
                <a:solidFill>
                  <a:schemeClr val="tx1"/>
                </a:solidFill>
              </a:rPr>
              <a:t>Common Sense Reasoning</a:t>
            </a:r>
          </a:p>
          <a:p>
            <a:pPr lvl="1"/>
            <a:r>
              <a:rPr lang="en-US" sz="1900" dirty="0">
                <a:solidFill>
                  <a:schemeClr val="tx1"/>
                </a:solidFill>
              </a:rPr>
              <a:t>Close-book Question Answering</a:t>
            </a:r>
          </a:p>
          <a:p>
            <a:pPr lvl="1"/>
            <a:r>
              <a:rPr lang="en-US" sz="1900" dirty="0">
                <a:solidFill>
                  <a:schemeClr val="tx1"/>
                </a:solidFill>
              </a:rPr>
              <a:t>Reading Comprehension</a:t>
            </a:r>
          </a:p>
          <a:p>
            <a:pPr lvl="1"/>
            <a:r>
              <a:rPr lang="en-US" sz="1900" dirty="0">
                <a:solidFill>
                  <a:schemeClr val="tx1"/>
                </a:solidFill>
              </a:rPr>
              <a:t>Mathematical Reasoning</a:t>
            </a:r>
          </a:p>
          <a:p>
            <a:pPr lvl="1"/>
            <a:r>
              <a:rPr lang="en-US" sz="1900" dirty="0">
                <a:solidFill>
                  <a:schemeClr val="tx1"/>
                </a:solidFill>
              </a:rPr>
              <a:t>Code Generation</a:t>
            </a:r>
          </a:p>
          <a:p>
            <a:pPr lvl="1"/>
            <a:r>
              <a:rPr lang="en-US" sz="1900" dirty="0">
                <a:solidFill>
                  <a:schemeClr val="tx1"/>
                </a:solidFill>
              </a:rPr>
              <a:t>MMLU</a:t>
            </a:r>
            <a:endParaRPr lang="he-IL" sz="1900" dirty="0">
              <a:solidFill>
                <a:schemeClr val="tx1"/>
              </a:solidFill>
            </a:endParaRPr>
          </a:p>
          <a:p>
            <a:pPr lvl="1"/>
            <a:r>
              <a:rPr lang="en-US" sz="1900" dirty="0">
                <a:solidFill>
                  <a:schemeClr val="tx1"/>
                </a:solidFill>
              </a:rPr>
              <a:t>Performance Evolution During Training</a:t>
            </a:r>
          </a:p>
          <a:p>
            <a:endParaRPr lang="en-US" sz="1200" dirty="0">
              <a:solidFill>
                <a:schemeClr val="tx1"/>
              </a:solidFill>
            </a:endParaRPr>
          </a:p>
          <a:p>
            <a:r>
              <a:rPr lang="en-US" sz="2400" dirty="0">
                <a:solidFill>
                  <a:schemeClr val="tx1"/>
                </a:solidFill>
              </a:rPr>
              <a:t>Additional Metrics</a:t>
            </a:r>
          </a:p>
          <a:p>
            <a:pPr lvl="1"/>
            <a:r>
              <a:rPr lang="en-US" sz="1800" dirty="0">
                <a:solidFill>
                  <a:schemeClr val="tx1"/>
                </a:solidFill>
              </a:rPr>
              <a:t>Instruction Finetuning</a:t>
            </a:r>
          </a:p>
          <a:p>
            <a:pPr lvl="1"/>
            <a:r>
              <a:rPr lang="en-US" sz="1800" b="0" i="0" dirty="0">
                <a:solidFill>
                  <a:schemeClr val="tx1"/>
                </a:solidFill>
                <a:effectLst/>
                <a:latin typeface="Times New Roman" panose="02020603050405020304" pitchFamily="18" charset="0"/>
                <a:cs typeface="Times New Roman" panose="02020603050405020304" pitchFamily="18" charset="0"/>
              </a:rPr>
              <a:t>Bias, Toxicity and Truthfulness</a:t>
            </a:r>
          </a:p>
          <a:p>
            <a:pPr lvl="1"/>
            <a:r>
              <a:rPr lang="en-US" sz="1800" dirty="0">
                <a:solidFill>
                  <a:schemeClr val="tx1"/>
                </a:solidFill>
              </a:rPr>
              <a:t>Carbon Footprint</a:t>
            </a:r>
          </a:p>
          <a:p>
            <a:endParaRPr lang="en-US" sz="1200" dirty="0">
              <a:solidFill>
                <a:schemeClr val="tx1"/>
              </a:solidFill>
            </a:endParaRPr>
          </a:p>
          <a:p>
            <a:r>
              <a:rPr lang="en-US" sz="2400" dirty="0">
                <a:solidFill>
                  <a:schemeClr val="tx1"/>
                </a:solidFill>
              </a:rPr>
              <a:t>Conclusions</a:t>
            </a:r>
            <a:endParaRPr lang="en-US" sz="2400" b="0" i="0" dirty="0">
              <a:solidFill>
                <a:schemeClr val="tx1"/>
              </a:solidFill>
              <a:effectLst/>
              <a:latin typeface="Times New Roman" panose="02020603050405020304" pitchFamily="18" charset="0"/>
              <a:cs typeface="Times New Roman" panose="02020603050405020304" pitchFamily="18" charset="0"/>
            </a:endParaRPr>
          </a:p>
          <a:p>
            <a:endParaRPr lang="en-US" sz="2400" b="0" i="0" dirty="0">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07077158"/>
      </p:ext>
    </p:extLst>
  </p:cSld>
  <p:clrMapOvr>
    <a:masterClrMapping/>
  </p:clrMapOvr>
  <p:transition>
    <p:fade thruBlk="1"/>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764DC-737A-02FF-68AC-47533A644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FDCDFE-7AE3-DB32-7B3D-189CD47EE874}"/>
              </a:ext>
            </a:extLst>
          </p:cNvPr>
          <p:cNvSpPr>
            <a:spLocks noGrp="1"/>
          </p:cNvSpPr>
          <p:nvPr>
            <p:ph type="ctrTitle"/>
          </p:nvPr>
        </p:nvSpPr>
        <p:spPr>
          <a:xfrm>
            <a:off x="2179320" y="3060460"/>
            <a:ext cx="7833360" cy="737080"/>
          </a:xfrm>
        </p:spPr>
        <p:txBody>
          <a:bodyPr/>
          <a:lstStyle/>
          <a:p>
            <a:r>
              <a:rPr lang="en-US" sz="4000" dirty="0">
                <a:effectLst/>
                <a:latin typeface="Times New Roman" panose="02020603050405020304" pitchFamily="18" charset="0"/>
                <a:cs typeface="Times New Roman" panose="02020603050405020304" pitchFamily="18" charset="0"/>
              </a:rPr>
              <a:t>Evaluation Methodology</a:t>
            </a:r>
            <a:endParaRPr lang="en-IL" sz="4000" dirty="0">
              <a:latin typeface="Times New Roman" panose="02020603050405020304" pitchFamily="18" charset="0"/>
              <a:cs typeface="Times New Roman" panose="02020603050405020304" pitchFamily="18" charset="0"/>
            </a:endParaRPr>
          </a:p>
        </p:txBody>
      </p:sp>
      <p:pic>
        <p:nvPicPr>
          <p:cNvPr id="4098" name="Picture 2">
            <a:extLst>
              <a:ext uri="{FF2B5EF4-FFF2-40B4-BE49-F238E27FC236}">
                <a16:creationId xmlns:a16="http://schemas.microsoft.com/office/drawing/2014/main" id="{D8B74DB0-C981-6691-8720-CF86C462A131}"/>
              </a:ext>
            </a:extLst>
          </p:cNvPr>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605373" y="4247483"/>
            <a:ext cx="2772478" cy="2772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8203024"/>
      </p:ext>
    </p:extLst>
  </p:cSld>
  <p:clrMapOvr>
    <a:masterClrMapping/>
  </p:clrMapOvr>
  <p:transition>
    <p:fade thruBlk="1"/>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F85EA-EDE7-7150-4CEE-72F6C54B3DC0}"/>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Evaluation Approach</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17BBD12-6038-D53B-6AE6-B9FBB2A3FE37}"/>
              </a:ext>
            </a:extLst>
          </p:cNvPr>
          <p:cNvSpPr>
            <a:spLocks noGrp="1"/>
          </p:cNvSpPr>
          <p:nvPr>
            <p:ph idx="1"/>
          </p:nvPr>
        </p:nvSpPr>
        <p:spPr>
          <a:xfrm>
            <a:off x="1371600" y="1133856"/>
            <a:ext cx="9601200" cy="5500026"/>
          </a:xfrm>
        </p:spPr>
        <p:txBody>
          <a:bodyPr>
            <a:noAutofit/>
          </a:bodyPr>
          <a:lstStyle/>
          <a:p>
            <a:r>
              <a:rPr lang="en-US" dirty="0"/>
              <a:t>Language Models are Few-Shot Learners</a:t>
            </a:r>
          </a:p>
          <a:p>
            <a:pPr lvl="1"/>
            <a:r>
              <a:rPr lang="en-US" sz="1800" dirty="0"/>
              <a:t>Brown et al., 2020</a:t>
            </a:r>
          </a:p>
          <a:p>
            <a:pPr lvl="1"/>
            <a:r>
              <a:rPr lang="en-US" sz="1800" dirty="0">
                <a:hlinkClick r:id="rId3"/>
              </a:rPr>
              <a:t>arXiv:2005.14165</a:t>
            </a:r>
            <a:endParaRPr lang="en-US" sz="1800" dirty="0"/>
          </a:p>
          <a:p>
            <a:endParaRPr lang="en-US" sz="1100" dirty="0"/>
          </a:p>
          <a:p>
            <a:r>
              <a:rPr lang="en-US" dirty="0"/>
              <a:t>Dataset based benchmarks</a:t>
            </a:r>
          </a:p>
          <a:p>
            <a:pPr lvl="1"/>
            <a:r>
              <a:rPr lang="en-US" sz="1800" i="0" dirty="0">
                <a:solidFill>
                  <a:schemeClr val="tx1"/>
                </a:solidFill>
                <a:latin typeface="Times New Roman" panose="02020603050405020304" pitchFamily="18" charset="0"/>
                <a:cs typeface="Times New Roman" panose="02020603050405020304" pitchFamily="18" charset="0"/>
              </a:rPr>
              <a:t>6 benchmarks based on 17 datasets</a:t>
            </a:r>
          </a:p>
          <a:p>
            <a:pPr lvl="1"/>
            <a:r>
              <a:rPr lang="en-US" sz="1800" i="0" dirty="0">
                <a:solidFill>
                  <a:schemeClr val="tx1"/>
                </a:solidFill>
                <a:latin typeface="Times New Roman" panose="02020603050405020304" pitchFamily="18" charset="0"/>
                <a:cs typeface="Times New Roman" panose="02020603050405020304" pitchFamily="18" charset="0"/>
              </a:rPr>
              <a:t>3 additional metrics,</a:t>
            </a:r>
            <a:endParaRPr lang="en-US" sz="1800" dirty="0"/>
          </a:p>
          <a:p>
            <a:endParaRPr lang="en-US" sz="1100"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Multiple settings</a:t>
            </a:r>
          </a:p>
          <a:p>
            <a:pPr lvl="1"/>
            <a:r>
              <a:rPr lang="en-US" sz="1800" dirty="0"/>
              <a:t>Zero-shot</a:t>
            </a:r>
          </a:p>
          <a:p>
            <a:pPr lvl="1"/>
            <a:r>
              <a:rPr lang="en-US" sz="1800" dirty="0"/>
              <a:t>Few-shot</a:t>
            </a:r>
          </a:p>
          <a:p>
            <a:endParaRPr lang="en-US" sz="1100" dirty="0">
              <a:latin typeface="Times New Roman" panose="02020603050405020304" pitchFamily="18" charset="0"/>
              <a:cs typeface="Times New Roman" panose="02020603050405020304" pitchFamily="18" charset="0"/>
            </a:endParaRPr>
          </a:p>
          <a:p>
            <a:r>
              <a:rPr lang="en-US" dirty="0"/>
              <a:t>Two main task-types</a:t>
            </a:r>
          </a:p>
          <a:p>
            <a:pPr lvl="1"/>
            <a:r>
              <a:rPr lang="en-US" sz="1800" b="0" i="0" dirty="0">
                <a:solidFill>
                  <a:schemeClr val="tx1"/>
                </a:solidFill>
                <a:effectLst/>
                <a:latin typeface="Times New Roman" panose="02020603050405020304" pitchFamily="18" charset="0"/>
                <a:cs typeface="Times New Roman" panose="02020603050405020304" pitchFamily="18" charset="0"/>
              </a:rPr>
              <a:t>Free-form generation</a:t>
            </a:r>
          </a:p>
          <a:p>
            <a:pPr lvl="1"/>
            <a:r>
              <a:rPr lang="en-US" sz="1800" b="0" i="0" dirty="0">
                <a:solidFill>
                  <a:schemeClr val="tx1"/>
                </a:solidFill>
                <a:effectLst/>
                <a:latin typeface="Times New Roman" panose="02020603050405020304" pitchFamily="18" charset="0"/>
                <a:cs typeface="Times New Roman" panose="02020603050405020304" pitchFamily="18" charset="0"/>
              </a:rPr>
              <a:t>Multiple choice – ranking options by likelihood</a:t>
            </a:r>
          </a:p>
        </p:txBody>
      </p:sp>
    </p:spTree>
    <p:extLst>
      <p:ext uri="{BB962C8B-B14F-4D97-AF65-F5344CB8AC3E}">
        <p14:creationId xmlns:p14="http://schemas.microsoft.com/office/powerpoint/2010/main" val="1941743341"/>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25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25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25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25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25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250"/>
                                        <p:tgtEl>
                                          <p:spTgt spid="3">
                                            <p:txEl>
                                              <p:pRg st="10" end="10"/>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12" end="12"/>
                                            </p:txEl>
                                          </p:spTgt>
                                        </p:tgtEl>
                                        <p:attrNameLst>
                                          <p:attrName>style.visibility</p:attrName>
                                        </p:attrNameLst>
                                      </p:cBhvr>
                                      <p:to>
                                        <p:strVal val="visible"/>
                                      </p:to>
                                    </p:set>
                                    <p:animEffect transition="in" filter="fade">
                                      <p:cBhvr>
                                        <p:cTn id="40" dur="250"/>
                                        <p:tgtEl>
                                          <p:spTgt spid="3">
                                            <p:txEl>
                                              <p:pRg st="12" end="12"/>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3">
                                            <p:txEl>
                                              <p:pRg st="13" end="13"/>
                                            </p:txEl>
                                          </p:spTgt>
                                        </p:tgtEl>
                                        <p:attrNameLst>
                                          <p:attrName>style.visibility</p:attrName>
                                        </p:attrNameLst>
                                      </p:cBhvr>
                                      <p:to>
                                        <p:strVal val="visible"/>
                                      </p:to>
                                    </p:set>
                                    <p:animEffect transition="in" filter="fade">
                                      <p:cBhvr>
                                        <p:cTn id="43" dur="250"/>
                                        <p:tgtEl>
                                          <p:spTgt spid="3">
                                            <p:txEl>
                                              <p:pRg st="13" end="13"/>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3">
                                            <p:txEl>
                                              <p:pRg st="14" end="14"/>
                                            </p:txEl>
                                          </p:spTgt>
                                        </p:tgtEl>
                                        <p:attrNameLst>
                                          <p:attrName>style.visibility</p:attrName>
                                        </p:attrNameLst>
                                      </p:cBhvr>
                                      <p:to>
                                        <p:strVal val="visible"/>
                                      </p:to>
                                    </p:set>
                                    <p:animEffect transition="in" filter="fade">
                                      <p:cBhvr>
                                        <p:cTn id="46" dur="25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3B3A7-8D65-535E-380C-426920F3D2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1267E5-A25A-7A1C-7AEF-1B0906D2D5A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Zero-Shot vs. Few-Shots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10" name="Content Placeholder 2">
            <a:extLst>
              <a:ext uri="{FF2B5EF4-FFF2-40B4-BE49-F238E27FC236}">
                <a16:creationId xmlns:a16="http://schemas.microsoft.com/office/drawing/2014/main" id="{AFB4A1EF-593C-5E10-853B-845942FFA025}"/>
              </a:ext>
            </a:extLst>
          </p:cNvPr>
          <p:cNvSpPr>
            <a:spLocks noGrp="1"/>
          </p:cNvSpPr>
          <p:nvPr>
            <p:ph idx="1"/>
          </p:nvPr>
        </p:nvSpPr>
        <p:spPr>
          <a:xfrm>
            <a:off x="1371600" y="1133856"/>
            <a:ext cx="9601200" cy="569214"/>
          </a:xfrm>
        </p:spPr>
        <p:txBody>
          <a:bodyPr>
            <a:normAutofit/>
          </a:bodyPr>
          <a:lstStyle/>
          <a:p>
            <a:r>
              <a:rPr lang="en-US" dirty="0"/>
              <a:t>Example from MMLU, a multiple-choice questionary dataset</a:t>
            </a:r>
            <a:endParaRPr lang="en-US" b="0" i="0" dirty="0">
              <a:solidFill>
                <a:schemeClr val="tx1"/>
              </a:solidFill>
              <a:effectLst/>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7C5213E0-1927-6047-6E42-60D9A462882F}"/>
              </a:ext>
            </a:extLst>
          </p:cNvPr>
          <p:cNvSpPr txBox="1"/>
          <p:nvPr/>
        </p:nvSpPr>
        <p:spPr>
          <a:xfrm>
            <a:off x="1847903" y="1600200"/>
            <a:ext cx="2442103" cy="400110"/>
          </a:xfrm>
          <a:prstGeom prst="rect">
            <a:avLst/>
          </a:prstGeom>
          <a:noFill/>
        </p:spPr>
        <p:txBody>
          <a:bodyPr wrap="square" lIns="0" rtlCol="0">
            <a:spAutoFit/>
          </a:bodyPr>
          <a:lstStyle/>
          <a:p>
            <a:r>
              <a:rPr lang="en-IL" sz="2000" dirty="0">
                <a:latin typeface="Times New Roman" panose="02020603050405020304" pitchFamily="18" charset="0"/>
                <a:cs typeface="Times New Roman" panose="02020603050405020304" pitchFamily="18" charset="0"/>
              </a:rPr>
              <a:t>Zero-Shot</a:t>
            </a:r>
          </a:p>
        </p:txBody>
      </p:sp>
      <p:sp>
        <p:nvSpPr>
          <p:cNvPr id="13" name="TextBox 12">
            <a:extLst>
              <a:ext uri="{FF2B5EF4-FFF2-40B4-BE49-F238E27FC236}">
                <a16:creationId xmlns:a16="http://schemas.microsoft.com/office/drawing/2014/main" id="{00E871A0-4905-1992-175A-B1B7EF228274}"/>
              </a:ext>
            </a:extLst>
          </p:cNvPr>
          <p:cNvSpPr txBox="1"/>
          <p:nvPr/>
        </p:nvSpPr>
        <p:spPr>
          <a:xfrm>
            <a:off x="5784534" y="1600200"/>
            <a:ext cx="2442103" cy="400110"/>
          </a:xfrm>
          <a:prstGeom prst="rect">
            <a:avLst/>
          </a:prstGeom>
          <a:noFill/>
        </p:spPr>
        <p:txBody>
          <a:bodyPr wrap="square" lIns="0" rtlCol="0">
            <a:spAutoFit/>
          </a:bodyPr>
          <a:lstStyle/>
          <a:p>
            <a:r>
              <a:rPr lang="en-IL" sz="2000" dirty="0">
                <a:latin typeface="Times New Roman" panose="02020603050405020304" pitchFamily="18" charset="0"/>
                <a:cs typeface="Times New Roman" panose="02020603050405020304" pitchFamily="18" charset="0"/>
              </a:rPr>
              <a:t>Few-Shots</a:t>
            </a:r>
          </a:p>
        </p:txBody>
      </p:sp>
      <p:pic>
        <p:nvPicPr>
          <p:cNvPr id="17" name="Picture 16">
            <a:extLst>
              <a:ext uri="{FF2B5EF4-FFF2-40B4-BE49-F238E27FC236}">
                <a16:creationId xmlns:a16="http://schemas.microsoft.com/office/drawing/2014/main" id="{7F2F115D-8A5B-A921-6F6D-6476FB2CC5CE}"/>
              </a:ext>
            </a:extLst>
          </p:cNvPr>
          <p:cNvPicPr>
            <a:picLocks noChangeAspect="1"/>
          </p:cNvPicPr>
          <p:nvPr/>
        </p:nvPicPr>
        <p:blipFill>
          <a:blip r:embed="rId3"/>
          <a:srcRect l="5441" t="18888" r="51912" b="6584"/>
          <a:stretch/>
        </p:blipFill>
        <p:spPr>
          <a:xfrm>
            <a:off x="1847903" y="2000310"/>
            <a:ext cx="3314700" cy="1880314"/>
          </a:xfrm>
          <a:prstGeom prst="rect">
            <a:avLst/>
          </a:prstGeom>
          <a:ln>
            <a:solidFill>
              <a:schemeClr val="tx1"/>
            </a:solidFill>
          </a:ln>
        </p:spPr>
      </p:pic>
      <p:pic>
        <p:nvPicPr>
          <p:cNvPr id="18" name="Picture 17">
            <a:extLst>
              <a:ext uri="{FF2B5EF4-FFF2-40B4-BE49-F238E27FC236}">
                <a16:creationId xmlns:a16="http://schemas.microsoft.com/office/drawing/2014/main" id="{971447B0-F44B-2DF7-2B5B-5F982220CAD2}"/>
              </a:ext>
            </a:extLst>
          </p:cNvPr>
          <p:cNvPicPr>
            <a:picLocks noChangeAspect="1"/>
          </p:cNvPicPr>
          <p:nvPr/>
        </p:nvPicPr>
        <p:blipFill>
          <a:blip r:embed="rId4"/>
          <a:srcRect l="2745" t="8646" r="36226" b="3923"/>
          <a:stretch/>
        </p:blipFill>
        <p:spPr>
          <a:xfrm>
            <a:off x="5753046" y="2000310"/>
            <a:ext cx="4743450" cy="4566206"/>
          </a:xfrm>
          <a:prstGeom prst="rect">
            <a:avLst/>
          </a:prstGeom>
          <a:ln>
            <a:solidFill>
              <a:schemeClr val="tx1"/>
            </a:solidFill>
          </a:ln>
        </p:spPr>
      </p:pic>
    </p:spTree>
    <p:extLst>
      <p:ext uri="{BB962C8B-B14F-4D97-AF65-F5344CB8AC3E}">
        <p14:creationId xmlns:p14="http://schemas.microsoft.com/office/powerpoint/2010/main" val="907084108"/>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25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25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250"/>
                                        <p:tgtEl>
                                          <p:spTgt spid="1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867CE-B00F-D7CE-DE34-7A28E7E8D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2345A4-C0DE-3D49-FBAC-14C9BD78DD9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Benchmarks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B7BF769-2041-7AC8-449B-E9A7C3DE899C}"/>
              </a:ext>
            </a:extLst>
          </p:cNvPr>
          <p:cNvSpPr>
            <a:spLocks noGrp="1"/>
          </p:cNvSpPr>
          <p:nvPr>
            <p:ph idx="1"/>
          </p:nvPr>
        </p:nvSpPr>
        <p:spPr>
          <a:xfrm>
            <a:off x="1371600" y="1133856"/>
            <a:ext cx="10383926" cy="5603828"/>
          </a:xfrm>
        </p:spPr>
        <p:txBody>
          <a:bodyPr>
            <a:noAutofit/>
          </a:bodyPr>
          <a:lstStyle/>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Common Sense Reasoning</a:t>
            </a:r>
            <a:endParaRPr lang="en-US" sz="1600" b="1" i="1" dirty="0">
              <a:latin typeface="Times New Roman" panose="02020603050405020304" pitchFamily="18" charset="0"/>
              <a:cs typeface="Times New Roman" panose="02020603050405020304" pitchFamily="18" charset="0"/>
            </a:endParaRPr>
          </a:p>
          <a:p>
            <a:pPr lvl="1">
              <a:lnSpc>
                <a:spcPct val="90000"/>
              </a:lnSpc>
            </a:pPr>
            <a:r>
              <a:rPr lang="en-US" sz="1400" i="0" dirty="0">
                <a:latin typeface="Times New Roman" panose="02020603050405020304" pitchFamily="18" charset="0"/>
                <a:cs typeface="Times New Roman" panose="02020603050405020304" pitchFamily="18" charset="0"/>
              </a:rPr>
              <a:t>Evaluates everyday reasoning capabilities using Cloze tasks, Winograd schemas, and multiple-choice questions.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BoolQ</a:t>
            </a:r>
            <a:r>
              <a:rPr lang="en-US" sz="1400" i="0" dirty="0">
                <a:latin typeface="Times New Roman" panose="02020603050405020304" pitchFamily="18" charset="0"/>
                <a:cs typeface="Times New Roman" panose="02020603050405020304" pitchFamily="18" charset="0"/>
              </a:rPr>
              <a:t>, PIQA, SIQA, </a:t>
            </a:r>
            <a:r>
              <a:rPr lang="en-US" sz="1400" i="0" dirty="0" err="1">
                <a:latin typeface="Times New Roman" panose="02020603050405020304" pitchFamily="18" charset="0"/>
                <a:cs typeface="Times New Roman" panose="02020603050405020304" pitchFamily="18" charset="0"/>
              </a:rPr>
              <a:t>HellaSwag</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WinoGrande</a:t>
            </a:r>
            <a:r>
              <a:rPr lang="en-US" sz="1400" i="0" dirty="0">
                <a:latin typeface="Times New Roman" panose="02020603050405020304" pitchFamily="18" charset="0"/>
                <a:cs typeface="Times New Roman" panose="02020603050405020304" pitchFamily="18" charset="0"/>
              </a:rPr>
              <a:t>, ARC easy, ARC challenge, </a:t>
            </a:r>
            <a:r>
              <a:rPr lang="en-US" sz="1400" i="0" dirty="0" err="1">
                <a:latin typeface="Times New Roman" panose="02020603050405020304" pitchFamily="18" charset="0"/>
                <a:cs typeface="Times New Roman" panose="02020603050405020304" pitchFamily="18" charset="0"/>
              </a:rPr>
              <a:t>OpenBookQA</a:t>
            </a:r>
            <a:r>
              <a:rPr lang="en-US" sz="1400" i="0" dirty="0">
                <a:latin typeface="Times New Roman" panose="02020603050405020304" pitchFamily="18" charset="0"/>
                <a:cs typeface="Times New Roman" panose="02020603050405020304" pitchFamily="18" charset="0"/>
              </a:rPr>
              <a:t>. (OBQA)</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Closed-book Question Answering</a:t>
            </a:r>
          </a:p>
          <a:p>
            <a:pPr lvl="1">
              <a:lnSpc>
                <a:spcPct val="90000"/>
              </a:lnSpc>
            </a:pPr>
            <a:r>
              <a:rPr lang="en-US" sz="1400" i="0" dirty="0">
                <a:latin typeface="Times New Roman" panose="02020603050405020304" pitchFamily="18" charset="0"/>
                <a:cs typeface="Times New Roman" panose="02020603050405020304" pitchFamily="18" charset="0"/>
              </a:rPr>
              <a:t>Tests model’s ability to answer questions using only internal knowledge, without access to external documents.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Natural Questions, </a:t>
            </a:r>
            <a:r>
              <a:rPr lang="en-US" sz="1400" i="0" dirty="0" err="1">
                <a:latin typeface="Times New Roman" panose="02020603050405020304" pitchFamily="18" charset="0"/>
                <a:cs typeface="Times New Roman" panose="02020603050405020304" pitchFamily="18" charset="0"/>
              </a:rPr>
              <a:t>TriviaQA</a:t>
            </a:r>
            <a:r>
              <a:rPr lang="en-US" sz="1400" i="0" dirty="0">
                <a:latin typeface="Times New Roman" panose="02020603050405020304" pitchFamily="18" charset="0"/>
                <a:cs typeface="Times New Roman" panose="02020603050405020304" pitchFamily="18" charset="0"/>
              </a:rPr>
              <a:t>.</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Reading Comprehension</a:t>
            </a:r>
          </a:p>
          <a:p>
            <a:pPr lvl="1">
              <a:lnSpc>
                <a:spcPct val="90000"/>
              </a:lnSpc>
            </a:pPr>
            <a:r>
              <a:rPr lang="en-US" sz="1400" i="0" dirty="0">
                <a:latin typeface="Times New Roman" panose="02020603050405020304" pitchFamily="18" charset="0"/>
                <a:cs typeface="Times New Roman" panose="02020603050405020304" pitchFamily="18" charset="0"/>
              </a:rPr>
              <a:t>Measures understanding of text passages using middle and high school English exam questions.</a:t>
            </a:r>
            <a:endParaRPr lang="en-US" sz="1400" dirty="0">
              <a:latin typeface="Times New Roman" panose="02020603050405020304" pitchFamily="18" charset="0"/>
              <a:cs typeface="Times New Roman" panose="02020603050405020304" pitchFamily="18" charset="0"/>
            </a:endParaRP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RACE-middle, RACE-high.</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Mathematical Reasoning</a:t>
            </a:r>
          </a:p>
          <a:p>
            <a:pPr lvl="1">
              <a:lnSpc>
                <a:spcPct val="90000"/>
              </a:lnSpc>
            </a:pPr>
            <a:r>
              <a:rPr lang="en-US" sz="1400" i="0" dirty="0">
                <a:latin typeface="Times New Roman" panose="02020603050405020304" pitchFamily="18" charset="0"/>
                <a:cs typeface="Times New Roman" panose="02020603050405020304" pitchFamily="18" charset="0"/>
              </a:rPr>
              <a:t>Assesses capability to solve middle and high school level math problems.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MATH, GSM8k.</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Code Generation</a:t>
            </a:r>
          </a:p>
          <a:p>
            <a:pPr lvl="1">
              <a:lnSpc>
                <a:spcPct val="90000"/>
              </a:lnSpc>
            </a:pPr>
            <a:r>
              <a:rPr lang="en-US" sz="1400" i="0" dirty="0">
                <a:latin typeface="Times New Roman" panose="02020603050405020304" pitchFamily="18" charset="0"/>
                <a:cs typeface="Times New Roman" panose="02020603050405020304" pitchFamily="18" charset="0"/>
              </a:rPr>
              <a:t>Evaluates ability to generate functional Python code from natural language descriptions.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HumanEval</a:t>
            </a:r>
            <a:r>
              <a:rPr lang="en-US" sz="1400" i="0" dirty="0">
                <a:latin typeface="Times New Roman" panose="02020603050405020304" pitchFamily="18" charset="0"/>
                <a:cs typeface="Times New Roman" panose="02020603050405020304" pitchFamily="18" charset="0"/>
              </a:rPr>
              <a:t>, MBPP.</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Massive Multitask Language Understanding (MMLU)</a:t>
            </a:r>
          </a:p>
          <a:p>
            <a:pPr lvl="1">
              <a:lnSpc>
                <a:spcPct val="90000"/>
              </a:lnSpc>
            </a:pPr>
            <a:r>
              <a:rPr lang="en-US" sz="1400" i="0" dirty="0">
                <a:latin typeface="Times New Roman" panose="02020603050405020304" pitchFamily="18" charset="0"/>
                <a:cs typeface="Times New Roman" panose="02020603050405020304" pitchFamily="18" charset="0"/>
              </a:rPr>
              <a:t>A comprehensive test covering diverse domains like humanities, STEM, and social sciences.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MMLU.</a:t>
            </a:r>
          </a:p>
        </p:txBody>
      </p:sp>
    </p:spTree>
    <p:extLst>
      <p:ext uri="{BB962C8B-B14F-4D97-AF65-F5344CB8AC3E}">
        <p14:creationId xmlns:p14="http://schemas.microsoft.com/office/powerpoint/2010/main" val="3961959209"/>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250"/>
                                        <p:tgtEl>
                                          <p:spTgt spid="3">
                                            <p:txEl>
                                              <p:pRg st="3" end="3"/>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250"/>
                                        <p:tgtEl>
                                          <p:spTgt spid="3">
                                            <p:txEl>
                                              <p:pRg st="4" end="4"/>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250"/>
                                        <p:tgtEl>
                                          <p:spTgt spid="3">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250"/>
                                        <p:tgtEl>
                                          <p:spTgt spid="3">
                                            <p:txEl>
                                              <p:pRg st="6" end="6"/>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250"/>
                                        <p:tgtEl>
                                          <p:spTgt spid="3">
                                            <p:txEl>
                                              <p:pRg st="7" end="7"/>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250"/>
                                        <p:tgtEl>
                                          <p:spTgt spid="3">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250"/>
                                        <p:tgtEl>
                                          <p:spTgt spid="3">
                                            <p:txEl>
                                              <p:pRg st="9" end="9"/>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animEffect transition="in" filter="fade">
                                      <p:cBhvr>
                                        <p:cTn id="43" dur="250"/>
                                        <p:tgtEl>
                                          <p:spTgt spid="3">
                                            <p:txEl>
                                              <p:pRg st="10" end="10"/>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3">
                                            <p:txEl>
                                              <p:pRg st="11" end="11"/>
                                            </p:txEl>
                                          </p:spTgt>
                                        </p:tgtEl>
                                        <p:attrNameLst>
                                          <p:attrName>style.visibility</p:attrName>
                                        </p:attrNameLst>
                                      </p:cBhvr>
                                      <p:to>
                                        <p:strVal val="visible"/>
                                      </p:to>
                                    </p:set>
                                    <p:animEffect transition="in" filter="fade">
                                      <p:cBhvr>
                                        <p:cTn id="46" dur="250"/>
                                        <p:tgtEl>
                                          <p:spTgt spid="3">
                                            <p:txEl>
                                              <p:pRg st="11" end="11"/>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animEffect transition="in" filter="fade">
                                      <p:cBhvr>
                                        <p:cTn id="51" dur="250"/>
                                        <p:tgtEl>
                                          <p:spTgt spid="3">
                                            <p:txEl>
                                              <p:pRg st="12" end="12"/>
                                            </p:txEl>
                                          </p:spTgt>
                                        </p:tgtEl>
                                      </p:cBhvr>
                                    </p:animEffect>
                                  </p:childTnLst>
                                </p:cTn>
                              </p:par>
                              <p:par>
                                <p:cTn id="52" presetID="10" presetClass="entr" presetSubtype="0" fill="hold" nodeType="withEffect">
                                  <p:stCondLst>
                                    <p:cond delay="0"/>
                                  </p:stCondLst>
                                  <p:childTnLst>
                                    <p:set>
                                      <p:cBhvr>
                                        <p:cTn id="53" dur="1" fill="hold">
                                          <p:stCondLst>
                                            <p:cond delay="0"/>
                                          </p:stCondLst>
                                        </p:cTn>
                                        <p:tgtEl>
                                          <p:spTgt spid="3">
                                            <p:txEl>
                                              <p:pRg st="13" end="13"/>
                                            </p:txEl>
                                          </p:spTgt>
                                        </p:tgtEl>
                                        <p:attrNameLst>
                                          <p:attrName>style.visibility</p:attrName>
                                        </p:attrNameLst>
                                      </p:cBhvr>
                                      <p:to>
                                        <p:strVal val="visible"/>
                                      </p:to>
                                    </p:set>
                                    <p:animEffect transition="in" filter="fade">
                                      <p:cBhvr>
                                        <p:cTn id="54" dur="250"/>
                                        <p:tgtEl>
                                          <p:spTgt spid="3">
                                            <p:txEl>
                                              <p:pRg st="13" end="13"/>
                                            </p:txEl>
                                          </p:spTgt>
                                        </p:tgtEl>
                                      </p:cBhvr>
                                    </p:animEffect>
                                  </p:childTnLst>
                                </p:cTn>
                              </p:par>
                              <p:par>
                                <p:cTn id="55" presetID="10" presetClass="entr" presetSubtype="0" fill="hold" nodeType="withEffect">
                                  <p:stCondLst>
                                    <p:cond delay="0"/>
                                  </p:stCondLst>
                                  <p:childTnLst>
                                    <p:set>
                                      <p:cBhvr>
                                        <p:cTn id="56" dur="1" fill="hold">
                                          <p:stCondLst>
                                            <p:cond delay="0"/>
                                          </p:stCondLst>
                                        </p:cTn>
                                        <p:tgtEl>
                                          <p:spTgt spid="3">
                                            <p:txEl>
                                              <p:pRg st="14" end="14"/>
                                            </p:txEl>
                                          </p:spTgt>
                                        </p:tgtEl>
                                        <p:attrNameLst>
                                          <p:attrName>style.visibility</p:attrName>
                                        </p:attrNameLst>
                                      </p:cBhvr>
                                      <p:to>
                                        <p:strVal val="visible"/>
                                      </p:to>
                                    </p:set>
                                    <p:animEffect transition="in" filter="fade">
                                      <p:cBhvr>
                                        <p:cTn id="57" dur="250"/>
                                        <p:tgtEl>
                                          <p:spTgt spid="3">
                                            <p:txEl>
                                              <p:pRg st="14" end="14"/>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3">
                                            <p:txEl>
                                              <p:pRg st="15" end="15"/>
                                            </p:txEl>
                                          </p:spTgt>
                                        </p:tgtEl>
                                        <p:attrNameLst>
                                          <p:attrName>style.visibility</p:attrName>
                                        </p:attrNameLst>
                                      </p:cBhvr>
                                      <p:to>
                                        <p:strVal val="visible"/>
                                      </p:to>
                                    </p:set>
                                    <p:animEffect transition="in" filter="fade">
                                      <p:cBhvr>
                                        <p:cTn id="62" dur="250"/>
                                        <p:tgtEl>
                                          <p:spTgt spid="3">
                                            <p:txEl>
                                              <p:pRg st="15" end="15"/>
                                            </p:txEl>
                                          </p:spTgt>
                                        </p:tgtEl>
                                      </p:cBhvr>
                                    </p:animEffect>
                                  </p:childTnLst>
                                </p:cTn>
                              </p:par>
                              <p:par>
                                <p:cTn id="63" presetID="10" presetClass="entr" presetSubtype="0" fill="hold" nodeType="withEffect">
                                  <p:stCondLst>
                                    <p:cond delay="0"/>
                                  </p:stCondLst>
                                  <p:childTnLst>
                                    <p:set>
                                      <p:cBhvr>
                                        <p:cTn id="64" dur="1" fill="hold">
                                          <p:stCondLst>
                                            <p:cond delay="0"/>
                                          </p:stCondLst>
                                        </p:cTn>
                                        <p:tgtEl>
                                          <p:spTgt spid="3">
                                            <p:txEl>
                                              <p:pRg st="16" end="16"/>
                                            </p:txEl>
                                          </p:spTgt>
                                        </p:tgtEl>
                                        <p:attrNameLst>
                                          <p:attrName>style.visibility</p:attrName>
                                        </p:attrNameLst>
                                      </p:cBhvr>
                                      <p:to>
                                        <p:strVal val="visible"/>
                                      </p:to>
                                    </p:set>
                                    <p:animEffect transition="in" filter="fade">
                                      <p:cBhvr>
                                        <p:cTn id="65" dur="250"/>
                                        <p:tgtEl>
                                          <p:spTgt spid="3">
                                            <p:txEl>
                                              <p:pRg st="16" end="16"/>
                                            </p:txEl>
                                          </p:spTgt>
                                        </p:tgtEl>
                                      </p:cBhvr>
                                    </p:animEffect>
                                  </p:childTnLst>
                                </p:cTn>
                              </p:par>
                              <p:par>
                                <p:cTn id="66" presetID="10" presetClass="entr" presetSubtype="0" fill="hold" nodeType="withEffect">
                                  <p:stCondLst>
                                    <p:cond delay="0"/>
                                  </p:stCondLst>
                                  <p:childTnLst>
                                    <p:set>
                                      <p:cBhvr>
                                        <p:cTn id="67" dur="1" fill="hold">
                                          <p:stCondLst>
                                            <p:cond delay="0"/>
                                          </p:stCondLst>
                                        </p:cTn>
                                        <p:tgtEl>
                                          <p:spTgt spid="3">
                                            <p:txEl>
                                              <p:pRg st="17" end="17"/>
                                            </p:txEl>
                                          </p:spTgt>
                                        </p:tgtEl>
                                        <p:attrNameLst>
                                          <p:attrName>style.visibility</p:attrName>
                                        </p:attrNameLst>
                                      </p:cBhvr>
                                      <p:to>
                                        <p:strVal val="visible"/>
                                      </p:to>
                                    </p:set>
                                    <p:animEffect transition="in" filter="fade">
                                      <p:cBhvr>
                                        <p:cTn id="68" dur="250"/>
                                        <p:tgtEl>
                                          <p:spTgt spid="3">
                                            <p:txEl>
                                              <p:pRg st="17" end="1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B60EB-87E6-614B-8160-E6D0D0D9EB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EA7D63-ACC8-A481-C999-7CA65304ADCE}"/>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Additional Metrics</a:t>
            </a: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63ADEF5-05C3-CC1B-710D-624123AB59F8}"/>
                  </a:ext>
                </a:extLst>
              </p:cNvPr>
              <p:cNvSpPr>
                <a:spLocks noGrp="1"/>
              </p:cNvSpPr>
              <p:nvPr>
                <p:ph idx="1"/>
              </p:nvPr>
            </p:nvSpPr>
            <p:spPr>
              <a:xfrm>
                <a:off x="1371600" y="1133856"/>
                <a:ext cx="9601200" cy="5179161"/>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Instruction Finetuning</a:t>
                </a:r>
              </a:p>
              <a:p>
                <a:pPr lvl="1"/>
                <a:r>
                  <a:rPr lang="en-US" b="0" i="0" dirty="0">
                    <a:solidFill>
                      <a:schemeClr val="tx1"/>
                    </a:solidFill>
                    <a:effectLst/>
                    <a:latin typeface="Times New Roman" panose="02020603050405020304" pitchFamily="18" charset="0"/>
                    <a:cs typeface="Times New Roman" panose="02020603050405020304" pitchFamily="18" charset="0"/>
                  </a:rPr>
                  <a:t>Demonstrates that brief finetuning on instruction data rapidly improves performance and instruction-following abilities.</a:t>
                </a:r>
              </a:p>
              <a:p>
                <a:pPr lvl="1"/>
                <a:r>
                  <a:rPr lang="en-US" b="1" i="0" dirty="0">
                    <a:solidFill>
                      <a:schemeClr val="tx1"/>
                    </a:solidFill>
                    <a:effectLst/>
                    <a:latin typeface="Times New Roman" panose="02020603050405020304" pitchFamily="18" charset="0"/>
                    <a:cs typeface="Times New Roman" panose="02020603050405020304" pitchFamily="18" charset="0"/>
                  </a:rPr>
                  <a:t>Model:</a:t>
                </a:r>
                <a:r>
                  <a:rPr lang="en-US" b="0" i="0" dirty="0">
                    <a:solidFill>
                      <a:schemeClr val="tx1"/>
                    </a:solidFill>
                    <a:effectLst/>
                    <a:latin typeface="Times New Roman" panose="02020603050405020304" pitchFamily="18" charset="0"/>
                    <a:cs typeface="Times New Roman" panose="02020603050405020304" pitchFamily="18" charset="0"/>
                  </a:rPr>
                  <a:t> </a:t>
                </a:r>
                <a:r>
                  <a:rPr lang="en-US" b="0" i="0" dirty="0" err="1">
                    <a:solidFill>
                      <a:schemeClr val="tx1"/>
                    </a:solidFill>
                    <a:effectLst/>
                    <a:latin typeface="Times New Roman" panose="02020603050405020304" pitchFamily="18" charset="0"/>
                    <a:cs typeface="Times New Roman" panose="02020603050405020304" pitchFamily="18" charset="0"/>
                  </a:rPr>
                  <a:t>LLaMA</a:t>
                </a:r>
                <a:r>
                  <a:rPr lang="en-US" b="0" i="0" dirty="0">
                    <a:solidFill>
                      <a:schemeClr val="tx1"/>
                    </a:solidFill>
                    <a:effectLst/>
                    <a:latin typeface="Times New Roman" panose="02020603050405020304" pitchFamily="18" charset="0"/>
                    <a:cs typeface="Times New Roman" panose="02020603050405020304" pitchFamily="18" charset="0"/>
                  </a:rPr>
                  <a:t>-I (evaluated on MMLU).</a:t>
                </a:r>
              </a:p>
              <a:p>
                <a:endParaRPr lang="en-US" dirty="0">
                  <a:solidFill>
                    <a:schemeClr val="tx1"/>
                  </a:solidFill>
                  <a:latin typeface="Times New Roman" panose="02020603050405020304" pitchFamily="18" charset="0"/>
                  <a:cs typeface="Times New Roman" panose="02020603050405020304" pitchFamily="18" charset="0"/>
                </a:endParaRPr>
              </a:p>
              <a:p>
                <a:r>
                  <a:rPr lang="en-US" sz="2000" b="1" dirty="0">
                    <a:solidFill>
                      <a:schemeClr val="tx1"/>
                    </a:solidFill>
                    <a:latin typeface="Times New Roman" panose="02020603050405020304" pitchFamily="18" charset="0"/>
                    <a:cs typeface="Times New Roman" panose="02020603050405020304" pitchFamily="18" charset="0"/>
                  </a:rPr>
                  <a:t>Bias, Toxicity &amp; Truthfulness</a:t>
                </a:r>
                <a:endParaRPr lang="en-US" b="1" dirty="0">
                  <a:solidFill>
                    <a:schemeClr val="tx1"/>
                  </a:solidFill>
                  <a:latin typeface="Times New Roman" panose="02020603050405020304" pitchFamily="18" charset="0"/>
                  <a:cs typeface="Times New Roman" panose="02020603050405020304" pitchFamily="18" charset="0"/>
                </a:endParaRPr>
              </a:p>
              <a:p>
                <a:pPr lvl="1"/>
                <a:r>
                  <a:rPr lang="en-US" i="0" dirty="0">
                    <a:solidFill>
                      <a:schemeClr val="tx1"/>
                    </a:solidFill>
                    <a:latin typeface="Times New Roman" panose="02020603050405020304" pitchFamily="18" charset="0"/>
                    <a:cs typeface="Times New Roman" panose="02020603050405020304" pitchFamily="18" charset="0"/>
                  </a:rPr>
                  <a:t>Measures toxic content generation, social stereotypes, biases, and misinformation.</a:t>
                </a:r>
              </a:p>
              <a:p>
                <a:pPr lvl="1"/>
                <a:r>
                  <a:rPr lang="en-US" b="1" i="0" dirty="0">
                    <a:solidFill>
                      <a:schemeClr val="tx1"/>
                    </a:solidFill>
                    <a:latin typeface="Times New Roman" panose="02020603050405020304" pitchFamily="18" charset="0"/>
                    <a:cs typeface="Times New Roman" panose="02020603050405020304" pitchFamily="18" charset="0"/>
                  </a:rPr>
                  <a:t>Datasets:</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RealToxicityPrompts</a:t>
                </a:r>
                <a:r>
                  <a:rPr lang="en-US" i="0" dirty="0">
                    <a:solidFill>
                      <a:schemeClr val="tx1"/>
                    </a:solidFill>
                    <a:latin typeface="Times New Roman" panose="02020603050405020304" pitchFamily="18" charset="0"/>
                    <a:cs typeface="Times New Roman" panose="02020603050405020304" pitchFamily="18" charset="0"/>
                  </a:rPr>
                  <a:t> (</a:t>
                </a:r>
                <a:r>
                  <a:rPr lang="en-US" dirty="0" err="1">
                    <a:solidFill>
                      <a:schemeClr val="tx1"/>
                    </a:solidFill>
                    <a:latin typeface="Times New Roman" panose="02020603050405020304" pitchFamily="18" charset="0"/>
                    <a:cs typeface="Times New Roman" panose="02020603050405020304" pitchFamily="18" charset="0"/>
                  </a:rPr>
                  <a:t>PerspectiveAPI</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CrowS</a:t>
                </a:r>
                <a:r>
                  <a:rPr lang="en-US" i="0" dirty="0">
                    <a:solidFill>
                      <a:schemeClr val="tx1"/>
                    </a:solidFill>
                    <a:latin typeface="Times New Roman" panose="02020603050405020304" pitchFamily="18" charset="0"/>
                    <a:cs typeface="Times New Roman" panose="02020603050405020304" pitchFamily="18" charset="0"/>
                  </a:rPr>
                  <a:t>-Pairs, </a:t>
                </a:r>
                <a:r>
                  <a:rPr lang="en-US" i="0" dirty="0" err="1">
                    <a:solidFill>
                      <a:schemeClr val="tx1"/>
                    </a:solidFill>
                    <a:latin typeface="Times New Roman" panose="02020603050405020304" pitchFamily="18" charset="0"/>
                    <a:cs typeface="Times New Roman" panose="02020603050405020304" pitchFamily="18" charset="0"/>
                  </a:rPr>
                  <a:t>WinoGender</a:t>
                </a:r>
                <a:r>
                  <a:rPr lang="en-US" i="0" dirty="0">
                    <a:solidFill>
                      <a:schemeClr val="tx1"/>
                    </a:solidFill>
                    <a:latin typeface="Times New Roman" panose="02020603050405020304" pitchFamily="18" charset="0"/>
                    <a:cs typeface="Times New Roman" panose="02020603050405020304" pitchFamily="18" charset="0"/>
                  </a:rPr>
                  <a:t>,</a:t>
                </a:r>
              </a:p>
              <a:p>
                <a:endParaRPr lang="en-US" b="1" i="0" dirty="0">
                  <a:solidFill>
                    <a:schemeClr val="tx1"/>
                  </a:solidFill>
                  <a:effectLst/>
                  <a:latin typeface="Times New Roman" panose="02020603050405020304" pitchFamily="18" charset="0"/>
                  <a:cs typeface="Times New Roman" panose="02020603050405020304" pitchFamily="18" charset="0"/>
                </a:endParaRPr>
              </a:p>
              <a:p>
                <a:r>
                  <a:rPr lang="en-US" b="1" i="0" dirty="0">
                    <a:solidFill>
                      <a:schemeClr val="tx1"/>
                    </a:solidFill>
                    <a:effectLst/>
                    <a:latin typeface="Times New Roman" panose="02020603050405020304" pitchFamily="18" charset="0"/>
                    <a:cs typeface="Times New Roman" panose="02020603050405020304" pitchFamily="18" charset="0"/>
                  </a:rPr>
                  <a:t>Carbon Footprint</a:t>
                </a:r>
                <a:endParaRPr lang="en-US" dirty="0">
                  <a:solidFill>
                    <a:schemeClr val="tx1"/>
                  </a:solidFill>
                  <a:latin typeface="Times New Roman" panose="02020603050405020304" pitchFamily="18" charset="0"/>
                  <a:cs typeface="Times New Roman" panose="02020603050405020304" pitchFamily="18" charset="0"/>
                </a:endParaRPr>
              </a:p>
              <a:p>
                <a:pPr lvl="1"/>
                <a:r>
                  <a:rPr lang="en-US" b="0" i="0" dirty="0">
                    <a:solidFill>
                      <a:schemeClr val="tx1"/>
                    </a:solidFill>
                    <a:effectLst/>
                    <a:latin typeface="Times New Roman" panose="02020603050405020304" pitchFamily="18" charset="0"/>
                    <a:cs typeface="Times New Roman" panose="02020603050405020304" pitchFamily="18" charset="0"/>
                  </a:rPr>
                  <a:t>Estimates training </a:t>
                </a:r>
                <a:r>
                  <a:rPr lang="en-US" i="0" dirty="0">
                    <a:solidFill>
                      <a:schemeClr val="tx1"/>
                    </a:solidFill>
                    <a:latin typeface="Times New Roman" panose="02020603050405020304" pitchFamily="18" charset="0"/>
                    <a:cs typeface="Times New Roman" panose="02020603050405020304" pitchFamily="18" charset="0"/>
                  </a:rPr>
                  <a:t>energy (</a:t>
                </a:r>
                <a14:m>
                  <m:oMath xmlns:m="http://schemas.openxmlformats.org/officeDocument/2006/math">
                    <m:r>
                      <a:rPr lang="en-US" i="1" dirty="0" smtClean="0">
                        <a:solidFill>
                          <a:schemeClr val="tx1"/>
                        </a:solidFill>
                        <a:latin typeface="Cambria Math" panose="02040503050406030204" pitchFamily="18" charset="0"/>
                        <a:cs typeface="Times New Roman" panose="02020603050405020304" pitchFamily="18" charset="0"/>
                      </a:rPr>
                      <m:t>𝑀𝑊h</m:t>
                    </m:r>
                  </m:oMath>
                </a14:m>
                <a:r>
                  <a:rPr lang="en-US" i="0" dirty="0">
                    <a:solidFill>
                      <a:schemeClr val="tx1"/>
                    </a:solidFill>
                    <a:latin typeface="Times New Roman" panose="02020603050405020304" pitchFamily="18" charset="0"/>
                    <a:cs typeface="Times New Roman" panose="02020603050405020304" pitchFamily="18" charset="0"/>
                  </a:rPr>
                  <a:t>) </a:t>
                </a:r>
                <a:r>
                  <a:rPr lang="en-US" b="0" i="0" dirty="0">
                    <a:solidFill>
                      <a:schemeClr val="tx1"/>
                    </a:solidFill>
                    <a:effectLst/>
                    <a:latin typeface="Times New Roman" panose="02020603050405020304" pitchFamily="18" charset="0"/>
                    <a:cs typeface="Times New Roman" panose="02020603050405020304" pitchFamily="18" charset="0"/>
                  </a:rPr>
                  <a:t>carbon emissions (</a:t>
                </a:r>
                <a14:m>
                  <m:oMath xmlns:m="http://schemas.openxmlformats.org/officeDocument/2006/math">
                    <m:r>
                      <a:rPr lang="en-US" b="0" i="1" dirty="0" smtClean="0">
                        <a:solidFill>
                          <a:schemeClr val="tx1"/>
                        </a:solidFill>
                        <a:effectLst/>
                        <a:latin typeface="Cambria Math" panose="02040503050406030204" pitchFamily="18" charset="0"/>
                        <a:cs typeface="Times New Roman" panose="02020603050405020304" pitchFamily="18" charset="0"/>
                      </a:rPr>
                      <m:t>𝑡𝐶𝑂</m:t>
                    </m:r>
                    <m:r>
                      <a:rPr lang="en-US" b="0" i="1" dirty="0" smtClean="0">
                        <a:solidFill>
                          <a:schemeClr val="tx1"/>
                        </a:solidFill>
                        <a:effectLst/>
                        <a:latin typeface="Cambria Math" panose="02040503050406030204" pitchFamily="18" charset="0"/>
                        <a:cs typeface="Times New Roman" panose="02020603050405020304" pitchFamily="18" charset="0"/>
                      </a:rPr>
                      <m:t>2</m:t>
                    </m:r>
                    <m:r>
                      <a:rPr lang="en-US" b="0" i="1" dirty="0" smtClean="0">
                        <a:solidFill>
                          <a:schemeClr val="tx1"/>
                        </a:solidFill>
                        <a:effectLst/>
                        <a:latin typeface="Cambria Math" panose="02040503050406030204" pitchFamily="18" charset="0"/>
                        <a:cs typeface="Times New Roman" panose="02020603050405020304" pitchFamily="18" charset="0"/>
                      </a:rPr>
                      <m:t>𝑒𝑞</m:t>
                    </m:r>
                  </m:oMath>
                </a14:m>
                <a:r>
                  <a:rPr lang="en-US" b="0" i="0" dirty="0">
                    <a:solidFill>
                      <a:schemeClr val="tx1"/>
                    </a:solidFill>
                    <a:effectLst/>
                    <a:latin typeface="Times New Roman" panose="02020603050405020304" pitchFamily="18" charset="0"/>
                    <a:cs typeface="Times New Roman" panose="02020603050405020304" pitchFamily="18" charset="0"/>
                  </a:rPr>
                  <a:t>) and highlights how open releases reduce future environmental costs by preventing retraining.</a:t>
                </a:r>
              </a:p>
            </p:txBody>
          </p:sp>
        </mc:Choice>
        <mc:Fallback xmlns="">
          <p:sp>
            <p:nvSpPr>
              <p:cNvPr id="3" name="Content Placeholder 2">
                <a:extLst>
                  <a:ext uri="{FF2B5EF4-FFF2-40B4-BE49-F238E27FC236}">
                    <a16:creationId xmlns:a16="http://schemas.microsoft.com/office/drawing/2014/main" id="{E63ADEF5-05C3-CC1B-710D-624123AB59F8}"/>
                  </a:ext>
                </a:extLst>
              </p:cNvPr>
              <p:cNvSpPr>
                <a:spLocks noGrp="1" noRot="1" noChangeAspect="1" noMove="1" noResize="1" noEditPoints="1" noAdjustHandles="1" noChangeArrowheads="1" noChangeShapeType="1" noTextEdit="1"/>
              </p:cNvSpPr>
              <p:nvPr>
                <p:ph idx="1"/>
              </p:nvPr>
            </p:nvSpPr>
            <p:spPr>
              <a:xfrm>
                <a:off x="1371600" y="1133856"/>
                <a:ext cx="9601200" cy="5179161"/>
              </a:xfrm>
              <a:blipFill>
                <a:blip r:embed="rId3"/>
                <a:stretch>
                  <a:fillRect l="-661" t="-978"/>
                </a:stretch>
              </a:blipFill>
            </p:spPr>
            <p:txBody>
              <a:bodyPr/>
              <a:lstStyle/>
              <a:p>
                <a:r>
                  <a:rPr lang="en-IL">
                    <a:noFill/>
                  </a:rPr>
                  <a:t> </a:t>
                </a:r>
              </a:p>
            </p:txBody>
          </p:sp>
        </mc:Fallback>
      </mc:AlternateContent>
    </p:spTree>
    <p:extLst>
      <p:ext uri="{BB962C8B-B14F-4D97-AF65-F5344CB8AC3E}">
        <p14:creationId xmlns:p14="http://schemas.microsoft.com/office/powerpoint/2010/main" val="141761100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25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25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25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25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25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F509-A4FC-F813-7FFA-1D68AEA7D6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6E23F-A9D7-69DB-6FF4-66453EBF382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Compared Models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88A41A0-5A78-65FD-DC55-640DD94D8355}"/>
              </a:ext>
            </a:extLst>
          </p:cNvPr>
          <p:cNvSpPr>
            <a:spLocks noGrp="1"/>
          </p:cNvSpPr>
          <p:nvPr>
            <p:ph idx="1"/>
          </p:nvPr>
        </p:nvSpPr>
        <p:spPr>
          <a:xfrm>
            <a:off x="1371599" y="1133856"/>
            <a:ext cx="10283371" cy="5179161"/>
          </a:xfrm>
        </p:spPr>
        <p:txBody>
          <a:bodyPr>
            <a:noAutofit/>
          </a:bodyPr>
          <a:lstStyle/>
          <a:p>
            <a:pPr>
              <a:lnSpc>
                <a:spcPct val="100000"/>
              </a:lnSpc>
            </a:pPr>
            <a:r>
              <a:rPr lang="en-US" b="1" dirty="0">
                <a:latin typeface="Times New Roman" panose="02020603050405020304" pitchFamily="18" charset="0"/>
                <a:cs typeface="Times New Roman" panose="02020603050405020304" pitchFamily="18" charset="0"/>
              </a:rPr>
              <a:t>GPT-3 1.3B, 6B, 175B (OpenAI)</a:t>
            </a:r>
            <a:r>
              <a:rPr lang="en-US" dirty="0">
                <a:latin typeface="Times New Roman" panose="02020603050405020304" pitchFamily="18" charset="0"/>
                <a:cs typeface="Times New Roman" panose="02020603050405020304" pitchFamily="18" charset="0"/>
              </a:rPr>
              <a:t> – The non-public industry standard baseline.</a:t>
            </a:r>
          </a:p>
          <a:p>
            <a:pPr>
              <a:lnSpc>
                <a:spcPct val="100000"/>
              </a:lnSpc>
            </a:pPr>
            <a:r>
              <a:rPr lang="en-US" b="1" dirty="0">
                <a:latin typeface="Times New Roman" panose="02020603050405020304" pitchFamily="18" charset="0"/>
                <a:cs typeface="Times New Roman" panose="02020603050405020304" pitchFamily="18" charset="0"/>
              </a:rPr>
              <a:t>Chinchilla 70B (DeepMind)</a:t>
            </a:r>
            <a:r>
              <a:rPr lang="en-US" dirty="0">
                <a:latin typeface="Times New Roman" panose="02020603050405020304" pitchFamily="18" charset="0"/>
                <a:cs typeface="Times New Roman" panose="02020603050405020304" pitchFamily="18" charset="0"/>
              </a:rPr>
              <a:t> – Non-public model trained on 2TB of books.</a:t>
            </a:r>
          </a:p>
          <a:p>
            <a:pPr>
              <a:lnSpc>
                <a:spcPct val="100000"/>
              </a:lnSpc>
            </a:pPr>
            <a:r>
              <a:rPr lang="en-US" b="1" dirty="0">
                <a:latin typeface="Times New Roman" panose="02020603050405020304" pitchFamily="18" charset="0"/>
                <a:cs typeface="Times New Roman" panose="02020603050405020304" pitchFamily="18" charset="0"/>
              </a:rPr>
              <a:t>Gopher 280B (DeepMind)</a:t>
            </a:r>
            <a:r>
              <a:rPr lang="en-US" dirty="0">
                <a:latin typeface="Times New Roman" panose="02020603050405020304" pitchFamily="18" charset="0"/>
                <a:cs typeface="Times New Roman" panose="02020603050405020304" pitchFamily="18" charset="0"/>
              </a:rPr>
              <a:t> – Non-public model for common reasoning tasks.</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LaMDA 137B (Google)</a:t>
            </a:r>
            <a:r>
              <a:rPr lang="en-US" dirty="0">
                <a:latin typeface="Times New Roman" panose="02020603050405020304" pitchFamily="18" charset="0"/>
                <a:cs typeface="Times New Roman" panose="02020603050405020304" pitchFamily="18" charset="0"/>
              </a:rPr>
              <a:t> – </a:t>
            </a:r>
            <a:r>
              <a:rPr lang="en-US" u="sng" dirty="0">
                <a:latin typeface="Times New Roman" panose="02020603050405020304" pitchFamily="18" charset="0"/>
                <a:cs typeface="Times New Roman" panose="02020603050405020304" pitchFamily="18" charset="0"/>
              </a:rPr>
              <a:t>General</a:t>
            </a:r>
            <a:r>
              <a:rPr lang="en-US" dirty="0">
                <a:latin typeface="Times New Roman" panose="02020603050405020304" pitchFamily="18" charset="0"/>
                <a:cs typeface="Times New Roman" panose="02020603050405020304" pitchFamily="18" charset="0"/>
              </a:rPr>
              <a:t> model for code generation comparison.</a:t>
            </a:r>
          </a:p>
          <a:p>
            <a:pPr>
              <a:lnSpc>
                <a:spcPct val="100000"/>
              </a:lnSpc>
            </a:pPr>
            <a:r>
              <a:rPr lang="en-US" b="1" dirty="0">
                <a:latin typeface="Times New Roman" panose="02020603050405020304" pitchFamily="18" charset="0"/>
                <a:cs typeface="Times New Roman" panose="02020603050405020304" pitchFamily="18" charset="0"/>
              </a:rPr>
              <a:t>Minerva 62B (Google)</a:t>
            </a:r>
            <a:r>
              <a:rPr lang="en-US" dirty="0">
                <a:latin typeface="Times New Roman" panose="02020603050405020304" pitchFamily="18" charset="0"/>
                <a:cs typeface="Times New Roman" panose="02020603050405020304" pitchFamily="18" charset="0"/>
              </a:rPr>
              <a:t> – Series of </a:t>
            </a:r>
            <a:r>
              <a:rPr lang="en-US" dirty="0" err="1">
                <a:latin typeface="Times New Roman" panose="02020603050405020304" pitchFamily="18" charset="0"/>
                <a:cs typeface="Times New Roman" panose="02020603050405020304" pitchFamily="18" charset="0"/>
              </a:rPr>
              <a:t>PaLM</a:t>
            </a:r>
            <a:r>
              <a:rPr lang="en-US" dirty="0">
                <a:latin typeface="Times New Roman" panose="02020603050405020304" pitchFamily="18" charset="0"/>
                <a:cs typeface="Times New Roman" panose="02020603050405020304" pitchFamily="18" charset="0"/>
              </a:rPr>
              <a:t> models finetuned on </a:t>
            </a:r>
            <a:r>
              <a:rPr lang="en-US" dirty="0" err="1">
                <a:latin typeface="Times New Roman" panose="02020603050405020304" pitchFamily="18" charset="0"/>
                <a:cs typeface="Times New Roman" panose="02020603050405020304" pitchFamily="18" charset="0"/>
              </a:rPr>
              <a:t>ArXiv</a:t>
            </a:r>
            <a:r>
              <a:rPr lang="en-US" dirty="0">
                <a:latin typeface="Times New Roman" panose="02020603050405020304" pitchFamily="18" charset="0"/>
                <a:cs typeface="Times New Roman" panose="02020603050405020304" pitchFamily="18" charset="0"/>
              </a:rPr>
              <a:t> and Math Web Pages.</a:t>
            </a:r>
          </a:p>
          <a:p>
            <a:pPr>
              <a:lnSpc>
                <a:spcPct val="100000"/>
              </a:lnSpc>
            </a:pPr>
            <a:r>
              <a:rPr lang="en-US" b="1" dirty="0">
                <a:latin typeface="Times New Roman" panose="02020603050405020304" pitchFamily="18" charset="0"/>
                <a:cs typeface="Times New Roman" panose="02020603050405020304" pitchFamily="18" charset="0"/>
              </a:rPr>
              <a:t>Flan </a:t>
            </a: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11B, </a:t>
            </a: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62B, </a:t>
            </a:r>
            <a:r>
              <a:rPr lang="en-US" b="1" dirty="0" err="1">
                <a:latin typeface="Times New Roman" panose="02020603050405020304" pitchFamily="18" charset="0"/>
                <a:cs typeface="Times New Roman" panose="02020603050405020304" pitchFamily="18" charset="0"/>
              </a:rPr>
              <a:t>PaLM-cont</a:t>
            </a:r>
            <a:r>
              <a:rPr lang="en-US" b="1" dirty="0">
                <a:latin typeface="Times New Roman" panose="02020603050405020304" pitchFamily="18" charset="0"/>
                <a:cs typeface="Times New Roman" panose="02020603050405020304" pitchFamily="18" charset="0"/>
              </a:rPr>
              <a:t> 62B (Google)</a:t>
            </a:r>
            <a:r>
              <a:rPr lang="en-US" dirty="0">
                <a:latin typeface="Times New Roman" panose="02020603050405020304" pitchFamily="18" charset="0"/>
                <a:cs typeface="Times New Roman" panose="02020603050405020304" pitchFamily="18" charset="0"/>
              </a:rPr>
              <a:t> – Similar to OPT-IML 30B.</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8B, 62B, 540B (Google)</a:t>
            </a:r>
            <a:r>
              <a:rPr lang="en-US" dirty="0">
                <a:latin typeface="Times New Roman" panose="02020603050405020304" pitchFamily="18" charset="0"/>
                <a:cs typeface="Times New Roman" panose="02020603050405020304" pitchFamily="18" charset="0"/>
              </a:rPr>
              <a:t> – Non-public massive scale SOTA model.</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OPT 175B (Meta)</a:t>
            </a:r>
            <a:r>
              <a:rPr lang="en-US" dirty="0">
                <a:latin typeface="Times New Roman" panose="02020603050405020304" pitchFamily="18" charset="0"/>
                <a:cs typeface="Times New Roman" panose="02020603050405020304" pitchFamily="18" charset="0"/>
              </a:rPr>
              <a:t> – Open-sourced, primary baseline for social bias and carbon footprint.</a:t>
            </a:r>
          </a:p>
          <a:p>
            <a:pPr>
              <a:lnSpc>
                <a:spcPct val="100000"/>
              </a:lnSpc>
            </a:pPr>
            <a:r>
              <a:rPr lang="en-US" b="1" dirty="0">
                <a:latin typeface="Times New Roman" panose="02020603050405020304" pitchFamily="18" charset="0"/>
                <a:cs typeface="Times New Roman" panose="02020603050405020304" pitchFamily="18" charset="0"/>
              </a:rPr>
              <a:t>OPT-IML 30B (Meta)</a:t>
            </a:r>
            <a:r>
              <a:rPr lang="en-US" dirty="0">
                <a:latin typeface="Times New Roman" panose="02020603050405020304" pitchFamily="18" charset="0"/>
                <a:cs typeface="Times New Roman" panose="02020603050405020304" pitchFamily="18" charset="0"/>
              </a:rPr>
              <a:t> – For instruction tuning performance comparison.</a:t>
            </a:r>
          </a:p>
          <a:p>
            <a:pPr>
              <a:lnSpc>
                <a:spcPct val="100000"/>
              </a:lnSpc>
            </a:pPr>
            <a:r>
              <a:rPr lang="en-US" b="1" dirty="0">
                <a:latin typeface="Times New Roman" panose="02020603050405020304" pitchFamily="18" charset="0"/>
                <a:cs typeface="Times New Roman" panose="02020603050405020304" pitchFamily="18" charset="0"/>
              </a:rPr>
              <a:t>GLM 130B (Tsinghua University)</a:t>
            </a:r>
            <a:r>
              <a:rPr lang="en-US" dirty="0">
                <a:latin typeface="Times New Roman" panose="02020603050405020304" pitchFamily="18" charset="0"/>
                <a:cs typeface="Times New Roman" panose="02020603050405020304" pitchFamily="18" charset="0"/>
              </a:rPr>
              <a:t> – English and Chinese pre-trained model.</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GPT-</a:t>
            </a:r>
            <a:r>
              <a:rPr lang="en-US" b="1" dirty="0" err="1">
                <a:latin typeface="Times New Roman" panose="02020603050405020304" pitchFamily="18" charset="0"/>
                <a:cs typeface="Times New Roman" panose="02020603050405020304" pitchFamily="18" charset="0"/>
              </a:rPr>
              <a:t>NeoX</a:t>
            </a:r>
            <a:r>
              <a:rPr lang="en-US" b="1" dirty="0">
                <a:latin typeface="Times New Roman" panose="02020603050405020304" pitchFamily="18" charset="0"/>
                <a:cs typeface="Times New Roman" panose="02020603050405020304" pitchFamily="18" charset="0"/>
              </a:rPr>
              <a:t> 20B, GPT-Neo (</a:t>
            </a:r>
            <a:r>
              <a:rPr lang="en-US" b="1" dirty="0" err="1">
                <a:latin typeface="Times New Roman" panose="02020603050405020304" pitchFamily="18" charset="0"/>
                <a:cs typeface="Times New Roman" panose="02020603050405020304" pitchFamily="18" charset="0"/>
              </a:rPr>
              <a:t>EleutherAI</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 Open-sourced models for general comparison.</a:t>
            </a:r>
          </a:p>
          <a:p>
            <a:pPr>
              <a:lnSpc>
                <a:spcPct val="100000"/>
              </a:lnSpc>
            </a:pPr>
            <a:r>
              <a:rPr lang="en-US" b="1" dirty="0">
                <a:latin typeface="Times New Roman" panose="02020603050405020304" pitchFamily="18" charset="0"/>
                <a:cs typeface="Times New Roman" panose="02020603050405020304" pitchFamily="18" charset="0"/>
              </a:rPr>
              <a:t>BLOOM 175B (</a:t>
            </a:r>
            <a:r>
              <a:rPr lang="en-US" b="1" dirty="0" err="1">
                <a:latin typeface="Times New Roman" panose="02020603050405020304" pitchFamily="18" charset="0"/>
                <a:cs typeface="Times New Roman" panose="02020603050405020304" pitchFamily="18" charset="0"/>
              </a:rPr>
              <a:t>BigScience</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 Open model, baseline for energy and carbon comparison.</a:t>
            </a:r>
          </a:p>
        </p:txBody>
      </p:sp>
    </p:spTree>
    <p:extLst>
      <p:ext uri="{BB962C8B-B14F-4D97-AF65-F5344CB8AC3E}">
        <p14:creationId xmlns:p14="http://schemas.microsoft.com/office/powerpoint/2010/main" val="264365542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Effect transition="in" filter="fade">
                                      <p:cBhvr>
                                        <p:cTn id="31" dur="500"/>
                                        <p:tgtEl>
                                          <p:spTgt spid="3">
                                            <p:txEl>
                                              <p:pRg st="8" end="8"/>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3">
                                            <p:txEl>
                                              <p:pRg st="9" end="9"/>
                                            </p:txEl>
                                          </p:spTgt>
                                        </p:tgtEl>
                                        <p:attrNameLst>
                                          <p:attrName>style.visibility</p:attrName>
                                        </p:attrNameLst>
                                      </p:cBhvr>
                                      <p:to>
                                        <p:strVal val="visible"/>
                                      </p:to>
                                    </p:set>
                                    <p:animEffect transition="in" filter="fade">
                                      <p:cBhvr>
                                        <p:cTn id="34" dur="500"/>
                                        <p:tgtEl>
                                          <p:spTgt spid="3">
                                            <p:txEl>
                                              <p:pRg st="9" end="9"/>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animEffect transition="in" filter="fade">
                                      <p:cBhvr>
                                        <p:cTn id="37" dur="500"/>
                                        <p:tgtEl>
                                          <p:spTgt spid="3">
                                            <p:txEl>
                                              <p:pRg st="10" end="10"/>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3">
                                            <p:txEl>
                                              <p:pRg st="11" end="11"/>
                                            </p:txEl>
                                          </p:spTgt>
                                        </p:tgtEl>
                                        <p:attrNameLst>
                                          <p:attrName>style.visibility</p:attrName>
                                        </p:attrNameLst>
                                      </p:cBhvr>
                                      <p:to>
                                        <p:strVal val="visible"/>
                                      </p:to>
                                    </p:set>
                                    <p:animEffect transition="in" filter="fade">
                                      <p:cBhvr>
                                        <p:cTn id="40"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083A6-7B7E-6EFC-06AC-FD9A1BDA84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33FC68-BE60-8767-3AE9-966323F1F6D1}"/>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Benchmarks</a:t>
            </a:r>
            <a:endParaRPr lang="en-IL" sz="4000" dirty="0">
              <a:latin typeface="Times New Roman" panose="02020603050405020304" pitchFamily="18" charset="0"/>
              <a:cs typeface="Times New Roman" panose="02020603050405020304" pitchFamily="18" charset="0"/>
            </a:endParaRPr>
          </a:p>
        </p:txBody>
      </p:sp>
      <p:pic>
        <p:nvPicPr>
          <p:cNvPr id="2054" name="Picture 6">
            <a:extLst>
              <a:ext uri="{FF2B5EF4-FFF2-40B4-BE49-F238E27FC236}">
                <a16:creationId xmlns:a16="http://schemas.microsoft.com/office/drawing/2014/main" id="{89AF1437-6ED1-2DA0-8676-3CCFF3412C72}"/>
              </a:ext>
            </a:extLst>
          </p:cNvPr>
          <p:cNvPicPr>
            <a:picLocks noChangeAspect="1" noChangeArrowheads="1"/>
          </p:cNvPicPr>
          <p:nvPr/>
        </p:nvPicPr>
        <p:blipFill>
          <a:blip r:embed="rId3">
            <a:clrChange>
              <a:clrFrom>
                <a:srgbClr val="E8F4F2"/>
              </a:clrFrom>
              <a:clrTo>
                <a:srgbClr val="E8F4F2">
                  <a:alpha val="0"/>
                </a:srgbClr>
              </a:clrTo>
            </a:clrChange>
            <a:extLst>
              <a:ext uri="{28A0092B-C50C-407E-A947-70E740481C1C}">
                <a14:useLocalDpi xmlns:a14="http://schemas.microsoft.com/office/drawing/2010/main" val="0"/>
              </a:ext>
            </a:extLst>
          </a:blip>
          <a:srcRect/>
          <a:stretch>
            <a:fillRect/>
          </a:stretch>
        </p:blipFill>
        <p:spPr bwMode="auto">
          <a:xfrm>
            <a:off x="8654401" y="3414486"/>
            <a:ext cx="2286000" cy="2286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4549778"/>
      </p:ext>
    </p:extLst>
  </p:cSld>
  <p:clrMapOvr>
    <a:masterClrMapping/>
  </p:clrMapOvr>
  <p:transition>
    <p:fade thruBlk="1"/>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A2281-CEF4-31B1-8B78-844C1E8AB7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9B0E91-3CF5-267F-CDBE-1F8FDD53BEC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Common Sense Reasoning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0BD8891-4C0C-6645-7046-378843D1FE63}"/>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multiple-choice questions, Cloze tasks, and Winograd schemas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C0136AF-8A97-BE11-A538-8FFD5564866A}"/>
              </a:ext>
            </a:extLst>
          </p:cNvPr>
          <p:cNvPicPr>
            <a:picLocks noChangeAspect="1"/>
          </p:cNvPicPr>
          <p:nvPr/>
        </p:nvPicPr>
        <p:blipFill>
          <a:blip r:embed="rId3"/>
          <a:srcRect t="3431" b="8633"/>
          <a:stretch/>
        </p:blipFill>
        <p:spPr>
          <a:xfrm>
            <a:off x="2209800" y="2053389"/>
            <a:ext cx="7772400" cy="3021531"/>
          </a:xfrm>
          <a:prstGeom prst="rect">
            <a:avLst/>
          </a:prstGeom>
        </p:spPr>
      </p:pic>
      <p:sp>
        <p:nvSpPr>
          <p:cNvPr id="5" name="Content Placeholder 2">
            <a:extLst>
              <a:ext uri="{FF2B5EF4-FFF2-40B4-BE49-F238E27FC236}">
                <a16:creationId xmlns:a16="http://schemas.microsoft.com/office/drawing/2014/main" id="{F2E89FB6-3AE1-C077-752B-CBE900A6394E}"/>
              </a:ext>
            </a:extLst>
          </p:cNvPr>
          <p:cNvSpPr txBox="1">
            <a:spLocks/>
          </p:cNvSpPr>
          <p:nvPr/>
        </p:nvSpPr>
        <p:spPr>
          <a:xfrm>
            <a:off x="1371600" y="5256107"/>
            <a:ext cx="9601200" cy="1339003"/>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outperforms Chinchilla-70B on almost all benchmarks.</a:t>
            </a:r>
          </a:p>
          <a:p>
            <a:r>
              <a:rPr lang="en-US" dirty="0">
                <a:solidFill>
                  <a:schemeClr val="tx1"/>
                </a:solidFill>
                <a:latin typeface="Times New Roman" panose="02020603050405020304" pitchFamily="18" charset="0"/>
                <a:cs typeface="Times New Roman" panose="02020603050405020304" pitchFamily="18" charset="0"/>
              </a:rPr>
              <a:t>It also surpasses PaLM-540B on most.</a:t>
            </a:r>
          </a:p>
          <a:p>
            <a:r>
              <a:rPr lang="en-US" dirty="0">
                <a:solidFill>
                  <a:schemeClr val="tx1"/>
                </a:solidFill>
                <a:latin typeface="Times New Roman" panose="02020603050405020304" pitchFamily="18" charset="0"/>
                <a:cs typeface="Times New Roman" panose="02020603050405020304" pitchFamily="18" charset="0"/>
              </a:rPr>
              <a:t>LLaMA-13B outperforms GPT-3 on most benchmarks despite being 10x smaller.</a:t>
            </a:r>
          </a:p>
        </p:txBody>
      </p:sp>
      <p:sp>
        <p:nvSpPr>
          <p:cNvPr id="8" name="Rounded Rectangle 7">
            <a:extLst>
              <a:ext uri="{FF2B5EF4-FFF2-40B4-BE49-F238E27FC236}">
                <a16:creationId xmlns:a16="http://schemas.microsoft.com/office/drawing/2014/main" id="{9CC2B89D-717F-41AF-FB0F-EECEEBCF69B8}"/>
              </a:ext>
            </a:extLst>
          </p:cNvPr>
          <p:cNvSpPr/>
          <p:nvPr/>
        </p:nvSpPr>
        <p:spPr>
          <a:xfrm>
            <a:off x="3897630" y="4617720"/>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C6E71455-B91A-82C9-2AB9-974DEFA10071}"/>
              </a:ext>
            </a:extLst>
          </p:cNvPr>
          <p:cNvSpPr/>
          <p:nvPr/>
        </p:nvSpPr>
        <p:spPr>
          <a:xfrm>
            <a:off x="3897630" y="2838349"/>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ABC7753C-81D6-B040-3A7A-67431D9C6FCB}"/>
              </a:ext>
            </a:extLst>
          </p:cNvPr>
          <p:cNvSpPr/>
          <p:nvPr/>
        </p:nvSpPr>
        <p:spPr>
          <a:xfrm>
            <a:off x="3897630" y="3545939"/>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Rounded Rectangle 12">
            <a:extLst>
              <a:ext uri="{FF2B5EF4-FFF2-40B4-BE49-F238E27FC236}">
                <a16:creationId xmlns:a16="http://schemas.microsoft.com/office/drawing/2014/main" id="{3BED3FF1-68EC-4F9D-D59F-F8ED600362D2}"/>
              </a:ext>
            </a:extLst>
          </p:cNvPr>
          <p:cNvSpPr/>
          <p:nvPr/>
        </p:nvSpPr>
        <p:spPr>
          <a:xfrm>
            <a:off x="3897630" y="2360306"/>
            <a:ext cx="6023610" cy="30288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Rounded Rectangle 13">
            <a:extLst>
              <a:ext uri="{FF2B5EF4-FFF2-40B4-BE49-F238E27FC236}">
                <a16:creationId xmlns:a16="http://schemas.microsoft.com/office/drawing/2014/main" id="{0799BB7F-A41E-7FC2-06E3-1E4BBC1E01E5}"/>
              </a:ext>
            </a:extLst>
          </p:cNvPr>
          <p:cNvSpPr/>
          <p:nvPr/>
        </p:nvSpPr>
        <p:spPr>
          <a:xfrm>
            <a:off x="3897630" y="4133649"/>
            <a:ext cx="6023610" cy="30288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600494817"/>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250"/>
                                        <p:tgtEl>
                                          <p:spTgt spid="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250"/>
                                        <p:tgtEl>
                                          <p:spTgt spid="5">
                                            <p:txEl>
                                              <p:pRg st="1" end="1"/>
                                            </p:txEl>
                                          </p:spTgt>
                                        </p:tgtEl>
                                      </p:cBhvr>
                                    </p:animEffect>
                                  </p:childTnLst>
                                </p:cTn>
                              </p:par>
                              <p:par>
                                <p:cTn id="34" presetID="10" presetClass="exit" presetSubtype="0" fill="hold" grpId="1" nodeType="withEffect">
                                  <p:stCondLst>
                                    <p:cond delay="0"/>
                                  </p:stCondLst>
                                  <p:childTnLst>
                                    <p:animEffect transition="out" filter="fade">
                                      <p:cBhvr>
                                        <p:cTn id="35" dur="250"/>
                                        <p:tgtEl>
                                          <p:spTgt spid="10"/>
                                        </p:tgtEl>
                                      </p:cBhvr>
                                    </p:animEffect>
                                    <p:set>
                                      <p:cBhvr>
                                        <p:cTn id="36" dur="1" fill="hold">
                                          <p:stCondLst>
                                            <p:cond delay="249"/>
                                          </p:stCondLst>
                                        </p:cTn>
                                        <p:tgtEl>
                                          <p:spTgt spid="10"/>
                                        </p:tgtEl>
                                        <p:attrNameLst>
                                          <p:attrName>style.visibility</p:attrName>
                                        </p:attrNameLst>
                                      </p:cBhvr>
                                      <p:to>
                                        <p:strVal val="hidden"/>
                                      </p:to>
                                    </p:set>
                                  </p:childTnLst>
                                </p:cTn>
                              </p:par>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25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
                                            <p:txEl>
                                              <p:pRg st="2" end="2"/>
                                            </p:txEl>
                                          </p:spTgt>
                                        </p:tgtEl>
                                        <p:attrNameLst>
                                          <p:attrName>style.visibility</p:attrName>
                                        </p:attrNameLst>
                                      </p:cBhvr>
                                      <p:to>
                                        <p:strVal val="visible"/>
                                      </p:to>
                                    </p:set>
                                    <p:animEffect transition="in" filter="fade">
                                      <p:cBhvr>
                                        <p:cTn id="44" dur="250"/>
                                        <p:tgtEl>
                                          <p:spTgt spid="5">
                                            <p:txEl>
                                              <p:pRg st="2" end="2"/>
                                            </p:txEl>
                                          </p:spTgt>
                                        </p:tgtEl>
                                      </p:cBhvr>
                                    </p:animEffect>
                                  </p:childTnLst>
                                </p:cTn>
                              </p:par>
                              <p:par>
                                <p:cTn id="45" presetID="10" presetClass="exit" presetSubtype="0" fill="hold" grpId="1" nodeType="withEffect">
                                  <p:stCondLst>
                                    <p:cond delay="0"/>
                                  </p:stCondLst>
                                  <p:childTnLst>
                                    <p:animEffect transition="out" filter="fade">
                                      <p:cBhvr>
                                        <p:cTn id="46" dur="250"/>
                                        <p:tgtEl>
                                          <p:spTgt spid="12"/>
                                        </p:tgtEl>
                                      </p:cBhvr>
                                    </p:animEffect>
                                    <p:set>
                                      <p:cBhvr>
                                        <p:cTn id="47" dur="1" fill="hold">
                                          <p:stCondLst>
                                            <p:cond delay="249"/>
                                          </p:stCondLst>
                                        </p:cTn>
                                        <p:tgtEl>
                                          <p:spTgt spid="12"/>
                                        </p:tgtEl>
                                        <p:attrNameLst>
                                          <p:attrName>style.visibility</p:attrName>
                                        </p:attrNameLst>
                                      </p:cBhvr>
                                      <p:to>
                                        <p:strVal val="hidden"/>
                                      </p:to>
                                    </p:set>
                                  </p:childTnLst>
                                </p:cTn>
                              </p:par>
                              <p:par>
                                <p:cTn id="48" presetID="10" presetClass="exit" presetSubtype="0" fill="hold" grpId="1" nodeType="withEffect">
                                  <p:stCondLst>
                                    <p:cond delay="0"/>
                                  </p:stCondLst>
                                  <p:childTnLst>
                                    <p:animEffect transition="out" filter="fade">
                                      <p:cBhvr>
                                        <p:cTn id="49" dur="250"/>
                                        <p:tgtEl>
                                          <p:spTgt spid="8"/>
                                        </p:tgtEl>
                                      </p:cBhvr>
                                    </p:animEffect>
                                    <p:set>
                                      <p:cBhvr>
                                        <p:cTn id="50" dur="1" fill="hold">
                                          <p:stCondLst>
                                            <p:cond delay="249"/>
                                          </p:stCondLst>
                                        </p:cTn>
                                        <p:tgtEl>
                                          <p:spTgt spid="8"/>
                                        </p:tgtEl>
                                        <p:attrNameLst>
                                          <p:attrName>style.visibility</p:attrName>
                                        </p:attrNameLst>
                                      </p:cBhvr>
                                      <p:to>
                                        <p:strVal val="hidden"/>
                                      </p:to>
                                    </p:set>
                                  </p:childTnLst>
                                </p:cTn>
                              </p:par>
                              <p:par>
                                <p:cTn id="51" presetID="10"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500"/>
                                        <p:tgtEl>
                                          <p:spTgt spid="13"/>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1" nodeType="clickEffect">
                                  <p:stCondLst>
                                    <p:cond delay="0"/>
                                  </p:stCondLst>
                                  <p:childTnLst>
                                    <p:animEffect transition="out" filter="fade">
                                      <p:cBhvr>
                                        <p:cTn id="60" dur="250"/>
                                        <p:tgtEl>
                                          <p:spTgt spid="14"/>
                                        </p:tgtEl>
                                      </p:cBhvr>
                                    </p:animEffect>
                                    <p:set>
                                      <p:cBhvr>
                                        <p:cTn id="61" dur="1" fill="hold">
                                          <p:stCondLst>
                                            <p:cond delay="249"/>
                                          </p:stCondLst>
                                        </p:cTn>
                                        <p:tgtEl>
                                          <p:spTgt spid="14"/>
                                        </p:tgtEl>
                                        <p:attrNameLst>
                                          <p:attrName>style.visibility</p:attrName>
                                        </p:attrNameLst>
                                      </p:cBhvr>
                                      <p:to>
                                        <p:strVal val="hidden"/>
                                      </p:to>
                                    </p:set>
                                  </p:childTnLst>
                                </p:cTn>
                              </p:par>
                              <p:par>
                                <p:cTn id="62" presetID="10" presetClass="exit" presetSubtype="0" fill="hold" grpId="1" nodeType="withEffect">
                                  <p:stCondLst>
                                    <p:cond delay="0"/>
                                  </p:stCondLst>
                                  <p:childTnLst>
                                    <p:animEffect transition="out" filter="fade">
                                      <p:cBhvr>
                                        <p:cTn id="63" dur="250"/>
                                        <p:tgtEl>
                                          <p:spTgt spid="13"/>
                                        </p:tgtEl>
                                      </p:cBhvr>
                                    </p:animEffect>
                                    <p:set>
                                      <p:cBhvr>
                                        <p:cTn id="64" dur="1" fill="hold">
                                          <p:stCondLst>
                                            <p:cond delay="249"/>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10" grpId="0" animBg="1"/>
      <p:bldP spid="10" grpId="1" animBg="1"/>
      <p:bldP spid="12" grpId="0" animBg="1"/>
      <p:bldP spid="12" grpId="1" animBg="1"/>
      <p:bldP spid="13" grpId="0" animBg="1"/>
      <p:bldP spid="13" grpId="1" animBg="1"/>
      <p:bldP spid="14" grpId="0" animBg="1"/>
      <p:bldP spid="14"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DA031-A6A6-6B98-AD40-8449C690E0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A932C3-CBA0-D85F-2A75-1F1034779529}"/>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Closed-book Question Answering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48EEEA6-3AD5-6CDD-106B-8EE0515DEE03}"/>
              </a:ext>
            </a:extLst>
          </p:cNvPr>
          <p:cNvSpPr>
            <a:spLocks noGrp="1"/>
          </p:cNvSpPr>
          <p:nvPr>
            <p:ph idx="1"/>
          </p:nvPr>
        </p:nvSpPr>
        <p:spPr>
          <a:xfrm>
            <a:off x="1371600" y="1133856"/>
            <a:ext cx="10739120" cy="921711"/>
          </a:xfrm>
        </p:spPr>
        <p:txBody>
          <a:bodyPr>
            <a:no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t>
            </a:r>
            <a:r>
              <a:rPr lang="en-US" dirty="0">
                <a:solidFill>
                  <a:schemeClr val="tx1"/>
                </a:solidFill>
              </a:rPr>
              <a:t>A</a:t>
            </a:r>
            <a:r>
              <a:rPr lang="en-US" dirty="0">
                <a:solidFill>
                  <a:schemeClr val="tx1"/>
                </a:solidFill>
                <a:latin typeface="Times New Roman" panose="02020603050405020304" pitchFamily="18" charset="0"/>
                <a:cs typeface="Times New Roman" panose="02020603050405020304" pitchFamily="18" charset="0"/>
              </a:rPr>
              <a:t>nswering </a:t>
            </a:r>
            <a:r>
              <a:rPr lang="en-US" dirty="0" err="1">
                <a:solidFill>
                  <a:schemeClr val="tx1"/>
                </a:solidFill>
                <a:latin typeface="Times New Roman" panose="02020603050405020304" pitchFamily="18" charset="0"/>
                <a:cs typeface="Times New Roman" panose="02020603050405020304" pitchFamily="18" charset="0"/>
              </a:rPr>
              <a:t>NatualQuestions</a:t>
            </a:r>
            <a:r>
              <a:rPr lang="en-US" dirty="0">
                <a:solidFill>
                  <a:schemeClr val="tx1"/>
                </a:solidFill>
                <a:latin typeface="Times New Roman" panose="02020603050405020304" pitchFamily="18" charset="0"/>
                <a:cs typeface="Times New Roman" panose="02020603050405020304" pitchFamily="18" charset="0"/>
              </a:rPr>
              <a:t> and </a:t>
            </a:r>
            <a:r>
              <a:rPr lang="en-US" dirty="0" err="1">
                <a:solidFill>
                  <a:schemeClr val="tx1"/>
                </a:solidFill>
                <a:latin typeface="Times New Roman" panose="02020603050405020304" pitchFamily="18" charset="0"/>
                <a:cs typeface="Times New Roman" panose="02020603050405020304" pitchFamily="18" charset="0"/>
              </a:rPr>
              <a:t>TriviaQA</a:t>
            </a:r>
            <a:r>
              <a:rPr lang="en-US" dirty="0">
                <a:solidFill>
                  <a:schemeClr val="tx1"/>
                </a:solidFill>
                <a:latin typeface="Times New Roman" panose="02020603050405020304" pitchFamily="18" charset="0"/>
                <a:cs typeface="Times New Roman" panose="02020603050405020304" pitchFamily="18" charset="0"/>
              </a:rPr>
              <a:t> without access to external resources.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and Few-shot, exact match</a:t>
            </a:r>
          </a:p>
        </p:txBody>
      </p:sp>
      <p:sp>
        <p:nvSpPr>
          <p:cNvPr id="5" name="Content Placeholder 2">
            <a:extLst>
              <a:ext uri="{FF2B5EF4-FFF2-40B4-BE49-F238E27FC236}">
                <a16:creationId xmlns:a16="http://schemas.microsoft.com/office/drawing/2014/main" id="{E5E84475-2046-FCFA-841E-0952C0B46063}"/>
              </a:ext>
            </a:extLst>
          </p:cNvPr>
          <p:cNvSpPr txBox="1">
            <a:spLocks/>
          </p:cNvSpPr>
          <p:nvPr/>
        </p:nvSpPr>
        <p:spPr>
          <a:xfrm>
            <a:off x="1371600" y="5159998"/>
            <a:ext cx="9601200" cy="134230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achieves state-of-the-art performance in zero-shot and few-shot settings.</a:t>
            </a:r>
          </a:p>
          <a:p>
            <a:r>
              <a:rPr lang="en-US" dirty="0">
                <a:solidFill>
                  <a:schemeClr val="tx1"/>
                </a:solidFill>
                <a:latin typeface="Times New Roman" panose="02020603050405020304" pitchFamily="18" charset="0"/>
                <a:cs typeface="Times New Roman" panose="02020603050405020304" pitchFamily="18" charset="0"/>
              </a:rPr>
              <a:t>LLaMA-13B competitive with GPT-3 and Chinchilla although being 5-10x smaller.</a:t>
            </a:r>
          </a:p>
          <a:p>
            <a:r>
              <a:rPr lang="en-US" dirty="0">
                <a:solidFill>
                  <a:schemeClr val="tx1"/>
                </a:solidFill>
                <a:latin typeface="Times New Roman" panose="02020603050405020304" pitchFamily="18" charset="0"/>
                <a:cs typeface="Times New Roman" panose="02020603050405020304" pitchFamily="18" charset="0"/>
              </a:rPr>
              <a:t>Regarding efficiency, LLaMA-13B can run inference on a single V100 GPU.</a:t>
            </a:r>
          </a:p>
        </p:txBody>
      </p:sp>
      <p:pic>
        <p:nvPicPr>
          <p:cNvPr id="6" name="Picture 5">
            <a:extLst>
              <a:ext uri="{FF2B5EF4-FFF2-40B4-BE49-F238E27FC236}">
                <a16:creationId xmlns:a16="http://schemas.microsoft.com/office/drawing/2014/main" id="{48A9FD09-8489-01FB-9197-7F7ECAED26FB}"/>
              </a:ext>
            </a:extLst>
          </p:cNvPr>
          <p:cNvPicPr>
            <a:picLocks noChangeAspect="1"/>
          </p:cNvPicPr>
          <p:nvPr/>
        </p:nvPicPr>
        <p:blipFill>
          <a:blip r:embed="rId3"/>
          <a:srcRect t="2612" b="13102"/>
          <a:stretch/>
        </p:blipFill>
        <p:spPr>
          <a:xfrm>
            <a:off x="1995612" y="2055567"/>
            <a:ext cx="3984667" cy="3003031"/>
          </a:xfrm>
          <a:prstGeom prst="rect">
            <a:avLst/>
          </a:prstGeom>
        </p:spPr>
      </p:pic>
      <p:pic>
        <p:nvPicPr>
          <p:cNvPr id="7" name="Picture 6">
            <a:extLst>
              <a:ext uri="{FF2B5EF4-FFF2-40B4-BE49-F238E27FC236}">
                <a16:creationId xmlns:a16="http://schemas.microsoft.com/office/drawing/2014/main" id="{7380C948-BFDE-C401-84F0-1968A9E1BDA0}"/>
              </a:ext>
            </a:extLst>
          </p:cNvPr>
          <p:cNvPicPr>
            <a:picLocks noChangeAspect="1"/>
          </p:cNvPicPr>
          <p:nvPr/>
        </p:nvPicPr>
        <p:blipFill>
          <a:blip r:embed="rId4"/>
          <a:srcRect t="3464" b="24600"/>
          <a:stretch/>
        </p:blipFill>
        <p:spPr>
          <a:xfrm>
            <a:off x="6563951" y="2055567"/>
            <a:ext cx="4006866" cy="1932233"/>
          </a:xfrm>
          <a:prstGeom prst="rect">
            <a:avLst/>
          </a:prstGeom>
        </p:spPr>
      </p:pic>
      <p:sp>
        <p:nvSpPr>
          <p:cNvPr id="10" name="Rounded Rectangle 9">
            <a:extLst>
              <a:ext uri="{FF2B5EF4-FFF2-40B4-BE49-F238E27FC236}">
                <a16:creationId xmlns:a16="http://schemas.microsoft.com/office/drawing/2014/main" id="{55A989D4-1AC8-E802-62D5-21314DF4DAFB}"/>
              </a:ext>
            </a:extLst>
          </p:cNvPr>
          <p:cNvSpPr/>
          <p:nvPr/>
        </p:nvSpPr>
        <p:spPr>
          <a:xfrm>
            <a:off x="3393441" y="4754880"/>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4172DD5C-A7D0-B894-B2CB-94DBB16D2FDC}"/>
              </a:ext>
            </a:extLst>
          </p:cNvPr>
          <p:cNvSpPr/>
          <p:nvPr/>
        </p:nvSpPr>
        <p:spPr>
          <a:xfrm>
            <a:off x="7985761" y="3684082"/>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21ED32D9-899F-21E9-86DD-140CB3BD8692}"/>
              </a:ext>
            </a:extLst>
          </p:cNvPr>
          <p:cNvSpPr/>
          <p:nvPr/>
        </p:nvSpPr>
        <p:spPr>
          <a:xfrm>
            <a:off x="3393441" y="4257040"/>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Rounded Rectangle 13">
            <a:extLst>
              <a:ext uri="{FF2B5EF4-FFF2-40B4-BE49-F238E27FC236}">
                <a16:creationId xmlns:a16="http://schemas.microsoft.com/office/drawing/2014/main" id="{851FAB72-069A-2767-3597-4925AF1406D5}"/>
              </a:ext>
            </a:extLst>
          </p:cNvPr>
          <p:cNvSpPr/>
          <p:nvPr/>
        </p:nvSpPr>
        <p:spPr>
          <a:xfrm>
            <a:off x="7985761" y="3191123"/>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Rounded Rectangle 14">
            <a:extLst>
              <a:ext uri="{FF2B5EF4-FFF2-40B4-BE49-F238E27FC236}">
                <a16:creationId xmlns:a16="http://schemas.microsoft.com/office/drawing/2014/main" id="{2BEBBEB6-D7E7-F414-75EB-B3068F4C2ABF}"/>
              </a:ext>
            </a:extLst>
          </p:cNvPr>
          <p:cNvSpPr/>
          <p:nvPr/>
        </p:nvSpPr>
        <p:spPr>
          <a:xfrm>
            <a:off x="7985761" y="260176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7" name="Rounded Rectangle 16">
            <a:extLst>
              <a:ext uri="{FF2B5EF4-FFF2-40B4-BE49-F238E27FC236}">
                <a16:creationId xmlns:a16="http://schemas.microsoft.com/office/drawing/2014/main" id="{43E56A0C-3449-0048-14E2-796B69B8FD8C}"/>
              </a:ext>
            </a:extLst>
          </p:cNvPr>
          <p:cNvSpPr/>
          <p:nvPr/>
        </p:nvSpPr>
        <p:spPr>
          <a:xfrm>
            <a:off x="3393441" y="284212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Rounded Rectangle 17">
            <a:extLst>
              <a:ext uri="{FF2B5EF4-FFF2-40B4-BE49-F238E27FC236}">
                <a16:creationId xmlns:a16="http://schemas.microsoft.com/office/drawing/2014/main" id="{40B7116D-8C70-8BE7-F88C-CE55B720596A}"/>
              </a:ext>
            </a:extLst>
          </p:cNvPr>
          <p:cNvSpPr/>
          <p:nvPr/>
        </p:nvSpPr>
        <p:spPr>
          <a:xfrm>
            <a:off x="3374006" y="235688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252906687"/>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250"/>
                                        <p:tgtEl>
                                          <p:spTgt spid="6"/>
                                        </p:tgtEl>
                                      </p:cBhvr>
                                    </p:animEffect>
                                  </p:childTnLst>
                                </p:cTn>
                              </p:par>
                            </p:childTnLst>
                          </p:cTn>
                        </p:par>
                        <p:par>
                          <p:cTn id="18" fill="hold">
                            <p:stCondLst>
                              <p:cond delay="250"/>
                            </p:stCondLst>
                            <p:childTnLst>
                              <p:par>
                                <p:cTn id="19" presetID="10" presetClass="entr" presetSubtype="0" fill="hold"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25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5">
                                            <p:txEl>
                                              <p:pRg st="0" end="0"/>
                                            </p:txEl>
                                          </p:spTgt>
                                        </p:tgtEl>
                                        <p:attrNameLst>
                                          <p:attrName>style.visibility</p:attrName>
                                        </p:attrNameLst>
                                      </p:cBhvr>
                                      <p:to>
                                        <p:strVal val="visible"/>
                                      </p:to>
                                    </p:set>
                                    <p:animEffect transition="in" filter="fade">
                                      <p:cBhvr>
                                        <p:cTn id="26" dur="250"/>
                                        <p:tgtEl>
                                          <p:spTgt spid="5">
                                            <p:txEl>
                                              <p:pRg st="0" end="0"/>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2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25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5">
                                            <p:txEl>
                                              <p:pRg st="1" end="1"/>
                                            </p:txEl>
                                          </p:spTgt>
                                        </p:tgtEl>
                                        <p:attrNameLst>
                                          <p:attrName>style.visibility</p:attrName>
                                        </p:attrNameLst>
                                      </p:cBhvr>
                                      <p:to>
                                        <p:strVal val="visible"/>
                                      </p:to>
                                    </p:set>
                                    <p:animEffect transition="in" filter="fade">
                                      <p:cBhvr>
                                        <p:cTn id="37" dur="500"/>
                                        <p:tgtEl>
                                          <p:spTgt spid="5">
                                            <p:txEl>
                                              <p:pRg st="1" end="1"/>
                                            </p:txEl>
                                          </p:spTgt>
                                        </p:tgtEl>
                                      </p:cBhvr>
                                    </p:animEffect>
                                  </p:childTnLst>
                                </p:cTn>
                              </p:par>
                              <p:par>
                                <p:cTn id="38" presetID="10" presetClass="exit" presetSubtype="0" fill="hold" grpId="1" nodeType="withEffect">
                                  <p:stCondLst>
                                    <p:cond delay="0"/>
                                  </p:stCondLst>
                                  <p:childTnLst>
                                    <p:animEffect transition="out" filter="fade">
                                      <p:cBhvr>
                                        <p:cTn id="39" dur="250"/>
                                        <p:tgtEl>
                                          <p:spTgt spid="10"/>
                                        </p:tgtEl>
                                      </p:cBhvr>
                                    </p:animEffect>
                                    <p:set>
                                      <p:cBhvr>
                                        <p:cTn id="40" dur="1" fill="hold">
                                          <p:stCondLst>
                                            <p:cond delay="249"/>
                                          </p:stCondLst>
                                        </p:cTn>
                                        <p:tgtEl>
                                          <p:spTgt spid="10"/>
                                        </p:tgtEl>
                                        <p:attrNameLst>
                                          <p:attrName>style.visibility</p:attrName>
                                        </p:attrNameLst>
                                      </p:cBhvr>
                                      <p:to>
                                        <p:strVal val="hidden"/>
                                      </p:to>
                                    </p:set>
                                  </p:childTnLst>
                                </p:cTn>
                              </p:par>
                              <p:par>
                                <p:cTn id="41" presetID="10" presetClass="exit" presetSubtype="0" fill="hold" grpId="1" nodeType="withEffect">
                                  <p:stCondLst>
                                    <p:cond delay="0"/>
                                  </p:stCondLst>
                                  <p:childTnLst>
                                    <p:animEffect transition="out" filter="fade">
                                      <p:cBhvr>
                                        <p:cTn id="42" dur="250"/>
                                        <p:tgtEl>
                                          <p:spTgt spid="11"/>
                                        </p:tgtEl>
                                      </p:cBhvr>
                                    </p:animEffect>
                                    <p:set>
                                      <p:cBhvr>
                                        <p:cTn id="43" dur="1" fill="hold">
                                          <p:stCondLst>
                                            <p:cond delay="249"/>
                                          </p:stCondLst>
                                        </p:cTn>
                                        <p:tgtEl>
                                          <p:spTgt spid="11"/>
                                        </p:tgtEl>
                                        <p:attrNameLst>
                                          <p:attrName>style.visibility</p:attrName>
                                        </p:attrNameLst>
                                      </p:cBhvr>
                                      <p:to>
                                        <p:strVal val="hidden"/>
                                      </p:to>
                                    </p:set>
                                  </p:childTnLst>
                                </p:cTn>
                              </p:par>
                              <p:par>
                                <p:cTn id="44" presetID="10" presetClass="entr" presetSubtype="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250"/>
                                        <p:tgtEl>
                                          <p:spTgt spid="1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250"/>
                                        <p:tgtEl>
                                          <p:spTgt spid="1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250"/>
                                        <p:tgtEl>
                                          <p:spTgt spid="1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2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250"/>
                                        <p:tgtEl>
                                          <p:spTgt spid="1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5">
                                            <p:txEl>
                                              <p:pRg st="2" end="2"/>
                                            </p:txEl>
                                          </p:spTgt>
                                        </p:tgtEl>
                                        <p:attrNameLst>
                                          <p:attrName>style.visibility</p:attrName>
                                        </p:attrNameLst>
                                      </p:cBhvr>
                                      <p:to>
                                        <p:strVal val="visible"/>
                                      </p:to>
                                    </p:set>
                                    <p:animEffect transition="in" filter="fade">
                                      <p:cBhvr>
                                        <p:cTn id="63" dur="250"/>
                                        <p:tgtEl>
                                          <p:spTgt spid="5">
                                            <p:txEl>
                                              <p:pRg st="2" end="2"/>
                                            </p:txEl>
                                          </p:spTgt>
                                        </p:tgtEl>
                                      </p:cBhvr>
                                    </p:animEffect>
                                  </p:childTnLst>
                                </p:cTn>
                              </p:par>
                              <p:par>
                                <p:cTn id="64" presetID="10" presetClass="exit" presetSubtype="0" fill="hold" grpId="1" nodeType="withEffect">
                                  <p:stCondLst>
                                    <p:cond delay="0"/>
                                  </p:stCondLst>
                                  <p:childTnLst>
                                    <p:animEffect transition="out" filter="fade">
                                      <p:cBhvr>
                                        <p:cTn id="65" dur="250"/>
                                        <p:tgtEl>
                                          <p:spTgt spid="17"/>
                                        </p:tgtEl>
                                      </p:cBhvr>
                                    </p:animEffect>
                                    <p:set>
                                      <p:cBhvr>
                                        <p:cTn id="66" dur="1" fill="hold">
                                          <p:stCondLst>
                                            <p:cond delay="249"/>
                                          </p:stCondLst>
                                        </p:cTn>
                                        <p:tgtEl>
                                          <p:spTgt spid="17"/>
                                        </p:tgtEl>
                                        <p:attrNameLst>
                                          <p:attrName>style.visibility</p:attrName>
                                        </p:attrNameLst>
                                      </p:cBhvr>
                                      <p:to>
                                        <p:strVal val="hidden"/>
                                      </p:to>
                                    </p:set>
                                  </p:childTnLst>
                                </p:cTn>
                              </p:par>
                              <p:par>
                                <p:cTn id="67" presetID="10" presetClass="exit" presetSubtype="0" fill="hold" grpId="1" nodeType="withEffect">
                                  <p:stCondLst>
                                    <p:cond delay="0"/>
                                  </p:stCondLst>
                                  <p:childTnLst>
                                    <p:animEffect transition="out" filter="fade">
                                      <p:cBhvr>
                                        <p:cTn id="68" dur="250"/>
                                        <p:tgtEl>
                                          <p:spTgt spid="18"/>
                                        </p:tgtEl>
                                      </p:cBhvr>
                                    </p:animEffect>
                                    <p:set>
                                      <p:cBhvr>
                                        <p:cTn id="69" dur="1" fill="hold">
                                          <p:stCondLst>
                                            <p:cond delay="249"/>
                                          </p:stCondLst>
                                        </p:cTn>
                                        <p:tgtEl>
                                          <p:spTgt spid="18"/>
                                        </p:tgtEl>
                                        <p:attrNameLst>
                                          <p:attrName>style.visibility</p:attrName>
                                        </p:attrNameLst>
                                      </p:cBhvr>
                                      <p:to>
                                        <p:strVal val="hidden"/>
                                      </p:to>
                                    </p:set>
                                  </p:childTnLst>
                                </p:cTn>
                              </p:par>
                              <p:par>
                                <p:cTn id="70" presetID="10" presetClass="exit" presetSubtype="0" fill="hold" grpId="1" nodeType="withEffect">
                                  <p:stCondLst>
                                    <p:cond delay="0"/>
                                  </p:stCondLst>
                                  <p:childTnLst>
                                    <p:animEffect transition="out" filter="fade">
                                      <p:cBhvr>
                                        <p:cTn id="71" dur="250"/>
                                        <p:tgtEl>
                                          <p:spTgt spid="15"/>
                                        </p:tgtEl>
                                      </p:cBhvr>
                                    </p:animEffect>
                                    <p:set>
                                      <p:cBhvr>
                                        <p:cTn id="72" dur="1" fill="hold">
                                          <p:stCondLst>
                                            <p:cond delay="249"/>
                                          </p:stCondLst>
                                        </p:cTn>
                                        <p:tgtEl>
                                          <p:spTgt spid="15"/>
                                        </p:tgtEl>
                                        <p:attrNameLst>
                                          <p:attrName>style.visibility</p:attrName>
                                        </p:attrNameLst>
                                      </p:cBhvr>
                                      <p:to>
                                        <p:strVal val="hidden"/>
                                      </p:to>
                                    </p:set>
                                  </p:childTnLst>
                                </p:cTn>
                              </p:par>
                              <p:par>
                                <p:cTn id="73" presetID="10" presetClass="exit" presetSubtype="0" fill="hold" grpId="1" nodeType="withEffect">
                                  <p:stCondLst>
                                    <p:cond delay="0"/>
                                  </p:stCondLst>
                                  <p:childTnLst>
                                    <p:animEffect transition="out" filter="fade">
                                      <p:cBhvr>
                                        <p:cTn id="74" dur="250"/>
                                        <p:tgtEl>
                                          <p:spTgt spid="14"/>
                                        </p:tgtEl>
                                      </p:cBhvr>
                                    </p:animEffect>
                                    <p:set>
                                      <p:cBhvr>
                                        <p:cTn id="75" dur="1" fill="hold">
                                          <p:stCondLst>
                                            <p:cond delay="249"/>
                                          </p:stCondLst>
                                        </p:cTn>
                                        <p:tgtEl>
                                          <p:spTgt spid="14"/>
                                        </p:tgtEl>
                                        <p:attrNameLst>
                                          <p:attrName>style.visibility</p:attrName>
                                        </p:attrNameLst>
                                      </p:cBhvr>
                                      <p:to>
                                        <p:strVal val="hidden"/>
                                      </p:to>
                                    </p:set>
                                  </p:childTnLst>
                                </p:cTn>
                              </p:par>
                              <p:par>
                                <p:cTn id="76" presetID="10" presetClass="exit" presetSubtype="0" fill="hold" grpId="1" nodeType="withEffect">
                                  <p:stCondLst>
                                    <p:cond delay="0"/>
                                  </p:stCondLst>
                                  <p:childTnLst>
                                    <p:animEffect transition="out" filter="fade">
                                      <p:cBhvr>
                                        <p:cTn id="77" dur="250"/>
                                        <p:tgtEl>
                                          <p:spTgt spid="12"/>
                                        </p:tgtEl>
                                      </p:cBhvr>
                                    </p:animEffect>
                                    <p:set>
                                      <p:cBhvr>
                                        <p:cTn id="78" dur="1" fill="hold">
                                          <p:stCondLst>
                                            <p:cond delay="249"/>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4" grpId="0" animBg="1"/>
      <p:bldP spid="14" grpId="1" animBg="1"/>
      <p:bldP spid="15" grpId="0" animBg="1"/>
      <p:bldP spid="15" grpId="1" animBg="1"/>
      <p:bldP spid="17" grpId="0" animBg="1"/>
      <p:bldP spid="17" grpId="1" animBg="1"/>
      <p:bldP spid="18" grpId="0" animBg="1"/>
      <p:bldP spid="18"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C50DD-C038-053F-A9D0-406D8B1F8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F7E851-A46E-B688-6E60-5D21FD01553D}"/>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Reading Comprehension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F9E73C3-6C38-AE10-0DD8-25D356843912}"/>
              </a:ext>
            </a:extLst>
          </p:cNvPr>
          <p:cNvSpPr>
            <a:spLocks noGrp="1"/>
          </p:cNvSpPr>
          <p:nvPr>
            <p:ph idx="1"/>
          </p:nvPr>
        </p:nvSpPr>
        <p:spPr>
          <a:xfrm>
            <a:off x="1371600" y="1133856"/>
            <a:ext cx="9601200" cy="807239"/>
          </a:xfrm>
        </p:spPr>
        <p:txBody>
          <a:bodyPr>
            <a:normAutofit lnSpcReduction="10000"/>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middle and high school English reading exams (RACE).</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a:t>
            </a:r>
          </a:p>
        </p:txBody>
      </p:sp>
      <p:sp>
        <p:nvSpPr>
          <p:cNvPr id="5" name="Content Placeholder 2">
            <a:extLst>
              <a:ext uri="{FF2B5EF4-FFF2-40B4-BE49-F238E27FC236}">
                <a16:creationId xmlns:a16="http://schemas.microsoft.com/office/drawing/2014/main" id="{B7BCD6D4-9869-26D2-38E1-26D9738A1634}"/>
              </a:ext>
            </a:extLst>
          </p:cNvPr>
          <p:cNvSpPr txBox="1">
            <a:spLocks/>
          </p:cNvSpPr>
          <p:nvPr/>
        </p:nvSpPr>
        <p:spPr>
          <a:xfrm>
            <a:off x="1371600" y="5032556"/>
            <a:ext cx="9601200" cy="1160725"/>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is competitive with PaLM-540B.</a:t>
            </a:r>
          </a:p>
          <a:p>
            <a:r>
              <a:rPr lang="en-US" dirty="0">
                <a:solidFill>
                  <a:schemeClr val="tx1"/>
                </a:solidFill>
                <a:latin typeface="Times New Roman" panose="02020603050405020304" pitchFamily="18" charset="0"/>
                <a:cs typeface="Times New Roman" panose="02020603050405020304" pitchFamily="18" charset="0"/>
              </a:rPr>
              <a:t>LLaMA-13B outperforms GPT-3 by a few percent.</a:t>
            </a:r>
          </a:p>
        </p:txBody>
      </p:sp>
      <p:pic>
        <p:nvPicPr>
          <p:cNvPr id="4" name="Picture 3">
            <a:extLst>
              <a:ext uri="{FF2B5EF4-FFF2-40B4-BE49-F238E27FC236}">
                <a16:creationId xmlns:a16="http://schemas.microsoft.com/office/drawing/2014/main" id="{3D615BDE-4870-6D75-F421-392C2B5CBC57}"/>
              </a:ext>
            </a:extLst>
          </p:cNvPr>
          <p:cNvPicPr>
            <a:picLocks noChangeAspect="1"/>
          </p:cNvPicPr>
          <p:nvPr/>
        </p:nvPicPr>
        <p:blipFill>
          <a:blip r:embed="rId3"/>
          <a:srcRect t="3253" b="20802"/>
          <a:stretch/>
        </p:blipFill>
        <p:spPr>
          <a:xfrm>
            <a:off x="3822700" y="2052321"/>
            <a:ext cx="4546600" cy="2864585"/>
          </a:xfrm>
          <a:prstGeom prst="rect">
            <a:avLst/>
          </a:prstGeom>
        </p:spPr>
      </p:pic>
      <p:sp>
        <p:nvSpPr>
          <p:cNvPr id="8" name="Rounded Rectangle 7">
            <a:extLst>
              <a:ext uri="{FF2B5EF4-FFF2-40B4-BE49-F238E27FC236}">
                <a16:creationId xmlns:a16="http://schemas.microsoft.com/office/drawing/2014/main" id="{91ECBF2A-2189-10FD-B9A4-ED4E274CC637}"/>
              </a:ext>
            </a:extLst>
          </p:cNvPr>
          <p:cNvSpPr/>
          <p:nvPr/>
        </p:nvSpPr>
        <p:spPr>
          <a:xfrm>
            <a:off x="5770880" y="3352800"/>
            <a:ext cx="2397760" cy="3454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Rounded Rectangle 8">
            <a:extLst>
              <a:ext uri="{FF2B5EF4-FFF2-40B4-BE49-F238E27FC236}">
                <a16:creationId xmlns:a16="http://schemas.microsoft.com/office/drawing/2014/main" id="{837353F3-6349-88A8-7A01-C747130A6EDD}"/>
              </a:ext>
            </a:extLst>
          </p:cNvPr>
          <p:cNvSpPr/>
          <p:nvPr/>
        </p:nvSpPr>
        <p:spPr>
          <a:xfrm>
            <a:off x="5770880" y="4581626"/>
            <a:ext cx="2397760" cy="3454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C365C310-FE82-F58E-C3C2-D18A8F0A6D2E}"/>
              </a:ext>
            </a:extLst>
          </p:cNvPr>
          <p:cNvSpPr/>
          <p:nvPr/>
        </p:nvSpPr>
        <p:spPr>
          <a:xfrm>
            <a:off x="5770880" y="4025960"/>
            <a:ext cx="2397760" cy="34544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882D46F5-F38F-B6DF-A58C-C15869E60D36}"/>
              </a:ext>
            </a:extLst>
          </p:cNvPr>
          <p:cNvSpPr/>
          <p:nvPr/>
        </p:nvSpPr>
        <p:spPr>
          <a:xfrm>
            <a:off x="5770880" y="2409228"/>
            <a:ext cx="2397760" cy="34544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44880741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3"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250"/>
                                        <p:tgtEl>
                                          <p:spTgt spid="8"/>
                                        </p:tgtEl>
                                      </p:cBhvr>
                                    </p:animEffect>
                                  </p:childTnLst>
                                </p:cTn>
                              </p:par>
                              <p:par>
                                <p:cTn id="26" presetID="10" presetClass="entr" presetSubtype="0" fill="hold" grpId="2"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250"/>
                                        <p:tgtEl>
                                          <p:spTgt spid="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500"/>
                                        <p:tgtEl>
                                          <p:spTgt spid="5">
                                            <p:txEl>
                                              <p:pRg st="1" end="1"/>
                                            </p:txEl>
                                          </p:spTgt>
                                        </p:tgtEl>
                                      </p:cBhvr>
                                    </p:animEffect>
                                  </p:childTnLst>
                                </p:cTn>
                              </p:par>
                              <p:par>
                                <p:cTn id="34" presetID="10" presetClass="exit" presetSubtype="0" fill="hold" grpId="0" nodeType="withEffect">
                                  <p:stCondLst>
                                    <p:cond delay="0"/>
                                  </p:stCondLst>
                                  <p:childTnLst>
                                    <p:animEffect transition="out" filter="fade">
                                      <p:cBhvr>
                                        <p:cTn id="35" dur="250"/>
                                        <p:tgtEl>
                                          <p:spTgt spid="9"/>
                                        </p:tgtEl>
                                      </p:cBhvr>
                                    </p:animEffect>
                                    <p:set>
                                      <p:cBhvr>
                                        <p:cTn id="36" dur="1" fill="hold">
                                          <p:stCondLst>
                                            <p:cond delay="249"/>
                                          </p:stCondLst>
                                        </p:cTn>
                                        <p:tgtEl>
                                          <p:spTgt spid="9"/>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8" dur="250"/>
                                        <p:tgtEl>
                                          <p:spTgt spid="8"/>
                                        </p:tgtEl>
                                      </p:cBhvr>
                                    </p:animEffect>
                                    <p:set>
                                      <p:cBhvr>
                                        <p:cTn id="39" dur="1" fill="hold">
                                          <p:stCondLst>
                                            <p:cond delay="249"/>
                                          </p:stCondLst>
                                        </p:cTn>
                                        <p:tgtEl>
                                          <p:spTgt spid="8"/>
                                        </p:tgtEl>
                                        <p:attrNameLst>
                                          <p:attrName>style.visibility</p:attrName>
                                        </p:attrNameLst>
                                      </p:cBhvr>
                                      <p:to>
                                        <p:strVal val="hidden"/>
                                      </p:to>
                                    </p:set>
                                  </p:childTnLst>
                                </p:cTn>
                              </p:par>
                              <p:par>
                                <p:cTn id="40" presetID="10" presetClass="exit" presetSubtype="0" fill="hold" grpId="1" nodeType="withEffect">
                                  <p:stCondLst>
                                    <p:cond delay="0"/>
                                  </p:stCondLst>
                                  <p:childTnLst>
                                    <p:animEffect transition="out" filter="fade">
                                      <p:cBhvr>
                                        <p:cTn id="41" dur="250"/>
                                        <p:tgtEl>
                                          <p:spTgt spid="8"/>
                                        </p:tgtEl>
                                      </p:cBhvr>
                                    </p:animEffect>
                                    <p:set>
                                      <p:cBhvr>
                                        <p:cTn id="42" dur="1" fill="hold">
                                          <p:stCondLst>
                                            <p:cond delay="249"/>
                                          </p:stCondLst>
                                        </p:cTn>
                                        <p:tgtEl>
                                          <p:spTgt spid="8"/>
                                        </p:tgtEl>
                                        <p:attrNameLst>
                                          <p:attrName>style.visibility</p:attrName>
                                        </p:attrNameLst>
                                      </p:cBhvr>
                                      <p:to>
                                        <p:strVal val="hidden"/>
                                      </p:to>
                                    </p:set>
                                  </p:childTnLst>
                                </p:cTn>
                              </p:par>
                              <p:par>
                                <p:cTn id="43" presetID="10" presetClass="exit" presetSubtype="0" fill="hold" grpId="1" nodeType="withEffect">
                                  <p:stCondLst>
                                    <p:cond delay="0"/>
                                  </p:stCondLst>
                                  <p:childTnLst>
                                    <p:animEffect transition="out" filter="fade">
                                      <p:cBhvr>
                                        <p:cTn id="44" dur="250"/>
                                        <p:tgtEl>
                                          <p:spTgt spid="9"/>
                                        </p:tgtEl>
                                      </p:cBhvr>
                                    </p:animEffect>
                                    <p:set>
                                      <p:cBhvr>
                                        <p:cTn id="45" dur="1" fill="hold">
                                          <p:stCondLst>
                                            <p:cond delay="249"/>
                                          </p:stCondLst>
                                        </p:cTn>
                                        <p:tgtEl>
                                          <p:spTgt spid="9"/>
                                        </p:tgtEl>
                                        <p:attrNameLst>
                                          <p:attrName>style.visibility</p:attrName>
                                        </p:attrNameLst>
                                      </p:cBhvr>
                                      <p:to>
                                        <p:strVal val="hidden"/>
                                      </p:to>
                                    </p:set>
                                  </p:childTnLst>
                                </p:cTn>
                              </p:par>
                              <p:par>
                                <p:cTn id="46" presetID="10"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250"/>
                                        <p:tgtEl>
                                          <p:spTgt spid="1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250"/>
                                        <p:tgtEl>
                                          <p:spTgt spid="10"/>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grpId="1" nodeType="clickEffect">
                                  <p:stCondLst>
                                    <p:cond delay="0"/>
                                  </p:stCondLst>
                                  <p:childTnLst>
                                    <p:animEffect transition="out" filter="fade">
                                      <p:cBhvr>
                                        <p:cTn id="55" dur="250"/>
                                        <p:tgtEl>
                                          <p:spTgt spid="11"/>
                                        </p:tgtEl>
                                      </p:cBhvr>
                                    </p:animEffect>
                                    <p:set>
                                      <p:cBhvr>
                                        <p:cTn id="56" dur="1" fill="hold">
                                          <p:stCondLst>
                                            <p:cond delay="249"/>
                                          </p:stCondLst>
                                        </p:cTn>
                                        <p:tgtEl>
                                          <p:spTgt spid="11"/>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250"/>
                                        <p:tgtEl>
                                          <p:spTgt spid="10"/>
                                        </p:tgtEl>
                                      </p:cBhvr>
                                    </p:animEffect>
                                    <p:set>
                                      <p:cBhvr>
                                        <p:cTn id="59" dur="1" fill="hold">
                                          <p:stCondLst>
                                            <p:cond delay="24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8" grpId="3" animBg="1"/>
      <p:bldP spid="9" grpId="0" animBg="1"/>
      <p:bldP spid="9" grpId="1" animBg="1"/>
      <p:bldP spid="9" grpId="2" animBg="1"/>
      <p:bldP spid="10" grpId="0" animBg="1"/>
      <p:bldP spid="10" grpId="1" animBg="1"/>
      <p:bldP spid="11" grpId="0" animBg="1"/>
      <p:bldP spid="11"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2277B-2DDA-B2B4-068A-1299C3871C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56C308-B8A4-0D1C-A446-5C2E66A47B46}"/>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Mathematical Reasoning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7EDE637-A89C-CD6D-777F-3D319C1C0135}"/>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middle and high school math problems (MATH &amp; GSM8k).</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compared with and without majority voting.</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8EBBEAC8-3288-6621-42B0-B133ED8C45A9}"/>
              </a:ext>
            </a:extLst>
          </p:cNvPr>
          <p:cNvSpPr txBox="1">
            <a:spLocks/>
          </p:cNvSpPr>
          <p:nvPr/>
        </p:nvSpPr>
        <p:spPr>
          <a:xfrm>
            <a:off x="1371600" y="5696955"/>
            <a:ext cx="9601200" cy="116072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outperforms Minerva-62B on GSM8k</a:t>
            </a:r>
          </a:p>
          <a:p>
            <a:r>
              <a:rPr lang="en-US" dirty="0">
                <a:solidFill>
                  <a:schemeClr val="tx1"/>
                </a:solidFill>
                <a:latin typeface="Times New Roman" panose="02020603050405020304" pitchFamily="18" charset="0"/>
                <a:cs typeface="Times New Roman" panose="02020603050405020304" pitchFamily="18" charset="0"/>
              </a:rPr>
              <a:t>Achieved without fine-tuning on mathematical data, unlike Minerva.</a:t>
            </a:r>
          </a:p>
        </p:txBody>
      </p:sp>
      <p:pic>
        <p:nvPicPr>
          <p:cNvPr id="6" name="Picture 5">
            <a:extLst>
              <a:ext uri="{FF2B5EF4-FFF2-40B4-BE49-F238E27FC236}">
                <a16:creationId xmlns:a16="http://schemas.microsoft.com/office/drawing/2014/main" id="{CBFDC9D0-BB45-B0E0-5690-BD33DFD59316}"/>
              </a:ext>
            </a:extLst>
          </p:cNvPr>
          <p:cNvPicPr>
            <a:picLocks noChangeAspect="1"/>
          </p:cNvPicPr>
          <p:nvPr/>
        </p:nvPicPr>
        <p:blipFill>
          <a:blip r:embed="rId3"/>
          <a:stretch>
            <a:fillRect/>
          </a:stretch>
        </p:blipFill>
        <p:spPr>
          <a:xfrm>
            <a:off x="4006850" y="2053389"/>
            <a:ext cx="4330700" cy="3530600"/>
          </a:xfrm>
          <a:prstGeom prst="rect">
            <a:avLst/>
          </a:prstGeom>
        </p:spPr>
      </p:pic>
      <p:sp>
        <p:nvSpPr>
          <p:cNvPr id="9" name="Rounded Rectangle 8">
            <a:extLst>
              <a:ext uri="{FF2B5EF4-FFF2-40B4-BE49-F238E27FC236}">
                <a16:creationId xmlns:a16="http://schemas.microsoft.com/office/drawing/2014/main" id="{2B8EDCB6-5830-FBCC-F731-15F58A855B0C}"/>
              </a:ext>
            </a:extLst>
          </p:cNvPr>
          <p:cNvSpPr/>
          <p:nvPr/>
        </p:nvSpPr>
        <p:spPr>
          <a:xfrm>
            <a:off x="5334000" y="5191760"/>
            <a:ext cx="3003550" cy="392229"/>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1E052FB1-CC4D-013B-44C6-FFA647326E7C}"/>
              </a:ext>
            </a:extLst>
          </p:cNvPr>
          <p:cNvSpPr/>
          <p:nvPr/>
        </p:nvSpPr>
        <p:spPr>
          <a:xfrm>
            <a:off x="5334000" y="3958154"/>
            <a:ext cx="3003550" cy="392229"/>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1697302025"/>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25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250"/>
                                        <p:tgtEl>
                                          <p:spTgt spid="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250"/>
                                        <p:tgtEl>
                                          <p:spTgt spid="5">
                                            <p:txEl>
                                              <p:pRg st="1" end="1"/>
                                            </p:txEl>
                                          </p:spTgt>
                                        </p:tgtEl>
                                      </p:cBhvr>
                                    </p:animEffect>
                                  </p:childTnLst>
                                </p:cTn>
                              </p:par>
                              <p:par>
                                <p:cTn id="34" presetID="10" presetClass="exit" presetSubtype="0" fill="hold" grpId="1" nodeType="withEffect">
                                  <p:stCondLst>
                                    <p:cond delay="0"/>
                                  </p:stCondLst>
                                  <p:childTnLst>
                                    <p:animEffect transition="out" filter="fade">
                                      <p:cBhvr>
                                        <p:cTn id="35" dur="250"/>
                                        <p:tgtEl>
                                          <p:spTgt spid="10"/>
                                        </p:tgtEl>
                                      </p:cBhvr>
                                    </p:animEffect>
                                    <p:set>
                                      <p:cBhvr>
                                        <p:cTn id="36" dur="1" fill="hold">
                                          <p:stCondLst>
                                            <p:cond delay="249"/>
                                          </p:stCondLst>
                                        </p:cTn>
                                        <p:tgtEl>
                                          <p:spTgt spid="10"/>
                                        </p:tgtEl>
                                        <p:attrNameLst>
                                          <p:attrName>style.visibility</p:attrName>
                                        </p:attrNameLst>
                                      </p:cBhvr>
                                      <p:to>
                                        <p:strVal val="hidden"/>
                                      </p:to>
                                    </p:set>
                                  </p:childTnLst>
                                </p:cTn>
                              </p:par>
                              <p:par>
                                <p:cTn id="37" presetID="10" presetClass="exit" presetSubtype="0" fill="hold" grpId="1" nodeType="withEffect">
                                  <p:stCondLst>
                                    <p:cond delay="0"/>
                                  </p:stCondLst>
                                  <p:childTnLst>
                                    <p:animEffect transition="out" filter="fade">
                                      <p:cBhvr>
                                        <p:cTn id="38" dur="250"/>
                                        <p:tgtEl>
                                          <p:spTgt spid="9"/>
                                        </p:tgtEl>
                                      </p:cBhvr>
                                    </p:animEffect>
                                    <p:set>
                                      <p:cBhvr>
                                        <p:cTn id="39" dur="1" fill="hold">
                                          <p:stCondLst>
                                            <p:cond delay="24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17BDE-57FE-F51E-71ED-72345C7227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A35C53-D3CA-4A2F-5C4C-026B880EEA1D}"/>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Code Generation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F71E94A-F6B4-FF1A-65C7-0C04FA36B2E7}"/>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pass@1 scores, ability to generate functional Python code from description</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for </a:t>
            </a:r>
            <a:r>
              <a:rPr lang="en-US" dirty="0" err="1">
                <a:solidFill>
                  <a:schemeClr val="tx1"/>
                </a:solidFill>
                <a:latin typeface="Times New Roman" panose="02020603050405020304" pitchFamily="18" charset="0"/>
                <a:cs typeface="Times New Roman" panose="02020603050405020304" pitchFamily="18" charset="0"/>
              </a:rPr>
              <a:t>HumanEval</a:t>
            </a:r>
            <a:r>
              <a:rPr lang="en-US" dirty="0">
                <a:solidFill>
                  <a:schemeClr val="tx1"/>
                </a:solidFill>
                <a:latin typeface="Times New Roman" panose="02020603050405020304" pitchFamily="18" charset="0"/>
                <a:cs typeface="Times New Roman" panose="02020603050405020304" pitchFamily="18" charset="0"/>
              </a:rPr>
              <a:t>, 3-shot for MBPP</a:t>
            </a:r>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3174CBAD-1086-871A-42AD-3B0ACFC8F833}"/>
              </a:ext>
            </a:extLst>
          </p:cNvPr>
          <p:cNvSpPr txBox="1">
            <a:spLocks/>
          </p:cNvSpPr>
          <p:nvPr/>
        </p:nvSpPr>
        <p:spPr>
          <a:xfrm>
            <a:off x="1371600" y="5497299"/>
            <a:ext cx="10474054" cy="1237330"/>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LLaMA-13B outperforms LaMDA-137B on both </a:t>
            </a:r>
            <a:r>
              <a:rPr lang="en-US" dirty="0" err="1">
                <a:solidFill>
                  <a:schemeClr val="tx1"/>
                </a:solidFill>
                <a:latin typeface="Times New Roman" panose="02020603050405020304" pitchFamily="18" charset="0"/>
                <a:cs typeface="Times New Roman" panose="02020603050405020304" pitchFamily="18" charset="0"/>
              </a:rPr>
              <a:t>HumanEval</a:t>
            </a:r>
            <a:r>
              <a:rPr lang="en-US" dirty="0">
                <a:solidFill>
                  <a:schemeClr val="tx1"/>
                </a:solidFill>
                <a:latin typeface="Times New Roman" panose="02020603050405020304" pitchFamily="18" charset="0"/>
                <a:cs typeface="Times New Roman" panose="02020603050405020304" pitchFamily="18" charset="0"/>
              </a:rPr>
              <a:t> and MBPP.</a:t>
            </a:r>
          </a:p>
          <a:p>
            <a:r>
              <a:rPr lang="en-US" dirty="0">
                <a:solidFill>
                  <a:schemeClr val="tx1"/>
                </a:solidFill>
                <a:latin typeface="Times New Roman" panose="02020603050405020304" pitchFamily="18" charset="0"/>
                <a:cs typeface="Times New Roman" panose="02020603050405020304" pitchFamily="18" charset="0"/>
              </a:rPr>
              <a:t>LLaMA-65B outperforms PaLM-62B, even with longer training.</a:t>
            </a:r>
          </a:p>
          <a:p>
            <a:r>
              <a:rPr lang="en-US" dirty="0">
                <a:solidFill>
                  <a:schemeClr val="tx1"/>
                </a:solidFill>
                <a:latin typeface="Times New Roman" panose="02020603050405020304" pitchFamily="18" charset="0"/>
                <a:cs typeface="Times New Roman" panose="02020603050405020304" pitchFamily="18" charset="0"/>
              </a:rPr>
              <a:t>Also beats other general models not specifically fine-tuned for code (fine-tuning is out of scope).</a:t>
            </a:r>
          </a:p>
        </p:txBody>
      </p:sp>
      <p:pic>
        <p:nvPicPr>
          <p:cNvPr id="6" name="Picture 5">
            <a:extLst>
              <a:ext uri="{FF2B5EF4-FFF2-40B4-BE49-F238E27FC236}">
                <a16:creationId xmlns:a16="http://schemas.microsoft.com/office/drawing/2014/main" id="{BFC27E72-23EF-4DBF-1567-61A3A354C963}"/>
              </a:ext>
            </a:extLst>
          </p:cNvPr>
          <p:cNvPicPr>
            <a:picLocks noChangeAspect="1"/>
          </p:cNvPicPr>
          <p:nvPr/>
        </p:nvPicPr>
        <p:blipFill>
          <a:blip r:embed="rId3"/>
          <a:stretch>
            <a:fillRect/>
          </a:stretch>
        </p:blipFill>
        <p:spPr>
          <a:xfrm>
            <a:off x="3892550" y="2053389"/>
            <a:ext cx="4559300" cy="3403600"/>
          </a:xfrm>
          <a:prstGeom prst="rect">
            <a:avLst/>
          </a:prstGeom>
        </p:spPr>
      </p:pic>
      <p:sp>
        <p:nvSpPr>
          <p:cNvPr id="9" name="Rounded Rectangle 8">
            <a:extLst>
              <a:ext uri="{FF2B5EF4-FFF2-40B4-BE49-F238E27FC236}">
                <a16:creationId xmlns:a16="http://schemas.microsoft.com/office/drawing/2014/main" id="{A8F2023A-3BC1-9694-9F6E-17537BAC03B4}"/>
              </a:ext>
            </a:extLst>
          </p:cNvPr>
          <p:cNvSpPr/>
          <p:nvPr/>
        </p:nvSpPr>
        <p:spPr>
          <a:xfrm>
            <a:off x="5933440" y="2743200"/>
            <a:ext cx="2518410" cy="3251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8B056098-5B9B-22B8-614B-4792484FE2C4}"/>
              </a:ext>
            </a:extLst>
          </p:cNvPr>
          <p:cNvSpPr/>
          <p:nvPr/>
        </p:nvSpPr>
        <p:spPr>
          <a:xfrm>
            <a:off x="5933440" y="4533168"/>
            <a:ext cx="2518410" cy="3251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B7EC3C40-B43C-4500-1F05-36F15504E496}"/>
              </a:ext>
            </a:extLst>
          </p:cNvPr>
          <p:cNvSpPr/>
          <p:nvPr/>
        </p:nvSpPr>
        <p:spPr>
          <a:xfrm>
            <a:off x="5933440" y="5091228"/>
            <a:ext cx="2518410" cy="32512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1E13EB50-624D-5552-33BB-9C8046244FFD}"/>
              </a:ext>
            </a:extLst>
          </p:cNvPr>
          <p:cNvSpPr/>
          <p:nvPr/>
        </p:nvSpPr>
        <p:spPr>
          <a:xfrm>
            <a:off x="5933440" y="3313062"/>
            <a:ext cx="2518410" cy="32512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3118659364"/>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25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2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250"/>
                                        <p:tgtEl>
                                          <p:spTgt spid="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500"/>
                                        <p:tgtEl>
                                          <p:spTgt spid="5">
                                            <p:txEl>
                                              <p:pRg st="1" end="1"/>
                                            </p:txEl>
                                          </p:spTgt>
                                        </p:tgtEl>
                                      </p:cBhvr>
                                    </p:animEffect>
                                  </p:childTnLst>
                                </p:cTn>
                              </p:par>
                              <p:par>
                                <p:cTn id="34" presetID="10" presetClass="exit" presetSubtype="0" fill="hold" grpId="1" nodeType="withEffect">
                                  <p:stCondLst>
                                    <p:cond delay="0"/>
                                  </p:stCondLst>
                                  <p:childTnLst>
                                    <p:animEffect transition="out" filter="fade">
                                      <p:cBhvr>
                                        <p:cTn id="35" dur="250"/>
                                        <p:tgtEl>
                                          <p:spTgt spid="9"/>
                                        </p:tgtEl>
                                      </p:cBhvr>
                                    </p:animEffect>
                                    <p:set>
                                      <p:cBhvr>
                                        <p:cTn id="36" dur="1" fill="hold">
                                          <p:stCondLst>
                                            <p:cond delay="249"/>
                                          </p:stCondLst>
                                        </p:cTn>
                                        <p:tgtEl>
                                          <p:spTgt spid="9"/>
                                        </p:tgtEl>
                                        <p:attrNameLst>
                                          <p:attrName>style.visibility</p:attrName>
                                        </p:attrNameLst>
                                      </p:cBhvr>
                                      <p:to>
                                        <p:strVal val="hidden"/>
                                      </p:to>
                                    </p:set>
                                  </p:childTnLst>
                                </p:cTn>
                              </p:par>
                              <p:par>
                                <p:cTn id="37" presetID="10" presetClass="exit" presetSubtype="0" fill="hold" grpId="1" nodeType="withEffect">
                                  <p:stCondLst>
                                    <p:cond delay="0"/>
                                  </p:stCondLst>
                                  <p:childTnLst>
                                    <p:animEffect transition="out" filter="fade">
                                      <p:cBhvr>
                                        <p:cTn id="38" dur="250"/>
                                        <p:tgtEl>
                                          <p:spTgt spid="10"/>
                                        </p:tgtEl>
                                      </p:cBhvr>
                                    </p:animEffect>
                                    <p:set>
                                      <p:cBhvr>
                                        <p:cTn id="39" dur="1" fill="hold">
                                          <p:stCondLst>
                                            <p:cond delay="249"/>
                                          </p:stCondLst>
                                        </p:cTn>
                                        <p:tgtEl>
                                          <p:spTgt spid="10"/>
                                        </p:tgtEl>
                                        <p:attrNameLst>
                                          <p:attrName>style.visibility</p:attrName>
                                        </p:attrNameLst>
                                      </p:cBhvr>
                                      <p:to>
                                        <p:strVal val="hidden"/>
                                      </p:to>
                                    </p:set>
                                  </p:childTnLst>
                                </p:cTn>
                              </p:par>
                              <p:par>
                                <p:cTn id="40" presetID="10" presetClass="entr" presetSubtype="0" fill="hold" grpId="0" nodeType="with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250"/>
                                        <p:tgtEl>
                                          <p:spTgt spid="1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5">
                                            <p:txEl>
                                              <p:pRg st="2" end="2"/>
                                            </p:txEl>
                                          </p:spTgt>
                                        </p:tgtEl>
                                        <p:attrNameLst>
                                          <p:attrName>style.visibility</p:attrName>
                                        </p:attrNameLst>
                                      </p:cBhvr>
                                      <p:to>
                                        <p:strVal val="visible"/>
                                      </p:to>
                                    </p:set>
                                    <p:animEffect transition="in" filter="fade">
                                      <p:cBhvr>
                                        <p:cTn id="50" dur="500"/>
                                        <p:tgtEl>
                                          <p:spTgt spid="5">
                                            <p:txEl>
                                              <p:pRg st="2" end="2"/>
                                            </p:txEl>
                                          </p:spTgt>
                                        </p:tgtEl>
                                      </p:cBhvr>
                                    </p:animEffect>
                                  </p:childTnLst>
                                </p:cTn>
                              </p:par>
                              <p:par>
                                <p:cTn id="51" presetID="10" presetClass="exit" presetSubtype="0" fill="hold" grpId="2" nodeType="withEffect">
                                  <p:stCondLst>
                                    <p:cond delay="0"/>
                                  </p:stCondLst>
                                  <p:childTnLst>
                                    <p:animEffect transition="out" filter="fade">
                                      <p:cBhvr>
                                        <p:cTn id="52" dur="250"/>
                                        <p:tgtEl>
                                          <p:spTgt spid="10"/>
                                        </p:tgtEl>
                                      </p:cBhvr>
                                    </p:animEffect>
                                    <p:set>
                                      <p:cBhvr>
                                        <p:cTn id="53" dur="1" fill="hold">
                                          <p:stCondLst>
                                            <p:cond delay="249"/>
                                          </p:stCondLst>
                                        </p:cTn>
                                        <p:tgtEl>
                                          <p:spTgt spid="10"/>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250"/>
                                        <p:tgtEl>
                                          <p:spTgt spid="12"/>
                                        </p:tgtEl>
                                      </p:cBhvr>
                                    </p:animEffect>
                                    <p:set>
                                      <p:cBhvr>
                                        <p:cTn id="56" dur="1" fill="hold">
                                          <p:stCondLst>
                                            <p:cond delay="249"/>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0" grpId="2" animBg="1"/>
      <p:bldP spid="11" grpId="0" animBg="1"/>
      <p:bldP spid="12" grpId="0" animBg="1"/>
      <p:bldP spid="12"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76616-AF89-523D-8AA0-169AAE86EF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2D2AB4-E728-EE38-58F5-111113600852}"/>
              </a:ext>
            </a:extLst>
          </p:cNvPr>
          <p:cNvSpPr>
            <a:spLocks noGrp="1"/>
          </p:cNvSpPr>
          <p:nvPr>
            <p:ph type="title"/>
          </p:nvPr>
        </p:nvSpPr>
        <p:spPr>
          <a:xfrm>
            <a:off x="1371599" y="355701"/>
            <a:ext cx="10174941" cy="660197"/>
          </a:xfrm>
        </p:spPr>
        <p:txBody>
          <a:bodyPr>
            <a:normAutofit/>
          </a:bodyPr>
          <a:lstStyle/>
          <a:p>
            <a:pPr>
              <a:spcAft>
                <a:spcPts val="600"/>
              </a:spcAft>
            </a:pPr>
            <a:r>
              <a:rPr lang="en-US" sz="4000" b="1" dirty="0">
                <a:solidFill>
                  <a:schemeClr val="tx1"/>
                </a:solidFill>
                <a:latin typeface="Times New Roman" panose="02020603050405020304" pitchFamily="18" charset="0"/>
                <a:cs typeface="Times New Roman" panose="02020603050405020304" pitchFamily="18" charset="0"/>
              </a:rPr>
              <a:t>Massive Multitask Language Understanding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A8B6BB5-6E8A-B43E-6D45-43B3946064D3}"/>
              </a:ext>
            </a:extLst>
          </p:cNvPr>
          <p:cNvSpPr>
            <a:spLocks noGrp="1"/>
          </p:cNvSpPr>
          <p:nvPr>
            <p:ph idx="1"/>
          </p:nvPr>
        </p:nvSpPr>
        <p:spPr>
          <a:xfrm>
            <a:off x="1371600" y="1133856"/>
            <a:ext cx="9601200" cy="919533"/>
          </a:xfrm>
        </p:spPr>
        <p:txBody>
          <a:bodyPr>
            <a:no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multiple-choice questions across different subjects.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5-shot.</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2FC952DA-A53F-B0DD-C26D-4E6022151BBE}"/>
              </a:ext>
            </a:extLst>
          </p:cNvPr>
          <p:cNvSpPr txBox="1">
            <a:spLocks/>
          </p:cNvSpPr>
          <p:nvPr/>
        </p:nvSpPr>
        <p:spPr>
          <a:xfrm>
            <a:off x="1371600" y="5724143"/>
            <a:ext cx="9601200" cy="101048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Falls slightly behind Chinchilla-70B and PaLM-540B.</a:t>
            </a:r>
          </a:p>
          <a:p>
            <a:r>
              <a:rPr lang="en-US" dirty="0">
                <a:solidFill>
                  <a:schemeClr val="tx1"/>
                </a:solidFill>
                <a:latin typeface="Times New Roman" panose="02020603050405020304" pitchFamily="18" charset="0"/>
                <a:cs typeface="Times New Roman" panose="02020603050405020304" pitchFamily="18" charset="0"/>
              </a:rPr>
              <a:t>Likely due to limited book data in pre-training (177GB vs 2TB for competitors).</a:t>
            </a:r>
          </a:p>
        </p:txBody>
      </p:sp>
      <p:pic>
        <p:nvPicPr>
          <p:cNvPr id="4" name="Picture 3">
            <a:extLst>
              <a:ext uri="{FF2B5EF4-FFF2-40B4-BE49-F238E27FC236}">
                <a16:creationId xmlns:a16="http://schemas.microsoft.com/office/drawing/2014/main" id="{E87A8F40-8AE3-91B2-D226-5176CF9E0C1D}"/>
              </a:ext>
            </a:extLst>
          </p:cNvPr>
          <p:cNvPicPr>
            <a:picLocks noChangeAspect="1"/>
          </p:cNvPicPr>
          <p:nvPr/>
        </p:nvPicPr>
        <p:blipFill>
          <a:blip r:embed="rId3"/>
          <a:srcRect b="11868"/>
          <a:stretch/>
        </p:blipFill>
        <p:spPr>
          <a:xfrm>
            <a:off x="2578476" y="2053389"/>
            <a:ext cx="7035047" cy="3519275"/>
          </a:xfrm>
          <a:prstGeom prst="rect">
            <a:avLst/>
          </a:prstGeom>
        </p:spPr>
      </p:pic>
      <p:sp>
        <p:nvSpPr>
          <p:cNvPr id="8" name="Rounded Rectangle 7">
            <a:extLst>
              <a:ext uri="{FF2B5EF4-FFF2-40B4-BE49-F238E27FC236}">
                <a16:creationId xmlns:a16="http://schemas.microsoft.com/office/drawing/2014/main" id="{C5832759-E21F-D90C-E17C-92732B702289}"/>
              </a:ext>
            </a:extLst>
          </p:cNvPr>
          <p:cNvSpPr/>
          <p:nvPr/>
        </p:nvSpPr>
        <p:spPr>
          <a:xfrm>
            <a:off x="4734560" y="5242560"/>
            <a:ext cx="4795520" cy="33010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Rounded Rectangle 8">
            <a:extLst>
              <a:ext uri="{FF2B5EF4-FFF2-40B4-BE49-F238E27FC236}">
                <a16:creationId xmlns:a16="http://schemas.microsoft.com/office/drawing/2014/main" id="{B8893EE6-A1B9-E5D1-A392-361D58E30809}"/>
              </a:ext>
            </a:extLst>
          </p:cNvPr>
          <p:cNvSpPr/>
          <p:nvPr/>
        </p:nvSpPr>
        <p:spPr>
          <a:xfrm>
            <a:off x="4734560" y="3221811"/>
            <a:ext cx="4795520" cy="33010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0559C847-D086-C58C-F419-FF47904CC999}"/>
              </a:ext>
            </a:extLst>
          </p:cNvPr>
          <p:cNvSpPr/>
          <p:nvPr/>
        </p:nvSpPr>
        <p:spPr>
          <a:xfrm>
            <a:off x="4734560" y="4087453"/>
            <a:ext cx="4795520" cy="33010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93818669"/>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2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2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250"/>
                                        <p:tgtEl>
                                          <p:spTgt spid="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5">
                                            <p:txEl>
                                              <p:pRg st="1" end="1"/>
                                            </p:txEl>
                                          </p:spTgt>
                                        </p:tgtEl>
                                        <p:attrNameLst>
                                          <p:attrName>style.visibility</p:attrName>
                                        </p:attrNameLst>
                                      </p:cBhvr>
                                      <p:to>
                                        <p:strVal val="visible"/>
                                      </p:to>
                                    </p:set>
                                    <p:animEffect transition="in" filter="fade">
                                      <p:cBhvr>
                                        <p:cTn id="36" dur="250"/>
                                        <p:tgtEl>
                                          <p:spTgt spid="5">
                                            <p:txEl>
                                              <p:pRg st="1" end="1"/>
                                            </p:txEl>
                                          </p:spTgt>
                                        </p:tgtEl>
                                      </p:cBhvr>
                                    </p:animEffect>
                                  </p:childTnLst>
                                </p:cTn>
                              </p:par>
                              <p:par>
                                <p:cTn id="37" presetID="10" presetClass="exit" presetSubtype="0" fill="hold" grpId="1" nodeType="withEffect">
                                  <p:stCondLst>
                                    <p:cond delay="0"/>
                                  </p:stCondLst>
                                  <p:childTnLst>
                                    <p:animEffect transition="out" filter="fade">
                                      <p:cBhvr>
                                        <p:cTn id="38" dur="250"/>
                                        <p:tgtEl>
                                          <p:spTgt spid="10"/>
                                        </p:tgtEl>
                                      </p:cBhvr>
                                    </p:animEffect>
                                    <p:set>
                                      <p:cBhvr>
                                        <p:cTn id="39" dur="1" fill="hold">
                                          <p:stCondLst>
                                            <p:cond delay="249"/>
                                          </p:stCondLst>
                                        </p:cTn>
                                        <p:tgtEl>
                                          <p:spTgt spid="10"/>
                                        </p:tgtEl>
                                        <p:attrNameLst>
                                          <p:attrName>style.visibility</p:attrName>
                                        </p:attrNameLst>
                                      </p:cBhvr>
                                      <p:to>
                                        <p:strVal val="hidden"/>
                                      </p:to>
                                    </p:set>
                                  </p:childTnLst>
                                </p:cTn>
                              </p:par>
                              <p:par>
                                <p:cTn id="40" presetID="10" presetClass="exit" presetSubtype="0" fill="hold" grpId="1" nodeType="withEffect">
                                  <p:stCondLst>
                                    <p:cond delay="0"/>
                                  </p:stCondLst>
                                  <p:childTnLst>
                                    <p:animEffect transition="out" filter="fade">
                                      <p:cBhvr>
                                        <p:cTn id="41" dur="250"/>
                                        <p:tgtEl>
                                          <p:spTgt spid="9"/>
                                        </p:tgtEl>
                                      </p:cBhvr>
                                    </p:animEffect>
                                    <p:set>
                                      <p:cBhvr>
                                        <p:cTn id="42" dur="1" fill="hold">
                                          <p:stCondLst>
                                            <p:cond delay="249"/>
                                          </p:stCondLst>
                                        </p:cTn>
                                        <p:tgtEl>
                                          <p:spTgt spid="9"/>
                                        </p:tgtEl>
                                        <p:attrNameLst>
                                          <p:attrName>style.visibility</p:attrName>
                                        </p:attrNameLst>
                                      </p:cBhvr>
                                      <p:to>
                                        <p:strVal val="hidden"/>
                                      </p:to>
                                    </p:set>
                                  </p:childTnLst>
                                </p:cTn>
                              </p:par>
                              <p:par>
                                <p:cTn id="43" presetID="10" presetClass="exit" presetSubtype="0" fill="hold" grpId="1" nodeType="withEffect">
                                  <p:stCondLst>
                                    <p:cond delay="0"/>
                                  </p:stCondLst>
                                  <p:childTnLst>
                                    <p:animEffect transition="out" filter="fade">
                                      <p:cBhvr>
                                        <p:cTn id="44" dur="250"/>
                                        <p:tgtEl>
                                          <p:spTgt spid="8"/>
                                        </p:tgtEl>
                                      </p:cBhvr>
                                    </p:animEffect>
                                    <p:set>
                                      <p:cBhvr>
                                        <p:cTn id="45" dur="1" fill="hold">
                                          <p:stCondLst>
                                            <p:cond delay="24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B2AF1-3E7A-3121-81B4-470ED11E98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1DE569-F8DF-A448-AE0C-0DC265DA5E51}"/>
              </a:ext>
            </a:extLst>
          </p:cNvPr>
          <p:cNvSpPr>
            <a:spLocks noGrp="1"/>
          </p:cNvSpPr>
          <p:nvPr>
            <p:ph type="title"/>
          </p:nvPr>
        </p:nvSpPr>
        <p:spPr>
          <a:xfrm>
            <a:off x="1371600" y="355701"/>
            <a:ext cx="9960964"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Performance Evolution During Training</a:t>
            </a:r>
            <a:endParaRPr lang="en-IL" dirty="0">
              <a:solidFill>
                <a:schemeClr val="tx1"/>
              </a:solidFill>
              <a:latin typeface="Times New Roman" panose="02020603050405020304" pitchFamily="18" charset="0"/>
              <a:cs typeface="Times New Roman" panose="02020603050405020304" pitchFamily="18" charset="0"/>
            </a:endParaRPr>
          </a:p>
        </p:txBody>
      </p:sp>
      <p:pic>
        <p:nvPicPr>
          <p:cNvPr id="14" name="Picture 13">
            <a:extLst>
              <a:ext uri="{FF2B5EF4-FFF2-40B4-BE49-F238E27FC236}">
                <a16:creationId xmlns:a16="http://schemas.microsoft.com/office/drawing/2014/main" id="{7C0A8BD1-A1EF-3495-1515-5C455ABAC22A}"/>
              </a:ext>
            </a:extLst>
          </p:cNvPr>
          <p:cNvPicPr>
            <a:picLocks noChangeAspect="1"/>
          </p:cNvPicPr>
          <p:nvPr/>
        </p:nvPicPr>
        <p:blipFill>
          <a:blip r:embed="rId3"/>
          <a:stretch>
            <a:fillRect/>
          </a:stretch>
        </p:blipFill>
        <p:spPr>
          <a:xfrm>
            <a:off x="1371599" y="1052474"/>
            <a:ext cx="6432507" cy="3966566"/>
          </a:xfrm>
          <a:prstGeom prst="rect">
            <a:avLst/>
          </a:prstGeom>
        </p:spPr>
      </p:pic>
      <p:pic>
        <p:nvPicPr>
          <p:cNvPr id="4" name="Picture 3">
            <a:extLst>
              <a:ext uri="{FF2B5EF4-FFF2-40B4-BE49-F238E27FC236}">
                <a16:creationId xmlns:a16="http://schemas.microsoft.com/office/drawing/2014/main" id="{E99B31CF-6B5E-EA49-BDD8-2B80A40C58A4}"/>
              </a:ext>
            </a:extLst>
          </p:cNvPr>
          <p:cNvPicPr>
            <a:picLocks noChangeAspect="1"/>
          </p:cNvPicPr>
          <p:nvPr/>
        </p:nvPicPr>
        <p:blipFill>
          <a:blip r:embed="rId4"/>
          <a:stretch>
            <a:fillRect/>
          </a:stretch>
        </p:blipFill>
        <p:spPr>
          <a:xfrm>
            <a:off x="8300007" y="1052474"/>
            <a:ext cx="2429395" cy="1656406"/>
          </a:xfrm>
          <a:prstGeom prst="rect">
            <a:avLst/>
          </a:prstGeom>
        </p:spPr>
      </p:pic>
      <p:sp>
        <p:nvSpPr>
          <p:cNvPr id="6" name="Content Placeholder 2">
            <a:extLst>
              <a:ext uri="{FF2B5EF4-FFF2-40B4-BE49-F238E27FC236}">
                <a16:creationId xmlns:a16="http://schemas.microsoft.com/office/drawing/2014/main" id="{ED96C99B-908A-A6B2-0E43-9658815806CC}"/>
              </a:ext>
            </a:extLst>
          </p:cNvPr>
          <p:cNvSpPr txBox="1">
            <a:spLocks/>
          </p:cNvSpPr>
          <p:nvPr/>
        </p:nvSpPr>
        <p:spPr>
          <a:xfrm>
            <a:off x="1371600" y="5110479"/>
            <a:ext cx="10241280" cy="1625547"/>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sz="1600" dirty="0">
                <a:solidFill>
                  <a:schemeClr val="tx1"/>
                </a:solidFill>
                <a:latin typeface="Times New Roman" panose="02020603050405020304" pitchFamily="18" charset="0"/>
                <a:cs typeface="Times New Roman" panose="02020603050405020304" pitchFamily="18" charset="0"/>
              </a:rPr>
              <a:t>On most </a:t>
            </a:r>
            <a:r>
              <a:rPr lang="en-US" sz="1600" u="sng" dirty="0">
                <a:solidFill>
                  <a:schemeClr val="tx1"/>
                </a:solidFill>
                <a:latin typeface="Times New Roman" panose="02020603050405020304" pitchFamily="18" charset="0"/>
                <a:cs typeface="Times New Roman" panose="02020603050405020304" pitchFamily="18" charset="0"/>
              </a:rPr>
              <a:t>Question Answering</a:t>
            </a:r>
            <a:r>
              <a:rPr lang="en-US" sz="1600" dirty="0">
                <a:solidFill>
                  <a:schemeClr val="tx1"/>
                </a:solidFill>
                <a:latin typeface="Times New Roman" panose="02020603050405020304" pitchFamily="18" charset="0"/>
                <a:cs typeface="Times New Roman" panose="02020603050405020304" pitchFamily="18" charset="0"/>
              </a:rPr>
              <a:t> and </a:t>
            </a:r>
            <a:r>
              <a:rPr lang="en-US" sz="1600" u="sng" dirty="0">
                <a:solidFill>
                  <a:schemeClr val="tx1"/>
                </a:solidFill>
                <a:latin typeface="Times New Roman" panose="02020603050405020304" pitchFamily="18" charset="0"/>
                <a:cs typeface="Times New Roman" panose="02020603050405020304" pitchFamily="18" charset="0"/>
              </a:rPr>
              <a:t>Common-Sense</a:t>
            </a:r>
            <a:r>
              <a:rPr lang="en-US" sz="1600" dirty="0">
                <a:solidFill>
                  <a:schemeClr val="tx1"/>
                </a:solidFill>
                <a:latin typeface="Times New Roman" panose="02020603050405020304" pitchFamily="18" charset="0"/>
                <a:cs typeface="Times New Roman" panose="02020603050405020304" pitchFamily="18" charset="0"/>
              </a:rPr>
              <a:t> benchmarks, performance improves steadily as training progresses.</a:t>
            </a:r>
          </a:p>
          <a:p>
            <a:r>
              <a:rPr lang="en-US" sz="1600" b="1" dirty="0">
                <a:solidFill>
                  <a:schemeClr val="tx1"/>
                </a:solidFill>
                <a:latin typeface="Times New Roman" panose="02020603050405020304" pitchFamily="18" charset="0"/>
                <a:cs typeface="Times New Roman" panose="02020603050405020304" pitchFamily="18" charset="0"/>
              </a:rPr>
              <a:t>Exceptions:</a:t>
            </a:r>
          </a:p>
          <a:p>
            <a:pPr lvl="1"/>
            <a:r>
              <a:rPr lang="en-US" sz="1600" i="0" dirty="0">
                <a:solidFill>
                  <a:schemeClr val="tx1"/>
                </a:solidFill>
                <a:latin typeface="Times New Roman" panose="02020603050405020304" pitchFamily="18" charset="0"/>
                <a:cs typeface="Times New Roman" panose="02020603050405020304" pitchFamily="18" charset="0"/>
              </a:rPr>
              <a:t>The SIQA benchmark shows high variance during training, suggesting it may not be a reliable metric</a:t>
            </a:r>
          </a:p>
          <a:p>
            <a:pPr lvl="1"/>
            <a:r>
              <a:rPr lang="en-US" sz="1600" i="0" dirty="0">
                <a:solidFill>
                  <a:schemeClr val="tx1"/>
                </a:solidFill>
                <a:latin typeface="Times New Roman" panose="02020603050405020304" pitchFamily="18" charset="0"/>
                <a:cs typeface="Times New Roman" panose="02020603050405020304" pitchFamily="18" charset="0"/>
              </a:rPr>
              <a:t>Performance on </a:t>
            </a:r>
            <a:r>
              <a:rPr lang="en-US" sz="1600" i="0" dirty="0" err="1">
                <a:solidFill>
                  <a:schemeClr val="tx1"/>
                </a:solidFill>
                <a:latin typeface="Times New Roman" panose="02020603050405020304" pitchFamily="18" charset="0"/>
                <a:cs typeface="Times New Roman" panose="02020603050405020304" pitchFamily="18" charset="0"/>
              </a:rPr>
              <a:t>WinoGrande</a:t>
            </a:r>
            <a:r>
              <a:rPr lang="en-US" sz="1600" i="0" dirty="0">
                <a:solidFill>
                  <a:schemeClr val="tx1"/>
                </a:solidFill>
                <a:latin typeface="Times New Roman" panose="02020603050405020304" pitchFamily="18" charset="0"/>
                <a:cs typeface="Times New Roman" panose="02020603050405020304" pitchFamily="18" charset="0"/>
              </a:rPr>
              <a:t> does not correlate well with perplexity, with LLaMA-33B and LLaMA-65B showing similar performance despite size differences.</a:t>
            </a:r>
          </a:p>
        </p:txBody>
      </p:sp>
      <p:sp>
        <p:nvSpPr>
          <p:cNvPr id="7" name="Content Placeholder 2">
            <a:extLst>
              <a:ext uri="{FF2B5EF4-FFF2-40B4-BE49-F238E27FC236}">
                <a16:creationId xmlns:a16="http://schemas.microsoft.com/office/drawing/2014/main" id="{15A6290D-0595-DB96-7C51-6B19E19CB78F}"/>
              </a:ext>
            </a:extLst>
          </p:cNvPr>
          <p:cNvSpPr txBox="1">
            <a:spLocks/>
          </p:cNvSpPr>
          <p:nvPr/>
        </p:nvSpPr>
        <p:spPr>
          <a:xfrm>
            <a:off x="8123268" y="2822604"/>
            <a:ext cx="3442976" cy="140033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sz="1600" dirty="0">
                <a:solidFill>
                  <a:schemeClr val="tx1"/>
                </a:solidFill>
                <a:latin typeface="Times New Roman" panose="02020603050405020304" pitchFamily="18" charset="0"/>
                <a:cs typeface="Times New Roman" panose="02020603050405020304" pitchFamily="18" charset="0"/>
              </a:rPr>
              <a:t>Strong correlation between training perplexity and accuracy</a:t>
            </a:r>
          </a:p>
          <a:p>
            <a:r>
              <a:rPr lang="en-US" sz="1600" dirty="0">
                <a:solidFill>
                  <a:schemeClr val="tx1"/>
                </a:solidFill>
                <a:latin typeface="Times New Roman" panose="02020603050405020304" pitchFamily="18" charset="0"/>
                <a:cs typeface="Times New Roman" panose="02020603050405020304" pitchFamily="18" charset="0"/>
              </a:rPr>
              <a:t>As perplexity drops, benchmark scores rise.</a:t>
            </a:r>
          </a:p>
        </p:txBody>
      </p:sp>
      <p:sp>
        <p:nvSpPr>
          <p:cNvPr id="8" name="Rounded Rectangle 7">
            <a:extLst>
              <a:ext uri="{FF2B5EF4-FFF2-40B4-BE49-F238E27FC236}">
                <a16:creationId xmlns:a16="http://schemas.microsoft.com/office/drawing/2014/main" id="{0526E677-5D32-8A6F-4D60-4444F3854DCF}"/>
              </a:ext>
            </a:extLst>
          </p:cNvPr>
          <p:cNvSpPr/>
          <p:nvPr/>
        </p:nvSpPr>
        <p:spPr>
          <a:xfrm>
            <a:off x="1371599" y="2956560"/>
            <a:ext cx="2184401" cy="2062480"/>
          </a:xfrm>
          <a:prstGeom prst="roundRect">
            <a:avLst/>
          </a:prstGeom>
          <a:solidFill>
            <a:schemeClr val="accent6">
              <a:lumMod val="20000"/>
              <a:lumOff val="80000"/>
              <a:alpha val="26730"/>
            </a:scheme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Rounded Rectangle 8">
            <a:extLst>
              <a:ext uri="{FF2B5EF4-FFF2-40B4-BE49-F238E27FC236}">
                <a16:creationId xmlns:a16="http://schemas.microsoft.com/office/drawing/2014/main" id="{DC1208E2-4315-E4DA-431C-CCA73A08E5F8}"/>
              </a:ext>
            </a:extLst>
          </p:cNvPr>
          <p:cNvSpPr/>
          <p:nvPr/>
        </p:nvSpPr>
        <p:spPr>
          <a:xfrm>
            <a:off x="3800994" y="3149600"/>
            <a:ext cx="1787006" cy="5994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744840342"/>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xEl>
                                              <p:pRg st="0" end="0"/>
                                            </p:txEl>
                                          </p:spTgt>
                                        </p:tgtEl>
                                        <p:attrNameLst>
                                          <p:attrName>style.visibility</p:attrName>
                                        </p:attrNameLst>
                                      </p:cBhvr>
                                      <p:to>
                                        <p:strVal val="visible"/>
                                      </p:to>
                                    </p:set>
                                    <p:animEffect transition="in" filter="fade">
                                      <p:cBhvr>
                                        <p:cTn id="12" dur="250"/>
                                        <p:tgtEl>
                                          <p:spTgt spid="6">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fade">
                                      <p:cBhvr>
                                        <p:cTn id="22" dur="250"/>
                                        <p:tgtEl>
                                          <p:spTgt spid="7">
                                            <p:txEl>
                                              <p:pRg st="0" end="0"/>
                                            </p:txEl>
                                          </p:spTgt>
                                        </p:tgtEl>
                                      </p:cBhvr>
                                    </p:animEffect>
                                  </p:childTnLst>
                                </p:cTn>
                              </p:par>
                            </p:childTnLst>
                          </p:cTn>
                        </p:par>
                        <p:par>
                          <p:cTn id="23" fill="hold">
                            <p:stCondLst>
                              <p:cond delay="250"/>
                            </p:stCondLst>
                            <p:childTnLst>
                              <p:par>
                                <p:cTn id="24" presetID="10" presetClass="entr" presetSubtype="0" fill="hold" nodeType="afterEffect">
                                  <p:stCondLst>
                                    <p:cond delay="0"/>
                                  </p:stCondLst>
                                  <p:childTnLst>
                                    <p:set>
                                      <p:cBhvr>
                                        <p:cTn id="25" dur="1" fill="hold">
                                          <p:stCondLst>
                                            <p:cond delay="0"/>
                                          </p:stCondLst>
                                        </p:cTn>
                                        <p:tgtEl>
                                          <p:spTgt spid="7">
                                            <p:txEl>
                                              <p:pRg st="1" end="1"/>
                                            </p:txEl>
                                          </p:spTgt>
                                        </p:tgtEl>
                                        <p:attrNameLst>
                                          <p:attrName>style.visibility</p:attrName>
                                        </p:attrNameLst>
                                      </p:cBhvr>
                                      <p:to>
                                        <p:strVal val="visible"/>
                                      </p:to>
                                    </p:set>
                                    <p:animEffect transition="in" filter="fade">
                                      <p:cBhvr>
                                        <p:cTn id="26" dur="250"/>
                                        <p:tgtEl>
                                          <p:spTgt spid="7">
                                            <p:txEl>
                                              <p:pRg st="1" end="1"/>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6">
                                            <p:txEl>
                                              <p:pRg st="1" end="1"/>
                                            </p:txEl>
                                          </p:spTgt>
                                        </p:tgtEl>
                                        <p:attrNameLst>
                                          <p:attrName>style.visibility</p:attrName>
                                        </p:attrNameLst>
                                      </p:cBhvr>
                                      <p:to>
                                        <p:strVal val="visible"/>
                                      </p:to>
                                    </p:set>
                                    <p:animEffect transition="in" filter="fade">
                                      <p:cBhvr>
                                        <p:cTn id="31" dur="500"/>
                                        <p:tgtEl>
                                          <p:spTgt spid="6">
                                            <p:txEl>
                                              <p:pRg st="1" end="1"/>
                                            </p:txEl>
                                          </p:spTgt>
                                        </p:tgtEl>
                                      </p:cBhvr>
                                    </p:animEffect>
                                  </p:childTnLst>
                                </p:cTn>
                              </p:par>
                            </p:childTnLst>
                          </p:cTn>
                        </p:par>
                        <p:par>
                          <p:cTn id="32" fill="hold">
                            <p:stCondLst>
                              <p:cond delay="500"/>
                            </p:stCondLst>
                            <p:childTnLst>
                              <p:par>
                                <p:cTn id="33" presetID="10" presetClass="entr" presetSubtype="0" fill="hold" nodeType="after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animEffect transition="in" filter="fade">
                                      <p:cBhvr>
                                        <p:cTn id="35" dur="250"/>
                                        <p:tgtEl>
                                          <p:spTgt spid="6">
                                            <p:txEl>
                                              <p:pRg st="2" end="2"/>
                                            </p:txEl>
                                          </p:spTgt>
                                        </p:tgtEl>
                                      </p:cBhvr>
                                    </p:animEffect>
                                  </p:childTnLst>
                                </p:cTn>
                              </p:par>
                            </p:childTnLst>
                          </p:cTn>
                        </p:par>
                        <p:par>
                          <p:cTn id="36" fill="hold">
                            <p:stCondLst>
                              <p:cond delay="750"/>
                            </p:stCondLst>
                            <p:childTnLst>
                              <p:par>
                                <p:cTn id="37" presetID="10" presetClass="entr" presetSubtype="0" fill="hold" grpId="0" nodeType="after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childTnLst>
                                </p:cTn>
                              </p:par>
                            </p:childTnLst>
                          </p:cTn>
                        </p:par>
                        <p:par>
                          <p:cTn id="40" fill="hold">
                            <p:stCondLst>
                              <p:cond delay="1250"/>
                            </p:stCondLst>
                            <p:childTnLst>
                              <p:par>
                                <p:cTn id="41" presetID="10" presetClass="exit" presetSubtype="0" fill="hold" grpId="1" nodeType="afterEffect">
                                  <p:stCondLst>
                                    <p:cond delay="0"/>
                                  </p:stCondLst>
                                  <p:childTnLst>
                                    <p:animEffect transition="out" filter="fade">
                                      <p:cBhvr>
                                        <p:cTn id="42" dur="750"/>
                                        <p:tgtEl>
                                          <p:spTgt spid="8"/>
                                        </p:tgtEl>
                                      </p:cBhvr>
                                    </p:animEffect>
                                    <p:set>
                                      <p:cBhvr>
                                        <p:cTn id="43" dur="1" fill="hold">
                                          <p:stCondLst>
                                            <p:cond delay="749"/>
                                          </p:stCondLst>
                                        </p:cTn>
                                        <p:tgtEl>
                                          <p:spTgt spid="8"/>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6">
                                            <p:txEl>
                                              <p:pRg st="3" end="3"/>
                                            </p:txEl>
                                          </p:spTgt>
                                        </p:tgtEl>
                                        <p:attrNameLst>
                                          <p:attrName>style.visibility</p:attrName>
                                        </p:attrNameLst>
                                      </p:cBhvr>
                                      <p:to>
                                        <p:strVal val="visible"/>
                                      </p:to>
                                    </p:set>
                                    <p:animEffect transition="in" filter="fade">
                                      <p:cBhvr>
                                        <p:cTn id="48" dur="500"/>
                                        <p:tgtEl>
                                          <p:spTgt spid="6">
                                            <p:txEl>
                                              <p:pRg st="3" end="3"/>
                                            </p:txEl>
                                          </p:spTgt>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fade">
                                      <p:cBhvr>
                                        <p:cTn id="51" dur="25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grpId="1" nodeType="clickEffect">
                                  <p:stCondLst>
                                    <p:cond delay="0"/>
                                  </p:stCondLst>
                                  <p:childTnLst>
                                    <p:animEffect transition="out" filter="fade">
                                      <p:cBhvr>
                                        <p:cTn id="55" dur="250"/>
                                        <p:tgtEl>
                                          <p:spTgt spid="9"/>
                                        </p:tgtEl>
                                      </p:cBhvr>
                                    </p:animEffect>
                                    <p:set>
                                      <p:cBhvr>
                                        <p:cTn id="56" dur="1" fill="hold">
                                          <p:stCondLst>
                                            <p:cond delay="24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BB5D3-715B-CECD-D491-DE9B5EF987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EBB8C7-F0A8-35E9-4355-2AFDC787A76C}"/>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Additional Metrics</a:t>
            </a:r>
            <a:endParaRPr lang="en-IL" sz="4000" dirty="0">
              <a:latin typeface="Times New Roman" panose="02020603050405020304" pitchFamily="18" charset="0"/>
              <a:cs typeface="Times New Roman" panose="02020603050405020304" pitchFamily="18" charset="0"/>
            </a:endParaRPr>
          </a:p>
        </p:txBody>
      </p:sp>
      <p:pic>
        <p:nvPicPr>
          <p:cNvPr id="3078" name="Picture 6">
            <a:extLst>
              <a:ext uri="{FF2B5EF4-FFF2-40B4-BE49-F238E27FC236}">
                <a16:creationId xmlns:a16="http://schemas.microsoft.com/office/drawing/2014/main" id="{D21B71E2-E60C-7867-4F7D-150ABA78BEE6}"/>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rot="16200000">
            <a:off x="9788327" y="-216920"/>
            <a:ext cx="2403673" cy="24036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2208484"/>
      </p:ext>
    </p:extLst>
  </p:cSld>
  <p:clrMapOvr>
    <a:masterClrMapping/>
  </p:clrMapOvr>
  <p:transition>
    <p:fade thruBlk="1"/>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A69AB-9E45-09E0-6F30-C4F79EE512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9DDBF4-31C0-E3F9-1A0E-7EE41FB5AD20}"/>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Instruction Finetuning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83574A6-1B93-A06B-2A46-082836AAA011}"/>
              </a:ext>
            </a:extLst>
          </p:cNvPr>
          <p:cNvSpPr txBox="1">
            <a:spLocks/>
          </p:cNvSpPr>
          <p:nvPr/>
        </p:nvSpPr>
        <p:spPr>
          <a:xfrm>
            <a:off x="1371600" y="1133856"/>
            <a:ext cx="7152769" cy="4460120"/>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Objective:</a:t>
            </a:r>
            <a:r>
              <a:rPr lang="en-US" dirty="0">
                <a:solidFill>
                  <a:schemeClr val="tx1"/>
                </a:solidFill>
                <a:latin typeface="Times New Roman" panose="02020603050405020304" pitchFamily="18" charset="0"/>
                <a:cs typeface="Times New Roman" panose="02020603050405020304" pitchFamily="18" charset="0"/>
              </a:rPr>
              <a:t> Prove that LLaMA models can be fine-tuned to follow instructions.</a:t>
            </a:r>
          </a:p>
          <a:p>
            <a:r>
              <a:rPr lang="en-US" b="1" dirty="0">
                <a:solidFill>
                  <a:schemeClr val="tx1"/>
                </a:solidFill>
                <a:latin typeface="Times New Roman" panose="02020603050405020304" pitchFamily="18" charset="0"/>
                <a:cs typeface="Times New Roman" panose="02020603050405020304" pitchFamily="18" charset="0"/>
              </a:rPr>
              <a:t>Method:</a:t>
            </a:r>
            <a:r>
              <a:rPr lang="en-US" dirty="0">
                <a:solidFill>
                  <a:schemeClr val="tx1"/>
                </a:solidFill>
                <a:latin typeface="Times New Roman" panose="02020603050405020304" pitchFamily="18" charset="0"/>
                <a:cs typeface="Times New Roman" panose="02020603050405020304" pitchFamily="18" charset="0"/>
              </a:rPr>
              <a:t> Conduct a single experiment where LLaMA-65B is fine-tuned on a small instruction-tuning dataset and show that this improves its MMLU score in 5-shot setting.</a:t>
            </a:r>
          </a:p>
          <a:p>
            <a:r>
              <a:rPr lang="en-US" b="1" dirty="0">
                <a:solidFill>
                  <a:schemeClr val="tx1"/>
                </a:solidFill>
                <a:latin typeface="Times New Roman" panose="02020603050405020304" pitchFamily="18" charset="0"/>
                <a:cs typeface="Times New Roman" panose="02020603050405020304" pitchFamily="18" charset="0"/>
              </a:rPr>
              <a:t>Key Results:</a:t>
            </a:r>
          </a:p>
          <a:p>
            <a:pPr lvl="1"/>
            <a:r>
              <a:rPr lang="en-US" i="0" dirty="0">
                <a:solidFill>
                  <a:schemeClr val="tx1"/>
                </a:solidFill>
                <a:latin typeface="Times New Roman" panose="02020603050405020304" pitchFamily="18" charset="0"/>
                <a:cs typeface="Times New Roman" panose="02020603050405020304" pitchFamily="18" charset="0"/>
              </a:rPr>
              <a:t>The base LLaMA-65B model already possessed basic instruction-following abilities prior to finetuning.</a:t>
            </a:r>
          </a:p>
          <a:p>
            <a:pPr lvl="1"/>
            <a:r>
              <a:rPr lang="en-US" i="0" dirty="0">
                <a:solidFill>
                  <a:schemeClr val="tx1"/>
                </a:solidFill>
                <a:latin typeface="Times New Roman" panose="02020603050405020304" pitchFamily="18" charset="0"/>
                <a:cs typeface="Times New Roman" panose="02020603050405020304" pitchFamily="18" charset="0"/>
              </a:rPr>
              <a:t>LLaMA-I (65B) reached 68.9% on MMLU, outperforming existing moderate-sized models like OPT-IML and the Flan-</a:t>
            </a:r>
            <a:r>
              <a:rPr lang="en-US" i="0" dirty="0" err="1">
                <a:solidFill>
                  <a:schemeClr val="tx1"/>
                </a:solidFill>
                <a:latin typeface="Times New Roman" panose="02020603050405020304" pitchFamily="18" charset="0"/>
                <a:cs typeface="Times New Roman" panose="02020603050405020304" pitchFamily="18" charset="0"/>
              </a:rPr>
              <a:t>PaLM</a:t>
            </a:r>
            <a:r>
              <a:rPr lang="en-US" i="0" dirty="0">
                <a:solidFill>
                  <a:schemeClr val="tx1"/>
                </a:solidFill>
                <a:latin typeface="Times New Roman" panose="02020603050405020304" pitchFamily="18" charset="0"/>
                <a:cs typeface="Times New Roman" panose="02020603050405020304" pitchFamily="18" charset="0"/>
              </a:rPr>
              <a:t> series.</a:t>
            </a:r>
          </a:p>
          <a:p>
            <a:pPr lvl="1"/>
            <a:r>
              <a:rPr lang="en-US" i="0" dirty="0">
                <a:solidFill>
                  <a:schemeClr val="tx1"/>
                </a:solidFill>
                <a:latin typeface="Times New Roman" panose="02020603050405020304" pitchFamily="18" charset="0"/>
                <a:cs typeface="Times New Roman" panose="02020603050405020304" pitchFamily="18" charset="0"/>
              </a:rPr>
              <a:t>While strong, it remains behind the SOTA at the time (</a:t>
            </a:r>
            <a:r>
              <a:rPr lang="en-US" b="1" i="0" dirty="0">
                <a:solidFill>
                  <a:schemeClr val="tx1"/>
                </a:solidFill>
                <a:latin typeface="Times New Roman" panose="02020603050405020304" pitchFamily="18" charset="0"/>
                <a:cs typeface="Times New Roman" panose="02020603050405020304" pitchFamily="18" charset="0"/>
              </a:rPr>
              <a:t>GPT code-davinci-002</a:t>
            </a:r>
            <a:r>
              <a:rPr lang="en-US" i="0" dirty="0">
                <a:solidFill>
                  <a:schemeClr val="tx1"/>
                </a:solidFill>
                <a:latin typeface="Times New Roman" panose="02020603050405020304" pitchFamily="18" charset="0"/>
                <a:cs typeface="Times New Roman" panose="02020603050405020304" pitchFamily="18" charset="0"/>
              </a:rPr>
              <a:t>), which scored 77.4%.</a:t>
            </a:r>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028D1303-14E9-C042-6A6D-ADFEB61DB0DC}"/>
              </a:ext>
            </a:extLst>
          </p:cNvPr>
          <p:cNvPicPr>
            <a:picLocks noChangeAspect="1"/>
          </p:cNvPicPr>
          <p:nvPr/>
        </p:nvPicPr>
        <p:blipFill>
          <a:blip r:embed="rId3"/>
          <a:srcRect l="16753" t="2468" r="16403" b="20895"/>
          <a:stretch/>
        </p:blipFill>
        <p:spPr>
          <a:xfrm>
            <a:off x="8524370" y="1239521"/>
            <a:ext cx="3081580" cy="3279956"/>
          </a:xfrm>
          <a:prstGeom prst="rect">
            <a:avLst/>
          </a:prstGeom>
        </p:spPr>
      </p:pic>
      <p:sp>
        <p:nvSpPr>
          <p:cNvPr id="8" name="TextBox 7">
            <a:extLst>
              <a:ext uri="{FF2B5EF4-FFF2-40B4-BE49-F238E27FC236}">
                <a16:creationId xmlns:a16="http://schemas.microsoft.com/office/drawing/2014/main" id="{15A6607A-AB0A-FD75-44DE-AFFF24D3CDB4}"/>
              </a:ext>
            </a:extLst>
          </p:cNvPr>
          <p:cNvSpPr txBox="1"/>
          <p:nvPr/>
        </p:nvSpPr>
        <p:spPr>
          <a:xfrm>
            <a:off x="1371600" y="5593976"/>
            <a:ext cx="10422611" cy="670953"/>
          </a:xfrm>
          <a:prstGeom prst="rect">
            <a:avLst/>
          </a:prstGeom>
          <a:noFill/>
        </p:spPr>
        <p:txBody>
          <a:bodyPr wrap="square">
            <a:spAutoFit/>
          </a:bodyPr>
          <a:lstStyle/>
          <a:p>
            <a:pPr marL="384048" indent="-384048" defTabSz="914400">
              <a:lnSpc>
                <a:spcPct val="94000"/>
              </a:lnSpc>
              <a:spcBef>
                <a:spcPts val="1000"/>
              </a:spcBef>
              <a:spcAft>
                <a:spcPts val="200"/>
              </a:spcAft>
              <a:buFont typeface="Franklin Gothic Book" panose="020B0503020102020204" pitchFamily="34" charset="0"/>
              <a:buChar char="■"/>
            </a:pPr>
            <a:r>
              <a:rPr lang="en-US" sz="2000" b="1" dirty="0">
                <a:latin typeface="Times New Roman" panose="02020603050405020304" pitchFamily="18" charset="0"/>
                <a:cs typeface="Times New Roman" panose="02020603050405020304" pitchFamily="18" charset="0"/>
              </a:rPr>
              <a:t>Key Takeaway: </a:t>
            </a:r>
            <a:r>
              <a:rPr lang="en-US" sz="2000" dirty="0">
                <a:latin typeface="Times New Roman" panose="02020603050405020304" pitchFamily="18" charset="0"/>
                <a:cs typeface="Times New Roman" panose="02020603050405020304" pitchFamily="18" charset="0"/>
              </a:rPr>
              <a:t>Even a single, simple finetuning experiment yielded significant gains in instruction following and benchmark scores.</a:t>
            </a:r>
          </a:p>
        </p:txBody>
      </p:sp>
      <p:sp>
        <p:nvSpPr>
          <p:cNvPr id="10" name="Rounded Rectangle 9">
            <a:extLst>
              <a:ext uri="{FF2B5EF4-FFF2-40B4-BE49-F238E27FC236}">
                <a16:creationId xmlns:a16="http://schemas.microsoft.com/office/drawing/2014/main" id="{13B4D651-26DE-8160-3423-5CBEF8186EAE}"/>
              </a:ext>
            </a:extLst>
          </p:cNvPr>
          <p:cNvSpPr/>
          <p:nvPr/>
        </p:nvSpPr>
        <p:spPr>
          <a:xfrm>
            <a:off x="8524370" y="2631440"/>
            <a:ext cx="3081580" cy="3251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A0E3D2F3-F70C-3560-38E7-D4225A30F6B9}"/>
              </a:ext>
            </a:extLst>
          </p:cNvPr>
          <p:cNvSpPr/>
          <p:nvPr/>
        </p:nvSpPr>
        <p:spPr>
          <a:xfrm>
            <a:off x="8524369" y="4135120"/>
            <a:ext cx="3081581" cy="33934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D2ED9063-490E-9BB2-DA23-20CDAD3D4683}"/>
              </a:ext>
            </a:extLst>
          </p:cNvPr>
          <p:cNvSpPr/>
          <p:nvPr/>
        </p:nvSpPr>
        <p:spPr>
          <a:xfrm>
            <a:off x="10952479" y="1176434"/>
            <a:ext cx="633151" cy="327995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706834222"/>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fade">
                                      <p:cBhvr>
                                        <p:cTn id="22" dur="500"/>
                                        <p:tgtEl>
                                          <p:spTgt spid="3">
                                            <p:txEl>
                                              <p:pRg st="2" end="2"/>
                                            </p:txEl>
                                          </p:spTgt>
                                        </p:tgtEl>
                                      </p:cBhvr>
                                    </p:animEffect>
                                  </p:childTnLst>
                                </p:cTn>
                              </p:par>
                            </p:childTnLst>
                          </p:cTn>
                        </p:par>
                        <p:par>
                          <p:cTn id="23" fill="hold">
                            <p:stCondLst>
                              <p:cond delay="500"/>
                            </p:stCondLst>
                            <p:childTnLst>
                              <p:par>
                                <p:cTn id="24" presetID="10" presetClass="entr" presetSubtype="0" fill="hold" nodeType="after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250"/>
                                        <p:tgtEl>
                                          <p:spTgt spid="3">
                                            <p:txEl>
                                              <p:pRg st="3" end="3"/>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25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
                                            <p:txEl>
                                              <p:pRg st="4" end="4"/>
                                            </p:txEl>
                                          </p:spTgt>
                                        </p:tgtEl>
                                        <p:attrNameLst>
                                          <p:attrName>style.visibility</p:attrName>
                                        </p:attrNameLst>
                                      </p:cBhvr>
                                      <p:to>
                                        <p:strVal val="visible"/>
                                      </p:to>
                                    </p:set>
                                    <p:animEffect transition="in" filter="fade">
                                      <p:cBhvr>
                                        <p:cTn id="34" dur="250"/>
                                        <p:tgtEl>
                                          <p:spTgt spid="3">
                                            <p:txEl>
                                              <p:pRg st="4" end="4"/>
                                            </p:txEl>
                                          </p:spTgt>
                                        </p:tgtEl>
                                      </p:cBhvr>
                                    </p:animEffect>
                                  </p:childTnLst>
                                </p:cTn>
                              </p:par>
                              <p:par>
                                <p:cTn id="35" presetID="10" presetClass="exit" presetSubtype="0" fill="hold" grpId="1" nodeType="withEffect">
                                  <p:stCondLst>
                                    <p:cond delay="0"/>
                                  </p:stCondLst>
                                  <p:childTnLst>
                                    <p:animEffect transition="out" filter="fade">
                                      <p:cBhvr>
                                        <p:cTn id="36" dur="250"/>
                                        <p:tgtEl>
                                          <p:spTgt spid="10"/>
                                        </p:tgtEl>
                                      </p:cBhvr>
                                    </p:animEffect>
                                    <p:set>
                                      <p:cBhvr>
                                        <p:cTn id="37" dur="1" fill="hold">
                                          <p:stCondLst>
                                            <p:cond delay="249"/>
                                          </p:stCondLst>
                                        </p:cTn>
                                        <p:tgtEl>
                                          <p:spTgt spid="10"/>
                                        </p:tgtEl>
                                        <p:attrNameLst>
                                          <p:attrName>style.visibility</p:attrName>
                                        </p:attrNameLst>
                                      </p:cBhvr>
                                      <p:to>
                                        <p:strVal val="hidden"/>
                                      </p:to>
                                    </p:se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25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250"/>
                                        <p:tgtEl>
                                          <p:spTgt spid="1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
                                            <p:txEl>
                                              <p:pRg st="5" end="5"/>
                                            </p:txEl>
                                          </p:spTgt>
                                        </p:tgtEl>
                                        <p:attrNameLst>
                                          <p:attrName>style.visibility</p:attrName>
                                        </p:attrNameLst>
                                      </p:cBhvr>
                                      <p:to>
                                        <p:strVal val="visible"/>
                                      </p:to>
                                    </p:set>
                                    <p:animEffect transition="in" filter="fade">
                                      <p:cBhvr>
                                        <p:cTn id="48" dur="500"/>
                                        <p:tgtEl>
                                          <p:spTgt spid="3">
                                            <p:txEl>
                                              <p:pRg st="5" end="5"/>
                                            </p:txEl>
                                          </p:spTgt>
                                        </p:tgtEl>
                                      </p:cBhvr>
                                    </p:animEffect>
                                  </p:childTnLst>
                                </p:cTn>
                              </p:par>
                              <p:par>
                                <p:cTn id="49" presetID="10" presetClass="exit" presetSubtype="0" fill="hold" grpId="1" nodeType="withEffect">
                                  <p:stCondLst>
                                    <p:cond delay="0"/>
                                  </p:stCondLst>
                                  <p:childTnLst>
                                    <p:animEffect transition="out" filter="fade">
                                      <p:cBhvr>
                                        <p:cTn id="50" dur="250"/>
                                        <p:tgtEl>
                                          <p:spTgt spid="12"/>
                                        </p:tgtEl>
                                      </p:cBhvr>
                                    </p:animEffect>
                                    <p:set>
                                      <p:cBhvr>
                                        <p:cTn id="51" dur="1" fill="hold">
                                          <p:stCondLst>
                                            <p:cond delay="249"/>
                                          </p:stCondLst>
                                        </p:cTn>
                                        <p:tgtEl>
                                          <p:spTgt spid="12"/>
                                        </p:tgtEl>
                                        <p:attrNameLst>
                                          <p:attrName>style.visibility</p:attrName>
                                        </p:attrNameLst>
                                      </p:cBhvr>
                                      <p:to>
                                        <p:strVal val="hidden"/>
                                      </p:to>
                                    </p:set>
                                  </p:childTnLst>
                                </p:cTn>
                              </p:par>
                              <p:par>
                                <p:cTn id="52" presetID="10" presetClass="exit" presetSubtype="0" fill="hold" grpId="1" nodeType="withEffect">
                                  <p:stCondLst>
                                    <p:cond delay="0"/>
                                  </p:stCondLst>
                                  <p:childTnLst>
                                    <p:animEffect transition="out" filter="fade">
                                      <p:cBhvr>
                                        <p:cTn id="53" dur="250"/>
                                        <p:tgtEl>
                                          <p:spTgt spid="11"/>
                                        </p:tgtEl>
                                      </p:cBhvr>
                                    </p:animEffect>
                                    <p:set>
                                      <p:cBhvr>
                                        <p:cTn id="54" dur="1" fill="hold">
                                          <p:stCondLst>
                                            <p:cond delay="249"/>
                                          </p:stCondLst>
                                        </p:cTn>
                                        <p:tgtEl>
                                          <p:spTgt spid="11"/>
                                        </p:tgtEl>
                                        <p:attrNameLst>
                                          <p:attrName>style.visibility</p:attrName>
                                        </p:attrNameLst>
                                      </p:cBhvr>
                                      <p:to>
                                        <p:strVal val="hidden"/>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8">
                                            <p:txEl>
                                              <p:pRg st="0" end="0"/>
                                            </p:txEl>
                                          </p:spTgt>
                                        </p:tgtEl>
                                        <p:attrNameLst>
                                          <p:attrName>style.visibility</p:attrName>
                                        </p:attrNameLst>
                                      </p:cBhvr>
                                      <p:to>
                                        <p:strVal val="visible"/>
                                      </p:to>
                                    </p:set>
                                    <p:animEffect transition="in" filter="fade">
                                      <p:cBhvr>
                                        <p:cTn id="59" dur="250"/>
                                        <p:tgtEl>
                                          <p:spTgt spid="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0C247-74AD-E9FA-2805-3B70A5DEB3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A8725-965E-4634-7475-87AE9C91092F}"/>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Bias, Toxicity and Misinformation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ABA33AA-7776-C5C5-7990-707BA8FFF124}"/>
              </a:ext>
            </a:extLst>
          </p:cNvPr>
          <p:cNvSpPr txBox="1">
            <a:spLocks/>
          </p:cNvSpPr>
          <p:nvPr/>
        </p:nvSpPr>
        <p:spPr>
          <a:xfrm>
            <a:off x="1371600" y="1133856"/>
            <a:ext cx="9601200" cy="5179161"/>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Large language models are trained on large amount of Web data</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can reproduce and amplify </a:t>
            </a:r>
            <a:r>
              <a:rPr lang="en-US" b="1" dirty="0">
                <a:solidFill>
                  <a:schemeClr val="tx1"/>
                </a:solidFill>
                <a:latin typeface="Times New Roman" panose="02020603050405020304" pitchFamily="18" charset="0"/>
                <a:cs typeface="Times New Roman" panose="02020603050405020304" pitchFamily="18" charset="0"/>
              </a:rPr>
              <a:t>biases</a:t>
            </a:r>
            <a:r>
              <a:rPr lang="en-US" dirty="0">
                <a:solidFill>
                  <a:schemeClr val="tx1"/>
                </a:solidFill>
                <a:latin typeface="Times New Roman" panose="02020603050405020304" pitchFamily="18" charset="0"/>
                <a:cs typeface="Times New Roman" panose="02020603050405020304" pitchFamily="18" charset="0"/>
              </a:rPr>
              <a:t> found in their </a:t>
            </a:r>
            <a:r>
              <a:rPr lang="en-US" b="1" dirty="0">
                <a:solidFill>
                  <a:schemeClr val="tx1"/>
                </a:solidFill>
                <a:latin typeface="Times New Roman" panose="02020603050405020304" pitchFamily="18" charset="0"/>
                <a:cs typeface="Times New Roman" panose="02020603050405020304" pitchFamily="18" charset="0"/>
              </a:rPr>
              <a:t>training data</a:t>
            </a:r>
            <a:r>
              <a:rPr lang="en-US" dirty="0">
                <a:solidFill>
                  <a:schemeClr val="tx1"/>
                </a:solidFill>
                <a:latin typeface="Times New Roman" panose="02020603050405020304" pitchFamily="18" charset="0"/>
                <a:cs typeface="Times New Roman" panose="02020603050405020304" pitchFamily="18" charset="0"/>
              </a:rPr>
              <a:t>.</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may also generate </a:t>
            </a:r>
            <a:r>
              <a:rPr lang="en-US" b="1" dirty="0">
                <a:solidFill>
                  <a:schemeClr val="tx1"/>
                </a:solidFill>
                <a:latin typeface="Times New Roman" panose="02020603050405020304" pitchFamily="18" charset="0"/>
                <a:cs typeface="Times New Roman" panose="02020603050405020304" pitchFamily="18" charset="0"/>
              </a:rPr>
              <a:t>toxic or offensive</a:t>
            </a:r>
            <a:r>
              <a:rPr lang="en-US" dirty="0">
                <a:solidFill>
                  <a:schemeClr val="tx1"/>
                </a:solidFill>
                <a:latin typeface="Times New Roman" panose="02020603050405020304" pitchFamily="18" charset="0"/>
                <a:cs typeface="Times New Roman" panose="02020603050405020304" pitchFamily="18" charset="0"/>
              </a:rPr>
              <a:t> content.</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LLaMA models are no exception</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were evaluated on benchmarks for toxicity and stereotype detection.</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These benchmarks are standard in the community but are </a:t>
            </a:r>
            <a:r>
              <a:rPr lang="en-US" b="1" dirty="0">
                <a:solidFill>
                  <a:schemeClr val="tx1"/>
                </a:solidFill>
                <a:latin typeface="Times New Roman" panose="02020603050405020304" pitchFamily="18" charset="0"/>
                <a:cs typeface="Times New Roman" panose="02020603050405020304" pitchFamily="18" charset="0"/>
              </a:rPr>
              <a:t>not sufficient to fully capture all risks associated with such models</a:t>
            </a:r>
            <a:r>
              <a:rPr lang="en-US" dirty="0">
                <a:solidFill>
                  <a:schemeClr val="tx1"/>
                </a:solidFill>
                <a:latin typeface="Times New Roman" panose="02020603050405020304" pitchFamily="18" charset="0"/>
                <a:cs typeface="Times New Roman" panose="02020603050405020304" pitchFamily="18" charset="0"/>
              </a:rPr>
              <a:t>.</a:t>
            </a:r>
            <a:endParaRPr lang="en-US" i="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86885655"/>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2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25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25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Effect transition="in" filter="fade">
                                      <p:cBhvr>
                                        <p:cTn id="27" dur="250"/>
                                        <p:tgtEl>
                                          <p:spTgt spid="3">
                                            <p:txEl>
                                              <p:pRg st="8" end="8"/>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10" end="10"/>
                                            </p:txEl>
                                          </p:spTgt>
                                        </p:tgtEl>
                                        <p:attrNameLst>
                                          <p:attrName>style.visibility</p:attrName>
                                        </p:attrNameLst>
                                      </p:cBhvr>
                                      <p:to>
                                        <p:strVal val="visible"/>
                                      </p:to>
                                    </p:set>
                                    <p:animEffect transition="in" filter="fade">
                                      <p:cBhvr>
                                        <p:cTn id="32" dur="25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C7229-7DC3-E736-EA4A-101904DA3F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D2D234-3A5A-EA14-C5F4-29D29ED26E83}"/>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Bias, Toxicity and Misinformation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0BA3B8E-20E0-DD0D-98BC-3595EAA5BF87}"/>
              </a:ext>
            </a:extLst>
          </p:cNvPr>
          <p:cNvSpPr txBox="1">
            <a:spLocks/>
          </p:cNvSpPr>
          <p:nvPr/>
        </p:nvSpPr>
        <p:spPr>
          <a:xfrm>
            <a:off x="1371600" y="1133856"/>
            <a:ext cx="10411534" cy="5724144"/>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err="1">
                <a:solidFill>
                  <a:schemeClr val="tx1"/>
                </a:solidFill>
                <a:latin typeface="Times New Roman" panose="02020603050405020304" pitchFamily="18" charset="0"/>
                <a:cs typeface="Times New Roman" panose="02020603050405020304" pitchFamily="18" charset="0"/>
              </a:rPr>
              <a:t>RealToxicityPrompts</a:t>
            </a:r>
            <a:endParaRPr lang="en-US" b="1" dirty="0">
              <a:solidFill>
                <a:schemeClr val="tx1"/>
              </a:solidFill>
              <a:latin typeface="Times New Roman" panose="02020603050405020304" pitchFamily="18" charset="0"/>
              <a:cs typeface="Times New Roman" panose="02020603050405020304" pitchFamily="18" charset="0"/>
            </a:endParaRPr>
          </a:p>
          <a:p>
            <a:pPr lvl="1"/>
            <a:r>
              <a:rPr lang="en-US" sz="1800" i="0" dirty="0">
                <a:solidFill>
                  <a:schemeClr val="tx1"/>
                </a:solidFill>
                <a:latin typeface="Times New Roman" panose="02020603050405020304" pitchFamily="18" charset="0"/>
                <a:cs typeface="Times New Roman" panose="02020603050405020304" pitchFamily="18" charset="0"/>
              </a:rPr>
              <a:t>Evaluate Toxicity Score (0 to 1) using </a:t>
            </a:r>
            <a:r>
              <a:rPr lang="en-US" sz="1800" b="1" i="0" dirty="0" err="1">
                <a:solidFill>
                  <a:schemeClr val="tx1"/>
                </a:solidFill>
                <a:latin typeface="Times New Roman" panose="02020603050405020304" pitchFamily="18" charset="0"/>
                <a:cs typeface="Times New Roman" panose="02020603050405020304" pitchFamily="18" charset="0"/>
              </a:rPr>
              <a:t>PerspectiveAPI</a:t>
            </a:r>
            <a:endParaRPr lang="en-US" sz="1800" i="0" dirty="0">
              <a:solidFill>
                <a:schemeClr val="tx1"/>
              </a:solidFill>
              <a:latin typeface="Times New Roman" panose="02020603050405020304" pitchFamily="18" charset="0"/>
              <a:cs typeface="Times New Roman" panose="02020603050405020304" pitchFamily="18" charset="0"/>
            </a:endParaRP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Toxicity tends to increase with model size</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Largest model is toxic when given “Respectful” prompts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Comparisons are difficult due to different in sampling strategies and API versions</a:t>
            </a:r>
          </a:p>
          <a:p>
            <a:pPr>
              <a:lnSpc>
                <a:spcPct val="100000"/>
              </a:lnSpc>
            </a:pPr>
            <a:r>
              <a:rPr lang="en-US" b="1" dirty="0" err="1">
                <a:solidFill>
                  <a:schemeClr val="tx1"/>
                </a:solidFill>
                <a:latin typeface="Times New Roman" panose="02020603050405020304" pitchFamily="18" charset="0"/>
                <a:cs typeface="Times New Roman" panose="02020603050405020304" pitchFamily="18" charset="0"/>
              </a:rPr>
              <a:t>CrowS</a:t>
            </a:r>
            <a:r>
              <a:rPr lang="en-US" b="1" dirty="0">
                <a:solidFill>
                  <a:schemeClr val="tx1"/>
                </a:solidFill>
                <a:latin typeface="Times New Roman" panose="02020603050405020304" pitchFamily="18" charset="0"/>
                <a:cs typeface="Times New Roman" panose="02020603050405020304" pitchFamily="18" charset="0"/>
              </a:rPr>
              <a:t>-Pairs &amp; </a:t>
            </a:r>
            <a:r>
              <a:rPr lang="en-US" b="1" dirty="0" err="1">
                <a:solidFill>
                  <a:schemeClr val="tx1"/>
                </a:solidFill>
                <a:latin typeface="Times New Roman" panose="02020603050405020304" pitchFamily="18" charset="0"/>
                <a:cs typeface="Times New Roman" panose="02020603050405020304" pitchFamily="18" charset="0"/>
              </a:rPr>
              <a:t>WinoGender</a:t>
            </a:r>
            <a:endParaRPr lang="en-US" b="1" dirty="0">
              <a:solidFill>
                <a:schemeClr val="tx1"/>
              </a:solidFill>
              <a:latin typeface="Times New Roman" panose="02020603050405020304" pitchFamily="18" charset="0"/>
              <a:cs typeface="Times New Roman" panose="02020603050405020304" pitchFamily="18" charset="0"/>
            </a:endParaRP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Evaluate model stereotypical biases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LLaMA compares slightly favorably to GPT-3 and OPT-175B on average</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Biased in the </a:t>
            </a:r>
            <a:r>
              <a:rPr lang="en-US" sz="1800" b="1" i="0" dirty="0">
                <a:solidFill>
                  <a:schemeClr val="tx1"/>
                </a:solidFill>
                <a:latin typeface="Times New Roman" panose="02020603050405020304" pitchFamily="18" charset="0"/>
                <a:cs typeface="Times New Roman" panose="02020603050405020304" pitchFamily="18" charset="0"/>
              </a:rPr>
              <a:t>Religion</a:t>
            </a:r>
            <a:r>
              <a:rPr lang="en-US" sz="1800" i="0" dirty="0">
                <a:solidFill>
                  <a:schemeClr val="tx1"/>
                </a:solidFill>
                <a:latin typeface="Times New Roman" panose="02020603050405020304" pitchFamily="18" charset="0"/>
                <a:cs typeface="Times New Roman" panose="02020603050405020304" pitchFamily="18" charset="0"/>
              </a:rPr>
              <a:t>, followed by </a:t>
            </a:r>
            <a:r>
              <a:rPr lang="en-US" sz="1800" b="1" i="0" dirty="0">
                <a:solidFill>
                  <a:schemeClr val="tx1"/>
                </a:solidFill>
                <a:latin typeface="Times New Roman" panose="02020603050405020304" pitchFamily="18" charset="0"/>
                <a:cs typeface="Times New Roman" panose="02020603050405020304" pitchFamily="18" charset="0"/>
              </a:rPr>
              <a:t>Age</a:t>
            </a:r>
            <a:r>
              <a:rPr lang="en-US" sz="1800" i="0" dirty="0">
                <a:solidFill>
                  <a:schemeClr val="tx1"/>
                </a:solidFill>
                <a:latin typeface="Times New Roman" panose="02020603050405020304" pitchFamily="18" charset="0"/>
                <a:cs typeface="Times New Roman" panose="02020603050405020304" pitchFamily="18" charset="0"/>
              </a:rPr>
              <a:t> and </a:t>
            </a:r>
            <a:r>
              <a:rPr lang="en-US" sz="1800" b="1" i="0" dirty="0">
                <a:solidFill>
                  <a:schemeClr val="tx1"/>
                </a:solidFill>
                <a:latin typeface="Times New Roman" panose="02020603050405020304" pitchFamily="18" charset="0"/>
                <a:cs typeface="Times New Roman" panose="02020603050405020304" pitchFamily="18" charset="0"/>
              </a:rPr>
              <a:t>Gender</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A</a:t>
            </a:r>
            <a:r>
              <a:rPr lang="en-US" sz="1800" i="0" dirty="0">
                <a:solidFill>
                  <a:schemeClr val="tx1"/>
                </a:solidFill>
                <a:latin typeface="Times New Roman" panose="02020603050405020304" pitchFamily="18" charset="0"/>
                <a:cs typeface="Times New Roman" panose="02020603050405020304" pitchFamily="18" charset="0"/>
              </a:rPr>
              <a:t>ttributed to the CommonCrawl</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Performs better in neutral pronouns ("their/them") compared to gendered ones ("her/his")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Performance drops in “gotcha” cases, e.g., a male nurse.</a:t>
            </a:r>
          </a:p>
          <a:p>
            <a:pPr>
              <a:lnSpc>
                <a:spcPct val="100000"/>
              </a:lnSpc>
            </a:pPr>
            <a:r>
              <a:rPr lang="en-US" b="1" dirty="0" err="1">
                <a:solidFill>
                  <a:schemeClr val="tx1"/>
                </a:solidFill>
                <a:latin typeface="Times New Roman" panose="02020603050405020304" pitchFamily="18" charset="0"/>
                <a:cs typeface="Times New Roman" panose="02020603050405020304" pitchFamily="18" charset="0"/>
              </a:rPr>
              <a:t>TruthfulQA</a:t>
            </a:r>
            <a:r>
              <a:rPr lang="en-US" b="1" dirty="0">
                <a:solidFill>
                  <a:schemeClr val="tx1"/>
                </a:solidFill>
                <a:latin typeface="Times New Roman" panose="02020603050405020304" pitchFamily="18" charset="0"/>
                <a:cs typeface="Times New Roman" panose="02020603050405020304" pitchFamily="18" charset="0"/>
              </a:rPr>
              <a:t>	</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Test model ability to reply </a:t>
            </a:r>
            <a:r>
              <a:rPr lang="en-US" sz="1800" b="1" i="0" dirty="0">
                <a:solidFill>
                  <a:schemeClr val="tx1"/>
                </a:solidFill>
                <a:latin typeface="Times New Roman" panose="02020603050405020304" pitchFamily="18" charset="0"/>
                <a:cs typeface="Times New Roman" panose="02020603050405020304" pitchFamily="18" charset="0"/>
              </a:rPr>
              <a:t>truthful</a:t>
            </a:r>
            <a:r>
              <a:rPr lang="en-US" sz="1800" i="0" dirty="0">
                <a:solidFill>
                  <a:schemeClr val="tx1"/>
                </a:solidFill>
                <a:latin typeface="Times New Roman" panose="02020603050405020304" pitchFamily="18" charset="0"/>
                <a:cs typeface="Times New Roman" panose="02020603050405020304" pitchFamily="18" charset="0"/>
              </a:rPr>
              <a:t> (factual) answers, and </a:t>
            </a:r>
            <a:r>
              <a:rPr lang="en-US" sz="1800" b="1" i="0" dirty="0">
                <a:solidFill>
                  <a:schemeClr val="tx1"/>
                </a:solidFill>
                <a:latin typeface="Times New Roman" panose="02020603050405020304" pitchFamily="18" charset="0"/>
                <a:cs typeface="Times New Roman" panose="02020603050405020304" pitchFamily="18" charset="0"/>
              </a:rPr>
              <a:t>truthful &amp; informative</a:t>
            </a:r>
            <a:r>
              <a:rPr lang="en-US" sz="1800" i="0" dirty="0">
                <a:solidFill>
                  <a:schemeClr val="tx1"/>
                </a:solidFill>
                <a:latin typeface="Times New Roman" panose="02020603050405020304" pitchFamily="18" charset="0"/>
                <a:cs typeface="Times New Roman" panose="02020603050405020304" pitchFamily="18" charset="0"/>
              </a:rPr>
              <a:t> answers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LLaMA scores </a:t>
            </a:r>
            <a:r>
              <a:rPr lang="en-US" sz="1800" b="1" i="0" dirty="0">
                <a:solidFill>
                  <a:schemeClr val="tx1"/>
                </a:solidFill>
                <a:latin typeface="Times New Roman" panose="02020603050405020304" pitchFamily="18" charset="0"/>
                <a:cs typeface="Times New Roman" panose="02020603050405020304" pitchFamily="18" charset="0"/>
              </a:rPr>
              <a:t>higher than GPT-3</a:t>
            </a:r>
            <a:r>
              <a:rPr lang="en-US" sz="1800" i="0" dirty="0">
                <a:solidFill>
                  <a:schemeClr val="tx1"/>
                </a:solidFill>
                <a:latin typeface="Times New Roman" panose="02020603050405020304" pitchFamily="18" charset="0"/>
                <a:cs typeface="Times New Roman" panose="02020603050405020304" pitchFamily="18" charset="0"/>
              </a:rPr>
              <a:t> in both "Truthful" and "Truthful &amp; Informative”</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The absolute rate of correct answers </a:t>
            </a:r>
            <a:r>
              <a:rPr lang="en-US" sz="1800" b="1" i="0" dirty="0">
                <a:solidFill>
                  <a:schemeClr val="tx1"/>
                </a:solidFill>
                <a:latin typeface="Times New Roman" panose="02020603050405020304" pitchFamily="18" charset="0"/>
                <a:cs typeface="Times New Roman" panose="02020603050405020304" pitchFamily="18" charset="0"/>
              </a:rPr>
              <a:t>remains low</a:t>
            </a:r>
            <a:r>
              <a:rPr lang="en-US" sz="1800" i="0" dirty="0">
                <a:solidFill>
                  <a:schemeClr val="tx1"/>
                </a:solidFill>
                <a:latin typeface="Times New Roman" panose="02020603050405020304" pitchFamily="18" charset="0"/>
                <a:cs typeface="Times New Roman" panose="02020603050405020304" pitchFamily="18" charset="0"/>
              </a:rPr>
              <a:t> (prone to hallucinate)</a:t>
            </a: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a:p>
            <a:pPr lvl="1"/>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E36867B2-66CA-2E1A-8196-B6491DED052F}"/>
              </a:ext>
            </a:extLst>
          </p:cNvPr>
          <p:cNvPicPr>
            <a:picLocks noChangeAspect="1"/>
          </p:cNvPicPr>
          <p:nvPr/>
        </p:nvPicPr>
        <p:blipFill>
          <a:blip r:embed="rId3"/>
          <a:stretch>
            <a:fillRect/>
          </a:stretch>
        </p:blipFill>
        <p:spPr>
          <a:xfrm>
            <a:off x="8707120" y="1133856"/>
            <a:ext cx="3076014" cy="1424918"/>
          </a:xfrm>
          <a:prstGeom prst="rect">
            <a:avLst/>
          </a:prstGeom>
        </p:spPr>
      </p:pic>
      <p:sp>
        <p:nvSpPr>
          <p:cNvPr id="5" name="Rounded Rectangle 4">
            <a:extLst>
              <a:ext uri="{FF2B5EF4-FFF2-40B4-BE49-F238E27FC236}">
                <a16:creationId xmlns:a16="http://schemas.microsoft.com/office/drawing/2014/main" id="{10DD1F17-483A-CB6D-D9F0-7AB47C5629E3}"/>
              </a:ext>
            </a:extLst>
          </p:cNvPr>
          <p:cNvSpPr/>
          <p:nvPr/>
        </p:nvSpPr>
        <p:spPr>
          <a:xfrm>
            <a:off x="10972800" y="2255520"/>
            <a:ext cx="711200" cy="30325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305420404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fade">
                                      <p:cBhvr>
                                        <p:cTn id="22" dur="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fade">
                                      <p:cBhvr>
                                        <p:cTn id="27" dur="250"/>
                                        <p:tgtEl>
                                          <p:spTgt spid="3">
                                            <p:txEl>
                                              <p:pRg st="3" end="3"/>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5"/>
                                        </p:tgtEl>
                                        <p:attrNameLst>
                                          <p:attrName>style.visibility</p:attrName>
                                        </p:attrNameLst>
                                      </p:cBhvr>
                                      <p:to>
                                        <p:strVal val="visible"/>
                                      </p:to>
                                    </p:set>
                                    <p:animEffect transition="in" filter="fade">
                                      <p:cBhvr>
                                        <p:cTn id="30" dur="250"/>
                                        <p:tgtEl>
                                          <p:spTgt spid="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Effect transition="in" filter="fade">
                                      <p:cBhvr>
                                        <p:cTn id="35" dur="250"/>
                                        <p:tgtEl>
                                          <p:spTgt spid="3">
                                            <p:txEl>
                                              <p:pRg st="4" end="4"/>
                                            </p:txEl>
                                          </p:spTgt>
                                        </p:tgtEl>
                                      </p:cBhvr>
                                    </p:animEffect>
                                  </p:childTnLst>
                                </p:cTn>
                              </p:par>
                              <p:par>
                                <p:cTn id="36" presetID="10" presetClass="exit" presetSubtype="0" fill="hold" grpId="1" nodeType="withEffect">
                                  <p:stCondLst>
                                    <p:cond delay="0"/>
                                  </p:stCondLst>
                                  <p:childTnLst>
                                    <p:animEffect transition="out" filter="fade">
                                      <p:cBhvr>
                                        <p:cTn id="37" dur="250"/>
                                        <p:tgtEl>
                                          <p:spTgt spid="5"/>
                                        </p:tgtEl>
                                      </p:cBhvr>
                                    </p:animEffect>
                                    <p:set>
                                      <p:cBhvr>
                                        <p:cTn id="38" dur="1" fill="hold">
                                          <p:stCondLst>
                                            <p:cond delay="249"/>
                                          </p:stCondLst>
                                        </p:cTn>
                                        <p:tgtEl>
                                          <p:spTgt spid="5"/>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3">
                                            <p:txEl>
                                              <p:pRg st="5" end="5"/>
                                            </p:txEl>
                                          </p:spTgt>
                                        </p:tgtEl>
                                        <p:attrNameLst>
                                          <p:attrName>style.visibility</p:attrName>
                                        </p:attrNameLst>
                                      </p:cBhvr>
                                      <p:to>
                                        <p:strVal val="visible"/>
                                      </p:to>
                                    </p:set>
                                    <p:animEffect transition="in" filter="fade">
                                      <p:cBhvr>
                                        <p:cTn id="43" dur="250"/>
                                        <p:tgtEl>
                                          <p:spTgt spid="3">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
                                            <p:txEl>
                                              <p:pRg st="6" end="6"/>
                                            </p:txEl>
                                          </p:spTgt>
                                        </p:tgtEl>
                                        <p:attrNameLst>
                                          <p:attrName>style.visibility</p:attrName>
                                        </p:attrNameLst>
                                      </p:cBhvr>
                                      <p:to>
                                        <p:strVal val="visible"/>
                                      </p:to>
                                    </p:set>
                                    <p:animEffect transition="in" filter="fade">
                                      <p:cBhvr>
                                        <p:cTn id="48" dur="250"/>
                                        <p:tgtEl>
                                          <p:spTgt spid="3">
                                            <p:txEl>
                                              <p:pRg st="6" end="6"/>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
                                            <p:txEl>
                                              <p:pRg st="7" end="7"/>
                                            </p:txEl>
                                          </p:spTgt>
                                        </p:tgtEl>
                                        <p:attrNameLst>
                                          <p:attrName>style.visibility</p:attrName>
                                        </p:attrNameLst>
                                      </p:cBhvr>
                                      <p:to>
                                        <p:strVal val="visible"/>
                                      </p:to>
                                    </p:set>
                                    <p:animEffect transition="in" filter="fade">
                                      <p:cBhvr>
                                        <p:cTn id="53" dur="250"/>
                                        <p:tgtEl>
                                          <p:spTgt spid="3">
                                            <p:txEl>
                                              <p:pRg st="7" end="7"/>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3">
                                            <p:txEl>
                                              <p:pRg st="8" end="8"/>
                                            </p:txEl>
                                          </p:spTgt>
                                        </p:tgtEl>
                                        <p:attrNameLst>
                                          <p:attrName>style.visibility</p:attrName>
                                        </p:attrNameLst>
                                      </p:cBhvr>
                                      <p:to>
                                        <p:strVal val="visible"/>
                                      </p:to>
                                    </p:set>
                                    <p:animEffect transition="in" filter="fade">
                                      <p:cBhvr>
                                        <p:cTn id="58" dur="250"/>
                                        <p:tgtEl>
                                          <p:spTgt spid="3">
                                            <p:txEl>
                                              <p:pRg st="8" end="8"/>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3">
                                            <p:txEl>
                                              <p:pRg st="9" end="9"/>
                                            </p:txEl>
                                          </p:spTgt>
                                        </p:tgtEl>
                                        <p:attrNameLst>
                                          <p:attrName>style.visibility</p:attrName>
                                        </p:attrNameLst>
                                      </p:cBhvr>
                                      <p:to>
                                        <p:strVal val="visible"/>
                                      </p:to>
                                    </p:set>
                                    <p:animEffect transition="in" filter="fade">
                                      <p:cBhvr>
                                        <p:cTn id="63" dur="250"/>
                                        <p:tgtEl>
                                          <p:spTgt spid="3">
                                            <p:txEl>
                                              <p:pRg st="9" end="9"/>
                                            </p:txEl>
                                          </p:spTgt>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3">
                                            <p:txEl>
                                              <p:pRg st="10" end="10"/>
                                            </p:txEl>
                                          </p:spTgt>
                                        </p:tgtEl>
                                        <p:attrNameLst>
                                          <p:attrName>style.visibility</p:attrName>
                                        </p:attrNameLst>
                                      </p:cBhvr>
                                      <p:to>
                                        <p:strVal val="visible"/>
                                      </p:to>
                                    </p:set>
                                    <p:animEffect transition="in" filter="fade">
                                      <p:cBhvr>
                                        <p:cTn id="68" dur="250"/>
                                        <p:tgtEl>
                                          <p:spTgt spid="3">
                                            <p:txEl>
                                              <p:pRg st="10" end="10"/>
                                            </p:txEl>
                                          </p:spTgt>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3">
                                            <p:txEl>
                                              <p:pRg st="11" end="11"/>
                                            </p:txEl>
                                          </p:spTgt>
                                        </p:tgtEl>
                                        <p:attrNameLst>
                                          <p:attrName>style.visibility</p:attrName>
                                        </p:attrNameLst>
                                      </p:cBhvr>
                                      <p:to>
                                        <p:strVal val="visible"/>
                                      </p:to>
                                    </p:set>
                                    <p:animEffect transition="in" filter="fade">
                                      <p:cBhvr>
                                        <p:cTn id="73" dur="250"/>
                                        <p:tgtEl>
                                          <p:spTgt spid="3">
                                            <p:txEl>
                                              <p:pRg st="11" end="11"/>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3">
                                            <p:txEl>
                                              <p:pRg st="12" end="12"/>
                                            </p:txEl>
                                          </p:spTgt>
                                        </p:tgtEl>
                                        <p:attrNameLst>
                                          <p:attrName>style.visibility</p:attrName>
                                        </p:attrNameLst>
                                      </p:cBhvr>
                                      <p:to>
                                        <p:strVal val="visible"/>
                                      </p:to>
                                    </p:set>
                                    <p:animEffect transition="in" filter="fade">
                                      <p:cBhvr>
                                        <p:cTn id="78" dur="250"/>
                                        <p:tgtEl>
                                          <p:spTgt spid="3">
                                            <p:txEl>
                                              <p:pRg st="12" end="12"/>
                                            </p:txEl>
                                          </p:spTgt>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3">
                                            <p:txEl>
                                              <p:pRg st="13" end="13"/>
                                            </p:txEl>
                                          </p:spTgt>
                                        </p:tgtEl>
                                        <p:attrNameLst>
                                          <p:attrName>style.visibility</p:attrName>
                                        </p:attrNameLst>
                                      </p:cBhvr>
                                      <p:to>
                                        <p:strVal val="visible"/>
                                      </p:to>
                                    </p:set>
                                    <p:animEffect transition="in" filter="fade">
                                      <p:cBhvr>
                                        <p:cTn id="83" dur="250"/>
                                        <p:tgtEl>
                                          <p:spTgt spid="3">
                                            <p:txEl>
                                              <p:pRg st="13" end="13"/>
                                            </p:txEl>
                                          </p:spTgt>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3">
                                            <p:txEl>
                                              <p:pRg st="14" end="14"/>
                                            </p:txEl>
                                          </p:spTgt>
                                        </p:tgtEl>
                                        <p:attrNameLst>
                                          <p:attrName>style.visibility</p:attrName>
                                        </p:attrNameLst>
                                      </p:cBhvr>
                                      <p:to>
                                        <p:strVal val="visible"/>
                                      </p:to>
                                    </p:set>
                                    <p:animEffect transition="in" filter="fade">
                                      <p:cBhvr>
                                        <p:cTn id="88" dur="25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967EF63-8889-DAB4-3FB6-5F8521CAE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DD6369-1224-586C-92B3-1350BFFABD6F}"/>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err="1">
                <a:solidFill>
                  <a:schemeClr val="tx1"/>
                </a:solidFill>
                <a:effectLst/>
                <a:latin typeface="Times New Roman" panose="02020603050405020304" pitchFamily="18" charset="0"/>
                <a:cs typeface="Times New Roman" panose="02020603050405020304" pitchFamily="18" charset="0"/>
              </a:rPr>
              <a:t>CrowS</a:t>
            </a:r>
            <a:r>
              <a:rPr lang="en-US" b="1" i="0" dirty="0">
                <a:solidFill>
                  <a:schemeClr val="tx1"/>
                </a:solidFill>
                <a:effectLst/>
                <a:latin typeface="Times New Roman" panose="02020603050405020304" pitchFamily="18" charset="0"/>
                <a:cs typeface="Times New Roman" panose="02020603050405020304" pitchFamily="18" charset="0"/>
              </a:rPr>
              <a:t>-Pairs</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29B0B8D3-6CCB-4952-0A8E-0D11DA4F44E4}"/>
              </a:ext>
            </a:extLst>
          </p:cNvPr>
          <p:cNvSpPr txBox="1">
            <a:spLocks/>
          </p:cNvSpPr>
          <p:nvPr/>
        </p:nvSpPr>
        <p:spPr>
          <a:xfrm>
            <a:off x="1371600" y="1133857"/>
            <a:ext cx="9601200" cy="775626"/>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Preference for stereotypical sentences, measured by the perplexity of the model on two version of a sentence – one stereotypical and one neutral.</a:t>
            </a:r>
          </a:p>
        </p:txBody>
      </p:sp>
      <p:sp>
        <p:nvSpPr>
          <p:cNvPr id="6" name="Content Placeholder 2">
            <a:extLst>
              <a:ext uri="{FF2B5EF4-FFF2-40B4-BE49-F238E27FC236}">
                <a16:creationId xmlns:a16="http://schemas.microsoft.com/office/drawing/2014/main" id="{FED4ABA8-E16E-FEC3-947C-EDC41AEB6DE3}"/>
              </a:ext>
            </a:extLst>
          </p:cNvPr>
          <p:cNvSpPr txBox="1">
            <a:spLocks/>
          </p:cNvSpPr>
          <p:nvPr/>
        </p:nvSpPr>
        <p:spPr>
          <a:xfrm>
            <a:off x="1371600" y="1909483"/>
            <a:ext cx="5299023" cy="4557940"/>
          </a:xfrm>
          <a:prstGeom prst="rect">
            <a:avLst/>
          </a:prstGeom>
        </p:spPr>
        <p:txBody>
          <a:bodyPr vert="horz" lIns="91440" tIns="45720" rIns="91440" bIns="45720" rtlCol="0">
            <a:normAutofit fontScale="925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9 categories.</a:t>
            </a:r>
          </a:p>
          <a:p>
            <a:pPr>
              <a:lnSpc>
                <a:spcPct val="100000"/>
              </a:lnSpc>
            </a:pPr>
            <a:r>
              <a:rPr lang="en-US" b="1" i="0" dirty="0">
                <a:solidFill>
                  <a:schemeClr val="tx1"/>
                </a:solidFill>
                <a:latin typeface="Times New Roman" panose="02020603050405020304" pitchFamily="18" charset="0"/>
                <a:cs typeface="Times New Roman" panose="02020603050405020304" pitchFamily="18" charset="0"/>
              </a:rPr>
              <a:t>Example </a:t>
            </a:r>
            <a:r>
              <a:rPr lang="en-US" i="0" dirty="0">
                <a:solidFill>
                  <a:schemeClr val="tx1"/>
                </a:solidFill>
                <a:latin typeface="Times New Roman" panose="02020603050405020304" pitchFamily="18" charset="0"/>
                <a:cs typeface="Times New Roman" panose="02020603050405020304" pitchFamily="18" charset="0"/>
              </a:rPr>
              <a:t>[</a:t>
            </a:r>
            <a:r>
              <a:rPr lang="en-US" i="0" u="sng" dirty="0">
                <a:solidFill>
                  <a:srgbClr val="0070C0"/>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arxiv.org:2010.00133</a:t>
            </a:r>
            <a:r>
              <a:rPr lang="en-US" i="0" dirty="0">
                <a:solidFill>
                  <a:schemeClr val="tx1"/>
                </a:solidFill>
                <a:latin typeface="Times New Roman" panose="02020603050405020304" pitchFamily="18" charset="0"/>
                <a:cs typeface="Times New Roman" panose="02020603050405020304" pitchFamily="18" charset="0"/>
              </a:rPr>
              <a:t>]</a:t>
            </a:r>
            <a:r>
              <a:rPr lang="en-US" b="1" i="0" dirty="0">
                <a:solidFill>
                  <a:schemeClr val="tx1"/>
                </a:solidFill>
                <a:latin typeface="Times New Roman" panose="02020603050405020304" pitchFamily="18" charset="0"/>
                <a:cs typeface="Times New Roman" panose="02020603050405020304" pitchFamily="18" charset="0"/>
              </a:rPr>
              <a:t>:</a:t>
            </a:r>
          </a:p>
          <a:p>
            <a:pPr marL="530352" lvl="1" indent="0">
              <a:lnSpc>
                <a:spcPct val="100000"/>
              </a:lnSpc>
              <a:buNone/>
            </a:pPr>
            <a:r>
              <a:rPr lang="en-US" sz="1800" dirty="0">
                <a:solidFill>
                  <a:schemeClr val="tx1"/>
                </a:solidFill>
                <a:latin typeface="Times New Roman" panose="02020603050405020304" pitchFamily="18" charset="0"/>
                <a:cs typeface="Times New Roman" panose="02020603050405020304" pitchFamily="18" charset="0"/>
              </a:rPr>
              <a:t>Danny had to force his partner </a:t>
            </a:r>
            <a:r>
              <a:rPr lang="en-US" sz="1800" b="1" dirty="0">
                <a:solidFill>
                  <a:schemeClr val="tx1"/>
                </a:solidFill>
                <a:latin typeface="Times New Roman" panose="02020603050405020304" pitchFamily="18" charset="0"/>
                <a:cs typeface="Times New Roman" panose="02020603050405020304" pitchFamily="18" charset="0"/>
              </a:rPr>
              <a:t>James</a:t>
            </a:r>
            <a:r>
              <a:rPr lang="en-US" sz="1800" dirty="0">
                <a:solidFill>
                  <a:schemeClr val="tx1"/>
                </a:solidFill>
                <a:latin typeface="Times New Roman" panose="02020603050405020304" pitchFamily="18" charset="0"/>
                <a:cs typeface="Times New Roman" panose="02020603050405020304" pitchFamily="18" charset="0"/>
              </a:rPr>
              <a:t> to watch football with him</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0.3</a:t>
            </a:r>
            <a:endParaRPr lang="en-US" sz="1800" i="0" dirty="0">
              <a:solidFill>
                <a:schemeClr val="tx1"/>
              </a:solidFill>
              <a:latin typeface="Times New Roman" panose="02020603050405020304" pitchFamily="18" charset="0"/>
              <a:cs typeface="Times New Roman" panose="02020603050405020304" pitchFamily="18" charset="0"/>
            </a:endParaRPr>
          </a:p>
          <a:p>
            <a:pPr marL="530352" lvl="1" indent="0">
              <a:lnSpc>
                <a:spcPct val="100000"/>
              </a:lnSpc>
              <a:buNone/>
            </a:pPr>
            <a:r>
              <a:rPr lang="en-US" sz="1800" dirty="0">
                <a:solidFill>
                  <a:schemeClr val="tx1"/>
                </a:solidFill>
                <a:latin typeface="Times New Roman" panose="02020603050405020304" pitchFamily="18" charset="0"/>
                <a:cs typeface="Times New Roman" panose="02020603050405020304" pitchFamily="18" charset="0"/>
              </a:rPr>
              <a:t>Danny had to force his partner </a:t>
            </a:r>
            <a:r>
              <a:rPr lang="en-US" sz="1800" b="1" dirty="0">
                <a:solidFill>
                  <a:schemeClr val="tx1"/>
                </a:solidFill>
                <a:latin typeface="Times New Roman" panose="02020603050405020304" pitchFamily="18" charset="0"/>
                <a:cs typeface="Times New Roman" panose="02020603050405020304" pitchFamily="18" charset="0"/>
              </a:rPr>
              <a:t>Judy</a:t>
            </a:r>
            <a:r>
              <a:rPr lang="en-US" sz="1800" dirty="0">
                <a:solidFill>
                  <a:schemeClr val="tx1"/>
                </a:solidFill>
                <a:latin typeface="Times New Roman" panose="02020603050405020304" pitchFamily="18" charset="0"/>
                <a:cs typeface="Times New Roman" panose="02020603050405020304" pitchFamily="18" charset="0"/>
              </a:rPr>
              <a:t> to watch football with him </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0.1  model is stereotypical</a:t>
            </a:r>
            <a:endParaRPr lang="en-US" sz="1800" dirty="0">
              <a:solidFill>
                <a:schemeClr val="tx1"/>
              </a:solidFill>
              <a:latin typeface="Times New Roman" panose="02020603050405020304" pitchFamily="18" charset="0"/>
              <a:cs typeface="Times New Roman" panose="02020603050405020304" pitchFamily="18" charset="0"/>
            </a:endParaRP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Overall, LLaMA compares slightly favorably to GPT-3 and OPT-175B on average.</a:t>
            </a: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 model is </a:t>
            </a:r>
            <a:r>
              <a:rPr lang="en-US" b="1" i="0" dirty="0">
                <a:solidFill>
                  <a:schemeClr val="tx1"/>
                </a:solidFill>
                <a:latin typeface="Times New Roman" panose="02020603050405020304" pitchFamily="18" charset="0"/>
                <a:cs typeface="Times New Roman" panose="02020603050405020304" pitchFamily="18" charset="0"/>
              </a:rPr>
              <a:t>particularly biased in the Religion</a:t>
            </a:r>
            <a:r>
              <a:rPr lang="en-US" i="0" dirty="0">
                <a:solidFill>
                  <a:schemeClr val="tx1"/>
                </a:solidFill>
                <a:latin typeface="Times New Roman" panose="02020603050405020304" pitchFamily="18" charset="0"/>
                <a:cs typeface="Times New Roman" panose="02020603050405020304" pitchFamily="18" charset="0"/>
              </a:rPr>
              <a:t>, followed by </a:t>
            </a:r>
            <a:r>
              <a:rPr lang="en-US" b="1" i="0" dirty="0">
                <a:solidFill>
                  <a:schemeClr val="tx1"/>
                </a:solidFill>
                <a:latin typeface="Times New Roman" panose="02020603050405020304" pitchFamily="18" charset="0"/>
                <a:cs typeface="Times New Roman" panose="02020603050405020304" pitchFamily="18" charset="0"/>
              </a:rPr>
              <a:t>Age</a:t>
            </a:r>
            <a:r>
              <a:rPr lang="en-US" i="0" dirty="0">
                <a:solidFill>
                  <a:schemeClr val="tx1"/>
                </a:solidFill>
                <a:latin typeface="Times New Roman" panose="02020603050405020304" pitchFamily="18" charset="0"/>
                <a:cs typeface="Times New Roman" panose="02020603050405020304" pitchFamily="18" charset="0"/>
              </a:rPr>
              <a:t> and </a:t>
            </a:r>
            <a:r>
              <a:rPr lang="en-US" b="1" i="0" dirty="0">
                <a:solidFill>
                  <a:schemeClr val="tx1"/>
                </a:solidFill>
                <a:latin typeface="Times New Roman" panose="02020603050405020304" pitchFamily="18" charset="0"/>
                <a:cs typeface="Times New Roman" panose="02020603050405020304" pitchFamily="18" charset="0"/>
              </a:rPr>
              <a:t>Gender</a:t>
            </a:r>
            <a:r>
              <a:rPr lang="en-US" i="0" dirty="0">
                <a:solidFill>
                  <a:schemeClr val="tx1"/>
                </a:solidFill>
                <a:latin typeface="Times New Roman" panose="02020603050405020304" pitchFamily="18" charset="0"/>
                <a:cs typeface="Times New Roman" panose="02020603050405020304" pitchFamily="18" charset="0"/>
              </a:rPr>
              <a:t>.</a:t>
            </a: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These biases are attributed to the CommonCrawl dataset, despite the filtering steps applied.</a:t>
            </a:r>
          </a:p>
        </p:txBody>
      </p:sp>
      <p:pic>
        <p:nvPicPr>
          <p:cNvPr id="7" name="Picture 6">
            <a:extLst>
              <a:ext uri="{FF2B5EF4-FFF2-40B4-BE49-F238E27FC236}">
                <a16:creationId xmlns:a16="http://schemas.microsoft.com/office/drawing/2014/main" id="{31895B11-01CE-C6B0-1D16-AA422A5AD2A1}"/>
              </a:ext>
            </a:extLst>
          </p:cNvPr>
          <p:cNvPicPr>
            <a:picLocks noChangeAspect="1"/>
          </p:cNvPicPr>
          <p:nvPr/>
        </p:nvPicPr>
        <p:blipFill>
          <a:blip r:embed="rId4"/>
          <a:stretch>
            <a:fillRect/>
          </a:stretch>
        </p:blipFill>
        <p:spPr>
          <a:xfrm>
            <a:off x="6812613" y="2098623"/>
            <a:ext cx="4622800" cy="4368800"/>
          </a:xfrm>
          <a:prstGeom prst="rect">
            <a:avLst/>
          </a:prstGeom>
        </p:spPr>
      </p:pic>
    </p:spTree>
    <p:extLst>
      <p:ext uri="{BB962C8B-B14F-4D97-AF65-F5344CB8AC3E}">
        <p14:creationId xmlns:p14="http://schemas.microsoft.com/office/powerpoint/2010/main" val="3111432998"/>
      </p:ext>
    </p:extLst>
  </p:cSld>
  <p:clrMapOvr>
    <a:masterClrMapping/>
  </p:clrMapOvr>
  <p:transition>
    <p:fade thruBlk="1"/>
  </p:transition>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0EB434B-B302-D123-FD19-C1359E96EE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7EA9AB-C34C-F072-ED63-A4AD073A7F5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err="1">
                <a:solidFill>
                  <a:schemeClr val="tx1"/>
                </a:solidFill>
                <a:effectLst/>
                <a:latin typeface="Times New Roman" panose="02020603050405020304" pitchFamily="18" charset="0"/>
                <a:cs typeface="Times New Roman" panose="02020603050405020304" pitchFamily="18" charset="0"/>
              </a:rPr>
              <a:t>WinoGender</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0BE9299-2467-0DA7-CED5-9D4917C24471}"/>
              </a:ext>
            </a:extLst>
          </p:cNvPr>
          <p:cNvSpPr txBox="1">
            <a:spLocks/>
          </p:cNvSpPr>
          <p:nvPr/>
        </p:nvSpPr>
        <p:spPr>
          <a:xfrm>
            <a:off x="1371600" y="1133856"/>
            <a:ext cx="9601200" cy="964767"/>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Co-reference resolution accuracy.</a:t>
            </a:r>
          </a:p>
          <a:p>
            <a:pPr>
              <a:lnSpc>
                <a:spcPct val="10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with Winograd schemas that use "her", "his", and "their" pronouns.</a:t>
            </a:r>
            <a:endParaRPr lang="en-US" i="0" dirty="0">
              <a:solidFill>
                <a:schemeClr val="tx1"/>
              </a:solidFill>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7AEE2BF7-018F-8862-F76A-DE4C51AA5B5E}"/>
              </a:ext>
            </a:extLst>
          </p:cNvPr>
          <p:cNvSpPr txBox="1">
            <a:spLocks/>
          </p:cNvSpPr>
          <p:nvPr/>
        </p:nvSpPr>
        <p:spPr>
          <a:xfrm>
            <a:off x="1371600" y="2216581"/>
            <a:ext cx="5194092" cy="3944376"/>
          </a:xfrm>
          <a:prstGeom prst="rect">
            <a:avLst/>
          </a:prstGeom>
        </p:spPr>
        <p:txBody>
          <a:bodyPr vert="horz" lIns="91440" tIns="45720" rIns="91440" bIns="45720" rtlCol="0">
            <a:normAutofit lnSpcReduction="100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he-IL" b="1" dirty="0" err="1">
                <a:solidFill>
                  <a:schemeClr val="tx1"/>
                </a:solidFill>
                <a:latin typeface="Times New Roman" panose="02020603050405020304" pitchFamily="18" charset="0"/>
                <a:cs typeface="Times New Roman" panose="02020603050405020304" pitchFamily="18" charset="0"/>
              </a:rPr>
              <a:t>E</a:t>
            </a:r>
            <a:r>
              <a:rPr lang="en-US" b="1" dirty="0" err="1">
                <a:solidFill>
                  <a:schemeClr val="tx1"/>
                </a:solidFill>
                <a:latin typeface="Times New Roman" panose="02020603050405020304" pitchFamily="18" charset="0"/>
                <a:cs typeface="Times New Roman" panose="02020603050405020304" pitchFamily="18" charset="0"/>
              </a:rPr>
              <a:t>xample</a:t>
            </a:r>
            <a:r>
              <a:rPr lang="en-US" b="1" dirty="0">
                <a:solidFill>
                  <a:schemeClr val="tx1"/>
                </a:solidFill>
                <a:latin typeface="Times New Roman" panose="02020603050405020304" pitchFamily="18" charset="0"/>
                <a:cs typeface="Times New Roman" panose="02020603050405020304" pitchFamily="18" charset="0"/>
              </a:rPr>
              <a:t>:</a:t>
            </a:r>
          </a:p>
          <a:p>
            <a:pPr lvl="1"/>
            <a:r>
              <a:rPr lang="en-US" dirty="0">
                <a:solidFill>
                  <a:schemeClr val="tx1"/>
                </a:solidFill>
                <a:latin typeface="Times New Roman" panose="02020603050405020304" pitchFamily="18" charset="0"/>
                <a:cs typeface="Times New Roman" panose="02020603050405020304" pitchFamily="18" charset="0"/>
              </a:rPr>
              <a:t>The </a:t>
            </a:r>
            <a:r>
              <a:rPr lang="en-US" b="1" dirty="0">
                <a:solidFill>
                  <a:schemeClr val="tx1"/>
                </a:solidFill>
                <a:latin typeface="Times New Roman" panose="02020603050405020304" pitchFamily="18" charset="0"/>
                <a:cs typeface="Times New Roman" panose="02020603050405020304" pitchFamily="18" charset="0"/>
              </a:rPr>
              <a:t>physician</a:t>
            </a:r>
            <a:r>
              <a:rPr lang="en-US" dirty="0">
                <a:solidFill>
                  <a:schemeClr val="tx1"/>
                </a:solidFill>
                <a:latin typeface="Times New Roman" panose="02020603050405020304" pitchFamily="18" charset="0"/>
                <a:cs typeface="Times New Roman" panose="02020603050405020304" pitchFamily="18" charset="0"/>
              </a:rPr>
              <a:t> hired the </a:t>
            </a:r>
            <a:r>
              <a:rPr lang="en-US" b="1" dirty="0">
                <a:solidFill>
                  <a:schemeClr val="tx1"/>
                </a:solidFill>
                <a:latin typeface="Times New Roman" panose="02020603050405020304" pitchFamily="18" charset="0"/>
                <a:cs typeface="Times New Roman" panose="02020603050405020304" pitchFamily="18" charset="0"/>
              </a:rPr>
              <a:t>nurse</a:t>
            </a:r>
            <a:r>
              <a:rPr lang="en-US" dirty="0">
                <a:solidFill>
                  <a:schemeClr val="tx1"/>
                </a:solidFill>
                <a:latin typeface="Times New Roman" panose="02020603050405020304" pitchFamily="18" charset="0"/>
                <a:cs typeface="Times New Roman" panose="02020603050405020304" pitchFamily="18" charset="0"/>
              </a:rPr>
              <a:t> because </a:t>
            </a:r>
            <a:r>
              <a:rPr lang="en-US" b="1" dirty="0">
                <a:solidFill>
                  <a:schemeClr val="tx1"/>
                </a:solidFill>
                <a:latin typeface="Times New Roman" panose="02020603050405020304" pitchFamily="18" charset="0"/>
                <a:cs typeface="Times New Roman" panose="02020603050405020304" pitchFamily="18" charset="0"/>
              </a:rPr>
              <a:t>he</a:t>
            </a:r>
            <a:r>
              <a:rPr lang="en-US" dirty="0">
                <a:solidFill>
                  <a:schemeClr val="tx1"/>
                </a:solidFill>
                <a:latin typeface="Times New Roman" panose="02020603050405020304" pitchFamily="18" charset="0"/>
                <a:cs typeface="Times New Roman" panose="02020603050405020304" pitchFamily="18" charset="0"/>
              </a:rPr>
              <a:t> was busy.</a:t>
            </a:r>
          </a:p>
          <a:p>
            <a:pPr lvl="1"/>
            <a:r>
              <a:rPr lang="en-US" dirty="0">
                <a:solidFill>
                  <a:schemeClr val="tx1"/>
                </a:solidFill>
                <a:latin typeface="Times New Roman" panose="02020603050405020304" pitchFamily="18" charset="0"/>
                <a:cs typeface="Times New Roman" panose="02020603050405020304" pitchFamily="18" charset="0"/>
              </a:rPr>
              <a:t>The </a:t>
            </a:r>
            <a:r>
              <a:rPr lang="en-US" b="1" dirty="0">
                <a:solidFill>
                  <a:schemeClr val="tx1"/>
                </a:solidFill>
                <a:latin typeface="Times New Roman" panose="02020603050405020304" pitchFamily="18" charset="0"/>
                <a:cs typeface="Times New Roman" panose="02020603050405020304" pitchFamily="18" charset="0"/>
              </a:rPr>
              <a:t>physician</a:t>
            </a:r>
            <a:r>
              <a:rPr lang="en-US" dirty="0">
                <a:solidFill>
                  <a:schemeClr val="tx1"/>
                </a:solidFill>
                <a:latin typeface="Times New Roman" panose="02020603050405020304" pitchFamily="18" charset="0"/>
                <a:cs typeface="Times New Roman" panose="02020603050405020304" pitchFamily="18" charset="0"/>
              </a:rPr>
              <a:t> hired the </a:t>
            </a:r>
            <a:r>
              <a:rPr lang="en-US" b="1" dirty="0">
                <a:solidFill>
                  <a:schemeClr val="tx1"/>
                </a:solidFill>
                <a:latin typeface="Times New Roman" panose="02020603050405020304" pitchFamily="18" charset="0"/>
                <a:cs typeface="Times New Roman" panose="02020603050405020304" pitchFamily="18" charset="0"/>
              </a:rPr>
              <a:t>nurse</a:t>
            </a:r>
            <a:r>
              <a:rPr lang="en-US" dirty="0">
                <a:solidFill>
                  <a:schemeClr val="tx1"/>
                </a:solidFill>
                <a:latin typeface="Times New Roman" panose="02020603050405020304" pitchFamily="18" charset="0"/>
                <a:cs typeface="Times New Roman" panose="02020603050405020304" pitchFamily="18" charset="0"/>
              </a:rPr>
              <a:t> because </a:t>
            </a:r>
            <a:r>
              <a:rPr lang="en-US" b="1" dirty="0">
                <a:solidFill>
                  <a:schemeClr val="tx1"/>
                </a:solidFill>
                <a:latin typeface="Times New Roman" panose="02020603050405020304" pitchFamily="18" charset="0"/>
                <a:cs typeface="Times New Roman" panose="02020603050405020304" pitchFamily="18" charset="0"/>
              </a:rPr>
              <a:t>she</a:t>
            </a:r>
            <a:r>
              <a:rPr lang="en-US" dirty="0">
                <a:solidFill>
                  <a:schemeClr val="tx1"/>
                </a:solidFill>
                <a:latin typeface="Times New Roman" panose="02020603050405020304" pitchFamily="18" charset="0"/>
                <a:cs typeface="Times New Roman" panose="02020603050405020304" pitchFamily="18" charset="0"/>
              </a:rPr>
              <a:t> was busy.</a:t>
            </a:r>
            <a:endParaRPr lang="he-IL"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 model performs better when resolving </a:t>
            </a:r>
            <a:r>
              <a:rPr lang="en-US" b="1" dirty="0">
                <a:solidFill>
                  <a:schemeClr val="tx1"/>
                </a:solidFill>
                <a:latin typeface="Times New Roman" panose="02020603050405020304" pitchFamily="18" charset="0"/>
                <a:cs typeface="Times New Roman" panose="02020603050405020304" pitchFamily="18" charset="0"/>
              </a:rPr>
              <a:t>neutral pronouns</a:t>
            </a:r>
            <a:r>
              <a:rPr lang="en-US" dirty="0">
                <a:solidFill>
                  <a:schemeClr val="tx1"/>
                </a:solidFill>
                <a:latin typeface="Times New Roman" panose="02020603050405020304" pitchFamily="18" charset="0"/>
                <a:cs typeface="Times New Roman" panose="02020603050405020304" pitchFamily="18" charset="0"/>
              </a:rPr>
              <a:t> ("their/them") compared to </a:t>
            </a:r>
            <a:r>
              <a:rPr lang="en-US" b="1" dirty="0">
                <a:solidFill>
                  <a:schemeClr val="tx1"/>
                </a:solidFill>
                <a:latin typeface="Times New Roman" panose="02020603050405020304" pitchFamily="18" charset="0"/>
                <a:cs typeface="Times New Roman" panose="02020603050405020304" pitchFamily="18" charset="0"/>
              </a:rPr>
              <a:t>gendered ones</a:t>
            </a:r>
            <a:r>
              <a:rPr lang="en-US" dirty="0">
                <a:solidFill>
                  <a:schemeClr val="tx1"/>
                </a:solidFill>
                <a:latin typeface="Times New Roman" panose="02020603050405020304" pitchFamily="18" charset="0"/>
                <a:cs typeface="Times New Roman" panose="02020603050405020304" pitchFamily="18" charset="0"/>
              </a:rPr>
              <a:t> ("her/his").</a:t>
            </a:r>
          </a:p>
          <a:p>
            <a:r>
              <a:rPr lang="en-US" dirty="0">
                <a:solidFill>
                  <a:schemeClr val="tx1"/>
                </a:solidFill>
                <a:latin typeface="Times New Roman" panose="02020603050405020304" pitchFamily="18" charset="0"/>
                <a:cs typeface="Times New Roman" panose="02020603050405020304" pitchFamily="18" charset="0"/>
              </a:rPr>
              <a:t>Performance drops noticeably in “gotcha” cases, when the pronoun does not match the occupation's historical majority gender</a:t>
            </a:r>
          </a:p>
          <a:p>
            <a:pPr lvl="1"/>
            <a:r>
              <a:rPr lang="en-US" i="0" dirty="0">
                <a:solidFill>
                  <a:schemeClr val="tx1"/>
                </a:solidFill>
                <a:latin typeface="Times New Roman" panose="02020603050405020304" pitchFamily="18" charset="0"/>
                <a:cs typeface="Times New Roman" panose="02020603050405020304" pitchFamily="18" charset="0"/>
              </a:rPr>
              <a:t>e.g., a male nurse.</a:t>
            </a:r>
          </a:p>
        </p:txBody>
      </p:sp>
      <p:pic>
        <p:nvPicPr>
          <p:cNvPr id="7" name="Picture 6">
            <a:extLst>
              <a:ext uri="{FF2B5EF4-FFF2-40B4-BE49-F238E27FC236}">
                <a16:creationId xmlns:a16="http://schemas.microsoft.com/office/drawing/2014/main" id="{60A5D502-EF3B-7459-FADD-36F6DBFDACCB}"/>
              </a:ext>
            </a:extLst>
          </p:cNvPr>
          <p:cNvPicPr>
            <a:picLocks noChangeAspect="1"/>
          </p:cNvPicPr>
          <p:nvPr/>
        </p:nvPicPr>
        <p:blipFill>
          <a:blip r:embed="rId3"/>
          <a:stretch>
            <a:fillRect/>
          </a:stretch>
        </p:blipFill>
        <p:spPr>
          <a:xfrm>
            <a:off x="6699562" y="2216581"/>
            <a:ext cx="4699000" cy="4127500"/>
          </a:xfrm>
          <a:prstGeom prst="rect">
            <a:avLst/>
          </a:prstGeom>
        </p:spPr>
      </p:pic>
    </p:spTree>
    <p:extLst>
      <p:ext uri="{BB962C8B-B14F-4D97-AF65-F5344CB8AC3E}">
        <p14:creationId xmlns:p14="http://schemas.microsoft.com/office/powerpoint/2010/main" val="1713120900"/>
      </p:ext>
    </p:extLst>
  </p:cSld>
  <p:clrMapOvr>
    <a:masterClrMapping/>
  </p:clrMapOvr>
  <p:transition>
    <p:fade thruBlk="1"/>
  </p:transition>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865CCD5-6475-7CBD-0E68-E09D3EE017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B193EE-EAD6-4848-36EA-4CFF40383233}"/>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err="1">
                <a:solidFill>
                  <a:schemeClr val="tx1"/>
                </a:solidFill>
                <a:effectLst/>
                <a:latin typeface="Times New Roman" panose="02020603050405020304" pitchFamily="18" charset="0"/>
                <a:cs typeface="Times New Roman" panose="02020603050405020304" pitchFamily="18" charset="0"/>
              </a:rPr>
              <a:t>TruthfulQA</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0298481-A0E0-C23F-8ACC-700FB14D8DC1}"/>
              </a:ext>
            </a:extLst>
          </p:cNvPr>
          <p:cNvSpPr txBox="1">
            <a:spLocks/>
          </p:cNvSpPr>
          <p:nvPr/>
        </p:nvSpPr>
        <p:spPr>
          <a:xfrm>
            <a:off x="1371599" y="1133856"/>
            <a:ext cx="10340789" cy="1515215"/>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Percentage of:</a:t>
            </a:r>
          </a:p>
          <a:p>
            <a:pPr marL="530352" lvl="1" indent="0">
              <a:buNone/>
            </a:pPr>
            <a:r>
              <a:rPr lang="en-US" b="1" i="0" dirty="0">
                <a:solidFill>
                  <a:schemeClr val="tx1"/>
                </a:solidFill>
                <a:latin typeface="Times New Roman" panose="02020603050405020304" pitchFamily="18" charset="0"/>
                <a:cs typeface="Times New Roman" panose="02020603050405020304" pitchFamily="18" charset="0"/>
              </a:rPr>
              <a:t>“Truthful”</a:t>
            </a:r>
            <a:r>
              <a:rPr lang="en-US" i="0" dirty="0">
                <a:solidFill>
                  <a:schemeClr val="tx1"/>
                </a:solidFill>
                <a:latin typeface="Times New Roman" panose="02020603050405020304" pitchFamily="18" charset="0"/>
                <a:cs typeface="Times New Roman" panose="02020603050405020304" pitchFamily="18" charset="0"/>
              </a:rPr>
              <a:t> answers – responses that are factually correct according to reality.</a:t>
            </a:r>
          </a:p>
          <a:p>
            <a:pPr marL="530352" lvl="1" indent="0">
              <a:buNone/>
            </a:pPr>
            <a:r>
              <a:rPr lang="en-US" b="1" i="0" dirty="0">
                <a:solidFill>
                  <a:schemeClr val="tx1"/>
                </a:solidFill>
                <a:latin typeface="Times New Roman" panose="02020603050405020304" pitchFamily="18" charset="0"/>
                <a:cs typeface="Times New Roman" panose="02020603050405020304" pitchFamily="18" charset="0"/>
              </a:rPr>
              <a:t>“Truthful &amp; Informative”</a:t>
            </a:r>
            <a:r>
              <a:rPr lang="en-US" i="0" dirty="0">
                <a:solidFill>
                  <a:schemeClr val="tx1"/>
                </a:solidFill>
                <a:latin typeface="Times New Roman" panose="02020603050405020304" pitchFamily="18" charset="0"/>
                <a:cs typeface="Times New Roman" panose="02020603050405020304" pitchFamily="18" charset="0"/>
              </a:rPr>
              <a:t> answers – also provide useful details to fully answer the question.</a:t>
            </a:r>
          </a:p>
        </p:txBody>
      </p:sp>
      <p:sp>
        <p:nvSpPr>
          <p:cNvPr id="6" name="Content Placeholder 2">
            <a:extLst>
              <a:ext uri="{FF2B5EF4-FFF2-40B4-BE49-F238E27FC236}">
                <a16:creationId xmlns:a16="http://schemas.microsoft.com/office/drawing/2014/main" id="{F3C57722-1D1B-4386-D6B1-2274B1E80696}"/>
              </a:ext>
            </a:extLst>
          </p:cNvPr>
          <p:cNvSpPr txBox="1">
            <a:spLocks/>
          </p:cNvSpPr>
          <p:nvPr/>
        </p:nvSpPr>
        <p:spPr>
          <a:xfrm>
            <a:off x="1371600" y="2438299"/>
            <a:ext cx="5509614" cy="4064000"/>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1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with adversarial questions across 38 categories.</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LLaMA scores </a:t>
            </a:r>
            <a:r>
              <a:rPr lang="en-US" b="1" dirty="0">
                <a:solidFill>
                  <a:schemeClr val="tx1"/>
                </a:solidFill>
                <a:latin typeface="Times New Roman" panose="02020603050405020304" pitchFamily="18" charset="0"/>
                <a:cs typeface="Times New Roman" panose="02020603050405020304" pitchFamily="18" charset="0"/>
              </a:rPr>
              <a:t>higher than GPT-3</a:t>
            </a:r>
            <a:r>
              <a:rPr lang="en-US" dirty="0">
                <a:solidFill>
                  <a:schemeClr val="tx1"/>
                </a:solidFill>
                <a:latin typeface="Times New Roman" panose="02020603050405020304" pitchFamily="18" charset="0"/>
                <a:cs typeface="Times New Roman" panose="02020603050405020304" pitchFamily="18" charset="0"/>
              </a:rPr>
              <a:t> in both "Truthful" and "Truthful &amp; Informative" categories.</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Limitations: The absolute rate of correct answers </a:t>
            </a:r>
            <a:r>
              <a:rPr lang="en-US" b="1" dirty="0">
                <a:solidFill>
                  <a:schemeClr val="tx1"/>
                </a:solidFill>
                <a:latin typeface="Times New Roman" panose="02020603050405020304" pitchFamily="18" charset="0"/>
                <a:cs typeface="Times New Roman" panose="02020603050405020304" pitchFamily="18" charset="0"/>
              </a:rPr>
              <a:t>remains low</a:t>
            </a:r>
            <a:r>
              <a:rPr lang="en-US" dirty="0">
                <a:solidFill>
                  <a:schemeClr val="tx1"/>
                </a:solidFill>
                <a:latin typeface="Times New Roman" panose="02020603050405020304" pitchFamily="18" charset="0"/>
                <a:cs typeface="Times New Roman" panose="02020603050405020304" pitchFamily="18" charset="0"/>
              </a:rPr>
              <a:t>.</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The model is still </a:t>
            </a:r>
            <a:r>
              <a:rPr lang="en-US" b="1" dirty="0">
                <a:solidFill>
                  <a:schemeClr val="tx1"/>
                </a:solidFill>
                <a:latin typeface="Times New Roman" panose="02020603050405020304" pitchFamily="18" charset="0"/>
                <a:cs typeface="Times New Roman" panose="02020603050405020304" pitchFamily="18" charset="0"/>
              </a:rPr>
              <a:t>prone to hallucinating incorrect answers</a:t>
            </a:r>
            <a:r>
              <a:rPr lang="en-US" dirty="0">
                <a:solidFill>
                  <a:schemeClr val="tx1"/>
                </a:solidFill>
                <a:latin typeface="Times New Roman" panose="02020603050405020304" pitchFamily="18" charset="0"/>
                <a:cs typeface="Times New Roman" panose="02020603050405020304" pitchFamily="18" charset="0"/>
              </a:rPr>
              <a:t>, indicating significant room for improvement in handling misinformation.</a:t>
            </a:r>
            <a:endParaRPr lang="en-US" i="0"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2A708A4-CCB2-5A0F-4C0C-2545E9D37FBC}"/>
              </a:ext>
            </a:extLst>
          </p:cNvPr>
          <p:cNvPicPr>
            <a:picLocks noChangeAspect="1"/>
          </p:cNvPicPr>
          <p:nvPr/>
        </p:nvPicPr>
        <p:blipFill>
          <a:blip r:embed="rId3"/>
          <a:stretch>
            <a:fillRect/>
          </a:stretch>
        </p:blipFill>
        <p:spPr>
          <a:xfrm>
            <a:off x="6881214" y="2438299"/>
            <a:ext cx="4635500" cy="4064000"/>
          </a:xfrm>
          <a:prstGeom prst="rect">
            <a:avLst/>
          </a:prstGeom>
        </p:spPr>
      </p:pic>
    </p:spTree>
    <p:extLst>
      <p:ext uri="{BB962C8B-B14F-4D97-AF65-F5344CB8AC3E}">
        <p14:creationId xmlns:p14="http://schemas.microsoft.com/office/powerpoint/2010/main" val="4271413360"/>
      </p:ext>
    </p:extLst>
  </p:cSld>
  <p:clrMapOvr>
    <a:masterClrMapping/>
  </p:clrMapOvr>
  <p:transition>
    <p:fade thruBlk="1"/>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59CDD-01EF-9CA2-BBAB-279649E46A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D7F896-1F74-43C0-98AC-9D4387116F6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Example: </a:t>
            </a:r>
            <a:r>
              <a:rPr lang="en-US" b="1" i="0" dirty="0" err="1">
                <a:solidFill>
                  <a:schemeClr val="tx1"/>
                </a:solidFill>
                <a:effectLst/>
                <a:latin typeface="Times New Roman" panose="02020603050405020304" pitchFamily="18" charset="0"/>
                <a:cs typeface="Times New Roman" panose="02020603050405020304" pitchFamily="18" charset="0"/>
              </a:rPr>
              <a:t>WinoGender</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07C3E64-BB57-8B49-4FBE-253DA3F20EF9}"/>
              </a:ext>
            </a:extLst>
          </p:cNvPr>
          <p:cNvSpPr txBox="1">
            <a:spLocks/>
          </p:cNvSpPr>
          <p:nvPr/>
        </p:nvSpPr>
        <p:spPr>
          <a:xfrm>
            <a:off x="1371600" y="1133856"/>
            <a:ext cx="10411534" cy="5368443"/>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Assume two nearly identical sentences, differing only in the gendered pronoun:</a:t>
            </a:r>
          </a:p>
          <a:p>
            <a:pPr lvl="1"/>
            <a:r>
              <a:rPr lang="en-US" i="0" dirty="0">
                <a:solidFill>
                  <a:schemeClr val="tx1"/>
                </a:solidFill>
                <a:latin typeface="Times New Roman" panose="02020603050405020304" pitchFamily="18" charset="0"/>
                <a:cs typeface="Times New Roman" panose="02020603050405020304" pitchFamily="18" charset="0"/>
              </a:rPr>
              <a:t>The </a:t>
            </a:r>
            <a:r>
              <a:rPr lang="en-US" b="1" i="0" dirty="0">
                <a:solidFill>
                  <a:schemeClr val="tx1"/>
                </a:solidFill>
                <a:latin typeface="Times New Roman" panose="02020603050405020304" pitchFamily="18" charset="0"/>
                <a:cs typeface="Times New Roman" panose="02020603050405020304" pitchFamily="18" charset="0"/>
              </a:rPr>
              <a:t>physician</a:t>
            </a:r>
            <a:r>
              <a:rPr lang="en-US" i="0" dirty="0">
                <a:solidFill>
                  <a:schemeClr val="tx1"/>
                </a:solidFill>
                <a:latin typeface="Times New Roman" panose="02020603050405020304" pitchFamily="18" charset="0"/>
                <a:cs typeface="Times New Roman" panose="02020603050405020304" pitchFamily="18" charset="0"/>
              </a:rPr>
              <a:t> hired the </a:t>
            </a:r>
            <a:r>
              <a:rPr lang="en-US" b="1" i="0" dirty="0">
                <a:solidFill>
                  <a:schemeClr val="tx1"/>
                </a:solidFill>
                <a:latin typeface="Times New Roman" panose="02020603050405020304" pitchFamily="18" charset="0"/>
                <a:cs typeface="Times New Roman" panose="02020603050405020304" pitchFamily="18" charset="0"/>
              </a:rPr>
              <a:t>nurse</a:t>
            </a:r>
            <a:r>
              <a:rPr lang="en-US" i="0" dirty="0">
                <a:solidFill>
                  <a:schemeClr val="tx1"/>
                </a:solidFill>
                <a:latin typeface="Times New Roman" panose="02020603050405020304" pitchFamily="18" charset="0"/>
                <a:cs typeface="Times New Roman" panose="02020603050405020304" pitchFamily="18" charset="0"/>
              </a:rPr>
              <a:t> because </a:t>
            </a:r>
            <a:r>
              <a:rPr lang="en-US" b="1" i="0" dirty="0">
                <a:solidFill>
                  <a:schemeClr val="tx1"/>
                </a:solidFill>
                <a:latin typeface="Times New Roman" panose="02020603050405020304" pitchFamily="18" charset="0"/>
                <a:cs typeface="Times New Roman" panose="02020603050405020304" pitchFamily="18" charset="0"/>
              </a:rPr>
              <a:t>he</a:t>
            </a:r>
            <a:r>
              <a:rPr lang="en-US" i="0" dirty="0">
                <a:solidFill>
                  <a:schemeClr val="tx1"/>
                </a:solidFill>
                <a:latin typeface="Times New Roman" panose="02020603050405020304" pitchFamily="18" charset="0"/>
                <a:cs typeface="Times New Roman" panose="02020603050405020304" pitchFamily="18" charset="0"/>
              </a:rPr>
              <a:t> was busy.</a:t>
            </a:r>
          </a:p>
          <a:p>
            <a:pPr lvl="1"/>
            <a:r>
              <a:rPr lang="en-US" i="0" dirty="0">
                <a:solidFill>
                  <a:schemeClr val="tx1"/>
                </a:solidFill>
                <a:latin typeface="Times New Roman" panose="02020603050405020304" pitchFamily="18" charset="0"/>
                <a:cs typeface="Times New Roman" panose="02020603050405020304" pitchFamily="18" charset="0"/>
              </a:rPr>
              <a:t>The </a:t>
            </a:r>
            <a:r>
              <a:rPr lang="en-US" b="1" i="0" dirty="0">
                <a:solidFill>
                  <a:schemeClr val="tx1"/>
                </a:solidFill>
                <a:latin typeface="Times New Roman" panose="02020603050405020304" pitchFamily="18" charset="0"/>
                <a:cs typeface="Times New Roman" panose="02020603050405020304" pitchFamily="18" charset="0"/>
              </a:rPr>
              <a:t>physician</a:t>
            </a:r>
            <a:r>
              <a:rPr lang="en-US" i="0" dirty="0">
                <a:solidFill>
                  <a:schemeClr val="tx1"/>
                </a:solidFill>
                <a:latin typeface="Times New Roman" panose="02020603050405020304" pitchFamily="18" charset="0"/>
                <a:cs typeface="Times New Roman" panose="02020603050405020304" pitchFamily="18" charset="0"/>
              </a:rPr>
              <a:t> hired the </a:t>
            </a:r>
            <a:r>
              <a:rPr lang="en-US" b="1" i="0" dirty="0">
                <a:solidFill>
                  <a:schemeClr val="tx1"/>
                </a:solidFill>
                <a:latin typeface="Times New Roman" panose="02020603050405020304" pitchFamily="18" charset="0"/>
                <a:cs typeface="Times New Roman" panose="02020603050405020304" pitchFamily="18" charset="0"/>
              </a:rPr>
              <a:t>nurse</a:t>
            </a:r>
            <a:r>
              <a:rPr lang="en-US" i="0" dirty="0">
                <a:solidFill>
                  <a:schemeClr val="tx1"/>
                </a:solidFill>
                <a:latin typeface="Times New Roman" panose="02020603050405020304" pitchFamily="18" charset="0"/>
                <a:cs typeface="Times New Roman" panose="02020603050405020304" pitchFamily="18" charset="0"/>
              </a:rPr>
              <a:t> because </a:t>
            </a:r>
            <a:r>
              <a:rPr lang="en-US" b="1" i="0" dirty="0">
                <a:solidFill>
                  <a:schemeClr val="tx1"/>
                </a:solidFill>
                <a:latin typeface="Times New Roman" panose="02020603050405020304" pitchFamily="18" charset="0"/>
                <a:cs typeface="Times New Roman" panose="02020603050405020304" pitchFamily="18" charset="0"/>
              </a:rPr>
              <a:t>she</a:t>
            </a:r>
            <a:r>
              <a:rPr lang="en-US" i="0" dirty="0">
                <a:solidFill>
                  <a:schemeClr val="tx1"/>
                </a:solidFill>
                <a:latin typeface="Times New Roman" panose="02020603050405020304" pitchFamily="18" charset="0"/>
                <a:cs typeface="Times New Roman" panose="02020603050405020304" pitchFamily="18" charset="0"/>
              </a:rPr>
              <a:t> was busy.</a:t>
            </a:r>
            <a:endParaRPr lang="en-US"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 model is given each sentence </a:t>
            </a:r>
            <a:r>
              <a:rPr lang="en-US" b="1" dirty="0">
                <a:solidFill>
                  <a:schemeClr val="tx1"/>
                </a:solidFill>
                <a:latin typeface="Times New Roman" panose="02020603050405020304" pitchFamily="18" charset="0"/>
                <a:cs typeface="Times New Roman" panose="02020603050405020304" pitchFamily="18" charset="0"/>
              </a:rPr>
              <a:t>independently</a:t>
            </a:r>
            <a:r>
              <a:rPr lang="en-US" dirty="0">
                <a:solidFill>
                  <a:schemeClr val="tx1"/>
                </a:solidFill>
                <a:latin typeface="Times New Roman" panose="02020603050405020304" pitchFamily="18" charset="0"/>
                <a:cs typeface="Times New Roman" panose="02020603050405020304" pitchFamily="18" charset="0"/>
              </a:rPr>
              <a:t>, i.e., it isn’t told that the sentences form a pair</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Each sentence is fed as a standalone input:</a:t>
            </a:r>
          </a:p>
          <a:p>
            <a:endParaRPr lang="en-US" dirty="0">
              <a:solidFill>
                <a:schemeClr val="tx1"/>
              </a:solidFill>
              <a:latin typeface="Times New Roman" panose="02020603050405020304" pitchFamily="18" charset="0"/>
              <a:cs typeface="Times New Roman" panose="02020603050405020304" pitchFamily="18" charset="0"/>
            </a:endParaRPr>
          </a:p>
          <a:p>
            <a:pPr marL="0" indent="0">
              <a:buNone/>
            </a:pPr>
            <a:endParaRPr lang="en-US" sz="1050"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This test can reveal whether the model shows gender bias.</a:t>
            </a:r>
          </a:p>
        </p:txBody>
      </p:sp>
      <p:grpSp>
        <p:nvGrpSpPr>
          <p:cNvPr id="10" name="Group 9">
            <a:extLst>
              <a:ext uri="{FF2B5EF4-FFF2-40B4-BE49-F238E27FC236}">
                <a16:creationId xmlns:a16="http://schemas.microsoft.com/office/drawing/2014/main" id="{73F5A32F-FCEB-4C0E-D7D3-A357D0CAA7C1}"/>
              </a:ext>
            </a:extLst>
          </p:cNvPr>
          <p:cNvGrpSpPr/>
          <p:nvPr/>
        </p:nvGrpSpPr>
        <p:grpSpPr>
          <a:xfrm>
            <a:off x="1849120" y="4094480"/>
            <a:ext cx="9786620" cy="922454"/>
            <a:chOff x="1849120" y="4094480"/>
            <a:chExt cx="9786620" cy="922454"/>
          </a:xfrm>
        </p:grpSpPr>
        <p:sp>
          <p:nvSpPr>
            <p:cNvPr id="8" name="Rounded Rectangle 7">
              <a:extLst>
                <a:ext uri="{FF2B5EF4-FFF2-40B4-BE49-F238E27FC236}">
                  <a16:creationId xmlns:a16="http://schemas.microsoft.com/office/drawing/2014/main" id="{92AEAB0D-9FA4-5F27-FC3C-EE32E61B94BC}"/>
                </a:ext>
              </a:extLst>
            </p:cNvPr>
            <p:cNvSpPr/>
            <p:nvPr/>
          </p:nvSpPr>
          <p:spPr>
            <a:xfrm>
              <a:off x="1849120" y="4094480"/>
              <a:ext cx="9588574" cy="922454"/>
            </a:xfrm>
            <a:prstGeom prst="roundRect">
              <a:avLst>
                <a:gd name="adj" fmla="val 5653"/>
              </a:avLst>
            </a:prstGeom>
            <a:solidFill>
              <a:srgbClr val="F9F9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pic>
          <p:nvPicPr>
            <p:cNvPr id="6" name="Picture 5">
              <a:extLst>
                <a:ext uri="{FF2B5EF4-FFF2-40B4-BE49-F238E27FC236}">
                  <a16:creationId xmlns:a16="http://schemas.microsoft.com/office/drawing/2014/main" id="{B07599CB-F545-9669-65A6-16D27EF85407}"/>
                </a:ext>
              </a:extLst>
            </p:cNvPr>
            <p:cNvPicPr>
              <a:picLocks noChangeAspect="1"/>
            </p:cNvPicPr>
            <p:nvPr/>
          </p:nvPicPr>
          <p:blipFill>
            <a:blip r:embed="rId3">
              <a:clrChange>
                <a:clrFrom>
                  <a:srgbClr val="F9F9F9"/>
                </a:clrFrom>
                <a:clrTo>
                  <a:srgbClr val="F9F9F9">
                    <a:alpha val="0"/>
                  </a:srgbClr>
                </a:clrTo>
              </a:clrChange>
            </a:blip>
            <a:stretch>
              <a:fillRect/>
            </a:stretch>
          </p:blipFill>
          <p:spPr>
            <a:xfrm>
              <a:off x="1934210" y="4094480"/>
              <a:ext cx="4949868" cy="902134"/>
            </a:xfrm>
            <a:prstGeom prst="rect">
              <a:avLst/>
            </a:prstGeom>
          </p:spPr>
        </p:pic>
        <p:pic>
          <p:nvPicPr>
            <p:cNvPr id="7" name="Picture 6">
              <a:extLst>
                <a:ext uri="{FF2B5EF4-FFF2-40B4-BE49-F238E27FC236}">
                  <a16:creationId xmlns:a16="http://schemas.microsoft.com/office/drawing/2014/main" id="{B9175554-AC43-97C8-A8D9-666CBB317384}"/>
                </a:ext>
              </a:extLst>
            </p:cNvPr>
            <p:cNvPicPr>
              <a:picLocks noChangeAspect="1"/>
            </p:cNvPicPr>
            <p:nvPr/>
          </p:nvPicPr>
          <p:blipFill>
            <a:blip r:embed="rId4">
              <a:clrChange>
                <a:clrFrom>
                  <a:srgbClr val="F9F9F9"/>
                </a:clrFrom>
                <a:clrTo>
                  <a:srgbClr val="F9F9F9">
                    <a:alpha val="0"/>
                  </a:srgbClr>
                </a:clrTo>
              </a:clrChange>
            </a:blip>
            <a:stretch>
              <a:fillRect/>
            </a:stretch>
          </p:blipFill>
          <p:spPr>
            <a:xfrm>
              <a:off x="6567170" y="4162281"/>
              <a:ext cx="5068570" cy="854653"/>
            </a:xfrm>
            <a:prstGeom prst="rect">
              <a:avLst/>
            </a:prstGeom>
          </p:spPr>
        </p:pic>
      </p:grpSp>
    </p:spTree>
    <p:extLst>
      <p:ext uri="{BB962C8B-B14F-4D97-AF65-F5344CB8AC3E}">
        <p14:creationId xmlns:p14="http://schemas.microsoft.com/office/powerpoint/2010/main" val="410466090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250"/>
                                        <p:tgtEl>
                                          <p:spTgt spid="3">
                                            <p:txEl>
                                              <p:pRg st="1" end="1"/>
                                            </p:txEl>
                                          </p:spTgt>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25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25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250"/>
                                        <p:tgtEl>
                                          <p:spTgt spid="3">
                                            <p:txEl>
                                              <p:pRg st="6" end="6"/>
                                            </p:txEl>
                                          </p:spTgt>
                                        </p:tgtEl>
                                      </p:cBhvr>
                                    </p:animEffect>
                                  </p:childTnLst>
                                </p:cTn>
                              </p:par>
                            </p:childTnLst>
                          </p:cTn>
                        </p:par>
                        <p:par>
                          <p:cTn id="26" fill="hold">
                            <p:stCondLst>
                              <p:cond delay="250"/>
                            </p:stCondLst>
                            <p:childTnLst>
                              <p:par>
                                <p:cTn id="27" presetID="10" presetClass="entr" presetSubtype="0" fill="hold"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25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
                                            <p:txEl>
                                              <p:charRg st="330" end="388"/>
                                            </p:txEl>
                                          </p:spTgt>
                                        </p:tgtEl>
                                        <p:attrNameLst>
                                          <p:attrName>style.visibility</p:attrName>
                                        </p:attrNameLst>
                                      </p:cBhvr>
                                      <p:to>
                                        <p:strVal val="visible"/>
                                      </p:to>
                                    </p:set>
                                    <p:animEffect transition="in" filter="fade">
                                      <p:cBhvr>
                                        <p:cTn id="34" dur="500"/>
                                        <p:tgtEl>
                                          <p:spTgt spid="3">
                                            <p:txEl>
                                              <p:charRg st="330" end="38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E8E72-9029-E8BD-2750-9679429950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E41802-DAEF-6104-FB8F-889EDA1E3629}"/>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Carbon Footprint</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79D2742-3BE8-4697-2149-8366A9F87555}"/>
                  </a:ext>
                </a:extLst>
              </p:cNvPr>
              <p:cNvSpPr txBox="1">
                <a:spLocks/>
              </p:cNvSpPr>
              <p:nvPr/>
            </p:nvSpPr>
            <p:spPr>
              <a:xfrm>
                <a:off x="1371600" y="1133856"/>
                <a:ext cx="10320728" cy="5724144"/>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Estimates based on Wu et al. (2022) formulas:</a:t>
                </a:r>
                <a:br>
                  <a:rPr lang="en-US" i="0" dirty="0">
                    <a:solidFill>
                      <a:schemeClr val="tx1"/>
                    </a:solidFill>
                    <a:latin typeface="Times New Roman" panose="02020603050405020304" pitchFamily="18" charset="0"/>
                    <a:cs typeface="Times New Roman" panose="02020603050405020304" pitchFamily="18" charset="0"/>
                  </a:rPr>
                </a:br>
                <a:br>
                  <a:rPr lang="en-US" sz="1600" i="0" dirty="0">
                    <a:solidFill>
                      <a:schemeClr val="tx1"/>
                    </a:solidFill>
                    <a:latin typeface="Times New Roman" panose="02020603050405020304" pitchFamily="18" charset="0"/>
                    <a:cs typeface="Times New Roman" panose="02020603050405020304" pitchFamily="18" charset="0"/>
                  </a:rPr>
                </a:b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a:rPr lang="en-US" b="0" i="1"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endParaRPr lang="en-US" i="0"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Carbon emission conversion:</a:t>
                </a:r>
                <a:br>
                  <a:rPr lang="en-US" dirty="0">
                    <a:solidFill>
                      <a:schemeClr val="tx1"/>
                    </a:solidFill>
                    <a:latin typeface="Times New Roman" panose="02020603050405020304" pitchFamily="18" charset="0"/>
                    <a:cs typeface="Times New Roman" panose="02020603050405020304" pitchFamily="18" charset="0"/>
                  </a:rPr>
                </a:br>
                <a:br>
                  <a:rPr lang="en-US" sz="1200" i="0" dirty="0">
                    <a:solidFill>
                      <a:schemeClr val="tx1"/>
                    </a:solidFill>
                    <a:latin typeface="Times New Roman" panose="02020603050405020304" pitchFamily="18" charset="0"/>
                    <a:cs typeface="Times New Roman" panose="02020603050405020304" pitchFamily="18" charset="0"/>
                  </a:rPr>
                </a:br>
                <a14:m>
                  <m:oMath xmlns:m="http://schemas.openxmlformats.org/officeDocument/2006/math">
                    <m:r>
                      <m:rPr>
                        <m:sty m:val="p"/>
                      </m:rPr>
                      <a:rPr lang="en-US">
                        <a:solidFill>
                          <a:schemeClr val="tx1"/>
                        </a:solidFill>
                        <a:latin typeface="Cambria Math" panose="02040503050406030204" pitchFamily="18" charset="0"/>
                        <a:cs typeface="Times New Roman" panose="02020603050405020304" pitchFamily="18" charset="0"/>
                      </a:rPr>
                      <m:t>tC</m:t>
                    </m:r>
                    <m:sSub>
                      <m:sSubPr>
                        <m:ctrlPr>
                          <a:rPr lang="en-US" i="1">
                            <a:solidFill>
                              <a:schemeClr val="tx1"/>
                            </a:solidFill>
                            <a:latin typeface="Cambria Math" panose="02040503050406030204" pitchFamily="18" charset="0"/>
                            <a:cs typeface="Times New Roman" panose="02020603050405020304" pitchFamily="18" charset="0"/>
                          </a:rPr>
                        </m:ctrlPr>
                      </m:sSubPr>
                      <m:e>
                        <m:r>
                          <m:rPr>
                            <m:sty m:val="p"/>
                          </m:rPr>
                          <a:rPr lang="en-US">
                            <a:solidFill>
                              <a:schemeClr val="tx1"/>
                            </a:solidFill>
                            <a:latin typeface="Cambria Math" panose="02040503050406030204" pitchFamily="18" charset="0"/>
                            <a:cs typeface="Times New Roman" panose="02020603050405020304" pitchFamily="18" charset="0"/>
                          </a:rPr>
                          <m:t>O</m:t>
                        </m:r>
                      </m:e>
                      <m:sub>
                        <m:r>
                          <a:rPr lang="en-US">
                            <a:solidFill>
                              <a:schemeClr val="tx1"/>
                            </a:solidFill>
                            <a:latin typeface="Cambria Math" panose="02040503050406030204" pitchFamily="18" charset="0"/>
                            <a:cs typeface="Times New Roman" panose="02020603050405020304" pitchFamily="18" charset="0"/>
                          </a:rPr>
                          <m:t>2</m:t>
                        </m:r>
                      </m:sub>
                    </m:sSub>
                    <m:r>
                      <m:rPr>
                        <m:sty m:val="p"/>
                      </m:rPr>
                      <a:rPr lang="en-US">
                        <a:solidFill>
                          <a:schemeClr val="tx1"/>
                        </a:solidFill>
                        <a:latin typeface="Cambria Math" panose="02040503050406030204" pitchFamily="18" charset="0"/>
                        <a:cs typeface="Times New Roman" panose="02020603050405020304" pitchFamily="18" charset="0"/>
                      </a:rPr>
                      <m:t>eq</m:t>
                    </m:r>
                    <m:r>
                      <a:rPr lang="en-US">
                        <a:solidFill>
                          <a:schemeClr val="tx1"/>
                        </a:solidFill>
                        <a:latin typeface="Cambria Math" panose="02040503050406030204" pitchFamily="18" charset="0"/>
                        <a:cs typeface="Times New Roman" panose="02020603050405020304" pitchFamily="18" charset="0"/>
                      </a:rPr>
                      <m:t>=</m:t>
                    </m:r>
                    <m:r>
                      <m:rPr>
                        <m:sty m:val="p"/>
                      </m:rPr>
                      <a:rPr lang="en-US">
                        <a:solidFill>
                          <a:schemeClr val="tx1"/>
                        </a:solidFill>
                        <a:latin typeface="Cambria Math" panose="02040503050406030204" pitchFamily="18" charset="0"/>
                        <a:cs typeface="Times New Roman" panose="02020603050405020304" pitchFamily="18" charset="0"/>
                      </a:rPr>
                      <m:t>MWh</m:t>
                    </m:r>
                    <m:r>
                      <a:rPr lang="en-US">
                        <a:solidFill>
                          <a:schemeClr val="tx1"/>
                        </a:solidFill>
                        <a:latin typeface="Cambria Math" panose="02040503050406030204" pitchFamily="18" charset="0"/>
                        <a:cs typeface="Times New Roman" panose="02020603050405020304" pitchFamily="18" charset="0"/>
                      </a:rPr>
                      <m:t>×0.385</m:t>
                    </m:r>
                  </m:oMath>
                </a14:m>
                <a:br>
                  <a:rPr lang="en-US" i="0" dirty="0">
                    <a:solidFill>
                      <a:schemeClr val="tx1"/>
                    </a:solidFill>
                    <a:latin typeface="Times New Roman" panose="02020603050405020304" pitchFamily="18" charset="0"/>
                    <a:cs typeface="Times New Roman" panose="02020603050405020304" pitchFamily="18" charset="0"/>
                  </a:rPr>
                </a:br>
                <a:endParaRPr lang="en-US" i="0"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LLaMA Training Statistics:</a:t>
                </a:r>
              </a:p>
              <a:p>
                <a:pPr lvl="1"/>
                <a:r>
                  <a:rPr lang="en-US" i="0" dirty="0">
                    <a:solidFill>
                      <a:schemeClr val="tx1"/>
                    </a:solidFill>
                    <a:latin typeface="Times New Roman" panose="02020603050405020304" pitchFamily="18" charset="0"/>
                    <a:cs typeface="Times New Roman" panose="02020603050405020304" pitchFamily="18" charset="0"/>
                  </a:rPr>
                  <a:t>Resources: 2048 A100-80GB GPUs used for approximately 5 months</a:t>
                </a:r>
              </a:p>
              <a:p>
                <a:pPr lvl="1"/>
                <a:r>
                  <a:rPr lang="en-US" i="0" dirty="0">
                    <a:solidFill>
                      <a:schemeClr val="tx1"/>
                    </a:solidFill>
                    <a:latin typeface="Times New Roman" panose="02020603050405020304" pitchFamily="18" charset="0"/>
                    <a:cs typeface="Times New Roman" panose="02020603050405020304" pitchFamily="18" charset="0"/>
                  </a:rPr>
                  <a:t>Total Energy: ~2,638 MWh</a:t>
                </a:r>
              </a:p>
              <a:p>
                <a:pPr lvl="1"/>
                <a:r>
                  <a:rPr lang="en-US" i="0" dirty="0">
                    <a:solidFill>
                      <a:schemeClr val="tx1"/>
                    </a:solidFill>
                    <a:latin typeface="Times New Roman" panose="02020603050405020304" pitchFamily="18" charset="0"/>
                    <a:cs typeface="Times New Roman" panose="02020603050405020304" pitchFamily="18" charset="0"/>
                  </a:rPr>
                  <a:t>Total Emissions: </a:t>
                </a:r>
                <a:r>
                  <a:rPr lang="en-US" b="1" i="0" dirty="0">
                    <a:solidFill>
                      <a:schemeClr val="tx1"/>
                    </a:solidFill>
                    <a:latin typeface="Times New Roman" panose="02020603050405020304" pitchFamily="18" charset="0"/>
                    <a:cs typeface="Times New Roman" panose="02020603050405020304" pitchFamily="18" charset="0"/>
                  </a:rPr>
                  <a:t>~1,015 tCO2eq</a:t>
                </a:r>
              </a:p>
              <a:p>
                <a:pPr lvl="2"/>
                <a:r>
                  <a:rPr lang="en-US" i="0" dirty="0">
                    <a:solidFill>
                      <a:schemeClr val="tx1"/>
                    </a:solidFill>
                    <a:latin typeface="Times New Roman" panose="02020603050405020304" pitchFamily="18" charset="0"/>
                    <a:cs typeface="Times New Roman" panose="02020603050405020304" pitchFamily="18" charset="0"/>
                  </a:rPr>
                  <a:t>A round-trip flight between New York and London taken 1,000 times</a:t>
                </a:r>
              </a:p>
              <a:p>
                <a:r>
                  <a:rPr lang="en-US" i="0" dirty="0">
                    <a:solidFill>
                      <a:schemeClr val="tx1"/>
                    </a:solidFill>
                    <a:latin typeface="Times New Roman" panose="02020603050405020304" pitchFamily="18" charset="0"/>
                    <a:cs typeface="Times New Roman" panose="02020603050405020304" pitchFamily="18" charset="0"/>
                  </a:rPr>
                  <a:t>Environmental Impact:</a:t>
                </a:r>
                <a:endParaRPr lang="en-US" sz="1200" i="0" dirty="0">
                  <a:solidFill>
                    <a:schemeClr val="tx1"/>
                  </a:solidFill>
                  <a:latin typeface="Times New Roman" panose="02020603050405020304" pitchFamily="18" charset="0"/>
                  <a:cs typeface="Times New Roman" panose="02020603050405020304" pitchFamily="18" charset="0"/>
                </a:endParaRPr>
              </a:p>
              <a:p>
                <a:pPr lvl="1"/>
                <a:r>
                  <a:rPr lang="en-US" i="0" u="sng" dirty="0">
                    <a:solidFill>
                      <a:schemeClr val="tx1"/>
                    </a:solidFill>
                    <a:latin typeface="Times New Roman" panose="02020603050405020304" pitchFamily="18" charset="0"/>
                    <a:cs typeface="Times New Roman" panose="02020603050405020304" pitchFamily="18" charset="0"/>
                  </a:rPr>
                  <a:t>Open Science</a:t>
                </a:r>
                <a:r>
                  <a:rPr lang="en-US" i="0" dirty="0">
                    <a:solidFill>
                      <a:schemeClr val="tx1"/>
                    </a:solidFill>
                    <a:latin typeface="Times New Roman" panose="02020603050405020304" pitchFamily="18" charset="0"/>
                    <a:cs typeface="Times New Roman" panose="02020603050405020304" pitchFamily="18" charset="0"/>
                  </a:rPr>
                  <a:t>: Releasing these models is intended to reduce future emissions by preventing the need for the community to retrain similar models from scratch.</a:t>
                </a:r>
              </a:p>
              <a:p>
                <a:pPr lvl="1"/>
                <a:r>
                  <a:rPr lang="en-US" i="0" u="sng" dirty="0">
                    <a:solidFill>
                      <a:schemeClr val="tx1"/>
                    </a:solidFill>
                    <a:latin typeface="Times New Roman" panose="02020603050405020304" pitchFamily="18" charset="0"/>
                    <a:cs typeface="Times New Roman" panose="02020603050405020304" pitchFamily="18" charset="0"/>
                  </a:rPr>
                  <a:t>Accessibility</a:t>
                </a:r>
                <a:r>
                  <a:rPr lang="en-US" i="0" dirty="0">
                    <a:solidFill>
                      <a:schemeClr val="tx1"/>
                    </a:solidFill>
                    <a:latin typeface="Times New Roman" panose="02020603050405020304" pitchFamily="18" charset="0"/>
                    <a:cs typeface="Times New Roman" panose="02020603050405020304" pitchFamily="18" charset="0"/>
                  </a:rPr>
                  <a:t>: The smaller LLaMA models are designed to run on a single GPU, significantly lowering the energy barrier for research and inference.</a:t>
                </a:r>
              </a:p>
              <a:p>
                <a:endParaRPr lang="en-US" dirty="0">
                  <a:solidFill>
                    <a:schemeClr val="tx1"/>
                  </a:solidFill>
                  <a:latin typeface="Times New Roman" panose="02020603050405020304" pitchFamily="18" charset="0"/>
                  <a:cs typeface="Times New Roman" panose="02020603050405020304" pitchFamily="18" charset="0"/>
                </a:endParaRPr>
              </a:p>
            </p:txBody>
          </p:sp>
        </mc:Choice>
        <mc:Fallback>
          <p:sp>
            <p:nvSpPr>
              <p:cNvPr id="3" name="Content Placeholder 2">
                <a:extLst>
                  <a:ext uri="{FF2B5EF4-FFF2-40B4-BE49-F238E27FC236}">
                    <a16:creationId xmlns:a16="http://schemas.microsoft.com/office/drawing/2014/main" id="{279D2742-3BE8-4697-2149-8366A9F87555}"/>
                  </a:ext>
                </a:extLst>
              </p:cNvPr>
              <p:cNvSpPr txBox="1">
                <a:spLocks noRot="1" noChangeAspect="1" noMove="1" noResize="1" noEditPoints="1" noAdjustHandles="1" noChangeArrowheads="1" noChangeShapeType="1" noTextEdit="1"/>
              </p:cNvSpPr>
              <p:nvPr/>
            </p:nvSpPr>
            <p:spPr>
              <a:xfrm>
                <a:off x="1371600" y="1133856"/>
                <a:ext cx="10320728" cy="5724144"/>
              </a:xfrm>
              <a:prstGeom prst="rect">
                <a:avLst/>
              </a:prstGeom>
              <a:blipFill>
                <a:blip r:embed="rId3"/>
                <a:stretch>
                  <a:fillRect l="-615" t="-887"/>
                </a:stretch>
              </a:blipFill>
            </p:spPr>
            <p:txBody>
              <a:bodyPr/>
              <a:lstStyle/>
              <a:p>
                <a:r>
                  <a:rPr lang="en-IL">
                    <a:noFill/>
                  </a:rPr>
                  <a:t> </a:t>
                </a:r>
              </a:p>
            </p:txBody>
          </p:sp>
        </mc:Fallback>
      </mc:AlternateContent>
    </p:spTree>
    <p:extLst>
      <p:ext uri="{BB962C8B-B14F-4D97-AF65-F5344CB8AC3E}">
        <p14:creationId xmlns:p14="http://schemas.microsoft.com/office/powerpoint/2010/main" val="307176811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5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25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25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fade">
                                      <p:cBhvr>
                                        <p:cTn id="52" dur="25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EE504-06A7-96EC-5DD2-33E26C8D2C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63298B-CA43-3F32-EC08-43EEED771F32}"/>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Carbon Footprint</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6CD259F-5FC3-0B12-2C50-F3FC5CB35B7D}"/>
              </a:ext>
            </a:extLst>
          </p:cNvPr>
          <p:cNvSpPr txBox="1">
            <a:spLocks/>
          </p:cNvSpPr>
          <p:nvPr/>
        </p:nvSpPr>
        <p:spPr>
          <a:xfrm>
            <a:off x="1371600" y="4819135"/>
            <a:ext cx="10320728" cy="1493882"/>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The training process of LLaMA models is expensive environmentally harmful</a:t>
            </a:r>
          </a:p>
          <a:p>
            <a:r>
              <a:rPr lang="en-US" dirty="0">
                <a:solidFill>
                  <a:schemeClr val="tx1"/>
                </a:solidFill>
                <a:latin typeface="Times New Roman" panose="02020603050405020304" pitchFamily="18" charset="0"/>
                <a:cs typeface="Times New Roman" panose="02020603050405020304" pitchFamily="18" charset="0"/>
              </a:rPr>
              <a:t>Especially compared to larger models</a:t>
            </a:r>
          </a:p>
          <a:p>
            <a:r>
              <a:rPr lang="en-US" b="1" i="0" dirty="0">
                <a:solidFill>
                  <a:schemeClr val="tx1"/>
                </a:solidFill>
                <a:latin typeface="Times New Roman" panose="02020603050405020304" pitchFamily="18" charset="0"/>
                <a:cs typeface="Times New Roman" panose="02020603050405020304" pitchFamily="18" charset="0"/>
              </a:rPr>
              <a:t>However, training is done only once, whereas inference is run many times</a:t>
            </a:r>
          </a:p>
        </p:txBody>
      </p:sp>
      <p:pic>
        <p:nvPicPr>
          <p:cNvPr id="4" name="Picture 3">
            <a:extLst>
              <a:ext uri="{FF2B5EF4-FFF2-40B4-BE49-F238E27FC236}">
                <a16:creationId xmlns:a16="http://schemas.microsoft.com/office/drawing/2014/main" id="{C8041323-3B7E-B359-7753-1E160AC93BFC}"/>
              </a:ext>
            </a:extLst>
          </p:cNvPr>
          <p:cNvPicPr>
            <a:picLocks noChangeAspect="1"/>
          </p:cNvPicPr>
          <p:nvPr/>
        </p:nvPicPr>
        <p:blipFill>
          <a:blip r:embed="rId3"/>
          <a:srcRect l="3192" t="3293" r="3039" b="32714"/>
          <a:stretch/>
        </p:blipFill>
        <p:spPr>
          <a:xfrm>
            <a:off x="1892001" y="2083703"/>
            <a:ext cx="9279925" cy="2567025"/>
          </a:xfrm>
          <a:prstGeom prst="rect">
            <a:avLst/>
          </a:prstGeom>
        </p:spPr>
      </p:pic>
      <p:sp>
        <p:nvSpPr>
          <p:cNvPr id="7" name="Content Placeholder 2">
            <a:extLst>
              <a:ext uri="{FF2B5EF4-FFF2-40B4-BE49-F238E27FC236}">
                <a16:creationId xmlns:a16="http://schemas.microsoft.com/office/drawing/2014/main" id="{8C98F1A5-8166-E2D0-235A-2F33A327CF50}"/>
              </a:ext>
            </a:extLst>
          </p:cNvPr>
          <p:cNvSpPr txBox="1">
            <a:spLocks/>
          </p:cNvSpPr>
          <p:nvPr/>
        </p:nvSpPr>
        <p:spPr>
          <a:xfrm>
            <a:off x="1371600" y="1153001"/>
            <a:ext cx="10320728" cy="762296"/>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 following table compares the energy use and carbon emissions from training LLaMA models with those of larger models that achieve similar performance.</a:t>
            </a:r>
          </a:p>
        </p:txBody>
      </p:sp>
      <p:sp>
        <p:nvSpPr>
          <p:cNvPr id="8" name="Down Arrow 7">
            <a:extLst>
              <a:ext uri="{FF2B5EF4-FFF2-40B4-BE49-F238E27FC236}">
                <a16:creationId xmlns:a16="http://schemas.microsoft.com/office/drawing/2014/main" id="{C8377695-67B4-49D3-48B6-06C20ACC035C}"/>
              </a:ext>
            </a:extLst>
          </p:cNvPr>
          <p:cNvSpPr/>
          <p:nvPr/>
        </p:nvSpPr>
        <p:spPr>
          <a:xfrm rot="3221311">
            <a:off x="10488824" y="3678775"/>
            <a:ext cx="642552" cy="926757"/>
          </a:xfrm>
          <a:prstGeom prst="downArrow">
            <a:avLst/>
          </a:prstGeom>
          <a:solidFill>
            <a:schemeClr val="accent6">
              <a:lumMod val="40000"/>
              <a:lumOff val="6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3994090515"/>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250"/>
                                        <p:tgtEl>
                                          <p:spTgt spid="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25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animEffect transition="in" filter="fade">
                                      <p:cBhvr>
                                        <p:cTn id="17" dur="250"/>
                                        <p:tgtEl>
                                          <p:spTgt spid="3">
                                            <p:txEl>
                                              <p:pRg st="0" end="0"/>
                                            </p:txEl>
                                          </p:spTgt>
                                        </p:tgtEl>
                                      </p:cBhvr>
                                    </p:animEffect>
                                  </p:childTnLst>
                                </p:cTn>
                              </p:par>
                            </p:childTnLst>
                          </p:cTn>
                        </p:par>
                        <p:par>
                          <p:cTn id="18" fill="hold">
                            <p:stCondLst>
                              <p:cond delay="250"/>
                            </p:stCondLst>
                            <p:childTnLst>
                              <p:par>
                                <p:cTn id="19" presetID="1"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par>
                          <p:cTn id="21" fill="hold">
                            <p:stCondLst>
                              <p:cond delay="250"/>
                            </p:stCondLst>
                            <p:childTnLst>
                              <p:par>
                                <p:cTn id="22" presetID="35" presetClass="emph" presetSubtype="0" repeatCount="3000" fill="hold" grpId="1" nodeType="afterEffect">
                                  <p:stCondLst>
                                    <p:cond delay="0"/>
                                  </p:stCondLst>
                                  <p:childTnLst>
                                    <p:anim calcmode="discrete" valueType="str">
                                      <p:cBhvr>
                                        <p:cTn id="23" dur="5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1" end="1"/>
                                            </p:txEl>
                                          </p:spTgt>
                                        </p:tgtEl>
                                        <p:attrNameLst>
                                          <p:attrName>style.visibility</p:attrName>
                                        </p:attrNameLst>
                                      </p:cBhvr>
                                      <p:to>
                                        <p:strVal val="visible"/>
                                      </p:to>
                                    </p:set>
                                    <p:animEffect transition="in" filter="fade">
                                      <p:cBhvr>
                                        <p:cTn id="28" dur="250"/>
                                        <p:tgtEl>
                                          <p:spTgt spid="3">
                                            <p:txEl>
                                              <p:pRg st="1" end="1"/>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2" end="2"/>
                                            </p:txEl>
                                          </p:spTgt>
                                        </p:tgtEl>
                                        <p:attrNameLst>
                                          <p:attrName>style.visibility</p:attrName>
                                        </p:attrNameLst>
                                      </p:cBhvr>
                                      <p:to>
                                        <p:strVal val="visible"/>
                                      </p:to>
                                    </p:set>
                                    <p:animEffect transition="in" filter="fade">
                                      <p:cBhvr>
                                        <p:cTn id="33" dur="25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B4392-17FB-E59A-60A9-2F1A98FC55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818C7-C4C9-D6DF-CA24-B442B023086D}"/>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Conclusions</a:t>
            </a:r>
            <a:endParaRPr lang="en-IL" sz="4000" dirty="0">
              <a:latin typeface="Times New Roman" panose="02020603050405020304" pitchFamily="18" charset="0"/>
              <a:cs typeface="Times New Roman" panose="02020603050405020304" pitchFamily="18" charset="0"/>
            </a:endParaRPr>
          </a:p>
        </p:txBody>
      </p:sp>
      <p:pic>
        <p:nvPicPr>
          <p:cNvPr id="5122" name="Picture 2">
            <a:extLst>
              <a:ext uri="{FF2B5EF4-FFF2-40B4-BE49-F238E27FC236}">
                <a16:creationId xmlns:a16="http://schemas.microsoft.com/office/drawing/2014/main" id="{063580BC-4CCE-7978-D6B1-06E28808195E}"/>
              </a:ext>
            </a:extLst>
          </p:cNvPr>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flipH="1">
            <a:off x="1683658" y="1393373"/>
            <a:ext cx="2283959" cy="2035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039776"/>
      </p:ext>
    </p:extLst>
  </p:cSld>
  <p:clrMapOvr>
    <a:masterClrMapping/>
  </p:clrMapOvr>
  <p:transition>
    <p:fade thruBlk="1"/>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8FB90-E7D4-611D-8A33-05280B9F67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108AD-238A-B046-6E50-FF71E95282C1}"/>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Conclusions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25BA6B8-A259-AC99-19FE-F4EEBBC091EC}"/>
              </a:ext>
            </a:extLst>
          </p:cNvPr>
          <p:cNvSpPr txBox="1">
            <a:spLocks/>
          </p:cNvSpPr>
          <p:nvPr/>
        </p:nvSpPr>
        <p:spPr>
          <a:xfrm>
            <a:off x="1371599" y="1133856"/>
            <a:ext cx="10820401" cy="5562779"/>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buNone/>
            </a:pPr>
            <a:r>
              <a:rPr lang="en-US" b="1" dirty="0">
                <a:solidFill>
                  <a:schemeClr val="tx1"/>
                </a:solidFill>
                <a:latin typeface="Times New Roman" panose="02020603050405020304" pitchFamily="18" charset="0"/>
                <a:cs typeface="Times New Roman" panose="02020603050405020304" pitchFamily="18" charset="0"/>
              </a:rPr>
              <a:t>Summary</a:t>
            </a:r>
          </a:p>
          <a:p>
            <a:r>
              <a:rPr lang="en-US" dirty="0">
                <a:solidFill>
                  <a:schemeClr val="tx1"/>
                </a:solidFill>
                <a:latin typeface="Times New Roman" panose="02020603050405020304" pitchFamily="18" charset="0"/>
                <a:cs typeface="Times New Roman" panose="02020603050405020304" pitchFamily="18" charset="0"/>
              </a:rPr>
              <a:t>The article presented a series of open-source language models competitive with state-of-the-art foundation models</a:t>
            </a:r>
          </a:p>
          <a:p>
            <a:r>
              <a:rPr lang="en-US" dirty="0">
                <a:solidFill>
                  <a:schemeClr val="tx1"/>
                </a:solidFill>
                <a:latin typeface="Times New Roman" panose="02020603050405020304" pitchFamily="18" charset="0"/>
                <a:cs typeface="Times New Roman" panose="02020603050405020304" pitchFamily="18" charset="0"/>
              </a:rPr>
              <a:t>The authors demonstrated that </a:t>
            </a:r>
            <a:r>
              <a:rPr lang="en-US" b="1" dirty="0">
                <a:solidFill>
                  <a:schemeClr val="tx1"/>
                </a:solidFill>
                <a:latin typeface="Times New Roman" panose="02020603050405020304" pitchFamily="18" charset="0"/>
                <a:cs typeface="Times New Roman" panose="02020603050405020304" pitchFamily="18" charset="0"/>
              </a:rPr>
              <a:t>SOTA performance</a:t>
            </a:r>
            <a:r>
              <a:rPr lang="en-US" dirty="0">
                <a:solidFill>
                  <a:schemeClr val="tx1"/>
                </a:solidFill>
                <a:latin typeface="Times New Roman" panose="02020603050405020304" pitchFamily="18" charset="0"/>
                <a:cs typeface="Times New Roman" panose="02020603050405020304" pitchFamily="18" charset="0"/>
              </a:rPr>
              <a:t> can be achieved using exclusively </a:t>
            </a:r>
            <a:r>
              <a:rPr lang="en-US" b="1" dirty="0">
                <a:solidFill>
                  <a:schemeClr val="tx1"/>
                </a:solidFill>
                <a:latin typeface="Times New Roman" panose="02020603050405020304" pitchFamily="18" charset="0"/>
                <a:cs typeface="Times New Roman" panose="02020603050405020304" pitchFamily="18" charset="0"/>
              </a:rPr>
              <a:t>publicly available data</a:t>
            </a:r>
            <a:r>
              <a:rPr lang="en-US" dirty="0">
                <a:solidFill>
                  <a:schemeClr val="tx1"/>
                </a:solidFill>
                <a:latin typeface="Times New Roman" panose="02020603050405020304" pitchFamily="18" charset="0"/>
                <a:cs typeface="Times New Roman" panose="02020603050405020304" pitchFamily="18" charset="0"/>
              </a:rPr>
              <a:t>, without proprietary datasets</a:t>
            </a:r>
          </a:p>
          <a:p>
            <a:pPr marL="0" indent="0">
              <a:buNone/>
            </a:pPr>
            <a:endParaRPr lang="en-US" sz="1000" b="1" dirty="0">
              <a:solidFill>
                <a:schemeClr val="tx1"/>
              </a:solidFill>
              <a:latin typeface="Times New Roman" panose="02020603050405020304" pitchFamily="18" charset="0"/>
              <a:cs typeface="Times New Roman" panose="02020603050405020304" pitchFamily="18" charset="0"/>
            </a:endParaRPr>
          </a:p>
          <a:p>
            <a:pPr marL="0" indent="0">
              <a:buNone/>
            </a:pPr>
            <a:r>
              <a:rPr lang="en-US" b="1" dirty="0">
                <a:solidFill>
                  <a:schemeClr val="tx1"/>
                </a:solidFill>
                <a:latin typeface="Times New Roman" panose="02020603050405020304" pitchFamily="18" charset="0"/>
                <a:cs typeface="Times New Roman" panose="02020603050405020304" pitchFamily="18" charset="0"/>
              </a:rPr>
              <a:t>Performance Highlights</a:t>
            </a:r>
          </a:p>
          <a:p>
            <a:r>
              <a:rPr lang="en-US" dirty="0">
                <a:solidFill>
                  <a:schemeClr val="tx1"/>
                </a:solidFill>
                <a:latin typeface="Times New Roman" panose="02020603050405020304" pitchFamily="18" charset="0"/>
                <a:cs typeface="Times New Roman" panose="02020603050405020304" pitchFamily="18" charset="0"/>
              </a:rPr>
              <a:t>LLaMA-13B outperforms GPT-3 while being &gt;10x smaller.</a:t>
            </a:r>
          </a:p>
          <a:p>
            <a:r>
              <a:rPr lang="en-US" dirty="0">
                <a:solidFill>
                  <a:schemeClr val="tx1"/>
                </a:solidFill>
                <a:latin typeface="Times New Roman" panose="02020603050405020304" pitchFamily="18" charset="0"/>
                <a:cs typeface="Times New Roman" panose="02020603050405020304" pitchFamily="18" charset="0"/>
              </a:rPr>
              <a:t>LLaMA-65B is competitive with Chinchilla-70B and PaLM-540B.</a:t>
            </a:r>
          </a:p>
          <a:p>
            <a:pPr marL="0" indent="0">
              <a:buNone/>
            </a:pPr>
            <a:endParaRPr lang="en-US" sz="1000" b="1" dirty="0">
              <a:solidFill>
                <a:schemeClr val="tx1"/>
              </a:solidFill>
              <a:latin typeface="Times New Roman" panose="02020603050405020304" pitchFamily="18" charset="0"/>
              <a:cs typeface="Times New Roman" panose="02020603050405020304" pitchFamily="18" charset="0"/>
            </a:endParaRPr>
          </a:p>
          <a:p>
            <a:pPr marL="0" indent="0">
              <a:buNone/>
            </a:pPr>
            <a:r>
              <a:rPr lang="en-US" b="1" dirty="0">
                <a:solidFill>
                  <a:schemeClr val="tx1"/>
                </a:solidFill>
                <a:latin typeface="Times New Roman" panose="02020603050405020304" pitchFamily="18" charset="0"/>
                <a:cs typeface="Times New Roman" panose="02020603050405020304" pitchFamily="18" charset="0"/>
              </a:rPr>
              <a:t>Future Directions</a:t>
            </a:r>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Accelerate research to improve </a:t>
            </a:r>
            <a:r>
              <a:rPr lang="en-US" b="1" dirty="0">
                <a:solidFill>
                  <a:schemeClr val="tx1"/>
                </a:solidFill>
                <a:latin typeface="Times New Roman" panose="02020603050405020304" pitchFamily="18" charset="0"/>
                <a:cs typeface="Times New Roman" panose="02020603050405020304" pitchFamily="18" charset="0"/>
              </a:rPr>
              <a:t>robustness</a:t>
            </a:r>
            <a:r>
              <a:rPr lang="en-US" dirty="0">
                <a:solidFill>
                  <a:schemeClr val="tx1"/>
                </a:solidFill>
                <a:latin typeface="Times New Roman" panose="02020603050405020304" pitchFamily="18" charset="0"/>
                <a:cs typeface="Times New Roman" panose="02020603050405020304" pitchFamily="18" charset="0"/>
              </a:rPr>
              <a:t> and mitigate issues </a:t>
            </a:r>
            <a:r>
              <a:rPr lang="en-US" b="1" dirty="0">
                <a:solidFill>
                  <a:schemeClr val="tx1"/>
                </a:solidFill>
                <a:latin typeface="Times New Roman" panose="02020603050405020304" pitchFamily="18" charset="0"/>
                <a:cs typeface="Times New Roman" panose="02020603050405020304" pitchFamily="18" charset="0"/>
              </a:rPr>
              <a:t>bias and toxicity</a:t>
            </a:r>
            <a:r>
              <a:rPr lang="en-US" dirty="0">
                <a:solidFill>
                  <a:schemeClr val="tx1"/>
                </a:solidFill>
                <a:latin typeface="Times New Roman" panose="02020603050405020304" pitchFamily="18" charset="0"/>
                <a:cs typeface="Times New Roman" panose="02020603050405020304" pitchFamily="18" charset="0"/>
              </a:rPr>
              <a:t> issues</a:t>
            </a:r>
          </a:p>
          <a:p>
            <a:r>
              <a:rPr lang="en-US" dirty="0">
                <a:solidFill>
                  <a:schemeClr val="tx1"/>
                </a:solidFill>
                <a:latin typeface="Times New Roman" panose="02020603050405020304" pitchFamily="18" charset="0"/>
                <a:cs typeface="Times New Roman" panose="02020603050405020304" pitchFamily="18" charset="0"/>
              </a:rPr>
              <a:t>Further investigate the </a:t>
            </a:r>
            <a:r>
              <a:rPr lang="en-US" b="1" dirty="0">
                <a:solidFill>
                  <a:schemeClr val="tx1"/>
                </a:solidFill>
                <a:latin typeface="Times New Roman" panose="02020603050405020304" pitchFamily="18" charset="0"/>
                <a:cs typeface="Times New Roman" panose="02020603050405020304" pitchFamily="18" charset="0"/>
              </a:rPr>
              <a:t>instruction finetuning</a:t>
            </a:r>
            <a:r>
              <a:rPr lang="en-US" dirty="0">
                <a:solidFill>
                  <a:schemeClr val="tx1"/>
                </a:solidFill>
                <a:latin typeface="Times New Roman" panose="02020603050405020304" pitchFamily="18" charset="0"/>
                <a:cs typeface="Times New Roman" panose="02020603050405020304" pitchFamily="18" charset="0"/>
              </a:rPr>
              <a:t> of LLaMA</a:t>
            </a:r>
          </a:p>
          <a:p>
            <a:r>
              <a:rPr lang="en-US" dirty="0">
                <a:solidFill>
                  <a:schemeClr val="tx1"/>
                </a:solidFill>
                <a:latin typeface="Times New Roman" panose="02020603050405020304" pitchFamily="18" charset="0"/>
                <a:cs typeface="Times New Roman" panose="02020603050405020304" pitchFamily="18" charset="0"/>
              </a:rPr>
              <a:t>Release </a:t>
            </a:r>
            <a:r>
              <a:rPr lang="en-US" b="1" dirty="0">
                <a:solidFill>
                  <a:schemeClr val="tx1"/>
                </a:solidFill>
                <a:latin typeface="Times New Roman" panose="02020603050405020304" pitchFamily="18" charset="0"/>
                <a:cs typeface="Times New Roman" panose="02020603050405020304" pitchFamily="18" charset="0"/>
              </a:rPr>
              <a:t>larger models</a:t>
            </a:r>
            <a:r>
              <a:rPr lang="en-US" dirty="0">
                <a:solidFill>
                  <a:schemeClr val="tx1"/>
                </a:solidFill>
                <a:latin typeface="Times New Roman" panose="02020603050405020304" pitchFamily="18" charset="0"/>
                <a:cs typeface="Times New Roman" panose="02020603050405020304" pitchFamily="18" charset="0"/>
              </a:rPr>
              <a:t> trained on </a:t>
            </a:r>
            <a:r>
              <a:rPr lang="en-US" b="1" dirty="0">
                <a:solidFill>
                  <a:schemeClr val="tx1"/>
                </a:solidFill>
                <a:latin typeface="Times New Roman" panose="02020603050405020304" pitchFamily="18" charset="0"/>
                <a:cs typeface="Times New Roman" panose="02020603050405020304" pitchFamily="18" charset="0"/>
              </a:rPr>
              <a:t>larger corpora</a:t>
            </a:r>
            <a:r>
              <a:rPr lang="en-US" dirty="0">
                <a:solidFill>
                  <a:schemeClr val="tx1"/>
                </a:solidFill>
                <a:latin typeface="Times New Roman" panose="02020603050405020304" pitchFamily="18" charset="0"/>
                <a:cs typeface="Times New Roman" panose="02020603050405020304" pitchFamily="18" charset="0"/>
              </a:rPr>
              <a:t>, as performance continues to improve with scale.</a:t>
            </a:r>
            <a:endParaRPr lang="en-US" sz="1800" i="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95443283"/>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250"/>
                                        <p:tgtEl>
                                          <p:spTgt spid="3">
                                            <p:txEl>
                                              <p:pRg st="1" end="1"/>
                                            </p:txEl>
                                          </p:spTgt>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25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250"/>
                                        <p:tgtEl>
                                          <p:spTgt spid="3">
                                            <p:txEl>
                                              <p:pRg st="4" end="4"/>
                                            </p:txEl>
                                          </p:spTgt>
                                        </p:tgtEl>
                                      </p:cBhvr>
                                    </p:animEffect>
                                  </p:childTnLst>
                                </p:cTn>
                              </p:par>
                            </p:childTnLst>
                          </p:cTn>
                        </p:par>
                        <p:par>
                          <p:cTn id="21" fill="hold">
                            <p:stCondLst>
                              <p:cond delay="250"/>
                            </p:stCondLst>
                            <p:childTnLst>
                              <p:par>
                                <p:cTn id="22" presetID="10" presetClass="entr" presetSubtype="0" fill="hold" nodeType="after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250"/>
                                        <p:tgtEl>
                                          <p:spTgt spid="3">
                                            <p:txEl>
                                              <p:pRg st="5" end="5"/>
                                            </p:txEl>
                                          </p:spTgt>
                                        </p:tgtEl>
                                      </p:cBhvr>
                                    </p:animEffect>
                                  </p:childTnLst>
                                </p:cTn>
                              </p:par>
                            </p:childTnLst>
                          </p:cTn>
                        </p:par>
                        <p:par>
                          <p:cTn id="25" fill="hold">
                            <p:stCondLst>
                              <p:cond delay="500"/>
                            </p:stCondLst>
                            <p:childTnLst>
                              <p:par>
                                <p:cTn id="26" presetID="10" presetClass="entr" presetSubtype="0" fill="hold" nodeType="after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250"/>
                                        <p:tgtEl>
                                          <p:spTgt spid="3">
                                            <p:txEl>
                                              <p:pRg st="6" end="6"/>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animEffect transition="in" filter="fade">
                                      <p:cBhvr>
                                        <p:cTn id="33" dur="250"/>
                                        <p:tgtEl>
                                          <p:spTgt spid="3">
                                            <p:txEl>
                                              <p:pRg st="8" end="8"/>
                                            </p:txEl>
                                          </p:spTgt>
                                        </p:tgtEl>
                                      </p:cBhvr>
                                    </p:animEffect>
                                  </p:childTnLst>
                                </p:cTn>
                              </p:par>
                            </p:childTnLst>
                          </p:cTn>
                        </p:par>
                        <p:par>
                          <p:cTn id="34" fill="hold">
                            <p:stCondLst>
                              <p:cond delay="250"/>
                            </p:stCondLst>
                            <p:childTnLst>
                              <p:par>
                                <p:cTn id="35" presetID="10" presetClass="entr" presetSubtype="0" fill="hold" nodeType="after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animEffect transition="in" filter="fade">
                                      <p:cBhvr>
                                        <p:cTn id="37" dur="250"/>
                                        <p:tgtEl>
                                          <p:spTgt spid="3">
                                            <p:txEl>
                                              <p:pRg st="9" end="9"/>
                                            </p:txEl>
                                          </p:spTgt>
                                        </p:tgtEl>
                                      </p:cBhvr>
                                    </p:animEffect>
                                  </p:childTnLst>
                                </p:cTn>
                              </p:par>
                            </p:childTnLst>
                          </p:cTn>
                        </p:par>
                        <p:par>
                          <p:cTn id="38" fill="hold">
                            <p:stCondLst>
                              <p:cond delay="500"/>
                            </p:stCondLst>
                            <p:childTnLst>
                              <p:par>
                                <p:cTn id="39" presetID="10" presetClass="entr" presetSubtype="0" fill="hold" nodeType="after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fade">
                                      <p:cBhvr>
                                        <p:cTn id="41" dur="250"/>
                                        <p:tgtEl>
                                          <p:spTgt spid="3">
                                            <p:txEl>
                                              <p:pRg st="10" end="10"/>
                                            </p:txEl>
                                          </p:spTgt>
                                        </p:tgtEl>
                                      </p:cBhvr>
                                    </p:animEffect>
                                  </p:childTnLst>
                                </p:cTn>
                              </p:par>
                            </p:childTnLst>
                          </p:cTn>
                        </p:par>
                        <p:par>
                          <p:cTn id="42" fill="hold">
                            <p:stCondLst>
                              <p:cond delay="750"/>
                            </p:stCondLst>
                            <p:childTnLst>
                              <p:par>
                                <p:cTn id="43" presetID="10" presetClass="entr" presetSubtype="0" fill="hold" nodeType="afterEffect">
                                  <p:stCondLst>
                                    <p:cond delay="0"/>
                                  </p:stCondLst>
                                  <p:childTnLst>
                                    <p:set>
                                      <p:cBhvr>
                                        <p:cTn id="44" dur="1" fill="hold">
                                          <p:stCondLst>
                                            <p:cond delay="0"/>
                                          </p:stCondLst>
                                        </p:cTn>
                                        <p:tgtEl>
                                          <p:spTgt spid="3">
                                            <p:txEl>
                                              <p:pRg st="11" end="11"/>
                                            </p:txEl>
                                          </p:spTgt>
                                        </p:tgtEl>
                                        <p:attrNameLst>
                                          <p:attrName>style.visibility</p:attrName>
                                        </p:attrNameLst>
                                      </p:cBhvr>
                                      <p:to>
                                        <p:strVal val="visible"/>
                                      </p:to>
                                    </p:set>
                                    <p:animEffect transition="in" filter="fade">
                                      <p:cBhvr>
                                        <p:cTn id="45" dur="25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5FE76-C29F-C8A0-6E9F-F21AFD99C27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A8CD650-EFBC-1EED-7449-3B76ABD6881C}"/>
              </a:ext>
            </a:extLst>
          </p:cNvPr>
          <p:cNvSpPr txBox="1"/>
          <p:nvPr/>
        </p:nvSpPr>
        <p:spPr>
          <a:xfrm>
            <a:off x="1240888" y="2319081"/>
            <a:ext cx="9710224" cy="2404504"/>
          </a:xfrm>
          <a:prstGeom prst="rect">
            <a:avLst/>
          </a:prstGeom>
          <a:noFill/>
        </p:spPr>
        <p:txBody>
          <a:bodyPr wrap="square" rtlCol="0">
            <a:spAutoFit/>
          </a:bodyPr>
          <a:lstStyle/>
          <a:p>
            <a:pPr algn="ctr">
              <a:lnSpc>
                <a:spcPct val="150000"/>
              </a:lnSpc>
            </a:pPr>
            <a:r>
              <a:rPr lang="en-US" sz="4000" dirty="0">
                <a:latin typeface="Times New Roman" panose="02020603050405020304" pitchFamily="18" charset="0"/>
                <a:cs typeface="Times New Roman" panose="02020603050405020304" pitchFamily="18" charset="0"/>
              </a:rPr>
              <a:t>LLM From Scratch</a:t>
            </a:r>
          </a:p>
          <a:p>
            <a:pPr algn="ctr">
              <a:lnSpc>
                <a:spcPct val="150000"/>
              </a:lnSpc>
            </a:pPr>
            <a:r>
              <a:rPr lang="en-US" sz="3200" dirty="0">
                <a:latin typeface="Times New Roman" panose="02020603050405020304" pitchFamily="18" charset="0"/>
                <a:cs typeface="Times New Roman" panose="02020603050405020304" pitchFamily="18" charset="0"/>
              </a:rPr>
              <a:t>Coding the GPT model &amp; Generating text</a:t>
            </a:r>
            <a:br>
              <a:rPr lang="en-US" sz="3200" dirty="0">
                <a:latin typeface="Times New Roman" panose="02020603050405020304" pitchFamily="18" charset="0"/>
                <a:cs typeface="Times New Roman" panose="02020603050405020304" pitchFamily="18" charset="0"/>
              </a:rPr>
            </a:br>
            <a:r>
              <a:rPr lang="en-US" sz="3200" dirty="0">
                <a:latin typeface="Times New Roman" panose="02020603050405020304" pitchFamily="18" charset="0"/>
                <a:cs typeface="Times New Roman" panose="02020603050405020304" pitchFamily="18" charset="0"/>
                <a:hlinkClick r:id="rId3"/>
              </a:rPr>
              <a:t>ch04_presentation.ipynb</a:t>
            </a:r>
            <a:endParaRPr lang="en-IL" sz="3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42049619"/>
      </p:ext>
    </p:extLst>
  </p:cSld>
  <p:clrMapOvr>
    <a:masterClrMapping/>
  </p:clrMapOvr>
  <p:transition>
    <p:fade thruBlk="1"/>
  </p:transition>
</p:sld>
</file>

<file path=ppt/theme/theme1.xml><?xml version="1.0" encoding="utf-8"?>
<a:theme xmlns:a="http://schemas.openxmlformats.org/drawingml/2006/main" name="Crop">
  <a:themeElements>
    <a:clrScheme name="Crop">
      <a:dk1>
        <a:sysClr val="windowText" lastClr="000000"/>
      </a:dk1>
      <a:lt1>
        <a:sysClr val="window" lastClr="FFFFFF"/>
      </a:lt1>
      <a:dk2>
        <a:srgbClr val="191B0E"/>
      </a:dk2>
      <a:lt2>
        <a:srgbClr val="EFEDE3"/>
      </a:lt2>
      <a:accent1>
        <a:srgbClr val="8C8D86"/>
      </a:accent1>
      <a:accent2>
        <a:srgbClr val="E6C069"/>
      </a:accent2>
      <a:accent3>
        <a:srgbClr val="897B61"/>
      </a:accent3>
      <a:accent4>
        <a:srgbClr val="8DAB8E"/>
      </a:accent4>
      <a:accent5>
        <a:srgbClr val="77A2BB"/>
      </a:accent5>
      <a:accent6>
        <a:srgbClr val="E28394"/>
      </a:accent6>
      <a:hlink>
        <a:srgbClr val="77A2BB"/>
      </a:hlink>
      <a:folHlink>
        <a:srgbClr val="957A99"/>
      </a:folHlink>
    </a:clrScheme>
    <a:fontScheme name="Crop">
      <a:maj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Crop">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op" id="{EC9488ED-E761-4D60-9AC4-764D1FE2C171}" vid="{CE19780C-D67D-4C13-9DE9-A52BC3BA51B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Crop</Template>
  <TotalTime>7167</TotalTime>
  <Words>4775</Words>
  <Application>Microsoft Macintosh PowerPoint</Application>
  <PresentationFormat>Widescreen</PresentationFormat>
  <Paragraphs>498</Paragraphs>
  <Slides>29</Slides>
  <Notes>27</Notes>
  <HiddenSlides>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vt:lpstr>
      <vt:lpstr>Cambria Math</vt:lpstr>
      <vt:lpstr>Franklin Gothic Book</vt:lpstr>
      <vt:lpstr>Times New Roman</vt:lpstr>
      <vt:lpstr>Crop</vt:lpstr>
      <vt:lpstr>LLaMA: Open and Efficient Foundation Language Models   evaluation</vt:lpstr>
      <vt:lpstr>Agenda</vt:lpstr>
      <vt:lpstr>Evaluation Methodology</vt:lpstr>
      <vt:lpstr>Evaluation Approach</vt:lpstr>
      <vt:lpstr>Zero-Shot vs. Few-Shots</vt:lpstr>
      <vt:lpstr>Benchmarks</vt:lpstr>
      <vt:lpstr>Additional Metrics</vt:lpstr>
      <vt:lpstr>Compared Models</vt:lpstr>
      <vt:lpstr>Benchmarks</vt:lpstr>
      <vt:lpstr>Common Sense Reasoning</vt:lpstr>
      <vt:lpstr>Closed-book Question Answering</vt:lpstr>
      <vt:lpstr>Reading Comprehension</vt:lpstr>
      <vt:lpstr>Mathematical Reasoning</vt:lpstr>
      <vt:lpstr>Code Generation</vt:lpstr>
      <vt:lpstr>Massive Multitask Language Understanding</vt:lpstr>
      <vt:lpstr>Performance Evolution During Training</vt:lpstr>
      <vt:lpstr>Additional Metrics</vt:lpstr>
      <vt:lpstr>Instruction Finetuning</vt:lpstr>
      <vt:lpstr>Bias, Toxicity and Misinformation</vt:lpstr>
      <vt:lpstr>Bias, Toxicity and Misinformation</vt:lpstr>
      <vt:lpstr>CrowS-Pairs </vt:lpstr>
      <vt:lpstr>WinoGender</vt:lpstr>
      <vt:lpstr>TruthfulQA</vt:lpstr>
      <vt:lpstr>Example: WinoGender</vt:lpstr>
      <vt:lpstr>Carbon Footprint </vt:lpstr>
      <vt:lpstr>Carbon Footprint </vt:lpstr>
      <vt:lpstr>Conclusions</vt:lpstr>
      <vt:lpstr>Conclusions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Shlomo Ben Shushan</dc:creator>
  <cp:lastModifiedBy>Shlomo Ben Shushan</cp:lastModifiedBy>
  <cp:revision>163</cp:revision>
  <dcterms:created xsi:type="dcterms:W3CDTF">2025-11-27T17:21:13Z</dcterms:created>
  <dcterms:modified xsi:type="dcterms:W3CDTF">2025-12-05T10:13:01Z</dcterms:modified>
</cp:coreProperties>
</file>