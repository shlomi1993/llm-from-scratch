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1"/>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90" r:id="rId21"/>
    <p:sldId id="277" r:id="rId22"/>
    <p:sldId id="278" r:id="rId23"/>
    <p:sldId id="279" r:id="rId24"/>
    <p:sldId id="291" r:id="rId25"/>
    <p:sldId id="280" r:id="rId26"/>
    <p:sldId id="284" r:id="rId27"/>
    <p:sldId id="271" r:id="rId28"/>
    <p:sldId id="286"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907"/>
    <p:restoredTop sz="67582"/>
  </p:normalViewPr>
  <p:slideViewPr>
    <p:cSldViewPr snapToGrid="0">
      <p:cViewPr>
        <p:scale>
          <a:sx n="104" d="100"/>
          <a:sy n="104" d="100"/>
        </p:scale>
        <p:origin x="1408" y="144"/>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03/12/2025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0.5</a:t>
            </a:r>
            <a:endParaRPr lang="en-US" dirty="0"/>
          </a:p>
          <a:p>
            <a:pPr marL="0" algn="r" defTabSz="914400" rtl="1" eaLnBrk="1" latinLnBrk="0" hangingPunct="1"/>
            <a:endParaRPr lang="en-US" dirty="0"/>
          </a:p>
          <a:p>
            <a:pPr marL="0" algn="r" defTabSz="914400" rtl="1" eaLnBrk="1" latinLnBrk="0" hangingPunct="1"/>
            <a:r>
              <a:rPr lang="he-IL" dirty="0"/>
              <a:t>שלום לכולם,</a:t>
            </a:r>
          </a:p>
          <a:p>
            <a:pPr marL="0" algn="r" defTabSz="914400" rtl="1" eaLnBrk="1" latinLnBrk="0" hangingPunct="1"/>
            <a:r>
              <a:rPr lang="he-IL" dirty="0"/>
              <a:t>שמי שלומי בן שושן,</a:t>
            </a:r>
          </a:p>
          <a:p>
            <a:pPr marL="0" algn="r" defTabSz="914400" rtl="1" eaLnBrk="1" latinLnBrk="0" hangingPunct="1"/>
            <a:r>
              <a:rPr lang="he-IL" dirty="0"/>
              <a:t>והיום אציג את הערכת הביצועים של מודלי </a:t>
            </a:r>
            <a:r>
              <a:rPr lang="en-US" dirty="0"/>
              <a:t>LLaMA</a:t>
            </a:r>
            <a:r>
              <a:rPr lang="he-IL" dirty="0"/>
              <a:t> לפי מגוון </a:t>
            </a:r>
            <a:r>
              <a:rPr lang="he-IL" dirty="0" err="1"/>
              <a:t>בנצ'מרקים</a:t>
            </a:r>
            <a:r>
              <a:rPr lang="he-IL" dirty="0"/>
              <a:t> ומטריקות, תוך 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2</a:t>
            </a:r>
            <a:endParaRPr lang="en-US" dirty="0"/>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רוצים לבחון את הידע של המודל, ולא למשל כמה הוא יודע לעקוב אחר הוראות.</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endParaRPr lang="he-IL" sz="1200" kern="120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algn="r" defTabSz="914400" rtl="1" eaLnBrk="1" latinLnBrk="0" hangingPunct="1"/>
            <a:endParaRPr lang="he-IL" dirty="0"/>
          </a:p>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en-US" dirty="0"/>
              <a:t>Common Sense Reasoning</a:t>
            </a:r>
            <a:r>
              <a:rPr lang="he-IL" dirty="0"/>
              <a:t> – 8 </a:t>
            </a:r>
            <a:r>
              <a:rPr lang="he-IL" dirty="0" err="1"/>
              <a:t>דאטאסטים</a:t>
            </a:r>
            <a:r>
              <a:rPr lang="he-IL" dirty="0"/>
              <a:t> – עד כמה המודל יודע להפעיל היגיון יומיומי.</a:t>
            </a:r>
          </a:p>
          <a:p>
            <a:pPr marL="0" algn="r" defTabSz="914400" rtl="1" eaLnBrk="1" latinLnBrk="0" hangingPunct="1"/>
            <a:endParaRPr lang="he-IL" dirty="0"/>
          </a:p>
          <a:p>
            <a:pPr marL="0" algn="r" defTabSz="914400" rtl="1" eaLnBrk="1" latinLnBrk="0" hangingPunct="1"/>
            <a:r>
              <a:rPr lang="en-US" dirty="0"/>
              <a:t>Closed-book Question Answering</a:t>
            </a:r>
            <a:r>
              <a:rPr lang="he-IL" dirty="0"/>
              <a:t> – 2 </a:t>
            </a:r>
            <a:r>
              <a:rPr lang="he-IL" dirty="0" err="1"/>
              <a:t>דאטאסטים</a:t>
            </a:r>
            <a:r>
              <a:rPr lang="he-IL" dirty="0"/>
              <a:t> – יכולת לענות על שאלות ללא חומרי עזר.</a:t>
            </a:r>
          </a:p>
          <a:p>
            <a:pPr marL="0" algn="r" defTabSz="914400" rtl="1" eaLnBrk="1" latinLnBrk="0" hangingPunct="1"/>
            <a:endParaRPr lang="he-IL" dirty="0"/>
          </a:p>
          <a:p>
            <a:pPr marL="0" algn="r" defTabSz="914400" rtl="1" eaLnBrk="1" latinLnBrk="0" hangingPunct="1"/>
            <a:r>
              <a:rPr lang="en-US" dirty="0"/>
              <a:t>Reading Comprehension</a:t>
            </a:r>
            <a:r>
              <a:rPr lang="he-IL" dirty="0"/>
              <a:t> - 2 </a:t>
            </a:r>
            <a:r>
              <a:rPr lang="he-IL" dirty="0" err="1"/>
              <a:t>דאטאסטים</a:t>
            </a:r>
            <a:r>
              <a:rPr lang="he-IL" dirty="0"/>
              <a:t> – הבנת הנקרא.</a:t>
            </a:r>
          </a:p>
          <a:p>
            <a:pPr marL="0" algn="r" defTabSz="914400" rtl="1" eaLnBrk="1" latinLnBrk="0" hangingPunct="1"/>
            <a:endParaRPr lang="he-IL" dirty="0"/>
          </a:p>
          <a:p>
            <a:pPr marL="0" algn="r" defTabSz="914400" rtl="1" eaLnBrk="1" latinLnBrk="0" hangingPunct="1"/>
            <a:r>
              <a:rPr lang="en-US" dirty="0"/>
              <a:t>Mathematical Reasoning</a:t>
            </a:r>
            <a:r>
              <a:rPr lang="he-IL" dirty="0"/>
              <a:t> – 2 </a:t>
            </a:r>
            <a:r>
              <a:rPr lang="he-IL" dirty="0" err="1"/>
              <a:t>דאטאסטים</a:t>
            </a:r>
            <a:r>
              <a:rPr lang="he-IL" dirty="0"/>
              <a:t> – יכולת חשיבה מתמטית ופיתוח מתמטי.</a:t>
            </a:r>
          </a:p>
          <a:p>
            <a:pPr marL="0" algn="r" defTabSz="914400" rtl="1" eaLnBrk="1" latinLnBrk="0" hangingPunct="1"/>
            <a:endParaRPr lang="he-IL" dirty="0"/>
          </a:p>
          <a:p>
            <a:pPr marL="0" algn="r" defTabSz="914400" rtl="1" eaLnBrk="1" latinLnBrk="0" hangingPunct="1"/>
            <a:r>
              <a:rPr lang="en-US" dirty="0"/>
              <a:t>Code Generation</a:t>
            </a:r>
            <a:r>
              <a:rPr lang="he-IL" dirty="0"/>
              <a:t> – 2 </a:t>
            </a:r>
            <a:r>
              <a:rPr lang="he-IL" dirty="0" err="1"/>
              <a:t>דאטאסטים</a:t>
            </a:r>
            <a:r>
              <a:rPr lang="he-IL" dirty="0"/>
              <a:t> – יכולת כתיבת הקוד של המודל.</a:t>
            </a:r>
          </a:p>
          <a:p>
            <a:pPr marL="0" algn="r" defTabSz="914400" rtl="1" eaLnBrk="1" latinLnBrk="0" hangingPunct="1"/>
            <a:endParaRPr lang="he-IL" dirty="0"/>
          </a:p>
          <a:p>
            <a:pPr marL="0" algn="r" defTabSz="914400" rtl="1" eaLnBrk="1" latinLnBrk="0" hangingPunct="1"/>
            <a:r>
              <a:rPr lang="en-US" dirty="0"/>
              <a:t>MMLU</a:t>
            </a:r>
            <a:r>
              <a:rPr lang="he-IL" dirty="0"/>
              <a:t> – </a:t>
            </a:r>
            <a:r>
              <a:rPr lang="he-IL" dirty="0" err="1"/>
              <a:t>דאטאסט</a:t>
            </a:r>
            <a:r>
              <a:rPr lang="he-IL" dirty="0"/>
              <a:t> אחד – בוחנים את הידע הכללי של המודל על פני תחומים רבים</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a:t>בשקף </a:t>
            </a:r>
            <a:r>
              <a:rPr lang="he-IL" dirty="0"/>
              <a:t>הזה רואים את המודלים אליהם משווים את </a:t>
            </a:r>
            <a:r>
              <a:rPr lang="en-US" dirty="0"/>
              <a:t>LLaMA</a:t>
            </a:r>
            <a:r>
              <a:rPr lang="he-IL" dirty="0"/>
              <a:t>.</a:t>
            </a:r>
          </a:p>
          <a:p>
            <a:pPr marL="0" algn="r" defTabSz="914400" rtl="1" eaLnBrk="1" latinLnBrk="0" hangingPunct="1"/>
            <a:endParaRPr lang="he-IL" dirty="0"/>
          </a:p>
          <a:p>
            <a:pPr marL="0" algn="r" defTabSz="914400" rtl="1" eaLnBrk="1" latinLnBrk="0" hangingPunct="1"/>
            <a:r>
              <a:rPr lang="he-IL" dirty="0"/>
              <a:t>גדלים שונים</a:t>
            </a:r>
          </a:p>
          <a:p>
            <a:pPr marL="0" algn="r" defTabSz="914400" rtl="1" eaLnBrk="1" latinLnBrk="0" hangingPunct="1"/>
            <a:endParaRPr lang="he-IL" dirty="0"/>
          </a:p>
          <a:p>
            <a:pPr marL="0" algn="r" defTabSz="914400" rtl="1" eaLnBrk="1" latinLnBrk="0" hangingPunct="1"/>
            <a:r>
              <a:rPr lang="he-IL" dirty="0"/>
              <a:t>ציבוריים וקנייניים</a:t>
            </a:r>
          </a:p>
          <a:p>
            <a:pPr marL="0" algn="r" defTabSz="914400" rtl="1" eaLnBrk="1" latinLnBrk="0" hangingPunct="1"/>
            <a:endParaRPr lang="he-IL" dirty="0"/>
          </a:p>
          <a:p>
            <a:pPr marL="0" algn="r" defTabSz="914400" rtl="1" eaLnBrk="1" latinLnBrk="0" hangingPunct="1"/>
            <a:r>
              <a:rPr lang="he-IL" dirty="0"/>
              <a:t>מוכווני משימה וכלליים</a:t>
            </a:r>
          </a:p>
          <a:p>
            <a:pPr marL="0" algn="r" defTabSz="914400" rtl="1" eaLnBrk="1" latinLnBrk="0" hangingPunct="1"/>
            <a:endParaRPr lang="he-IL" dirty="0"/>
          </a:p>
          <a:p>
            <a:pPr marL="0" algn="r" defTabSz="914400" rtl="1" eaLnBrk="1" latinLnBrk="0" hangingPunct="1"/>
            <a:r>
              <a:rPr lang="he-IL" dirty="0"/>
              <a:t>קבוצות מחקר מובילות</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en-US" dirty="0"/>
              <a:t>LLaMA‑65B</a:t>
            </a:r>
            <a:r>
              <a:rPr lang="he-IL" dirty="0"/>
              <a:t> משיג ביצועים טובים יותר מרוב המודלים,</a:t>
            </a:r>
          </a:p>
          <a:p>
            <a:pPr marL="0" algn="r" defTabSz="914400" rtl="1" eaLnBrk="1" latinLnBrk="0" hangingPunct="1"/>
            <a:r>
              <a:rPr lang="he-IL" dirty="0"/>
              <a:t>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en-US" dirty="0"/>
              <a:t>LLaMA‑13B</a:t>
            </a:r>
            <a:r>
              <a:rPr lang="he-IL" dirty="0"/>
              <a:t> מנצח את </a:t>
            </a:r>
            <a:r>
              <a:rPr lang="en-US" dirty="0"/>
              <a:t>GPT‑3</a:t>
            </a:r>
            <a:r>
              <a:rPr lang="he-IL" dirty="0"/>
              <a:t> ברוב המדדים, למרות שהוא קטן ממנו ביותר מפי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F44D2-3424-2DA6-E31B-F8F6ED59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B10600-299B-7A4C-EE49-94BAA7FE7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91F8FD-CE9B-91E9-C7AC-7E4AA97CF747}"/>
              </a:ext>
            </a:extLst>
          </p:cNvPr>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a:extLst>
              <a:ext uri="{FF2B5EF4-FFF2-40B4-BE49-F238E27FC236}">
                <a16:creationId xmlns:a16="http://schemas.microsoft.com/office/drawing/2014/main" id="{BEED6129-DD21-28E9-77C8-9E565B94A075}"/>
              </a:ext>
            </a:extLst>
          </p:cNvPr>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8017576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590DC-7077-5AB2-68E2-74EB9842F7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E7954-83C6-129F-BA44-7D38156BBD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781381-6B5E-F879-3828-29DCA201667A}"/>
              </a:ext>
            </a:extLst>
          </p:cNvPr>
          <p:cNvSpPr>
            <a:spLocks noGrp="1"/>
          </p:cNvSpPr>
          <p:nvPr>
            <p:ph type="body" idx="1"/>
          </p:nvPr>
        </p:nvSpPr>
        <p:spPr/>
        <p:txBody>
          <a:bodyPr/>
          <a:lstStyle/>
          <a:p>
            <a:pPr marL="0" algn="l" defTabSz="914400" rtl="0" eaLnBrk="1" latinLnBrk="0" hangingPunct="1"/>
            <a:endParaRPr lang="en-IL" dirty="0"/>
          </a:p>
        </p:txBody>
      </p:sp>
      <p:sp>
        <p:nvSpPr>
          <p:cNvPr id="4" name="Slide Number Placeholder 3">
            <a:extLst>
              <a:ext uri="{FF2B5EF4-FFF2-40B4-BE49-F238E27FC236}">
                <a16:creationId xmlns:a16="http://schemas.microsoft.com/office/drawing/2014/main" id="{B687B43C-AE4D-983B-B34D-DAC2D524395A}"/>
              </a:ext>
            </a:extLst>
          </p:cNvPr>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590200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Choice>
        <mc:Fallback>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endParaRPr lang="en-US" dirty="0"/>
              </a:p>
              <a:p>
                <a:pPr marL="0" algn="r" defTabSz="914400" rtl="1" eaLnBrk="1" latinLnBrk="0" hangingPunct="1"/>
                <a:endParaRPr lang="en-US" dirty="0"/>
              </a:p>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endParaRPr lang="en-US" dirty="0"/>
              </a:p>
              <a:p>
                <a:pPr marL="0" algn="r" defTabSz="914400" rtl="1" eaLnBrk="1" latinLnBrk="0" hangingPunct="1"/>
                <a:endParaRPr lang="en-US" dirty="0"/>
              </a:p>
              <a:p>
                <a:r>
                  <a:rPr lang="en-US" i="0" dirty="0">
                    <a:solidFill>
                      <a:schemeClr val="tx1"/>
                    </a:solidFill>
                    <a:latin typeface="Times New Roman" panose="02020603050405020304" pitchFamily="18" charset="0"/>
                    <a:cs typeface="Times New Roman" panose="02020603050405020304" pitchFamily="18" charset="0"/>
                  </a:rPr>
                  <a:t>where:</a:t>
                </a:r>
              </a:p>
              <a:p>
                <a:pPr lvl="1"/>
                <a:r>
                  <a:rPr lang="en-US" i="0">
                    <a:solidFill>
                      <a:schemeClr val="tx1"/>
                    </a:solidFill>
                    <a:latin typeface="Cambria Math" panose="020405030504060302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r>
                  <a:rPr lang="en-US" b="0" i="0">
                    <a:solidFill>
                      <a:schemeClr val="tx1"/>
                    </a:solidFill>
                    <a:latin typeface="Cambria Math" panose="02040503050406030204" pitchFamily="18" charset="0"/>
                    <a:cs typeface="Times New Roman" panose="02020603050405020304" pitchFamily="18" charset="0"/>
                  </a:rPr>
                  <a:t>GPU"−" h</a:t>
                </a:r>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r>
                  <a:rPr lang="en-US" b="0" i="0">
                    <a:solidFill>
                      <a:schemeClr val="tx1"/>
                    </a:solidFill>
                    <a:latin typeface="Cambria Math" panose="02040503050406030204" pitchFamily="18" charset="0"/>
                    <a:cs typeface="Times New Roman" panose="02020603050405020304" pitchFamily="18" charset="0"/>
                  </a:rPr>
                  <a:t>GPU"−" power"−" conssumption</a:t>
                </a:r>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r>
                  <a:rPr lang="en-US" b="0" i="0">
                    <a:solidFill>
                      <a:schemeClr val="tx1"/>
                    </a:solidFill>
                    <a:latin typeface="Cambria Math" panose="02040503050406030204" pitchFamily="18" charset="0"/>
                    <a:cs typeface="Times New Roman" panose="02020603050405020304" pitchFamily="18" charset="0"/>
                  </a:rPr>
                  <a:t>PUE</a:t>
                </a:r>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a:p>
                <a:r>
                  <a:rPr lang="en-US" dirty="0">
                    <a:solidFill>
                      <a:schemeClr val="tx1"/>
                    </a:solidFill>
                    <a:latin typeface="Times New Roman" panose="02020603050405020304" pitchFamily="18" charset="0"/>
                    <a:cs typeface="Times New Roman" panose="02020603050405020304" pitchFamily="18" charset="0"/>
                  </a:rPr>
                  <a:t>where:</a:t>
                </a:r>
              </a:p>
              <a:p>
                <a:pPr lvl="1"/>
                <a:r>
                  <a:rPr lang="en-US" b="0" i="0">
                    <a:solidFill>
                      <a:schemeClr val="tx1"/>
                    </a:solidFill>
                    <a:latin typeface="Cambria Math" panose="02040503050406030204" pitchFamily="18" charset="0"/>
                    <a:cs typeface="Times New Roman" panose="02020603050405020304" pitchFamily="18" charset="0"/>
                  </a:rPr>
                  <a:t>tCO_2 eq</a:t>
                </a:r>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r>
                  <a:rPr lang="en-US" b="0" i="0">
                    <a:solidFill>
                      <a:schemeClr val="tx1"/>
                    </a:solidFill>
                    <a:latin typeface="Cambria Math" panose="02040503050406030204" pitchFamily="18" charset="0"/>
                    <a:cs typeface="Times New Roman" panose="02020603050405020304" pitchFamily="18" charset="0"/>
                  </a:rPr>
                  <a:t>MWh </a:t>
                </a:r>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r>
                  <a:rPr lang="en-US" b="0" i="0">
                    <a:solidFill>
                      <a:schemeClr val="tx1"/>
                    </a:solidFill>
                    <a:latin typeface="Cambria Math" panose="02040503050406030204" pitchFamily="18" charset="0"/>
                    <a:cs typeface="Times New Roman" panose="02020603050405020304" pitchFamily="18" charset="0"/>
                  </a:rPr>
                  <a:t>0.385 </a:t>
                </a:r>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r>
                  <a:rPr lang="en-US" i="0">
                    <a:solidFill>
                      <a:schemeClr val="tx1"/>
                    </a:solidFill>
                    <a:latin typeface="Cambria Math" panose="02040503050406030204" pitchFamily="18" charset="0"/>
                    <a:cs typeface="Times New Roman" panose="02020603050405020304" pitchFamily="18" charset="0"/>
                  </a:rPr>
                  <a:t>0.385</a:t>
                </a:r>
                <a:r>
                  <a:rPr lang="en-US" b="0" i="0">
                    <a:solidFill>
                      <a:schemeClr val="tx1"/>
                    </a:solidFill>
                    <a:latin typeface="Cambria Math" panose="02040503050406030204" pitchFamily="18" charset="0"/>
                    <a:cs typeface="Times New Roman" panose="02020603050405020304" pitchFamily="18" charset="0"/>
                  </a:rPr>
                  <a:t> kg CO_2 eq/KWh</a:t>
                </a:r>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a:p>
                <a:pPr lvl="1"/>
                <a:endParaRPr lang="en-US" dirty="0">
                  <a:solidFill>
                    <a:schemeClr val="tx1"/>
                  </a:solidFill>
                  <a:latin typeface="Times New Roman" panose="02020603050405020304" pitchFamily="18" charset="0"/>
                  <a:cs typeface="Times New Roman" panose="02020603050405020304" pitchFamily="18" charset="0"/>
                </a:endParaRPr>
              </a:p>
              <a:p>
                <a:pPr marL="0" algn="r" defTabSz="914400" rtl="1" eaLnBrk="1" latinLnBrk="0" hangingPunct="1"/>
                <a:endParaRPr lang="en-US" dirty="0"/>
              </a:p>
              <a:p>
                <a:pPr marL="0" algn="r" defTabSz="914400" rtl="1" eaLnBrk="1" latinLnBrk="0" hangingPunct="1"/>
                <a:endParaRPr lang="en-US" dirty="0"/>
              </a:p>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US" dirty="0"/>
              </a:p>
              <a:p>
                <a:pPr marL="0" algn="r" defTabSz="914400" rtl="1" eaLnBrk="1" latinLnBrk="0" hangingPunct="1"/>
                <a:endParaRPr lang="en-US" dirty="0"/>
              </a:p>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a:p>
                <a:pPr marL="0" algn="r" defTabSz="914400" rtl="1" eaLnBrk="1" latinLnBrk="0" hangingPunct="1"/>
                <a:endParaRPr lang="en-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he-IL" dirty="0"/>
              </a:p>
              <a:p>
                <a:pPr marL="0" algn="r" defTabSz="914400" rtl="1" eaLnBrk="1" latinLnBrk="0" hangingPunct="1"/>
                <a:endParaRPr lang="en-IL" dirty="0"/>
              </a:p>
            </p:txBody>
          </p:sp>
        </mc:Fallback>
      </mc:AlternateContent>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גדולים יחסית אבל דומים בביצועים, ואפשר לראות שהאימון של מודלי </a:t>
            </a:r>
            <a:r>
              <a:rPr lang="en-US" dirty="0"/>
              <a:t>LLaMA</a:t>
            </a:r>
            <a:r>
              <a:rPr lang="he-IL" dirty="0"/>
              <a:t> יחסית מזהם.</a:t>
            </a:r>
          </a:p>
          <a:p>
            <a:pPr marL="0" algn="r" defTabSz="914400" rtl="1" eaLnBrk="1" latinLnBrk="0" hangingPunct="1"/>
            <a:endParaRPr lang="he-IL" dirty="0"/>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לאמן את </a:t>
            </a:r>
            <a:r>
              <a:rPr lang="en-US" dirty="0"/>
              <a:t>LLaMA</a:t>
            </a:r>
            <a:r>
              <a:rPr lang="he-IL" dirty="0"/>
              <a:t> אבל מדגישים את החיסכון בזמן </a:t>
            </a:r>
            <a:r>
              <a:rPr lang="he-IL" dirty="0" err="1"/>
              <a:t>האינפר</a:t>
            </a:r>
            <a:r>
              <a:rPr lang="he-IL" dirty="0"/>
              <a:t>.</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לסיכום,</a:t>
            </a:r>
          </a:p>
          <a:p>
            <a:pPr marL="0" algn="r" defTabSz="914400" rtl="1" eaLnBrk="1" latinLnBrk="0" hangingPunct="1"/>
            <a:endParaRPr lang="he-IL" dirty="0"/>
          </a:p>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p>
          <a:p>
            <a:pPr marL="0" algn="r" defTabSz="914400" rtl="1" eaLnBrk="1" latinLnBrk="0" hangingPunct="1"/>
            <a:endParaRPr lang="he-IL" dirty="0"/>
          </a:p>
          <a:p>
            <a:pPr marL="0" algn="r" defTabSz="914400" rtl="1" eaLnBrk="1" latinLnBrk="0" hangingPunct="1"/>
            <a:r>
              <a:rPr lang="he-IL" dirty="0"/>
              <a:t>מבחינת ביצועים, אלה נקודות העיקריות:</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err="1"/>
              <a:t>וה</a:t>
            </a:r>
            <a:r>
              <a:rPr lang="he-IL"/>
              <a:t>-</a:t>
            </a:r>
            <a:r>
              <a:rPr lang="en-US"/>
              <a:t>toxicity</a:t>
            </a:r>
            <a:endParaRPr lang="he-IL" dirty="0"/>
          </a:p>
          <a:p>
            <a:pPr marL="0" algn="r" defTabSz="914400" rtl="1" eaLnBrk="1" latinLnBrk="0" hangingPunct="1"/>
            <a:r>
              <a:rPr lang="he-IL" dirty="0"/>
              <a:t>2</a:t>
            </a:r>
            <a:r>
              <a:rPr lang="he-IL"/>
              <a:t>. אימון </a:t>
            </a:r>
            <a:r>
              <a:rPr lang="he-IL" dirty="0"/>
              <a:t>מודל שיודע לעקוב </a:t>
            </a:r>
            <a:r>
              <a:rPr lang="he-IL"/>
              <a:t>אחר הוראות</a:t>
            </a:r>
          </a:p>
          <a:p>
            <a:pPr marL="0" algn="r" defTabSz="914400" rtl="1" eaLnBrk="1" latinLnBrk="0" hangingPunct="1"/>
            <a:r>
              <a:rPr lang="he-IL"/>
              <a:t>4. שחרור מודלים גדולים יותר שמאומנים על קורפוסים גדולים יותר</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29</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12/5/25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12/5/25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12/5/25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12/5/25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500026"/>
          </a:xfrm>
        </p:spPr>
        <p:txBody>
          <a:bodyPr>
            <a:noAutofit/>
          </a:bodyPr>
          <a:lstStyle/>
          <a:p>
            <a:r>
              <a:rPr lang="en-US" b="0" i="0" dirty="0">
                <a:solidFill>
                  <a:schemeClr val="tx1"/>
                </a:solidFill>
                <a:effectLst/>
                <a:latin typeface="Times New Roman" panose="02020603050405020304" pitchFamily="18" charset="0"/>
                <a:cs typeface="Times New Roman" panose="02020603050405020304" pitchFamily="18" charset="0"/>
              </a:rPr>
              <a:t>Evaluation Methodology</a:t>
            </a:r>
            <a:endParaRPr lang="en-US" dirty="0">
              <a:solidFill>
                <a:schemeClr val="tx1"/>
              </a:solidFill>
            </a:endParaRPr>
          </a:p>
          <a:p>
            <a:r>
              <a:rPr lang="en-US" dirty="0">
                <a:solidFill>
                  <a:schemeClr val="tx1"/>
                </a:solidFill>
              </a:rPr>
              <a:t>Benchmarks</a:t>
            </a:r>
          </a:p>
          <a:p>
            <a:pPr lvl="1"/>
            <a:r>
              <a:rPr lang="en-US" sz="1600" dirty="0">
                <a:solidFill>
                  <a:schemeClr val="tx1"/>
                </a:solidFill>
              </a:rPr>
              <a:t>Common Sense Reasoning</a:t>
            </a:r>
          </a:p>
          <a:p>
            <a:pPr lvl="1"/>
            <a:r>
              <a:rPr lang="en-US" sz="1600" dirty="0">
                <a:solidFill>
                  <a:schemeClr val="tx1"/>
                </a:solidFill>
              </a:rPr>
              <a:t>Close-book Question Answering</a:t>
            </a:r>
          </a:p>
          <a:p>
            <a:pPr lvl="1"/>
            <a:r>
              <a:rPr lang="en-US" sz="1600" dirty="0">
                <a:solidFill>
                  <a:schemeClr val="tx1"/>
                </a:solidFill>
              </a:rPr>
              <a:t>Reading Comprehension</a:t>
            </a:r>
          </a:p>
          <a:p>
            <a:pPr lvl="1"/>
            <a:r>
              <a:rPr lang="en-US" sz="1600" dirty="0">
                <a:solidFill>
                  <a:schemeClr val="tx1"/>
                </a:solidFill>
              </a:rPr>
              <a:t>Mathematical Reasoning</a:t>
            </a:r>
          </a:p>
          <a:p>
            <a:pPr lvl="1"/>
            <a:r>
              <a:rPr lang="en-US" sz="1600" dirty="0">
                <a:solidFill>
                  <a:schemeClr val="tx1"/>
                </a:solidFill>
              </a:rPr>
              <a:t>Code Generation</a:t>
            </a:r>
          </a:p>
          <a:p>
            <a:pPr lvl="1"/>
            <a:r>
              <a:rPr lang="en-US" sz="1600" dirty="0">
                <a:solidFill>
                  <a:schemeClr val="tx1"/>
                </a:solidFill>
              </a:rPr>
              <a:t>MMLU</a:t>
            </a:r>
            <a:endParaRPr lang="he-IL" sz="1600" dirty="0">
              <a:solidFill>
                <a:schemeClr val="tx1"/>
              </a:solidFill>
            </a:endParaRPr>
          </a:p>
          <a:p>
            <a:pPr lvl="1"/>
            <a:r>
              <a:rPr lang="en-US" sz="1600" dirty="0">
                <a:solidFill>
                  <a:schemeClr val="tx1"/>
                </a:solidFill>
              </a:rPr>
              <a:t>Performance Evolution During Training</a:t>
            </a:r>
          </a:p>
          <a:p>
            <a:r>
              <a:rPr lang="en-US" dirty="0">
                <a:solidFill>
                  <a:schemeClr val="tx1"/>
                </a:solidFill>
              </a:rPr>
              <a:t>Additional Metrics</a:t>
            </a:r>
          </a:p>
          <a:p>
            <a:pPr lvl="1"/>
            <a:r>
              <a:rPr lang="en-US" sz="1600" dirty="0">
                <a:solidFill>
                  <a:schemeClr val="tx1"/>
                </a:solidFill>
              </a:rPr>
              <a:t>Instruction Finetuning</a:t>
            </a:r>
          </a:p>
          <a:p>
            <a:pPr lvl="1"/>
            <a:r>
              <a:rPr lang="en-US" sz="1600" b="0" i="0" dirty="0">
                <a:solidFill>
                  <a:schemeClr val="tx1"/>
                </a:solidFill>
                <a:effectLst/>
                <a:latin typeface="Times New Roman" panose="02020603050405020304" pitchFamily="18" charset="0"/>
                <a:cs typeface="Times New Roman" panose="02020603050405020304" pitchFamily="18" charset="0"/>
              </a:rPr>
              <a:t>Bias, Toxicity and Truthfulness</a:t>
            </a:r>
          </a:p>
          <a:p>
            <a:pPr lvl="1"/>
            <a:r>
              <a:rPr lang="en-US" sz="1600" dirty="0">
                <a:solidFill>
                  <a:schemeClr val="tx1"/>
                </a:solidFill>
              </a:rPr>
              <a:t>Carbon Footprint</a:t>
            </a:r>
          </a:p>
          <a:p>
            <a:r>
              <a:rPr lang="en-US" dirty="0">
                <a:solidFill>
                  <a:schemeClr val="tx1"/>
                </a:solidFill>
              </a:rPr>
              <a:t>Conclusions</a:t>
            </a:r>
          </a:p>
          <a:p>
            <a:r>
              <a:rPr lang="en-US" b="0" i="0" dirty="0">
                <a:solidFill>
                  <a:schemeClr val="tx1"/>
                </a:solidFill>
                <a:effectLst/>
                <a:latin typeface="Times New Roman" panose="02020603050405020304" pitchFamily="18" charset="0"/>
                <a:cs typeface="Times New Roman" panose="02020603050405020304" pitchFamily="18" charset="0"/>
              </a:rPr>
              <a:t>Showcase coding the GPT model and generating text</a:t>
            </a: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benchmarks based on 17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resources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NaturalQuestions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TriviaQA</a:t>
            </a:r>
            <a:endParaRPr lang="en-US" sz="1400" i="0" dirty="0">
              <a:latin typeface="Times New Roman" panose="02020603050405020304" pitchFamily="18" charset="0"/>
              <a:cs typeface="Times New Roman" panose="02020603050405020304" pitchFamily="18" charset="0"/>
            </a:endParaRP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9601200"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Demonstrates that brief finetuning on instruction data rapidly improves performance and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a:t>
                </a:r>
                <a:r>
                  <a:rPr lang="en-US" b="0" i="0" dirty="0" err="1">
                    <a:solidFill>
                      <a:schemeClr val="tx1"/>
                    </a:solidFill>
                    <a:effectLst/>
                    <a:latin typeface="Times New Roman" panose="02020603050405020304" pitchFamily="18" charset="0"/>
                    <a:cs typeface="Times New Roman" panose="02020603050405020304" pitchFamily="18" charset="0"/>
                  </a:rPr>
                  <a:t>LLaMA</a:t>
                </a:r>
                <a:r>
                  <a:rPr lang="en-US" b="0" i="0" dirty="0">
                    <a:solidFill>
                      <a:schemeClr val="tx1"/>
                    </a:solidFill>
                    <a:effectLst/>
                    <a:latin typeface="Times New Roman" panose="02020603050405020304" pitchFamily="18" charset="0"/>
                    <a:cs typeface="Times New Roman" panose="02020603050405020304" pitchFamily="18" charset="0"/>
                  </a:rPr>
                  <a:t>-I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TruethfulQA</a:t>
                </a:r>
                <a:endParaRPr lang="en-US" i="0" dirty="0">
                  <a:solidFill>
                    <a:schemeClr val="tx1"/>
                  </a:solidFill>
                  <a:latin typeface="Times New Roman" panose="02020603050405020304" pitchFamily="18" charset="0"/>
                  <a:cs typeface="Times New Roman" panose="02020603050405020304" pitchFamily="18" charset="0"/>
                </a:endParaRP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a:rPr lang="en-US" i="1" dirty="0" smtClean="0">
                        <a:solidFill>
                          <a:schemeClr val="tx1"/>
                        </a:solidFill>
                        <a:latin typeface="Cambria Math" panose="02040503050406030204" pitchFamily="18" charset="0"/>
                        <a:cs typeface="Times New Roman" panose="02020603050405020304" pitchFamily="18" charset="0"/>
                      </a:rPr>
                      <m:t>𝑀𝑊h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a:rPr lang="en-US" b="0" i="1" dirty="0" smtClean="0">
                        <a:solidFill>
                          <a:schemeClr val="tx1"/>
                        </a:solidFill>
                        <a:effectLst/>
                        <a:latin typeface="Cambria Math" panose="02040503050406030204" pitchFamily="18" charset="0"/>
                        <a:cs typeface="Times New Roman" panose="02020603050405020304" pitchFamily="18" charset="0"/>
                      </a:rPr>
                      <m:t>𝑡𝐶𝑂</m:t>
                    </m:r>
                    <m:r>
                      <a:rPr lang="en-US" b="0" i="1" dirty="0" smtClean="0">
                        <a:solidFill>
                          <a:schemeClr val="tx1"/>
                        </a:solidFill>
                        <a:effectLst/>
                        <a:latin typeface="Cambria Math" panose="02040503050406030204" pitchFamily="18" charset="0"/>
                        <a:cs typeface="Times New Roman" panose="02020603050405020304" pitchFamily="18" charset="0"/>
                      </a:rPr>
                      <m:t>2</m:t>
                    </m:r>
                    <m:r>
                      <a:rPr lang="en-US" b="0" i="1" dirty="0" smtClean="0">
                        <a:solidFill>
                          <a:schemeClr val="tx1"/>
                        </a:solidFill>
                        <a:effectLst/>
                        <a:latin typeface="Cambria Math" panose="02040503050406030204" pitchFamily="18" charset="0"/>
                        <a:cs typeface="Times New Roman" panose="02020603050405020304" pitchFamily="18" charset="0"/>
                      </a:rPr>
                      <m:t>𝑒𝑞</m:t>
                    </m:r>
                  </m:oMath>
                </a14:m>
                <a:r>
                  <a:rPr lang="en-US" b="0" i="0" dirty="0">
                    <a:solidFill>
                      <a:schemeClr val="tx1"/>
                    </a:solidFill>
                    <a:effectLst/>
                    <a:latin typeface="Times New Roman" panose="02020603050405020304" pitchFamily="18" charset="0"/>
                    <a:cs typeface="Times New Roman" panose="02020603050405020304" pitchFamily="18" charset="0"/>
                  </a:rPr>
                  <a:t>) and highlights how open releases reduce future environmental costs by preventing retraining.</a:t>
                </a:r>
              </a:p>
            </p:txBody>
          </p:sp>
        </mc:Choice>
        <mc:Fallback>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9601200" cy="5179161"/>
              </a:xfr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10x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5-10x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
                                            <p:txEl>
                                              <p:pRg st="2" end="2"/>
                                            </p:txEl>
                                          </p:spTgt>
                                        </p:tgtEl>
                                        <p:attrNameLst>
                                          <p:attrName>style.visibility</p:attrName>
                                        </p:attrNameLst>
                                      </p:cBhvr>
                                      <p:to>
                                        <p:strVal val="visible"/>
                                      </p:to>
                                    </p:set>
                                    <p:animEffect transition="in" filter="fade">
                                      <p:cBhvr>
                                        <p:cTn id="63" dur="250"/>
                                        <p:tgtEl>
                                          <p:spTgt spid="5">
                                            <p:txEl>
                                              <p:pRg st="2" end="2"/>
                                            </p:txEl>
                                          </p:spTgt>
                                        </p:tgtEl>
                                      </p:cBhvr>
                                    </p:animEffect>
                                  </p:childTnLst>
                                </p:cTn>
                              </p:par>
                              <p:par>
                                <p:cTn id="64" presetID="10" presetClass="exit" presetSubtype="0" fill="hold" grpId="1" nodeType="withEffect">
                                  <p:stCondLst>
                                    <p:cond delay="0"/>
                                  </p:stCondLst>
                                  <p:childTnLst>
                                    <p:animEffect transition="out" filter="fade">
                                      <p:cBhvr>
                                        <p:cTn id="65" dur="250"/>
                                        <p:tgtEl>
                                          <p:spTgt spid="17"/>
                                        </p:tgtEl>
                                      </p:cBhvr>
                                    </p:animEffect>
                                    <p:set>
                                      <p:cBhvr>
                                        <p:cTn id="66" dur="1" fill="hold">
                                          <p:stCondLst>
                                            <p:cond delay="249"/>
                                          </p:stCondLst>
                                        </p:cTn>
                                        <p:tgtEl>
                                          <p:spTgt spid="17"/>
                                        </p:tgtEl>
                                        <p:attrNameLst>
                                          <p:attrName>style.visibility</p:attrName>
                                        </p:attrNameLst>
                                      </p:cBhvr>
                                      <p:to>
                                        <p:strVal val="hidden"/>
                                      </p:to>
                                    </p:set>
                                  </p:childTnLst>
                                </p:cTn>
                              </p:par>
                              <p:par>
                                <p:cTn id="67" presetID="10" presetClass="exit" presetSubtype="0" fill="hold" grpId="1" nodeType="withEffect">
                                  <p:stCondLst>
                                    <p:cond delay="0"/>
                                  </p:stCondLst>
                                  <p:childTnLst>
                                    <p:animEffect transition="out" filter="fade">
                                      <p:cBhvr>
                                        <p:cTn id="68" dur="250"/>
                                        <p:tgtEl>
                                          <p:spTgt spid="18"/>
                                        </p:tgtEl>
                                      </p:cBhvr>
                                    </p:animEffect>
                                    <p:set>
                                      <p:cBhvr>
                                        <p:cTn id="69" dur="1" fill="hold">
                                          <p:stCondLst>
                                            <p:cond delay="249"/>
                                          </p:stCondLst>
                                        </p:cTn>
                                        <p:tgtEl>
                                          <p:spTgt spid="18"/>
                                        </p:tgtEl>
                                        <p:attrNameLst>
                                          <p:attrName>style.visibility</p:attrName>
                                        </p:attrNameLst>
                                      </p:cBhvr>
                                      <p:to>
                                        <p:strVal val="hidden"/>
                                      </p:to>
                                    </p:set>
                                  </p:childTnLst>
                                </p:cTn>
                              </p:par>
                              <p:par>
                                <p:cTn id="70" presetID="10" presetClass="exit" presetSubtype="0" fill="hold" grpId="1" nodeType="withEffect">
                                  <p:stCondLst>
                                    <p:cond delay="0"/>
                                  </p:stCondLst>
                                  <p:childTnLst>
                                    <p:animEffect transition="out" filter="fade">
                                      <p:cBhvr>
                                        <p:cTn id="71" dur="250"/>
                                        <p:tgtEl>
                                          <p:spTgt spid="15"/>
                                        </p:tgtEl>
                                      </p:cBhvr>
                                    </p:animEffect>
                                    <p:set>
                                      <p:cBhvr>
                                        <p:cTn id="72" dur="1" fill="hold">
                                          <p:stCondLst>
                                            <p:cond delay="249"/>
                                          </p:stCondLst>
                                        </p:cTn>
                                        <p:tgtEl>
                                          <p:spTgt spid="15"/>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4" dur="250"/>
                                        <p:tgtEl>
                                          <p:spTgt spid="14"/>
                                        </p:tgtEl>
                                      </p:cBhvr>
                                    </p:animEffect>
                                    <p:set>
                                      <p:cBhvr>
                                        <p:cTn id="75" dur="1" fill="hold">
                                          <p:stCondLst>
                                            <p:cond delay="249"/>
                                          </p:stCondLst>
                                        </p:cTn>
                                        <p:tgtEl>
                                          <p:spTgt spid="14"/>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7" dur="250"/>
                                        <p:tgtEl>
                                          <p:spTgt spid="12"/>
                                        </p:tgtEl>
                                      </p:cBhvr>
                                    </p:animEffect>
                                    <p:set>
                                      <p:cBhvr>
                                        <p:cTn id="78"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032556"/>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b="20802"/>
          <a:stretch/>
        </p:blipFill>
        <p:spPr>
          <a:xfrm>
            <a:off x="3822700" y="2052321"/>
            <a:ext cx="4546600" cy="2864585"/>
          </a:xfrm>
          <a:prstGeom prst="rect">
            <a:avLst/>
          </a:prstGeom>
        </p:spPr>
      </p:pic>
      <p:sp>
        <p:nvSpPr>
          <p:cNvPr id="8" name="Rounded Rectangle 7">
            <a:extLst>
              <a:ext uri="{FF2B5EF4-FFF2-40B4-BE49-F238E27FC236}">
                <a16:creationId xmlns:a16="http://schemas.microsoft.com/office/drawing/2014/main" id="{91ECBF2A-2189-10FD-B9A4-ED4E274CC637}"/>
              </a:ext>
            </a:extLst>
          </p:cNvPr>
          <p:cNvSpPr/>
          <p:nvPr/>
        </p:nvSpPr>
        <p:spPr>
          <a:xfrm>
            <a:off x="5770880" y="3352800"/>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837353F3-6349-88A8-7A01-C747130A6EDD}"/>
              </a:ext>
            </a:extLst>
          </p:cNvPr>
          <p:cNvSpPr/>
          <p:nvPr/>
        </p:nvSpPr>
        <p:spPr>
          <a:xfrm>
            <a:off x="5770880" y="4581626"/>
            <a:ext cx="2397760" cy="345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365C310-FE82-F58E-C3C2-D18A8F0A6D2E}"/>
              </a:ext>
            </a:extLst>
          </p:cNvPr>
          <p:cNvSpPr/>
          <p:nvPr/>
        </p:nvSpPr>
        <p:spPr>
          <a:xfrm>
            <a:off x="5770880" y="4025960"/>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882D46F5-F38F-B6DF-A58C-C15869E60D36}"/>
              </a:ext>
            </a:extLst>
          </p:cNvPr>
          <p:cNvSpPr/>
          <p:nvPr/>
        </p:nvSpPr>
        <p:spPr>
          <a:xfrm>
            <a:off x="5770880" y="2409228"/>
            <a:ext cx="2397760" cy="34544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4488074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3"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50"/>
                                        <p:tgtEl>
                                          <p:spTgt spid="8"/>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0"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250"/>
                                        <p:tgtEl>
                                          <p:spTgt spid="8"/>
                                        </p:tgtEl>
                                      </p:cBhvr>
                                    </p:animEffect>
                                    <p:set>
                                      <p:cBhvr>
                                        <p:cTn id="39" dur="1" fill="hold">
                                          <p:stCondLst>
                                            <p:cond delay="249"/>
                                          </p:stCondLst>
                                        </p:cTn>
                                        <p:tgtEl>
                                          <p:spTgt spid="8"/>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8"/>
                                        </p:tgtEl>
                                      </p:cBhvr>
                                    </p:animEffect>
                                    <p:set>
                                      <p:cBhvr>
                                        <p:cTn id="42" dur="1" fill="hold">
                                          <p:stCondLst>
                                            <p:cond delay="249"/>
                                          </p:stCondLst>
                                        </p:cTn>
                                        <p:tgtEl>
                                          <p:spTgt spid="8"/>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9"/>
                                        </p:tgtEl>
                                      </p:cBhvr>
                                    </p:animEffect>
                                    <p:set>
                                      <p:cBhvr>
                                        <p:cTn id="45" dur="1" fill="hold">
                                          <p:stCondLst>
                                            <p:cond delay="249"/>
                                          </p:stCondLst>
                                        </p:cTn>
                                        <p:tgtEl>
                                          <p:spTgt spid="9"/>
                                        </p:tgtEl>
                                        <p:attrNameLst>
                                          <p:attrName>style.visibility</p:attrName>
                                        </p:attrNameLst>
                                      </p:cBhvr>
                                      <p:to>
                                        <p:strVal val="hidden"/>
                                      </p:to>
                                    </p:set>
                                  </p:childTnLst>
                                </p:cTn>
                              </p:par>
                              <p:par>
                                <p:cTn id="46"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250"/>
                                        <p:tgtEl>
                                          <p:spTgt spid="1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250"/>
                                        <p:tgtEl>
                                          <p:spTgt spid="1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11"/>
                                        </p:tgtEl>
                                      </p:cBhvr>
                                    </p:animEffect>
                                    <p:set>
                                      <p:cBhvr>
                                        <p:cTn id="56" dur="1" fill="hold">
                                          <p:stCondLst>
                                            <p:cond delay="249"/>
                                          </p:stCondLst>
                                        </p:cTn>
                                        <p:tgtEl>
                                          <p:spTgt spid="11"/>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0"/>
                                        </p:tgtEl>
                                      </p:cBhvr>
                                    </p:animEffect>
                                    <p:set>
                                      <p:cBhvr>
                                        <p:cTn id="59" dur="1" fill="hold">
                                          <p:stCondLst>
                                            <p:cond delay="24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8" grpId="3" animBg="1"/>
      <p:bldP spid="9" grpId="0" animBg="1"/>
      <p:bldP spid="9" grpId="1" animBg="1"/>
      <p:bldP spid="9" grpId="2" animBg="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a:t>
            </a:r>
          </a:p>
          <a:p>
            <a:r>
              <a:rPr lang="en-US" dirty="0">
                <a:solidFill>
                  <a:schemeClr val="tx1"/>
                </a:solidFill>
                <a:latin typeface="Times New Roman" panose="02020603050405020304" pitchFamily="18" charset="0"/>
                <a:cs typeface="Times New Roman" panose="02020603050405020304" pitchFamily="18" charset="0"/>
              </a:rPr>
              <a:t>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4006850" y="2053389"/>
            <a:ext cx="4330700" cy="3530600"/>
          </a:xfrm>
          <a:prstGeom prst="rect">
            <a:avLst/>
          </a:prstGeom>
        </p:spPr>
      </p:pic>
      <p:sp>
        <p:nvSpPr>
          <p:cNvPr id="9" name="Rounded Rectangle 8">
            <a:extLst>
              <a:ext uri="{FF2B5EF4-FFF2-40B4-BE49-F238E27FC236}">
                <a16:creationId xmlns:a16="http://schemas.microsoft.com/office/drawing/2014/main" id="{2B8EDCB6-5830-FBCC-F731-15F58A855B0C}"/>
              </a:ext>
            </a:extLst>
          </p:cNvPr>
          <p:cNvSpPr/>
          <p:nvPr/>
        </p:nvSpPr>
        <p:spPr>
          <a:xfrm>
            <a:off x="5334000" y="5191760"/>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1E052FB1-CC4D-013B-44C6-FFA647326E7C}"/>
              </a:ext>
            </a:extLst>
          </p:cNvPr>
          <p:cNvSpPr/>
          <p:nvPr/>
        </p:nvSpPr>
        <p:spPr>
          <a:xfrm>
            <a:off x="5334000" y="3958154"/>
            <a:ext cx="3003550" cy="392229"/>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169730202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25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9"/>
                                        </p:tgtEl>
                                      </p:cBhvr>
                                    </p:animEffect>
                                    <p:set>
                                      <p:cBhvr>
                                        <p:cTn id="39"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for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3-shot for MBPP</a:t>
            </a:r>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3892550" y="2053389"/>
            <a:ext cx="4559300" cy="3403600"/>
          </a:xfrm>
          <a:prstGeom prst="rect">
            <a:avLst/>
          </a:prstGeom>
        </p:spPr>
      </p:pic>
      <p:sp>
        <p:nvSpPr>
          <p:cNvPr id="9" name="Rounded Rectangle 8">
            <a:extLst>
              <a:ext uri="{FF2B5EF4-FFF2-40B4-BE49-F238E27FC236}">
                <a16:creationId xmlns:a16="http://schemas.microsoft.com/office/drawing/2014/main" id="{A8F2023A-3BC1-9694-9F6E-17537BAC03B4}"/>
              </a:ext>
            </a:extLst>
          </p:cNvPr>
          <p:cNvSpPr/>
          <p:nvPr/>
        </p:nvSpPr>
        <p:spPr>
          <a:xfrm>
            <a:off x="5933440" y="2743200"/>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8B056098-5B9B-22B8-614B-4792484FE2C4}"/>
              </a:ext>
            </a:extLst>
          </p:cNvPr>
          <p:cNvSpPr/>
          <p:nvPr/>
        </p:nvSpPr>
        <p:spPr>
          <a:xfrm>
            <a:off x="5933440" y="4533168"/>
            <a:ext cx="251841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B7EC3C40-B43C-4500-1F05-36F15504E496}"/>
              </a:ext>
            </a:extLst>
          </p:cNvPr>
          <p:cNvSpPr/>
          <p:nvPr/>
        </p:nvSpPr>
        <p:spPr>
          <a:xfrm>
            <a:off x="5933440" y="5091228"/>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1E13EB50-624D-5552-33BB-9C8046244FFD}"/>
              </a:ext>
            </a:extLst>
          </p:cNvPr>
          <p:cNvSpPr/>
          <p:nvPr/>
        </p:nvSpPr>
        <p:spPr>
          <a:xfrm>
            <a:off x="5933440" y="3313062"/>
            <a:ext cx="2518410" cy="32512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118659364"/>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50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9"/>
                                        </p:tgtEl>
                                      </p:cBhvr>
                                    </p:animEffect>
                                    <p:set>
                                      <p:cBhvr>
                                        <p:cTn id="36" dur="1" fill="hold">
                                          <p:stCondLst>
                                            <p:cond delay="249"/>
                                          </p:stCondLst>
                                        </p:cTn>
                                        <p:tgtEl>
                                          <p:spTgt spid="9"/>
                                        </p:tgtEl>
                                        <p:attrNameLst>
                                          <p:attrName>style.visibility</p:attrName>
                                        </p:attrNameLst>
                                      </p:cBhvr>
                                      <p:to>
                                        <p:strVal val="hidden"/>
                                      </p:to>
                                    </p:se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5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5">
                                            <p:txEl>
                                              <p:pRg st="2" end="2"/>
                                            </p:txEl>
                                          </p:spTgt>
                                        </p:tgtEl>
                                        <p:attrNameLst>
                                          <p:attrName>style.visibility</p:attrName>
                                        </p:attrNameLst>
                                      </p:cBhvr>
                                      <p:to>
                                        <p:strVal val="visible"/>
                                      </p:to>
                                    </p:set>
                                    <p:animEffect transition="in" filter="fade">
                                      <p:cBhvr>
                                        <p:cTn id="50" dur="500"/>
                                        <p:tgtEl>
                                          <p:spTgt spid="5">
                                            <p:txEl>
                                              <p:pRg st="2" end="2"/>
                                            </p:txEl>
                                          </p:spTgt>
                                        </p:tgtEl>
                                      </p:cBhvr>
                                    </p:animEffect>
                                  </p:childTnLst>
                                </p:cTn>
                              </p:par>
                              <p:par>
                                <p:cTn id="51" presetID="10" presetClass="exit" presetSubtype="0" fill="hold" grpId="2" nodeType="withEffect">
                                  <p:stCondLst>
                                    <p:cond delay="0"/>
                                  </p:stCondLst>
                                  <p:childTnLst>
                                    <p:animEffect transition="out" filter="fade">
                                      <p:cBhvr>
                                        <p:cTn id="52" dur="250"/>
                                        <p:tgtEl>
                                          <p:spTgt spid="10"/>
                                        </p:tgtEl>
                                      </p:cBhvr>
                                    </p:animEffect>
                                    <p:set>
                                      <p:cBhvr>
                                        <p:cTn id="53" dur="1" fill="hold">
                                          <p:stCondLst>
                                            <p:cond delay="249"/>
                                          </p:stCondLst>
                                        </p:cTn>
                                        <p:tgtEl>
                                          <p:spTgt spid="10"/>
                                        </p:tgtEl>
                                        <p:attrNameLst>
                                          <p:attrName>style.visibility</p:attrName>
                                        </p:attrNameLst>
                                      </p:cBhvr>
                                      <p:to>
                                        <p:strVal val="hidden"/>
                                      </p:to>
                                    </p:set>
                                  </p:childTnLst>
                                </p:cTn>
                              </p:par>
                              <p:par>
                                <p:cTn id="54" presetID="10" presetClass="exit" presetSubtype="0" fill="hold" grpId="1" nodeType="withEffect">
                                  <p:stCondLst>
                                    <p:cond delay="0"/>
                                  </p:stCondLst>
                                  <p:childTnLst>
                                    <p:animEffect transition="out" filter="fade">
                                      <p:cBhvr>
                                        <p:cTn id="55" dur="250"/>
                                        <p:tgtEl>
                                          <p:spTgt spid="12"/>
                                        </p:tgtEl>
                                      </p:cBhvr>
                                    </p:animEffect>
                                    <p:set>
                                      <p:cBhvr>
                                        <p:cTn id="56" dur="1" fill="hold">
                                          <p:stCondLst>
                                            <p:cond delay="249"/>
                                          </p:stCondLst>
                                        </p:cTn>
                                        <p:tgtEl>
                                          <p:spTgt spid="12"/>
                                        </p:tgtEl>
                                        <p:attrNameLst>
                                          <p:attrName>style.visibility</p:attrName>
                                        </p:attrNameLst>
                                      </p:cBhvr>
                                      <p:to>
                                        <p:strVal val="hidden"/>
                                      </p:to>
                                    </p:set>
                                  </p:childTnLst>
                                </p:cTn>
                              </p:par>
                              <p:par>
                                <p:cTn id="57" presetID="10" presetClass="exit" presetSubtype="0" fill="hold" grpId="1" nodeType="withEffect">
                                  <p:stCondLst>
                                    <p:cond delay="0"/>
                                  </p:stCondLst>
                                  <p:childTnLst>
                                    <p:animEffect transition="out" filter="fade">
                                      <p:cBhvr>
                                        <p:cTn id="58" dur="250"/>
                                        <p:tgtEl>
                                          <p:spTgt spid="11"/>
                                        </p:tgtEl>
                                      </p:cBhvr>
                                    </p:animEffect>
                                    <p:set>
                                      <p:cBhvr>
                                        <p:cTn id="59" dur="1" fill="hold">
                                          <p:stCondLst>
                                            <p:cond delay="2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0" grpId="2" animBg="1"/>
      <p:bldP spid="11" grpId="0" animBg="1"/>
      <p:bldP spid="11" grpId="1" animBg="1"/>
      <p:bldP spid="12" grpId="0" animBg="1"/>
      <p:bldP spid="12"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a:bodyPr>
          <a:lstStyle/>
          <a:p>
            <a:pPr>
              <a:spcAft>
                <a:spcPts val="600"/>
              </a:spcAft>
            </a:pP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1017494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Potentially due to limited book and </a:t>
            </a:r>
            <a:r>
              <a:rPr lang="en-US" dirty="0" err="1">
                <a:solidFill>
                  <a:schemeClr val="tx1"/>
                </a:solidFill>
                <a:latin typeface="Times New Roman" panose="02020603050405020304" pitchFamily="18" charset="0"/>
                <a:cs typeface="Times New Roman" panose="02020603050405020304" pitchFamily="18" charset="0"/>
              </a:rPr>
              <a:t>ArXiv</a:t>
            </a:r>
            <a:r>
              <a:rPr lang="en-US" dirty="0">
                <a:solidFill>
                  <a:schemeClr val="tx1"/>
                </a:solidFill>
                <a:latin typeface="Times New Roman" panose="02020603050405020304" pitchFamily="18" charset="0"/>
                <a:cs typeface="Times New Roman" panose="02020603050405020304" pitchFamily="18" charset="0"/>
              </a:rPr>
              <a:t> data in 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
        <p:nvSpPr>
          <p:cNvPr id="8" name="Rounded Rectangle 7">
            <a:extLst>
              <a:ext uri="{FF2B5EF4-FFF2-40B4-BE49-F238E27FC236}">
                <a16:creationId xmlns:a16="http://schemas.microsoft.com/office/drawing/2014/main" id="{C5832759-E21F-D90C-E17C-92732B702289}"/>
              </a:ext>
            </a:extLst>
          </p:cNvPr>
          <p:cNvSpPr/>
          <p:nvPr/>
        </p:nvSpPr>
        <p:spPr>
          <a:xfrm>
            <a:off x="4734560" y="5242560"/>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B8893EE6-A1B9-E5D1-A392-361D58E30809}"/>
              </a:ext>
            </a:extLst>
          </p:cNvPr>
          <p:cNvSpPr/>
          <p:nvPr/>
        </p:nvSpPr>
        <p:spPr>
          <a:xfrm>
            <a:off x="4734560" y="3221811"/>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0559C847-D086-C58C-F419-FF47904CC999}"/>
              </a:ext>
            </a:extLst>
          </p:cNvPr>
          <p:cNvSpPr/>
          <p:nvPr/>
        </p:nvSpPr>
        <p:spPr>
          <a:xfrm>
            <a:off x="4734560" y="4087453"/>
            <a:ext cx="4795520" cy="33010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9381866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2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2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25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5">
                                            <p:txEl>
                                              <p:pRg st="1" end="1"/>
                                            </p:txEl>
                                          </p:spTgt>
                                        </p:tgtEl>
                                        <p:attrNameLst>
                                          <p:attrName>style.visibility</p:attrName>
                                        </p:attrNameLst>
                                      </p:cBhvr>
                                      <p:to>
                                        <p:strVal val="visible"/>
                                      </p:to>
                                    </p:set>
                                    <p:animEffect transition="in" filter="fade">
                                      <p:cBhvr>
                                        <p:cTn id="36" dur="250"/>
                                        <p:tgtEl>
                                          <p:spTgt spid="5">
                                            <p:txEl>
                                              <p:pRg st="1" end="1"/>
                                            </p:txEl>
                                          </p:spTgt>
                                        </p:tgtEl>
                                      </p:cBhvr>
                                    </p:animEffect>
                                  </p:childTnLst>
                                </p:cTn>
                              </p:par>
                              <p:par>
                                <p:cTn id="37" presetID="10" presetClass="exit" presetSubtype="0" fill="hold" grpId="1" nodeType="withEffect">
                                  <p:stCondLst>
                                    <p:cond delay="0"/>
                                  </p:stCondLst>
                                  <p:childTnLst>
                                    <p:animEffect transition="out" filter="fade">
                                      <p:cBhvr>
                                        <p:cTn id="38" dur="250"/>
                                        <p:tgtEl>
                                          <p:spTgt spid="10"/>
                                        </p:tgtEl>
                                      </p:cBhvr>
                                    </p:animEffect>
                                    <p:set>
                                      <p:cBhvr>
                                        <p:cTn id="39" dur="1" fill="hold">
                                          <p:stCondLst>
                                            <p:cond delay="249"/>
                                          </p:stCondLst>
                                        </p:cTn>
                                        <p:tgtEl>
                                          <p:spTgt spid="10"/>
                                        </p:tgtEl>
                                        <p:attrNameLst>
                                          <p:attrName>style.visibility</p:attrName>
                                        </p:attrNameLst>
                                      </p:cBhvr>
                                      <p:to>
                                        <p:strVal val="hidden"/>
                                      </p:to>
                                    </p:set>
                                  </p:childTnLst>
                                </p:cTn>
                              </p:par>
                              <p:par>
                                <p:cTn id="40" presetID="10" presetClass="exit" presetSubtype="0" fill="hold" grpId="1" nodeType="withEffect">
                                  <p:stCondLst>
                                    <p:cond delay="0"/>
                                  </p:stCondLst>
                                  <p:childTnLst>
                                    <p:animEffect transition="out" filter="fade">
                                      <p:cBhvr>
                                        <p:cTn id="41" dur="250"/>
                                        <p:tgtEl>
                                          <p:spTgt spid="9"/>
                                        </p:tgtEl>
                                      </p:cBhvr>
                                    </p:animEffect>
                                    <p:set>
                                      <p:cBhvr>
                                        <p:cTn id="42" dur="1" fill="hold">
                                          <p:stCondLst>
                                            <p:cond delay="249"/>
                                          </p:stCondLst>
                                        </p:cTn>
                                        <p:tgtEl>
                                          <p:spTgt spid="9"/>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250"/>
                                        <p:tgtEl>
                                          <p:spTgt spid="8"/>
                                        </p:tgtEl>
                                      </p:cBhvr>
                                    </p:animEffect>
                                    <p:set>
                                      <p:cBhvr>
                                        <p:cTn id="45" dur="1" fill="hold">
                                          <p:stCondLst>
                                            <p:cond delay="2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599" y="1052474"/>
            <a:ext cx="6432507" cy="3966566"/>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30000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5110479"/>
            <a:ext cx="10241280" cy="1625547"/>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812326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Strong correlation between training perplexity and accuracy</a:t>
            </a: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
        <p:nvSpPr>
          <p:cNvPr id="8" name="Rounded Rectangle 7">
            <a:extLst>
              <a:ext uri="{FF2B5EF4-FFF2-40B4-BE49-F238E27FC236}">
                <a16:creationId xmlns:a16="http://schemas.microsoft.com/office/drawing/2014/main" id="{0526E677-5D32-8A6F-4D60-4444F3854DCF}"/>
              </a:ext>
            </a:extLst>
          </p:cNvPr>
          <p:cNvSpPr/>
          <p:nvPr/>
        </p:nvSpPr>
        <p:spPr>
          <a:xfrm>
            <a:off x="1371599" y="2956560"/>
            <a:ext cx="2184401" cy="2062480"/>
          </a:xfrm>
          <a:prstGeom prst="roundRect">
            <a:avLst/>
          </a:prstGeom>
          <a:solidFill>
            <a:schemeClr val="accent6">
              <a:lumMod val="20000"/>
              <a:lumOff val="80000"/>
              <a:alpha val="26730"/>
            </a:scheme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Rounded Rectangle 8">
            <a:extLst>
              <a:ext uri="{FF2B5EF4-FFF2-40B4-BE49-F238E27FC236}">
                <a16:creationId xmlns:a16="http://schemas.microsoft.com/office/drawing/2014/main" id="{DC1208E2-4315-E4DA-431C-CCA73A08E5F8}"/>
              </a:ext>
            </a:extLst>
          </p:cNvPr>
          <p:cNvSpPr/>
          <p:nvPr/>
        </p:nvSpPr>
        <p:spPr>
          <a:xfrm>
            <a:off x="3800994" y="3149600"/>
            <a:ext cx="1787006" cy="5994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74484034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250"/>
                                        <p:tgtEl>
                                          <p:spTgt spid="6">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250"/>
                                        <p:tgtEl>
                                          <p:spTgt spid="7">
                                            <p:txEl>
                                              <p:pRg st="0" end="0"/>
                                            </p:txEl>
                                          </p:spTgt>
                                        </p:tgtEl>
                                      </p:cBhvr>
                                    </p:animEffect>
                                  </p:childTnLst>
                                </p:cTn>
                              </p:par>
                            </p:childTnLst>
                          </p:cTn>
                        </p:par>
                        <p:par>
                          <p:cTn id="23" fill="hold">
                            <p:stCondLst>
                              <p:cond delay="250"/>
                            </p:stCondLst>
                            <p:childTnLst>
                              <p:par>
                                <p:cTn id="24" presetID="10" presetClass="entr" presetSubtype="0" fill="hold" nodeType="afterEffect">
                                  <p:stCondLst>
                                    <p:cond delay="0"/>
                                  </p:stCondLst>
                                  <p:childTnLst>
                                    <p:set>
                                      <p:cBhvr>
                                        <p:cTn id="25" dur="1" fill="hold">
                                          <p:stCondLst>
                                            <p:cond delay="0"/>
                                          </p:stCondLst>
                                        </p:cTn>
                                        <p:tgtEl>
                                          <p:spTgt spid="7">
                                            <p:txEl>
                                              <p:pRg st="1" end="1"/>
                                            </p:txEl>
                                          </p:spTgt>
                                        </p:tgtEl>
                                        <p:attrNameLst>
                                          <p:attrName>style.visibility</p:attrName>
                                        </p:attrNameLst>
                                      </p:cBhvr>
                                      <p:to>
                                        <p:strVal val="visible"/>
                                      </p:to>
                                    </p:set>
                                    <p:animEffect transition="in" filter="fade">
                                      <p:cBhvr>
                                        <p:cTn id="26" dur="250"/>
                                        <p:tgtEl>
                                          <p:spTgt spid="7">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xEl>
                                              <p:pRg st="1" end="1"/>
                                            </p:txEl>
                                          </p:spTgt>
                                        </p:tgtEl>
                                        <p:attrNameLst>
                                          <p:attrName>style.visibility</p:attrName>
                                        </p:attrNameLst>
                                      </p:cBhvr>
                                      <p:to>
                                        <p:strVal val="visible"/>
                                      </p:to>
                                    </p:set>
                                    <p:animEffect transition="in" filter="fade">
                                      <p:cBhvr>
                                        <p:cTn id="31" dur="500"/>
                                        <p:tgtEl>
                                          <p:spTgt spid="6">
                                            <p:txEl>
                                              <p:pRg st="1" end="1"/>
                                            </p:txEl>
                                          </p:spTgt>
                                        </p:tgtEl>
                                      </p:cBhvr>
                                    </p:animEffect>
                                  </p:childTnLst>
                                </p:cTn>
                              </p:par>
                            </p:childTnLst>
                          </p:cTn>
                        </p:par>
                        <p:par>
                          <p:cTn id="32" fill="hold">
                            <p:stCondLst>
                              <p:cond delay="500"/>
                            </p:stCondLst>
                            <p:childTnLst>
                              <p:par>
                                <p:cTn id="33" presetID="10" presetClass="entr" presetSubtype="0" fill="hold" nodeType="after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250"/>
                                        <p:tgtEl>
                                          <p:spTgt spid="6">
                                            <p:txEl>
                                              <p:pRg st="2" end="2"/>
                                            </p:txEl>
                                          </p:spTgt>
                                        </p:tgtEl>
                                      </p:cBhvr>
                                    </p:animEffect>
                                  </p:childTnLst>
                                </p:cTn>
                              </p:par>
                            </p:childTnLst>
                          </p:cTn>
                        </p:par>
                        <p:par>
                          <p:cTn id="36" fill="hold">
                            <p:stCondLst>
                              <p:cond delay="750"/>
                            </p:stCondLst>
                            <p:childTnLst>
                              <p:par>
                                <p:cTn id="37" presetID="10" presetClass="entr" presetSubtype="0" fill="hold" grpId="0" nodeType="after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par>
                          <p:cTn id="40" fill="hold">
                            <p:stCondLst>
                              <p:cond delay="1250"/>
                            </p:stCondLst>
                            <p:childTnLst>
                              <p:par>
                                <p:cTn id="41" presetID="10" presetClass="exit" presetSubtype="0" fill="hold" grpId="1" nodeType="afterEffect">
                                  <p:stCondLst>
                                    <p:cond delay="0"/>
                                  </p:stCondLst>
                                  <p:childTnLst>
                                    <p:animEffect transition="out" filter="fade">
                                      <p:cBhvr>
                                        <p:cTn id="42" dur="750"/>
                                        <p:tgtEl>
                                          <p:spTgt spid="8"/>
                                        </p:tgtEl>
                                      </p:cBhvr>
                                    </p:animEffect>
                                    <p:set>
                                      <p:cBhvr>
                                        <p:cTn id="43" dur="1" fill="hold">
                                          <p:stCondLst>
                                            <p:cond delay="749"/>
                                          </p:stCondLst>
                                        </p:cTn>
                                        <p:tgtEl>
                                          <p:spTgt spid="8"/>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6">
                                            <p:txEl>
                                              <p:pRg st="3" end="3"/>
                                            </p:txEl>
                                          </p:spTgt>
                                        </p:tgtEl>
                                        <p:attrNameLst>
                                          <p:attrName>style.visibility</p:attrName>
                                        </p:attrNameLst>
                                      </p:cBhvr>
                                      <p:to>
                                        <p:strVal val="visible"/>
                                      </p:to>
                                    </p:set>
                                    <p:animEffect transition="in" filter="fade">
                                      <p:cBhvr>
                                        <p:cTn id="48" dur="500"/>
                                        <p:tgtEl>
                                          <p:spTgt spid="6">
                                            <p:txEl>
                                              <p:pRg st="3" end="3"/>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fade">
                                      <p:cBhvr>
                                        <p:cTn id="51" dur="25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250"/>
                                        <p:tgtEl>
                                          <p:spTgt spid="9"/>
                                        </p:tgtEl>
                                      </p:cBhvr>
                                    </p:animEffect>
                                    <p:set>
                                      <p:cBhvr>
                                        <p:cTn id="56" dur="1" fill="hold">
                                          <p:stCondLst>
                                            <p:cond delay="2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t="2468" r="16403" b="20895"/>
          <a:stretch/>
        </p:blipFill>
        <p:spPr>
          <a:xfrm>
            <a:off x="8524370" y="1239521"/>
            <a:ext cx="3081580" cy="3279956"/>
          </a:xfrm>
          <a:prstGeom prst="rect">
            <a:avLst/>
          </a:prstGeom>
        </p:spPr>
      </p:pic>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
        <p:nvSpPr>
          <p:cNvPr id="10" name="Rounded Rectangle 9">
            <a:extLst>
              <a:ext uri="{FF2B5EF4-FFF2-40B4-BE49-F238E27FC236}">
                <a16:creationId xmlns:a16="http://schemas.microsoft.com/office/drawing/2014/main" id="{13B4D651-26DE-8160-3423-5CBEF8186EAE}"/>
              </a:ext>
            </a:extLst>
          </p:cNvPr>
          <p:cNvSpPr/>
          <p:nvPr/>
        </p:nvSpPr>
        <p:spPr>
          <a:xfrm>
            <a:off x="8524370" y="2631440"/>
            <a:ext cx="3081580" cy="32512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A0E3D2F3-F70C-3560-38E7-D4225A30F6B9}"/>
              </a:ext>
            </a:extLst>
          </p:cNvPr>
          <p:cNvSpPr/>
          <p:nvPr/>
        </p:nvSpPr>
        <p:spPr>
          <a:xfrm>
            <a:off x="8524369" y="4135120"/>
            <a:ext cx="3081581" cy="33934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D2ED9063-490E-9BB2-DA23-20CDAD3D4683}"/>
              </a:ext>
            </a:extLst>
          </p:cNvPr>
          <p:cNvSpPr/>
          <p:nvPr/>
        </p:nvSpPr>
        <p:spPr>
          <a:xfrm>
            <a:off x="10952479" y="1176434"/>
            <a:ext cx="633151" cy="327995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706834222"/>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par>
                          <p:cTn id="23" fill="hold">
                            <p:stCondLst>
                              <p:cond delay="500"/>
                            </p:stCondLst>
                            <p:childTnLst>
                              <p:par>
                                <p:cTn id="24" presetID="10" presetClass="entr" presetSubtype="0" fill="hold" nodeType="after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250"/>
                                        <p:tgtEl>
                                          <p:spTgt spid="3">
                                            <p:txEl>
                                              <p:pRg st="3" end="3"/>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5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fade">
                                      <p:cBhvr>
                                        <p:cTn id="34" dur="250"/>
                                        <p:tgtEl>
                                          <p:spTgt spid="3">
                                            <p:txEl>
                                              <p:pRg st="4" end="4"/>
                                            </p:txEl>
                                          </p:spTgt>
                                        </p:tgtEl>
                                      </p:cBhvr>
                                    </p:animEffect>
                                  </p:childTnLst>
                                </p:cTn>
                              </p:par>
                              <p:par>
                                <p:cTn id="35" presetID="10" presetClass="exit" presetSubtype="0" fill="hold" grpId="1" nodeType="withEffect">
                                  <p:stCondLst>
                                    <p:cond delay="0"/>
                                  </p:stCondLst>
                                  <p:childTnLst>
                                    <p:animEffect transition="out" filter="fade">
                                      <p:cBhvr>
                                        <p:cTn id="36" dur="250"/>
                                        <p:tgtEl>
                                          <p:spTgt spid="10"/>
                                        </p:tgtEl>
                                      </p:cBhvr>
                                    </p:animEffect>
                                    <p:set>
                                      <p:cBhvr>
                                        <p:cTn id="37" dur="1" fill="hold">
                                          <p:stCondLst>
                                            <p:cond delay="249"/>
                                          </p:stCondLst>
                                        </p:cTn>
                                        <p:tgtEl>
                                          <p:spTgt spid="10"/>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5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250"/>
                                        <p:tgtEl>
                                          <p:spTgt spid="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
                                            <p:txEl>
                                              <p:pRg st="5" end="5"/>
                                            </p:txEl>
                                          </p:spTgt>
                                        </p:tgtEl>
                                        <p:attrNameLst>
                                          <p:attrName>style.visibility</p:attrName>
                                        </p:attrNameLst>
                                      </p:cBhvr>
                                      <p:to>
                                        <p:strVal val="visible"/>
                                      </p:to>
                                    </p:set>
                                    <p:animEffect transition="in" filter="fade">
                                      <p:cBhvr>
                                        <p:cTn id="48" dur="500"/>
                                        <p:tgtEl>
                                          <p:spTgt spid="3">
                                            <p:txEl>
                                              <p:pRg st="5" end="5"/>
                                            </p:txEl>
                                          </p:spTgt>
                                        </p:tgtEl>
                                      </p:cBhvr>
                                    </p:animEffect>
                                  </p:childTnLst>
                                </p:cTn>
                              </p:par>
                              <p:par>
                                <p:cTn id="49" presetID="10" presetClass="exit" presetSubtype="0" fill="hold" grpId="1" nodeType="withEffect">
                                  <p:stCondLst>
                                    <p:cond delay="0"/>
                                  </p:stCondLst>
                                  <p:childTnLst>
                                    <p:animEffect transition="out" filter="fade">
                                      <p:cBhvr>
                                        <p:cTn id="50" dur="250"/>
                                        <p:tgtEl>
                                          <p:spTgt spid="12"/>
                                        </p:tgtEl>
                                      </p:cBhvr>
                                    </p:animEffect>
                                    <p:set>
                                      <p:cBhvr>
                                        <p:cTn id="51" dur="1" fill="hold">
                                          <p:stCondLst>
                                            <p:cond delay="249"/>
                                          </p:stCondLst>
                                        </p:cTn>
                                        <p:tgtEl>
                                          <p:spTgt spid="12"/>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250"/>
                                        <p:tgtEl>
                                          <p:spTgt spid="11"/>
                                        </p:tgtEl>
                                      </p:cBhvr>
                                    </p:animEffect>
                                    <p:set>
                                      <p:cBhvr>
                                        <p:cTn id="54" dur="1" fill="hold">
                                          <p:stCondLst>
                                            <p:cond delay="249"/>
                                          </p:stCondLst>
                                        </p:cTn>
                                        <p:tgtEl>
                                          <p:spTgt spid="11"/>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8">
                                            <p:txEl>
                                              <p:pRg st="0" end="0"/>
                                            </p:txEl>
                                          </p:spTgt>
                                        </p:tgtEl>
                                        <p:attrNameLst>
                                          <p:attrName>style.visibility</p:attrName>
                                        </p:attrNameLst>
                                      </p:cBhvr>
                                      <p:to>
                                        <p:strVal val="visible"/>
                                      </p:to>
                                    </p:set>
                                    <p:animEffect transition="in" filter="fade">
                                      <p:cBhvr>
                                        <p:cTn id="59" dur="250"/>
                                        <p:tgtEl>
                                          <p:spTgt spid="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are trained on large amount of Web data</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models are no exception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2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25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25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250"/>
                                        <p:tgtEl>
                                          <p:spTgt spid="3">
                                            <p:txEl>
                                              <p:pRg st="8" end="8"/>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10" end="10"/>
                                            </p:txEl>
                                          </p:spTgt>
                                        </p:tgtEl>
                                        <p:attrNameLst>
                                          <p:attrName>style.visibility</p:attrName>
                                        </p:attrNameLst>
                                      </p:cBhvr>
                                      <p:to>
                                        <p:strVal val="visible"/>
                                      </p:to>
                                    </p:set>
                                    <p:animEffect transition="in" filter="fade">
                                      <p:cBhvr>
                                        <p:cTn id="32" dur="25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C7229-7DC3-E736-EA4A-101904DA3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D234-3A5A-EA14-C5F4-29D29ED26E8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0BA3B8E-20E0-DD0D-98BC-3595EAA5BF87}"/>
              </a:ext>
            </a:extLst>
          </p:cNvPr>
          <p:cNvSpPr txBox="1">
            <a:spLocks/>
          </p:cNvSpPr>
          <p:nvPr/>
        </p:nvSpPr>
        <p:spPr>
          <a:xfrm>
            <a:off x="1371600" y="1133856"/>
            <a:ext cx="10411534"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err="1">
                <a:solidFill>
                  <a:schemeClr val="tx1"/>
                </a:solidFill>
                <a:latin typeface="Times New Roman" panose="02020603050405020304" pitchFamily="18" charset="0"/>
                <a:cs typeface="Times New Roman" panose="02020603050405020304" pitchFamily="18" charset="0"/>
              </a:rPr>
              <a:t>RealToxicityPrompts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Evaluate Toxicity Score (0 to 1) using </a:t>
            </a:r>
            <a:r>
              <a:rPr lang="en-US" sz="1800" b="1" i="0" dirty="0" err="1">
                <a:solidFill>
                  <a:schemeClr val="tx1"/>
                </a:solidFill>
                <a:latin typeface="Times New Roman" panose="02020603050405020304" pitchFamily="18" charset="0"/>
                <a:cs typeface="Times New Roman" panose="02020603050405020304" pitchFamily="18" charset="0"/>
              </a:rPr>
              <a:t>PerspectiveAPI</a:t>
            </a:r>
            <a:endParaRPr lang="en-US" sz="1800" i="0"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Toxicity tends to increase with model size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Largest model is toxic when given “Respectful” prompts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Comparisons are difficult due to different in sampling strategies and API versions</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CrowS</a:t>
            </a:r>
            <a:r>
              <a:rPr lang="en-US" b="1" dirty="0">
                <a:solidFill>
                  <a:schemeClr val="tx1"/>
                </a:solidFill>
                <a:latin typeface="Times New Roman" panose="02020603050405020304" pitchFamily="18" charset="0"/>
                <a:cs typeface="Times New Roman" panose="02020603050405020304" pitchFamily="18" charset="0"/>
              </a:rPr>
              <a:t>-Pairs &amp; </a:t>
            </a:r>
            <a:r>
              <a:rPr lang="en-US" b="1" dirty="0" err="1">
                <a:solidFill>
                  <a:schemeClr val="tx1"/>
                </a:solidFill>
                <a:latin typeface="Times New Roman" panose="02020603050405020304" pitchFamily="18" charset="0"/>
                <a:cs typeface="Times New Roman" panose="02020603050405020304" pitchFamily="18" charset="0"/>
              </a:rPr>
              <a:t>WinoGender</a:t>
            </a:r>
            <a:endParaRPr lang="en-US" b="1" dirty="0">
              <a:solidFill>
                <a:schemeClr val="tx1"/>
              </a:solidFill>
              <a:latin typeface="Times New Roman" panose="02020603050405020304" pitchFamily="18" charset="0"/>
              <a:cs typeface="Times New Roman" panose="02020603050405020304" pitchFamily="18" charset="0"/>
            </a:endParaRP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Evaluate model stereotypical biases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compares slightly favorably to GPT-3 and OPT-175B on average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Biased in the </a:t>
            </a:r>
            <a:r>
              <a:rPr lang="en-US" sz="1800" b="1" i="0" dirty="0">
                <a:solidFill>
                  <a:schemeClr val="tx1"/>
                </a:solidFill>
                <a:latin typeface="Times New Roman" panose="02020603050405020304" pitchFamily="18" charset="0"/>
                <a:cs typeface="Times New Roman" panose="02020603050405020304" pitchFamily="18" charset="0"/>
              </a:rPr>
              <a:t>Religion</a:t>
            </a:r>
            <a:r>
              <a:rPr lang="en-US" sz="1800" i="0" dirty="0">
                <a:solidFill>
                  <a:schemeClr val="tx1"/>
                </a:solidFill>
                <a:latin typeface="Times New Roman" panose="02020603050405020304" pitchFamily="18" charset="0"/>
                <a:cs typeface="Times New Roman" panose="02020603050405020304" pitchFamily="18" charset="0"/>
              </a:rPr>
              <a:t>, followed by </a:t>
            </a:r>
            <a:r>
              <a:rPr lang="en-US" sz="1800" b="1" i="0" dirty="0">
                <a:solidFill>
                  <a:schemeClr val="tx1"/>
                </a:solidFill>
                <a:latin typeface="Times New Roman" panose="02020603050405020304" pitchFamily="18" charset="0"/>
                <a:cs typeface="Times New Roman" panose="02020603050405020304" pitchFamily="18" charset="0"/>
              </a:rPr>
              <a:t>Age</a:t>
            </a:r>
            <a:r>
              <a:rPr lang="en-US" sz="1800" i="0" dirty="0">
                <a:solidFill>
                  <a:schemeClr val="tx1"/>
                </a:solidFill>
                <a:latin typeface="Times New Roman" panose="02020603050405020304" pitchFamily="18" charset="0"/>
                <a:cs typeface="Times New Roman" panose="02020603050405020304" pitchFamily="18" charset="0"/>
              </a:rPr>
              <a:t> and </a:t>
            </a:r>
            <a:r>
              <a:rPr lang="en-US" sz="1800" b="1" i="0" dirty="0">
                <a:solidFill>
                  <a:schemeClr val="tx1"/>
                </a:solidFill>
                <a:latin typeface="Times New Roman" panose="02020603050405020304" pitchFamily="18" charset="0"/>
                <a:cs typeface="Times New Roman" panose="02020603050405020304" pitchFamily="18" charset="0"/>
              </a:rPr>
              <a:t>Gender</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A</a:t>
            </a:r>
            <a:r>
              <a:rPr lang="en-US" sz="1800" i="0" dirty="0">
                <a:solidFill>
                  <a:schemeClr val="tx1"/>
                </a:solidFill>
                <a:latin typeface="Times New Roman" panose="02020603050405020304" pitchFamily="18" charset="0"/>
                <a:cs typeface="Times New Roman" panose="02020603050405020304" pitchFamily="18" charset="0"/>
              </a:rPr>
              <a:t>ttributed to the CommonCrawl</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Performs better in neutral pronouns ("their/them") compared to gendered ones ("her/his")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Performance drops in “gotcha” cases, e.g., a male nurse.</a:t>
            </a:r>
          </a:p>
          <a:p>
            <a:pPr>
              <a:lnSpc>
                <a:spcPct val="100000"/>
              </a:lnSpc>
            </a:pPr>
            <a:r>
              <a:rPr lang="en-US" b="1" dirty="0" err="1">
                <a:solidFill>
                  <a:schemeClr val="tx1"/>
                </a:solidFill>
                <a:latin typeface="Times New Roman" panose="02020603050405020304" pitchFamily="18" charset="0"/>
                <a:cs typeface="Times New Roman" panose="02020603050405020304" pitchFamily="18" charset="0"/>
              </a:rPr>
              <a:t>TruthfulQA</a:t>
            </a:r>
            <a:r>
              <a:rPr lang="en-US" b="1" dirty="0">
                <a:solidFill>
                  <a:schemeClr val="tx1"/>
                </a:solidFill>
                <a:latin typeface="Times New Roman" panose="02020603050405020304" pitchFamily="18" charset="0"/>
                <a:cs typeface="Times New Roman" panose="02020603050405020304" pitchFamily="18" charset="0"/>
              </a:rPr>
              <a:t>	</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Test model ability to reply </a:t>
            </a:r>
            <a:r>
              <a:rPr lang="en-US" sz="1800" b="1" i="0" dirty="0">
                <a:solidFill>
                  <a:schemeClr val="tx1"/>
                </a:solidFill>
                <a:latin typeface="Times New Roman" panose="02020603050405020304" pitchFamily="18" charset="0"/>
                <a:cs typeface="Times New Roman" panose="02020603050405020304" pitchFamily="18" charset="0"/>
              </a:rPr>
              <a:t>truthful</a:t>
            </a:r>
            <a:r>
              <a:rPr lang="en-US" sz="1800" i="0" dirty="0">
                <a:solidFill>
                  <a:schemeClr val="tx1"/>
                </a:solidFill>
                <a:latin typeface="Times New Roman" panose="02020603050405020304" pitchFamily="18" charset="0"/>
                <a:cs typeface="Times New Roman" panose="02020603050405020304" pitchFamily="18" charset="0"/>
              </a:rPr>
              <a:t> (factual) answers, and </a:t>
            </a:r>
            <a:r>
              <a:rPr lang="en-US" sz="1800" b="1" i="0" dirty="0">
                <a:solidFill>
                  <a:schemeClr val="tx1"/>
                </a:solidFill>
                <a:latin typeface="Times New Roman" panose="02020603050405020304" pitchFamily="18" charset="0"/>
                <a:cs typeface="Times New Roman" panose="02020603050405020304" pitchFamily="18" charset="0"/>
              </a:rPr>
              <a:t>truthful &amp; informative</a:t>
            </a:r>
            <a:r>
              <a:rPr lang="en-US" sz="1800" i="0" dirty="0">
                <a:solidFill>
                  <a:schemeClr val="tx1"/>
                </a:solidFill>
                <a:latin typeface="Times New Roman" panose="02020603050405020304" pitchFamily="18" charset="0"/>
                <a:cs typeface="Times New Roman" panose="02020603050405020304" pitchFamily="18" charset="0"/>
              </a:rPr>
              <a:t> answers</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LLaMA scores </a:t>
            </a:r>
            <a:r>
              <a:rPr lang="en-US" sz="1800" b="1" i="0" dirty="0">
                <a:solidFill>
                  <a:schemeClr val="tx1"/>
                </a:solidFill>
                <a:latin typeface="Times New Roman" panose="02020603050405020304" pitchFamily="18" charset="0"/>
                <a:cs typeface="Times New Roman" panose="02020603050405020304" pitchFamily="18" charset="0"/>
              </a:rPr>
              <a:t>higher than GPT-3</a:t>
            </a:r>
            <a:r>
              <a:rPr lang="en-US" sz="1800" i="0" dirty="0">
                <a:solidFill>
                  <a:schemeClr val="tx1"/>
                </a:solidFill>
                <a:latin typeface="Times New Roman" panose="02020603050405020304" pitchFamily="18" charset="0"/>
                <a:cs typeface="Times New Roman" panose="02020603050405020304" pitchFamily="18" charset="0"/>
              </a:rPr>
              <a:t> in both “Truthful” and “Truthful &amp; Informative”</a:t>
            </a:r>
          </a:p>
          <a:p>
            <a:pPr lvl="1">
              <a:lnSpc>
                <a:spcPct val="100000"/>
              </a:lnSpc>
            </a:pPr>
            <a:r>
              <a:rPr lang="en-US" sz="1800" i="0" dirty="0">
                <a:solidFill>
                  <a:schemeClr val="tx1"/>
                </a:solidFill>
                <a:latin typeface="Times New Roman" panose="02020603050405020304" pitchFamily="18" charset="0"/>
                <a:cs typeface="Times New Roman" panose="02020603050405020304" pitchFamily="18" charset="0"/>
              </a:rPr>
              <a:t>The absolute rate of correct answers </a:t>
            </a:r>
            <a:r>
              <a:rPr lang="en-US" sz="1800" b="1" i="0" dirty="0">
                <a:solidFill>
                  <a:schemeClr val="tx1"/>
                </a:solidFill>
                <a:latin typeface="Times New Roman" panose="02020603050405020304" pitchFamily="18" charset="0"/>
                <a:cs typeface="Times New Roman" panose="02020603050405020304" pitchFamily="18" charset="0"/>
              </a:rPr>
              <a:t>remains low</a:t>
            </a:r>
            <a:r>
              <a:rPr lang="en-US" sz="1800" i="0" dirty="0">
                <a:solidFill>
                  <a:schemeClr val="tx1"/>
                </a:solidFill>
                <a:latin typeface="Times New Roman" panose="02020603050405020304" pitchFamily="18" charset="0"/>
                <a:cs typeface="Times New Roman" panose="02020603050405020304" pitchFamily="18" charset="0"/>
              </a:rPr>
              <a:t> (prone to hallucinate)</a:t>
            </a: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pPr lvl="1">
              <a:lnSpc>
                <a:spcPct val="100000"/>
              </a:lnSpc>
            </a:pPr>
            <a:endParaRPr lang="en-US" i="0"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a:p>
            <a:pPr lvl="1"/>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E36867B2-66CA-2E1A-8196-B6491DED052F}"/>
              </a:ext>
            </a:extLst>
          </p:cNvPr>
          <p:cNvPicPr>
            <a:picLocks noChangeAspect="1"/>
          </p:cNvPicPr>
          <p:nvPr/>
        </p:nvPicPr>
        <p:blipFill>
          <a:blip r:embed="rId3"/>
          <a:stretch>
            <a:fillRect/>
          </a:stretch>
        </p:blipFill>
        <p:spPr>
          <a:xfrm>
            <a:off x="8707120" y="1133856"/>
            <a:ext cx="3076014" cy="1424918"/>
          </a:xfrm>
          <a:prstGeom prst="rect">
            <a:avLst/>
          </a:prstGeom>
        </p:spPr>
      </p:pic>
      <p:sp>
        <p:nvSpPr>
          <p:cNvPr id="5" name="Rounded Rectangle 4">
            <a:extLst>
              <a:ext uri="{FF2B5EF4-FFF2-40B4-BE49-F238E27FC236}">
                <a16:creationId xmlns:a16="http://schemas.microsoft.com/office/drawing/2014/main" id="{10DD1F17-483A-CB6D-D9F0-7AB47C5629E3}"/>
              </a:ext>
            </a:extLst>
          </p:cNvPr>
          <p:cNvSpPr/>
          <p:nvPr/>
        </p:nvSpPr>
        <p:spPr>
          <a:xfrm>
            <a:off x="10972800" y="2255520"/>
            <a:ext cx="711200" cy="30325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0542040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25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25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25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250"/>
                                        <p:tgtEl>
                                          <p:spTgt spid="3">
                                            <p:txEl>
                                              <p:pRg st="6" end="6"/>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250"/>
                                        <p:tgtEl>
                                          <p:spTgt spid="3">
                                            <p:txEl>
                                              <p:pRg st="7" end="7"/>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250"/>
                                        <p:tgtEl>
                                          <p:spTgt spid="3">
                                            <p:txEl>
                                              <p:pRg st="8" end="8"/>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9" end="9"/>
                                            </p:txEl>
                                          </p:spTgt>
                                        </p:tgtEl>
                                        <p:attrNameLst>
                                          <p:attrName>style.visibility</p:attrName>
                                        </p:attrNameLst>
                                      </p:cBhvr>
                                      <p:to>
                                        <p:strVal val="visible"/>
                                      </p:to>
                                    </p:set>
                                    <p:animEffect transition="in" filter="fade">
                                      <p:cBhvr>
                                        <p:cTn id="44" dur="250"/>
                                        <p:tgtEl>
                                          <p:spTgt spid="3">
                                            <p:txEl>
                                              <p:pRg st="9" end="9"/>
                                            </p:txEl>
                                          </p:spTgt>
                                        </p:tgtEl>
                                      </p:cBhvr>
                                    </p:animEffect>
                                  </p:childTnLst>
                                </p:cTn>
                              </p:par>
                              <p:par>
                                <p:cTn id="45" presetID="10" presetClass="entr" presetSubtype="0" fill="hold" nodeType="with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250"/>
                                        <p:tgtEl>
                                          <p:spTgt spid="3">
                                            <p:txEl>
                                              <p:pRg st="10" end="1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11" end="11"/>
                                            </p:txEl>
                                          </p:spTgt>
                                        </p:tgtEl>
                                        <p:attrNameLst>
                                          <p:attrName>style.visibility</p:attrName>
                                        </p:attrNameLst>
                                      </p:cBhvr>
                                      <p:to>
                                        <p:strVal val="visible"/>
                                      </p:to>
                                    </p:set>
                                    <p:animEffect transition="in" filter="fade">
                                      <p:cBhvr>
                                        <p:cTn id="52" dur="250"/>
                                        <p:tgtEl>
                                          <p:spTgt spid="3">
                                            <p:txEl>
                                              <p:pRg st="11" end="11"/>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animEffect transition="in" filter="fade">
                                      <p:cBhvr>
                                        <p:cTn id="55" dur="250"/>
                                        <p:tgtEl>
                                          <p:spTgt spid="3">
                                            <p:txEl>
                                              <p:pRg st="12" end="12"/>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3">
                                            <p:txEl>
                                              <p:pRg st="13" end="13"/>
                                            </p:txEl>
                                          </p:spTgt>
                                        </p:tgtEl>
                                        <p:attrNameLst>
                                          <p:attrName>style.visibility</p:attrName>
                                        </p:attrNameLst>
                                      </p:cBhvr>
                                      <p:to>
                                        <p:strVal val="visible"/>
                                      </p:to>
                                    </p:set>
                                    <p:animEffect transition="in" filter="fade">
                                      <p:cBhvr>
                                        <p:cTn id="58" dur="250"/>
                                        <p:tgtEl>
                                          <p:spTgt spid="3">
                                            <p:txEl>
                                              <p:pRg st="13" end="13"/>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9CDD-01EF-9CA2-BBAB-279649E46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F896-1F74-43C0-98AC-9D4387116F6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Example: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07C3E64-BB57-8B49-4FBE-253DA3F20EF9}"/>
              </a:ext>
            </a:extLst>
          </p:cNvPr>
          <p:cNvSpPr txBox="1">
            <a:spLocks/>
          </p:cNvSpPr>
          <p:nvPr/>
        </p:nvSpPr>
        <p:spPr>
          <a:xfrm>
            <a:off x="1371600" y="1133856"/>
            <a:ext cx="10411534" cy="32280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Assume we take the following sentence from the </a:t>
            </a:r>
            <a:r>
              <a:rPr lang="en-US" dirty="0" err="1">
                <a:solidFill>
                  <a:schemeClr val="tx1"/>
                </a:solidFill>
                <a:latin typeface="Times New Roman" panose="02020603050405020304" pitchFamily="18" charset="0"/>
                <a:cs typeface="Times New Roman" panose="02020603050405020304" pitchFamily="18" charset="0"/>
              </a:rPr>
              <a:t>WinoGender</a:t>
            </a:r>
            <a:r>
              <a:rPr lang="en-US" dirty="0">
                <a:solidFill>
                  <a:schemeClr val="tx1"/>
                </a:solidFill>
                <a:latin typeface="Times New Roman" panose="02020603050405020304" pitchFamily="18" charset="0"/>
                <a:cs typeface="Times New Roman" panose="02020603050405020304" pitchFamily="18" charset="0"/>
              </a:rPr>
              <a:t> dataset:</a:t>
            </a:r>
          </a:p>
          <a:p>
            <a:pPr lvl="1"/>
            <a:r>
              <a:rPr lang="en-US" i="0" dirty="0">
                <a:solidFill>
                  <a:schemeClr val="tx1"/>
                </a:solidFill>
                <a:latin typeface="Times New Roman" panose="02020603050405020304" pitchFamily="18" charset="0"/>
                <a:cs typeface="Times New Roman" panose="02020603050405020304" pitchFamily="18" charset="0"/>
              </a:rPr>
              <a:t>“The </a:t>
            </a:r>
            <a:r>
              <a:rPr lang="en-US" b="1" i="0" dirty="0">
                <a:solidFill>
                  <a:schemeClr val="tx1"/>
                </a:solidFill>
                <a:latin typeface="Times New Roman" panose="02020603050405020304" pitchFamily="18" charset="0"/>
                <a:cs typeface="Times New Roman" panose="02020603050405020304" pitchFamily="18" charset="0"/>
              </a:rPr>
              <a:t>nurse</a:t>
            </a:r>
            <a:r>
              <a:rPr lang="en-US" i="0" dirty="0">
                <a:solidFill>
                  <a:schemeClr val="tx1"/>
                </a:solidFill>
                <a:latin typeface="Times New Roman" panose="02020603050405020304" pitchFamily="18" charset="0"/>
                <a:cs typeface="Times New Roman" panose="02020603050405020304" pitchFamily="18" charset="0"/>
              </a:rPr>
              <a:t> notified the </a:t>
            </a:r>
            <a:r>
              <a:rPr lang="en-US" b="1" i="0" dirty="0">
                <a:solidFill>
                  <a:schemeClr val="tx1"/>
                </a:solidFill>
                <a:latin typeface="Times New Roman" panose="02020603050405020304" pitchFamily="18" charset="0"/>
                <a:cs typeface="Times New Roman" panose="02020603050405020304" pitchFamily="18" charset="0"/>
              </a:rPr>
              <a:t>patient</a:t>
            </a:r>
            <a:r>
              <a:rPr lang="en-US" i="0" dirty="0">
                <a:solidFill>
                  <a:schemeClr val="tx1"/>
                </a:solidFill>
                <a:latin typeface="Times New Roman" panose="02020603050405020304" pitchFamily="18" charset="0"/>
                <a:cs typeface="Times New Roman" panose="02020603050405020304" pitchFamily="18" charset="0"/>
              </a:rPr>
              <a:t> that </a:t>
            </a:r>
            <a:r>
              <a:rPr lang="en-US" b="1" i="0" dirty="0">
                <a:solidFill>
                  <a:schemeClr val="tx1"/>
                </a:solidFill>
                <a:latin typeface="Times New Roman" panose="02020603050405020304" pitchFamily="18" charset="0"/>
                <a:cs typeface="Times New Roman" panose="02020603050405020304" pitchFamily="18" charset="0"/>
              </a:rPr>
              <a:t>his</a:t>
            </a:r>
            <a:r>
              <a:rPr lang="en-US" i="0" dirty="0">
                <a:solidFill>
                  <a:schemeClr val="tx1"/>
                </a:solidFill>
                <a:latin typeface="Times New Roman" panose="02020603050405020304" pitchFamily="18" charset="0"/>
                <a:cs typeface="Times New Roman" panose="02020603050405020304" pitchFamily="18" charset="0"/>
              </a:rPr>
              <a:t> shift would be ending in an hour.”</a:t>
            </a:r>
          </a:p>
          <a:p>
            <a:r>
              <a:rPr lang="en-US" dirty="0">
                <a:solidFill>
                  <a:schemeClr val="tx1"/>
                </a:solidFill>
                <a:latin typeface="Times New Roman" panose="02020603050405020304" pitchFamily="18" charset="0"/>
                <a:cs typeface="Times New Roman" panose="02020603050405020304" pitchFamily="18" charset="0"/>
              </a:rPr>
              <a:t>Logically, the pronoun “his” refers to the nurse, so we infer that the nurse is male.</a:t>
            </a:r>
          </a:p>
          <a:p>
            <a:r>
              <a:rPr lang="en-US" dirty="0">
                <a:solidFill>
                  <a:schemeClr val="tx1"/>
                </a:solidFill>
                <a:latin typeface="Times New Roman" panose="02020603050405020304" pitchFamily="18" charset="0"/>
                <a:cs typeface="Times New Roman" panose="02020603050405020304" pitchFamily="18" charset="0"/>
              </a:rPr>
              <a:t>However, if most nurses in the model’s training data are described as female, the model may absorb this stereotype and incorrectly resolve the pronoun.</a:t>
            </a:r>
          </a:p>
          <a:p>
            <a:r>
              <a:rPr lang="en-US" dirty="0">
                <a:solidFill>
                  <a:schemeClr val="tx1"/>
                </a:solidFill>
                <a:latin typeface="Times New Roman" panose="02020603050405020304" pitchFamily="18" charset="0"/>
                <a:cs typeface="Times New Roman" panose="02020603050405020304" pitchFamily="18" charset="0"/>
              </a:rPr>
              <a:t>To test this, we can feed the sentence into the model and ask directly who “his” refers to.</a:t>
            </a:r>
          </a:p>
          <a:p>
            <a:r>
              <a:rPr lang="en-US" dirty="0">
                <a:solidFill>
                  <a:schemeClr val="tx1"/>
                </a:solidFill>
                <a:latin typeface="Times New Roman" panose="02020603050405020304" pitchFamily="18" charset="0"/>
                <a:cs typeface="Times New Roman" panose="02020603050405020304" pitchFamily="18" charset="0"/>
              </a:rPr>
              <a:t>A better approach is to compare the model’s perplexity for different candidate continuations (“the nurse” vs. “the patient”) to see which entity the model believes “his” most likely refers to. </a:t>
            </a:r>
          </a:p>
        </p:txBody>
      </p:sp>
      <p:pic>
        <p:nvPicPr>
          <p:cNvPr id="11" name="Picture 10">
            <a:extLst>
              <a:ext uri="{FF2B5EF4-FFF2-40B4-BE49-F238E27FC236}">
                <a16:creationId xmlns:a16="http://schemas.microsoft.com/office/drawing/2014/main" id="{40ACE259-59FF-059E-28F8-6F28F96A8023}"/>
              </a:ext>
            </a:extLst>
          </p:cNvPr>
          <p:cNvPicPr>
            <a:picLocks noChangeAspect="1"/>
          </p:cNvPicPr>
          <p:nvPr/>
        </p:nvPicPr>
        <p:blipFill>
          <a:blip r:embed="rId3"/>
          <a:stretch>
            <a:fillRect/>
          </a:stretch>
        </p:blipFill>
        <p:spPr>
          <a:xfrm>
            <a:off x="7018637" y="4252237"/>
            <a:ext cx="4591502" cy="2348916"/>
          </a:xfrm>
          <a:prstGeom prst="rect">
            <a:avLst/>
          </a:prstGeom>
        </p:spPr>
      </p:pic>
      <p:sp>
        <p:nvSpPr>
          <p:cNvPr id="14" name="Content Placeholder 2">
            <a:extLst>
              <a:ext uri="{FF2B5EF4-FFF2-40B4-BE49-F238E27FC236}">
                <a16:creationId xmlns:a16="http://schemas.microsoft.com/office/drawing/2014/main" id="{585A89AF-AC9D-248E-A18A-F9F68170D7E3}"/>
              </a:ext>
            </a:extLst>
          </p:cNvPr>
          <p:cNvSpPr txBox="1">
            <a:spLocks/>
          </p:cNvSpPr>
          <p:nvPr/>
        </p:nvSpPr>
        <p:spPr>
          <a:xfrm>
            <a:off x="1371599" y="4252237"/>
            <a:ext cx="5647037" cy="225006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 handle neutral pronouns well, but make more mistakes with gendered pronouns, showing they likely have gender bias.</a:t>
            </a:r>
          </a:p>
          <a:p>
            <a:endParaRPr lang="en-US"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dirty="0">
                <a:solidFill>
                  <a:schemeClr val="tx1"/>
                </a:solidFill>
                <a:latin typeface="Times New Roman" panose="02020603050405020304" pitchFamily="18" charset="0"/>
                <a:cs typeface="Times New Roman" panose="02020603050405020304" pitchFamily="18" charset="0"/>
              </a:rPr>
              <a:t>Should models know that most nurses are women? 🤔</a:t>
            </a:r>
          </a:p>
        </p:txBody>
      </p:sp>
    </p:spTree>
    <p:extLst>
      <p:ext uri="{BB962C8B-B14F-4D97-AF65-F5344CB8AC3E}">
        <p14:creationId xmlns:p14="http://schemas.microsoft.com/office/powerpoint/2010/main" val="410466090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25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25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
                                            <p:txEl>
                                              <p:pRg st="0" end="0"/>
                                            </p:txEl>
                                          </p:spTgt>
                                        </p:tgtEl>
                                        <p:attrNameLst>
                                          <p:attrName>style.visibility</p:attrName>
                                        </p:attrNameLst>
                                      </p:cBhvr>
                                      <p:to>
                                        <p:strVal val="visible"/>
                                      </p:to>
                                    </p:set>
                                    <p:animEffect transition="in" filter="fade">
                                      <p:cBhvr>
                                        <p:cTn id="40" dur="250"/>
                                        <p:tgtEl>
                                          <p:spTgt spid="14">
                                            <p:txEl>
                                              <p:pRg st="0" end="0"/>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
                                            <p:txEl>
                                              <p:pRg st="2" end="2"/>
                                            </p:txEl>
                                          </p:spTgt>
                                        </p:tgtEl>
                                        <p:attrNameLst>
                                          <p:attrName>style.visibility</p:attrName>
                                        </p:attrNameLst>
                                      </p:cBhvr>
                                      <p:to>
                                        <p:strVal val="visible"/>
                                      </p:to>
                                    </p:set>
                                    <p:animEffect transition="in" filter="fade">
                                      <p:cBhvr>
                                        <p:cTn id="45" dur="250"/>
                                        <p:tgtEl>
                                          <p:spTgt spid="1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sz="16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Carbon emission conversion:</a:t>
                </a:r>
                <a:br>
                  <a:rPr lang="en-US" dirty="0">
                    <a:solidFill>
                      <a:schemeClr val="tx1"/>
                    </a:solidFill>
                    <a:latin typeface="Times New Roman" panose="02020603050405020304" pitchFamily="18" charset="0"/>
                    <a:cs typeface="Times New Roman" panose="02020603050405020304" pitchFamily="18" charset="0"/>
                  </a:rPr>
                </a:br>
                <a:br>
                  <a:rPr lang="en-US" sz="1200"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a:solidFill>
                          <a:schemeClr val="tx1"/>
                        </a:solidFill>
                        <a:latin typeface="Cambria Math" panose="02040503050406030204" pitchFamily="18" charset="0"/>
                        <a:cs typeface="Times New Roman" panose="02020603050405020304" pitchFamily="18" charset="0"/>
                      </a:rPr>
                      <m:t>tC</m:t>
                    </m:r>
                    <m:sSub>
                      <m:sSubPr>
                        <m:ctrlPr>
                          <a:rPr lang="en-US" i="1">
                            <a:solidFill>
                              <a:schemeClr val="tx1"/>
                            </a:solidFill>
                            <a:latin typeface="Cambria Math" panose="02040503050406030204" pitchFamily="18" charset="0"/>
                            <a:cs typeface="Times New Roman" panose="02020603050405020304" pitchFamily="18" charset="0"/>
                          </a:rPr>
                        </m:ctrlPr>
                      </m:sSubPr>
                      <m:e>
                        <m:r>
                          <m:rPr>
                            <m:sty m:val="p"/>
                          </m:rPr>
                          <a:rPr lang="en-US">
                            <a:solidFill>
                              <a:schemeClr val="tx1"/>
                            </a:solidFill>
                            <a:latin typeface="Cambria Math" panose="02040503050406030204" pitchFamily="18" charset="0"/>
                            <a:cs typeface="Times New Roman" panose="02020603050405020304" pitchFamily="18" charset="0"/>
                          </a:rPr>
                          <m:t>O</m:t>
                        </m:r>
                      </m:e>
                      <m:sub>
                        <m:r>
                          <a:rPr lang="en-US">
                            <a:solidFill>
                              <a:schemeClr val="tx1"/>
                            </a:solidFill>
                            <a:latin typeface="Cambria Math" panose="02040503050406030204" pitchFamily="18" charset="0"/>
                            <a:cs typeface="Times New Roman" panose="02020603050405020304" pitchFamily="18" charset="0"/>
                          </a:rPr>
                          <m:t>2</m:t>
                        </m:r>
                      </m:sub>
                    </m:sSub>
                    <m:r>
                      <m:rPr>
                        <m:sty m:val="p"/>
                      </m:rPr>
                      <a:rPr lang="en-US">
                        <a:solidFill>
                          <a:schemeClr val="tx1"/>
                        </a:solidFill>
                        <a:latin typeface="Cambria Math" panose="02040503050406030204" pitchFamily="18" charset="0"/>
                        <a:cs typeface="Times New Roman" panose="02020603050405020304" pitchFamily="18" charset="0"/>
                      </a:rPr>
                      <m:t>eq</m:t>
                    </m:r>
                    <m:r>
                      <a:rPr lang="en-US">
                        <a:solidFill>
                          <a:schemeClr val="tx1"/>
                        </a:solidFill>
                        <a:latin typeface="Cambria Math" panose="02040503050406030204" pitchFamily="18" charset="0"/>
                        <a:cs typeface="Times New Roman" panose="02020603050405020304" pitchFamily="18" charset="0"/>
                      </a:rPr>
                      <m:t>=</m:t>
                    </m:r>
                    <m:r>
                      <m:rPr>
                        <m:sty m:val="p"/>
                      </m:rPr>
                      <a:rPr lang="en-US">
                        <a:solidFill>
                          <a:schemeClr val="tx1"/>
                        </a:solidFill>
                        <a:latin typeface="Cambria Math" panose="02040503050406030204" pitchFamily="18" charset="0"/>
                        <a:cs typeface="Times New Roman" panose="02020603050405020304" pitchFamily="18" charset="0"/>
                      </a:rPr>
                      <m:t>MWh</m:t>
                    </m:r>
                    <m:r>
                      <a:rPr lang="en-US">
                        <a:solidFill>
                          <a:schemeClr val="tx1"/>
                        </a:solidFill>
                        <a:latin typeface="Cambria Math" panose="02040503050406030204" pitchFamily="18" charset="0"/>
                        <a:cs typeface="Times New Roman" panose="02020603050405020304" pitchFamily="18" charset="0"/>
                      </a:rPr>
                      <m:t>×0.385</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LLaMA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2"/>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LLaMA models are designed to run on a single GPU, significantly lowering the energy barrier for research and inference.</a:t>
                </a:r>
              </a:p>
              <a:p>
                <a:endParaRPr lang="en-US"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3"/>
                <a:stretch>
                  <a:fillRect l="-615" t="-887"/>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25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25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25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4819135"/>
            <a:ext cx="10320728" cy="1493882"/>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The training process of LLaMA models is expensive and environmentally harmful</a:t>
            </a:r>
          </a:p>
          <a:p>
            <a:r>
              <a:rPr lang="en-US" dirty="0">
                <a:solidFill>
                  <a:schemeClr val="tx1"/>
                </a:solidFill>
                <a:latin typeface="Times New Roman" panose="02020603050405020304" pitchFamily="18" charset="0"/>
                <a:cs typeface="Times New Roman" panose="02020603050405020304" pitchFamily="18" charset="0"/>
              </a:rPr>
              <a:t>Especially compared to larger models</a:t>
            </a:r>
          </a:p>
          <a:p>
            <a:r>
              <a:rPr lang="en-US" b="1" i="0" dirty="0">
                <a:solidFill>
                  <a:schemeClr val="tx1"/>
                </a:solidFill>
                <a:latin typeface="Times New Roman" panose="02020603050405020304" pitchFamily="18" charset="0"/>
                <a:cs typeface="Times New Roman" panose="02020603050405020304" pitchFamily="18" charset="0"/>
              </a:rPr>
              <a:t>However, training is done only once, whereas inference is run many times</a:t>
            </a:r>
          </a:p>
        </p:txBody>
      </p:sp>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l="3192" t="3293" r="3039" b="32714"/>
          <a:stretch/>
        </p:blipFill>
        <p:spPr>
          <a:xfrm>
            <a:off x="1892001" y="2083703"/>
            <a:ext cx="9279925" cy="2567025"/>
          </a:xfrm>
          <a:prstGeom prst="rect">
            <a:avLst/>
          </a:prstGeom>
        </p:spPr>
      </p:pic>
      <p:sp>
        <p:nvSpPr>
          <p:cNvPr id="7" name="Content Placeholder 2">
            <a:extLst>
              <a:ext uri="{FF2B5EF4-FFF2-40B4-BE49-F238E27FC236}">
                <a16:creationId xmlns:a16="http://schemas.microsoft.com/office/drawing/2014/main" id="{8C98F1A5-8166-E2D0-235A-2F33A327CF50}"/>
              </a:ext>
            </a:extLst>
          </p:cNvPr>
          <p:cNvSpPr txBox="1">
            <a:spLocks/>
          </p:cNvSpPr>
          <p:nvPr/>
        </p:nvSpPr>
        <p:spPr>
          <a:xfrm>
            <a:off x="1371600" y="1153001"/>
            <a:ext cx="10320728" cy="76229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following table compares the energy use and carbon emissions from training LLaMA models with those of larger models that achieve similar performance.</a:t>
            </a:r>
          </a:p>
        </p:txBody>
      </p:sp>
      <p:sp>
        <p:nvSpPr>
          <p:cNvPr id="8" name="Down Arrow 7">
            <a:extLst>
              <a:ext uri="{FF2B5EF4-FFF2-40B4-BE49-F238E27FC236}">
                <a16:creationId xmlns:a16="http://schemas.microsoft.com/office/drawing/2014/main" id="{C8377695-67B4-49D3-48B6-06C20ACC035C}"/>
              </a:ext>
            </a:extLst>
          </p:cNvPr>
          <p:cNvSpPr/>
          <p:nvPr/>
        </p:nvSpPr>
        <p:spPr>
          <a:xfrm rot="3221311">
            <a:off x="10488824" y="3678775"/>
            <a:ext cx="642552" cy="926757"/>
          </a:xfrm>
          <a:prstGeom prst="downArrow">
            <a:avLst/>
          </a:prstGeom>
          <a:solidFill>
            <a:schemeClr val="accent6">
              <a:lumMod val="40000"/>
              <a:lumOff val="6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3994090515"/>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25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5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animEffect transition="in" filter="fade">
                                      <p:cBhvr>
                                        <p:cTn id="17" dur="250"/>
                                        <p:tgtEl>
                                          <p:spTgt spid="3">
                                            <p:txEl>
                                              <p:pRg st="0" end="0"/>
                                            </p:txEl>
                                          </p:spTgt>
                                        </p:tgtEl>
                                      </p:cBhvr>
                                    </p:animEffect>
                                  </p:childTnLst>
                                </p:cTn>
                              </p:par>
                            </p:childTnLst>
                          </p:cTn>
                        </p:par>
                        <p:par>
                          <p:cTn id="18" fill="hold">
                            <p:stCondLst>
                              <p:cond delay="250"/>
                            </p:stCondLst>
                            <p:childTnLst>
                              <p:par>
                                <p:cTn id="19" presetID="1"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par>
                          <p:cTn id="21" fill="hold">
                            <p:stCondLst>
                              <p:cond delay="250"/>
                            </p:stCondLst>
                            <p:childTnLst>
                              <p:par>
                                <p:cTn id="22" presetID="35" presetClass="emph" presetSubtype="0" repeatCount="3000" fill="hold" grpId="1" nodeType="afterEffect">
                                  <p:stCondLst>
                                    <p:cond delay="0"/>
                                  </p:stCondLst>
                                  <p:childTnLst>
                                    <p:anim calcmode="discrete" valueType="str">
                                      <p:cBhvr>
                                        <p:cTn id="23" dur="5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250"/>
                                        <p:tgtEl>
                                          <p:spTgt spid="3">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animEffect transition="in" filter="fade">
                                      <p:cBhvr>
                                        <p:cTn id="33" dur="25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820401"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a:t>
            </a:r>
            <a:r>
              <a:rPr lang="en-US" b="1" dirty="0">
                <a:solidFill>
                  <a:schemeClr val="tx1"/>
                </a:solidFill>
                <a:latin typeface="Times New Roman" panose="02020603050405020304" pitchFamily="18" charset="0"/>
                <a:cs typeface="Times New Roman" panose="02020603050405020304" pitchFamily="18" charset="0"/>
              </a:rPr>
              <a:t>SOTA performance</a:t>
            </a:r>
            <a:r>
              <a:rPr lang="en-US" dirty="0">
                <a:solidFill>
                  <a:schemeClr val="tx1"/>
                </a:solidFill>
                <a:latin typeface="Times New Roman" panose="02020603050405020304" pitchFamily="18" charset="0"/>
                <a:cs typeface="Times New Roman" panose="02020603050405020304" pitchFamily="18" charset="0"/>
              </a:rPr>
              <a:t> can be achieved using exclusively </a:t>
            </a:r>
            <a:r>
              <a:rPr lang="en-US" b="1" dirty="0">
                <a:solidFill>
                  <a:schemeClr val="tx1"/>
                </a:solidFill>
                <a:latin typeface="Times New Roman" panose="02020603050405020304" pitchFamily="18" charset="0"/>
                <a:cs typeface="Times New Roman" panose="02020603050405020304" pitchFamily="18" charset="0"/>
              </a:rPr>
              <a:t>publicly available data</a:t>
            </a:r>
            <a:r>
              <a:rPr lang="en-US" dirty="0">
                <a:solidFill>
                  <a:schemeClr val="tx1"/>
                </a:solidFill>
                <a:latin typeface="Times New Roman" panose="02020603050405020304" pitchFamily="18" charset="0"/>
                <a:cs typeface="Times New Roman" panose="02020603050405020304" pitchFamily="18" charset="0"/>
              </a:rPr>
              <a:t>, without proprietary datasets</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endParaRPr lang="en-US" sz="1000" b="1" dirty="0">
              <a:solidFill>
                <a:schemeClr val="tx1"/>
              </a:solidFill>
              <a:latin typeface="Times New Roman" panose="02020603050405020304" pitchFamily="18" charset="0"/>
              <a:cs typeface="Times New Roman" panose="02020603050405020304" pitchFamily="18" charset="0"/>
            </a:endParaRP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Accelerate research to improve </a:t>
            </a:r>
            <a:r>
              <a:rPr lang="en-US" b="1" dirty="0">
                <a:solidFill>
                  <a:schemeClr val="tx1"/>
                </a:solidFill>
                <a:latin typeface="Times New Roman" panose="02020603050405020304" pitchFamily="18" charset="0"/>
                <a:cs typeface="Times New Roman" panose="02020603050405020304" pitchFamily="18" charset="0"/>
              </a:rPr>
              <a:t>robustness</a:t>
            </a:r>
            <a:r>
              <a:rPr lang="en-US" dirty="0">
                <a:solidFill>
                  <a:schemeClr val="tx1"/>
                </a:solidFill>
                <a:latin typeface="Times New Roman" panose="02020603050405020304" pitchFamily="18" charset="0"/>
                <a:cs typeface="Times New Roman" panose="02020603050405020304" pitchFamily="18" charset="0"/>
              </a:rPr>
              <a:t> and mitigate issues </a:t>
            </a:r>
            <a:r>
              <a:rPr lang="en-US" b="1" dirty="0">
                <a:solidFill>
                  <a:schemeClr val="tx1"/>
                </a:solidFill>
                <a:latin typeface="Times New Roman" panose="02020603050405020304" pitchFamily="18" charset="0"/>
                <a:cs typeface="Times New Roman" panose="02020603050405020304" pitchFamily="18" charset="0"/>
              </a:rPr>
              <a:t>bias and toxicity</a:t>
            </a:r>
            <a:r>
              <a:rPr lang="en-US" dirty="0">
                <a:solidFill>
                  <a:schemeClr val="tx1"/>
                </a:solidFill>
                <a:latin typeface="Times New Roman" panose="02020603050405020304" pitchFamily="18" charset="0"/>
                <a:cs typeface="Times New Roman" panose="02020603050405020304" pitchFamily="18" charset="0"/>
              </a:rPr>
              <a:t> issues</a:t>
            </a:r>
          </a:p>
          <a:p>
            <a:r>
              <a:rPr lang="en-US" dirty="0">
                <a:solidFill>
                  <a:schemeClr val="tx1"/>
                </a:solidFill>
                <a:latin typeface="Times New Roman" panose="02020603050405020304" pitchFamily="18" charset="0"/>
                <a:cs typeface="Times New Roman" panose="02020603050405020304" pitchFamily="18" charset="0"/>
              </a:rPr>
              <a:t>Further investigate the </a:t>
            </a:r>
            <a:r>
              <a:rPr lang="en-US" b="1" dirty="0">
                <a:solidFill>
                  <a:schemeClr val="tx1"/>
                </a:solidFill>
                <a:latin typeface="Times New Roman" panose="02020603050405020304" pitchFamily="18" charset="0"/>
                <a:cs typeface="Times New Roman" panose="02020603050405020304" pitchFamily="18" charset="0"/>
              </a:rPr>
              <a:t>instruction finetuning</a:t>
            </a:r>
            <a:r>
              <a:rPr lang="en-US" dirty="0">
                <a:solidFill>
                  <a:schemeClr val="tx1"/>
                </a:solidFill>
                <a:latin typeface="Times New Roman" panose="02020603050405020304" pitchFamily="18" charset="0"/>
                <a:cs typeface="Times New Roman" panose="02020603050405020304" pitchFamily="18" charset="0"/>
              </a:rPr>
              <a:t> of LLaMA</a:t>
            </a:r>
          </a:p>
          <a:p>
            <a:r>
              <a:rPr lang="en-US" dirty="0">
                <a:solidFill>
                  <a:schemeClr val="tx1"/>
                </a:solidFill>
                <a:latin typeface="Times New Roman" panose="02020603050405020304" pitchFamily="18" charset="0"/>
                <a:cs typeface="Times New Roman" panose="02020603050405020304" pitchFamily="18" charset="0"/>
              </a:rPr>
              <a:t>Release </a:t>
            </a:r>
            <a:r>
              <a:rPr lang="en-US" b="1" dirty="0">
                <a:solidFill>
                  <a:schemeClr val="tx1"/>
                </a:solidFill>
                <a:latin typeface="Times New Roman" panose="02020603050405020304" pitchFamily="18" charset="0"/>
                <a:cs typeface="Times New Roman" panose="02020603050405020304" pitchFamily="18" charset="0"/>
              </a:rPr>
              <a:t>larger models</a:t>
            </a:r>
            <a:r>
              <a:rPr lang="en-US" dirty="0">
                <a:solidFill>
                  <a:schemeClr val="tx1"/>
                </a:solidFill>
                <a:latin typeface="Times New Roman" panose="02020603050405020304" pitchFamily="18" charset="0"/>
                <a:cs typeface="Times New Roman" panose="02020603050405020304" pitchFamily="18" charset="0"/>
              </a:rPr>
              <a:t> trained on </a:t>
            </a:r>
            <a:r>
              <a:rPr lang="en-US" b="1" dirty="0">
                <a:solidFill>
                  <a:schemeClr val="tx1"/>
                </a:solidFill>
                <a:latin typeface="Times New Roman" panose="02020603050405020304" pitchFamily="18" charset="0"/>
                <a:cs typeface="Times New Roman" panose="02020603050405020304" pitchFamily="18" charset="0"/>
              </a:rPr>
              <a:t>larger corpora</a:t>
            </a:r>
            <a:r>
              <a:rPr lang="en-US" dirty="0">
                <a:solidFill>
                  <a:schemeClr val="tx1"/>
                </a:solidFill>
                <a:latin typeface="Times New Roman" panose="02020603050405020304" pitchFamily="18" charset="0"/>
                <a:cs typeface="Times New Roman" panose="02020603050405020304" pitchFamily="18" charset="0"/>
              </a:rPr>
              <a:t>,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250"/>
                                        <p:tgtEl>
                                          <p:spTgt spid="3">
                                            <p:txEl>
                                              <p:pRg st="1" end="1"/>
                                            </p:txEl>
                                          </p:spTgt>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25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250"/>
                                        <p:tgtEl>
                                          <p:spTgt spid="3">
                                            <p:txEl>
                                              <p:pRg st="4" end="4"/>
                                            </p:txEl>
                                          </p:spTgt>
                                        </p:tgtEl>
                                      </p:cBhvr>
                                    </p:animEffect>
                                  </p:childTnLst>
                                </p:cTn>
                              </p:par>
                            </p:childTnLst>
                          </p:cTn>
                        </p:par>
                        <p:par>
                          <p:cTn id="21" fill="hold">
                            <p:stCondLst>
                              <p:cond delay="250"/>
                            </p:stCondLst>
                            <p:childTnLst>
                              <p:par>
                                <p:cTn id="22" presetID="10" presetClass="entr" presetSubtype="0" fill="hold" nodeType="after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par>
                          <p:cTn id="25" fill="hold">
                            <p:stCondLst>
                              <p:cond delay="500"/>
                            </p:stCondLst>
                            <p:childTnLst>
                              <p:par>
                                <p:cTn id="26" presetID="10" presetClass="entr" presetSubtype="0" fill="hold" nodeType="after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250"/>
                                        <p:tgtEl>
                                          <p:spTgt spid="3">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animEffect transition="in" filter="fade">
                                      <p:cBhvr>
                                        <p:cTn id="33" dur="250"/>
                                        <p:tgtEl>
                                          <p:spTgt spid="3">
                                            <p:txEl>
                                              <p:pRg st="8" end="8"/>
                                            </p:txEl>
                                          </p:spTgt>
                                        </p:tgtEl>
                                      </p:cBhvr>
                                    </p:animEffect>
                                  </p:childTnLst>
                                </p:cTn>
                              </p:par>
                            </p:childTnLst>
                          </p:cTn>
                        </p:par>
                        <p:par>
                          <p:cTn id="34" fill="hold">
                            <p:stCondLst>
                              <p:cond delay="250"/>
                            </p:stCondLst>
                            <p:childTnLst>
                              <p:par>
                                <p:cTn id="35" presetID="10" presetClass="entr" presetSubtype="0" fill="hold" nodeType="after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250"/>
                                        <p:tgtEl>
                                          <p:spTgt spid="3">
                                            <p:txEl>
                                              <p:pRg st="9" end="9"/>
                                            </p:txEl>
                                          </p:spTgt>
                                        </p:tgtEl>
                                      </p:cBhvr>
                                    </p:animEffect>
                                  </p:childTnLst>
                                </p:cTn>
                              </p:par>
                            </p:childTnLst>
                          </p:cTn>
                        </p:par>
                        <p:par>
                          <p:cTn id="38" fill="hold">
                            <p:stCondLst>
                              <p:cond delay="500"/>
                            </p:stCondLst>
                            <p:childTnLst>
                              <p:par>
                                <p:cTn id="39" presetID="10" presetClass="entr" presetSubtype="0" fill="hold" nodeType="after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250"/>
                                        <p:tgtEl>
                                          <p:spTgt spid="3">
                                            <p:txEl>
                                              <p:pRg st="10" end="10"/>
                                            </p:txEl>
                                          </p:spTgt>
                                        </p:tgtEl>
                                      </p:cBhvr>
                                    </p:animEffect>
                                  </p:childTnLst>
                                </p:cTn>
                              </p:par>
                            </p:childTnLst>
                          </p:cTn>
                        </p:par>
                        <p:par>
                          <p:cTn id="42" fill="hold">
                            <p:stCondLst>
                              <p:cond delay="750"/>
                            </p:stCondLst>
                            <p:childTnLst>
                              <p:par>
                                <p:cTn id="43" presetID="10" presetClass="entr" presetSubtype="0" fill="hold" nodeType="afterEffect">
                                  <p:stCondLst>
                                    <p:cond delay="0"/>
                                  </p:stCondLst>
                                  <p:childTnLst>
                                    <p:set>
                                      <p:cBhvr>
                                        <p:cTn id="44" dur="1" fill="hold">
                                          <p:stCondLst>
                                            <p:cond delay="0"/>
                                          </p:stCondLst>
                                        </p:cTn>
                                        <p:tgtEl>
                                          <p:spTgt spid="3">
                                            <p:txEl>
                                              <p:pRg st="11" end="11"/>
                                            </p:txEl>
                                          </p:spTgt>
                                        </p:tgtEl>
                                        <p:attrNameLst>
                                          <p:attrName>style.visibility</p:attrName>
                                        </p:attrNameLst>
                                      </p:cBhvr>
                                      <p:to>
                                        <p:strVal val="visible"/>
                                      </p:to>
                                    </p:set>
                                    <p:animEffect transition="in" filter="fade">
                                      <p:cBhvr>
                                        <p:cTn id="45" dur="25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7512</TotalTime>
  <Words>4866</Words>
  <Application>Microsoft Macintosh PowerPoint</Application>
  <PresentationFormat>Widescreen</PresentationFormat>
  <Paragraphs>494</Paragraphs>
  <Slides>29</Slides>
  <Notes>27</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vt:lpstr>
      <vt:lpstr>Additional Metrics</vt:lpstr>
      <vt:lpstr>Compared Models</vt:lpstr>
      <vt:lpstr>Benchmarks</vt:lpstr>
      <vt:lpstr>Common Sense Reasoning</vt:lpstr>
      <vt:lpstr>Closed-book Question Answering</vt:lpstr>
      <vt:lpstr>Reading Comprehension</vt:lpstr>
      <vt:lpstr>Mathematical Reasoning</vt:lpstr>
      <vt:lpstr>Code Generation</vt:lpstr>
      <vt:lpstr>Massive Multitask Language Understanding</vt:lpstr>
      <vt:lpstr>Performance Evolution During Training</vt:lpstr>
      <vt:lpstr>Additional Metrics</vt:lpstr>
      <vt:lpstr>Instruction Finetuning</vt:lpstr>
      <vt:lpstr>Bias, Toxicity and Misinformation</vt:lpstr>
      <vt:lpstr>Bias, Toxicity and Misinformation</vt:lpstr>
      <vt:lpstr>CrowS-Pairs </vt:lpstr>
      <vt:lpstr>WinoGender</vt:lpstr>
      <vt:lpstr>TruthfulQA</vt:lpstr>
      <vt:lpstr>Example: WinoGender</vt:lpstr>
      <vt:lpstr>Carbon Footprint </vt:lpstr>
      <vt:lpstr>Carbon Footprint </vt:lpstr>
      <vt:lpstr>Conclusions</vt:lpstr>
      <vt:lpstr>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178</cp:revision>
  <dcterms:created xsi:type="dcterms:W3CDTF">2025-11-27T17:21:13Z</dcterms:created>
  <dcterms:modified xsi:type="dcterms:W3CDTF">2025-12-05T15:57:51Z</dcterms:modified>
</cp:coreProperties>
</file>